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5"/>
    <p:sldId id="271" r:id="rId4"/>
    <p:sldId id="272" r:id="rId3"/>
    <p:sldId id="273" r:id="rId2"/>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8.xml"/><Relationship Id="rId3" Type="http://schemas.openxmlformats.org/officeDocument/2006/relationships/slide" Target="slides/slide17.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how the week works before anything else: each day is mostly theory with exercises and a live demo; the last half hour starts the labs together; the labs are finished after class. Every lab has a RECOVER block, so nobody is ever permanently behind.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is the most conceptual day, and everything later rests on it. The value-stream map in Lab 01 is what justifies every automation decision for the rest of the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PayTrack API is a card-authorisation service: small enough to understand in ten minutes, realistic enough to carry the banking arguments — PCI scope, money as integers, audit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clause maps to one of the four DORA metrics you will meet later today. That is why this definition is worth learning word for word: it tells you what to measure.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Development is rewarded for change, operations for the absence of change — then both are asked to cooperate. It is a system problem, not a people problem. The name comes from DevOpsDays, Ghent, October 2009, prompted by the Flickr talk "10+ Deploys Per Day". Ask the room: when production last broke, what was the FIRST question asked?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matters. You cannot get feedback from a system that releases twice a year — no Flow, no Feedback. And you cannot learn from feedback you never collect. An organisation that jumps to chaos engineering while its lead time is measured in months is optimising the wrong 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large banks are bureaucratic, and that is fine as a starting point: rules can be changed. Ask which row the room recognises most — "messengers neglected" is a common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Coined by Damon Edwards and John Willis; Jez Humble added the M. Use it as an assessment, not a checklist: score each dimension and attack the lowest.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infinity loop is useful as long as you remember that real systems run MANY loops at different speeds, not one. The next slide says what good looks like in each phase.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bank this is how a risk threshold changes without a code release — PayTrack's referral limit is configuration, so Risk can move it in minutes. Delegates build all four techniques in Lab 16.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idea of day 1. Let the 6.5 % sit in silence for a moment. Then: "after class, in Lab 01, you will calculate your own number."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arithmetic once, slowly: process 29.5 h, wait 298 h, lead 327.5 h — about eight working weeks. Flow efficiency 9 %. And the rolled %C/A: only a third of changes pass through without rework somewhere. That number is usually a bigger shock than flow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them now so delegates can estimate their baseline in Lab 01, and revisit properly on day 6. Stress: never rank teams with these.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each table to pick the one anti-pattern they recognise most. In a bank, change freezes and hero culture usually win. The practices that fix them: you build it you run it, shared on-call, one backlog, and a definition of done that includes operability.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argue these — ask for the evidence behind the left-hand column. Appendix A §A.4 and §A.7 carry the full arguments on CABs and change freezes.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staging area is Git's most misunderstood feature and its best one: it lets you commit PART of your changes, so each commit is one logical change even when you worked on three things. git add -p is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it live; do not paste. The moment people see a branch is a 41-byte file, the fear of branching goes. Ask someone to predict the blob hash on their own laptop — it matches.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Banking slide. Source: docs/theory/appendix-a-devops-in-a-regulated-bank.md. Expect push-back here - that is the point. The three arguments this cohort will raise are segregation of duties (A.3), the CAB (A.4) and change freezes (A.7).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guide: labs/lab-00/README.md — it carries the full command list, the RECOVER block for anyone who has fallen behind, and an Instructor notes section with the expected duration, the three failures that actually happen in the room, and a debrief question. Check the run sheet (docs/run-sheet.md) for the time box.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Use it to re-set attention and to say explicitly which lab this block leads into.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code top to bottom. The numbered points on the right are the talk track; the full, runnable version is in the matching lab README.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code top to bottom. The numbered points on the right are the talk track; the full, runnable version is in the matching lab README.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Banking slide. Source: docs/theory/appendix-a-devops-in-a-regulated-bank.md. Expect push-back here - that is the point. The three arguments this cohort will raise are segregation of duties (A.3), the CAB (A.4) and change freezes (A.7).</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guide: labs/lab-02/README.md — it carries the full command list, the RECOVER block for anyone who has fallen behind, and an Instructor notes section with the expected duration, the three failures that actually happen in the room, and a debrief question. Check the run sheet (docs/run-sheet.md) for the time box.</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as a discussion, not a quiz — the reasoning matters more than the answer. Worked answers: solutions/. Modules 2-9 self-checks are deliberately open because they ask about the delegate's own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5F7E0-7ABE-D3C0-63A5-FAA693B61DE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4D14142F-0237-05B2-12F3-217F91D031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B818A94-B989-CE86-B473-001B31E23621}"/>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C29B2774-C8F6-CF95-9EEC-50ABE8A35D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AA3A74-908A-732B-B876-4A95EB6930CE}"/>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358114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A9EEE-04B9-E120-0146-94957BE6CEF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C682CE4-A695-0D69-31DF-5D96CE24A8E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68F0B88-1188-3BE8-45E5-6424E0D636E0}"/>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4DBDF9EE-6D0A-5161-4106-EF2D5ADDBF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E32E08-9004-DAD6-5C7B-6D677285C160}"/>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4005550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8CB9-93FE-3C78-C2CD-1EAF2C6717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594F54DC-F855-6F7E-3197-E1D0866BD6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7FA7E3C-9379-5904-C0DD-DF43405764D8}"/>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57AB7A92-7A9B-0521-8C38-040F3347A4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6CE150-1846-E660-2129-F1A4DEFC7095}"/>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24505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0278-2BD0-EE70-D44C-6C4661905F6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8CA3346-3192-E072-CC3E-594CEE99BE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0887559-F73A-9048-366D-0C385522D5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B06ABC6-8E5B-8A84-4C69-32CE6CD87DD4}"/>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6" name="Footer Placeholder 5">
            <a:extLst>
              <a:ext uri="{FF2B5EF4-FFF2-40B4-BE49-F238E27FC236}">
                <a16:creationId xmlns:a16="http://schemas.microsoft.com/office/drawing/2014/main" id="{9C7050D9-E01B-49C8-9460-6F5A8638E5E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786C11-4C6B-15AA-2285-B7A416C46FF5}"/>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100244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EE91-BF0E-5883-9C29-741B4A27F24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F1854D85-7DCC-A7CD-D472-98D2C5588A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13AC918-4E7F-A372-4BAA-391F29E379A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CDAB873-2718-31C9-3728-8C87F4F315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88531A2-BAA5-F9A5-BE21-3C7B39D8839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03DEFDB-230D-CE83-B402-D2E11A1F503C}"/>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8" name="Footer Placeholder 7">
            <a:extLst>
              <a:ext uri="{FF2B5EF4-FFF2-40B4-BE49-F238E27FC236}">
                <a16:creationId xmlns:a16="http://schemas.microsoft.com/office/drawing/2014/main" id="{65D2F011-F841-554C-13E9-CD1FCA6C7A6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00BB38A-8241-5AF1-E1D8-D19FD9877CD7}"/>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3547266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E7733-ACD7-FD4A-6592-369DAA248D7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63A21B1D-288F-C977-8ACF-C5536E294680}"/>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4" name="Footer Placeholder 3">
            <a:extLst>
              <a:ext uri="{FF2B5EF4-FFF2-40B4-BE49-F238E27FC236}">
                <a16:creationId xmlns:a16="http://schemas.microsoft.com/office/drawing/2014/main" id="{4E6C56CD-B343-2A8C-0C73-50F9ADEDE60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B7336C9-F557-5456-3AA5-964F4B9E8789}"/>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90131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399D9-FB45-3C28-D9F9-9C2725691A49}"/>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3" name="Footer Placeholder 2">
            <a:extLst>
              <a:ext uri="{FF2B5EF4-FFF2-40B4-BE49-F238E27FC236}">
                <a16:creationId xmlns:a16="http://schemas.microsoft.com/office/drawing/2014/main" id="{F9AC3ECF-8999-FA85-C90B-2EE07154DBE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14A8C02-1511-50FF-115C-345812D04C09}"/>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72514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F0612-ADB5-2D26-0CFA-9616872E09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C1A00C5A-4FD8-1C37-6CF8-01CFBFF566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B8EB4FA-791A-85B3-AEE0-260478B8B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302BD70-87E6-A3B1-3F07-88B099649B87}"/>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6" name="Footer Placeholder 5">
            <a:extLst>
              <a:ext uri="{FF2B5EF4-FFF2-40B4-BE49-F238E27FC236}">
                <a16:creationId xmlns:a16="http://schemas.microsoft.com/office/drawing/2014/main" id="{BE25A4BD-D824-8817-C6B5-9A3AE2F184E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D40EBA-26F7-09FF-10D2-A5DBCB5D8341}"/>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456016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1C236-44C3-E4F7-5253-3F4FE2B49C9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B885B9-5B38-77E5-3171-5B21176932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182C77A-7C07-D6B2-361D-E984CF278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AB7184F-61F1-B3AD-5D10-037759E0B26A}"/>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6" name="Footer Placeholder 5">
            <a:extLst>
              <a:ext uri="{FF2B5EF4-FFF2-40B4-BE49-F238E27FC236}">
                <a16:creationId xmlns:a16="http://schemas.microsoft.com/office/drawing/2014/main" id="{C34CE672-B4D7-103D-F0A3-2F98747AA8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0EF296-811A-3D4E-CE6F-294B4D34D1C3}"/>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011582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77C23-E6A1-546F-D81C-5B81F4AF322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57B1F0D-033A-B11C-34AC-3C120644223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5106513-31F3-E91A-B68C-E18421CF5374}"/>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924D0E42-B8F4-72F7-D446-03A8BBD636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B6E9D-B2F3-54B8-EA91-BA14A3FACB83}"/>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3336881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9DD19F-0754-F30B-2555-3250849E5FC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2E993B2-FFC8-443E-A6C0-EB1FE69F8BF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793358A-B713-776E-F05D-A7D18C5F5A93}"/>
              </a:ext>
            </a:extLst>
          </p:cNvPr>
          <p:cNvSpPr>
            <a:spLocks noGrp="1"/>
          </p:cNvSpPr>
          <p:nvPr>
            <p:ph type="dt" sz="half" idx="10"/>
          </p:nvPr>
        </p:nvSpPr>
        <p:spPr/>
        <p:txBody>
          <a:body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161EF52E-2DC3-DFFE-7F6E-86F48AD35C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9E148C-58C3-9F59-3903-AE7BB21D0538}"/>
              </a:ext>
            </a:extLst>
          </p:cNvPr>
          <p:cNvSpPr>
            <a:spLocks noGrp="1"/>
          </p:cNvSpPr>
          <p:nvPr>
            <p:ph type="sldNum" sz="quarter" idx="12"/>
          </p:nvPr>
        </p:nvSpPr>
        <p:spPr/>
        <p:txBody>
          <a:bodyPr/>
          <a:lstStyle/>
          <a:p>
            <a:fld id="{76B1F475-EBA2-46F5-80FD-483EF9506CC3}" type="slidenum">
              <a:rPr lang="en-GB" smtClean="0"/>
              <a:t>‹#›</a:t>
            </a:fld>
            <a:endParaRPr lang="en-GB"/>
          </a:p>
        </p:txBody>
      </p:sp>
    </p:spTree>
    <p:extLst>
      <p:ext uri="{BB962C8B-B14F-4D97-AF65-F5344CB8AC3E}">
        <p14:creationId xmlns:p14="http://schemas.microsoft.com/office/powerpoint/2010/main" val="19828273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8F3D80-4FC1-2E34-4473-3B6DE3F731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BB0B5773-305D-BCAD-DEE5-7EEB3AF51C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4406ED-6FC1-5B03-CC19-B56196C8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FD9C38-4F67-4302-B36F-804A48A2F5E9}" type="datetimeFigureOut">
              <a:rPr lang="en-GB" smtClean="0"/>
              <a:t>28/02/2025</a:t>
            </a:fld>
            <a:endParaRPr lang="en-GB"/>
          </a:p>
        </p:txBody>
      </p:sp>
      <p:sp>
        <p:nvSpPr>
          <p:cNvPr id="5" name="Footer Placeholder 4">
            <a:extLst>
              <a:ext uri="{FF2B5EF4-FFF2-40B4-BE49-F238E27FC236}">
                <a16:creationId xmlns:a16="http://schemas.microsoft.com/office/drawing/2014/main" id="{1F558EFC-0030-A53F-DA9B-FB6DB3493B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1256021-E9A4-7227-FB69-1C6041DEC0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B1F475-EBA2-46F5-80FD-483EF9506CC3}" type="slidenum">
              <a:rPr lang="en-GB" smtClean="0"/>
              <a:t>‹#›</a:t>
            </a:fld>
            <a:endParaRPr lang="en-GB"/>
          </a:p>
        </p:txBody>
      </p:sp>
    </p:spTree>
    <p:extLst>
      <p:ext uri="{BB962C8B-B14F-4D97-AF65-F5344CB8AC3E}">
        <p14:creationId xmlns:p14="http://schemas.microsoft.com/office/powerpoint/2010/main" val="2980681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731520" y="841248"/>
            <a:ext cx="2798064" cy="932688"/>
          </a:xfrm>
          <a:prstGeom prst="rect">
            <a:avLst/>
          </a:prstGeom>
        </p:spPr>
      </p:pic>
      <p:sp>
        <p:nvSpPr>
          <p:cNvPr id="6" name="TextBox 5"/>
          <p:cNvSpPr txBox="1"/>
          <p:nvPr/>
        </p:nvSpPr>
        <p:spPr>
          <a:xfrm>
            <a:off x="731520" y="2212848"/>
            <a:ext cx="10607040" cy="310896"/>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29ABE2"/>
                </a:solidFill>
                <a:latin typeface="Aptos"/>
              </a:rPr>
              <a:t>NOBLEPROG · DEVOPS PROFESSIONAL · UNICREDIT · DAY 1 OF 6</a:t>
            </a:r>
          </a:p>
        </p:txBody>
      </p:sp>
      <p:sp>
        <p:nvSpPr>
          <p:cNvPr id="7" name="TextBox 6"/>
          <p:cNvSpPr txBox="1"/>
          <p:nvPr/>
        </p:nvSpPr>
        <p:spPr>
          <a:xfrm>
            <a:off x="731520" y="2615184"/>
            <a:ext cx="10424160" cy="1097280"/>
          </a:xfrm>
          <a:prstGeom prst="rect">
            <a:avLst/>
          </a:prstGeom>
          <a:noFill/>
        </p:spPr>
        <p:txBody>
          <a:bodyPr wrap="square" lIns="73152" rIns="73152" tIns="36576" bIns="36576" anchor="t">
            <a:spAutoFit/>
          </a:bodyPr>
          <a:lstStyle/>
          <a:p>
            <a:pPr algn="l">
              <a:lnSpc>
                <a:spcPct val="100000"/>
              </a:lnSpc>
              <a:spcAft>
                <a:spcPts val="200"/>
              </a:spcAft>
            </a:pPr>
            <a:r>
              <a:rPr sz="3400" b="1" i="0">
                <a:solidFill>
                  <a:srgbClr val="123A5F"/>
                </a:solidFill>
                <a:latin typeface="Aptos Display"/>
              </a:rPr>
              <a:t>DevOps Foundations</a:t>
            </a:r>
          </a:p>
        </p:txBody>
      </p:sp>
      <p:cxnSp>
        <p:nvCxnSpPr>
          <p:cNvPr id="8" name="Connector 7"/>
          <p:cNvCxnSpPr/>
          <p:nvPr/>
        </p:nvCxnSpPr>
        <p:spPr>
          <a:xfrm>
            <a:off x="731520" y="3959352"/>
            <a:ext cx="2926080" cy="0"/>
          </a:xfrm>
          <a:prstGeom prst="line">
            <a:avLst/>
          </a:prstGeom>
          <a:ln w="31750">
            <a:solidFill>
              <a:srgbClr val="29AB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4114800"/>
            <a:ext cx="10424160" cy="402336"/>
          </a:xfrm>
          <a:prstGeom prst="rect">
            <a:avLst/>
          </a:prstGeom>
          <a:noFill/>
        </p:spPr>
        <p:txBody>
          <a:bodyPr wrap="square" lIns="73152" rIns="73152" tIns="36576" bIns="36576" anchor="t">
            <a:spAutoFit/>
          </a:bodyPr>
          <a:lstStyle/>
          <a:p>
            <a:pPr algn="l">
              <a:lnSpc>
                <a:spcPct val="92000"/>
              </a:lnSpc>
              <a:spcAft>
                <a:spcPts val="200"/>
              </a:spcAft>
            </a:pPr>
            <a:r>
              <a:rPr sz="1500" b="0" i="0">
                <a:solidFill>
                  <a:srgbClr val="5A6570"/>
                </a:solidFill>
                <a:latin typeface="Aptos"/>
              </a:rPr>
              <a:t>Why DevOps exists, what it actually is, and how work really flows</a:t>
            </a:r>
          </a:p>
        </p:txBody>
      </p:sp>
      <p:sp>
        <p:nvSpPr>
          <p:cNvPr id="10" name="Rectangle 9"/>
          <p:cNvSpPr/>
          <p:nvPr/>
        </p:nvSpPr>
        <p:spPr>
          <a:xfrm>
            <a:off x="731520" y="47137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987552" y="4604004"/>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Module 1 — definition, culture, CALMS, the lifecycle, value streams, DORA</a:t>
            </a:r>
          </a:p>
        </p:txBody>
      </p:sp>
      <p:sp>
        <p:nvSpPr>
          <p:cNvPr id="12" name="Rectangle 11"/>
          <p:cNvSpPr/>
          <p:nvPr/>
        </p:nvSpPr>
        <p:spPr>
          <a:xfrm>
            <a:off x="731520" y="50429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87552" y="4933188"/>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Module 2a — Git fundamentals: the object model, the four areas, undo</a:t>
            </a:r>
          </a:p>
        </p:txBody>
      </p:sp>
      <p:sp>
        <p:nvSpPr>
          <p:cNvPr id="14" name="Rectangle 13"/>
          <p:cNvSpPr/>
          <p:nvPr/>
        </p:nvSpPr>
        <p:spPr>
          <a:xfrm>
            <a:off x="731520" y="53721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87552" y="5262372"/>
            <a:ext cx="9966960" cy="292608"/>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F2933"/>
                </a:solidFill>
                <a:latin typeface="Aptos"/>
              </a:rPr>
              <a:t>After class — Labs 00–02: toolchain · your own value stream map · first repository</a:t>
            </a:r>
          </a:p>
        </p:txBody>
      </p:sp>
      <p:sp>
        <p:nvSpPr>
          <p:cNvPr id="16" name="TextBox 15"/>
          <p:cNvSpPr txBox="1"/>
          <p:nvPr/>
        </p:nvSpPr>
        <p:spPr>
          <a:xfrm>
            <a:off x="731520" y="6053328"/>
            <a:ext cx="10424160" cy="310896"/>
          </a:xfrm>
          <a:prstGeom prst="rect">
            <a:avLst/>
          </a:prstGeom>
          <a:noFill/>
        </p:spPr>
        <p:txBody>
          <a:bodyPr wrap="square" lIns="73152" rIns="73152" tIns="36576" bIns="36576" anchor="t">
            <a:spAutoFit/>
          </a:bodyPr>
          <a:lstStyle/>
          <a:p>
            <a:pPr algn="l">
              <a:lnSpc>
                <a:spcPct val="92000"/>
              </a:lnSpc>
              <a:spcAft>
                <a:spcPts val="200"/>
              </a:spcAft>
            </a:pPr>
            <a:r>
              <a:rPr sz="1050" b="0" i="1">
                <a:solidFill>
                  <a:srgbClr val="5A6570"/>
                </a:solidFill>
                <a:latin typeface="Aptos"/>
              </a:rPr>
              <a:t>PayTrack API — the card-authorisation service you will carry for six days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TODAY</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Day 1 at a glance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837943"/>
            <a:ext cx="1417320" cy="261850"/>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37943"/>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10" name="Rectangle 9"/>
          <p:cNvSpPr/>
          <p:nvPr/>
        </p:nvSpPr>
        <p:spPr>
          <a:xfrm>
            <a:off x="2075688" y="1837943"/>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2258568" y="1837943"/>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How the six days run · what DevOps is · the wall · the Three Ways</a:t>
            </a:r>
          </a:p>
        </p:txBody>
      </p:sp>
      <p:sp>
        <p:nvSpPr>
          <p:cNvPr id="12" name="Rectangle 11"/>
          <p:cNvSpPr/>
          <p:nvPr/>
        </p:nvSpPr>
        <p:spPr>
          <a:xfrm>
            <a:off x="658368" y="2209522"/>
            <a:ext cx="1417320" cy="261850"/>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58368" y="2209522"/>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14" name="Rectangle 13"/>
          <p:cNvSpPr/>
          <p:nvPr/>
        </p:nvSpPr>
        <p:spPr>
          <a:xfrm>
            <a:off x="2075688" y="2209522"/>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2258568" y="2209522"/>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Culture, Westrum, blameless reviews · principles · CALMS</a:t>
            </a:r>
          </a:p>
        </p:txBody>
      </p:sp>
      <p:sp>
        <p:nvSpPr>
          <p:cNvPr id="16" name="Rectangle 15"/>
          <p:cNvSpPr/>
          <p:nvPr/>
        </p:nvSpPr>
        <p:spPr>
          <a:xfrm>
            <a:off x="658368" y="2581101"/>
            <a:ext cx="1417320" cy="26185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658368" y="2581101"/>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EXERCISE</a:t>
            </a:r>
          </a:p>
        </p:txBody>
      </p:sp>
      <p:sp>
        <p:nvSpPr>
          <p:cNvPr id="18" name="Rectangle 17"/>
          <p:cNvSpPr/>
          <p:nvPr/>
        </p:nvSpPr>
        <p:spPr>
          <a:xfrm>
            <a:off x="2075688" y="2581101"/>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2258568" y="2581101"/>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COMPARE — rewrite a post-mortem finding  ·  AUDIT — score your CALMS</a:t>
            </a:r>
          </a:p>
        </p:txBody>
      </p:sp>
      <p:sp>
        <p:nvSpPr>
          <p:cNvPr id="20" name="Rectangle 19"/>
          <p:cNvSpPr/>
          <p:nvPr/>
        </p:nvSpPr>
        <p:spPr>
          <a:xfrm>
            <a:off x="658368" y="2952680"/>
            <a:ext cx="1417320" cy="261850"/>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58368" y="2952680"/>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22" name="Rectangle 21"/>
          <p:cNvSpPr/>
          <p:nvPr/>
        </p:nvSpPr>
        <p:spPr>
          <a:xfrm>
            <a:off x="2075688" y="2952680"/>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2258568" y="2952680"/>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Agile vs DevOps · the lifecycle · deploy is not release</a:t>
            </a:r>
          </a:p>
        </p:txBody>
      </p:sp>
      <p:sp>
        <p:nvSpPr>
          <p:cNvPr id="24" name="Rectangle 23"/>
          <p:cNvSpPr/>
          <p:nvPr/>
        </p:nvSpPr>
        <p:spPr>
          <a:xfrm>
            <a:off x="658368" y="3324259"/>
            <a:ext cx="1417320" cy="261850"/>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58368" y="3324259"/>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BREAK</a:t>
            </a:r>
          </a:p>
        </p:txBody>
      </p:sp>
      <p:sp>
        <p:nvSpPr>
          <p:cNvPr id="26" name="Rectangle 25"/>
          <p:cNvSpPr/>
          <p:nvPr/>
        </p:nvSpPr>
        <p:spPr>
          <a:xfrm>
            <a:off x="2075688" y="3324259"/>
            <a:ext cx="9454896" cy="26185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2258568" y="3324259"/>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0" i="0">
                <a:solidFill>
                  <a:srgbClr val="5A6570"/>
                </a:solidFill>
                <a:latin typeface="Aptos"/>
              </a:rPr>
              <a:t>Break · 15 minutes</a:t>
            </a:r>
          </a:p>
        </p:txBody>
      </p:sp>
      <p:sp>
        <p:nvSpPr>
          <p:cNvPr id="28" name="Rectangle 27"/>
          <p:cNvSpPr/>
          <p:nvPr/>
        </p:nvSpPr>
        <p:spPr>
          <a:xfrm>
            <a:off x="658368" y="3695838"/>
            <a:ext cx="1417320" cy="261850"/>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658368" y="3695838"/>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30" name="Rectangle 29"/>
          <p:cNvSpPr/>
          <p:nvPr/>
        </p:nvSpPr>
        <p:spPr>
          <a:xfrm>
            <a:off x="2075688" y="3695838"/>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2258568" y="3695838"/>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Flow: value streams, flow efficiency, Little's Law, the constraint</a:t>
            </a:r>
          </a:p>
        </p:txBody>
      </p:sp>
      <p:sp>
        <p:nvSpPr>
          <p:cNvPr id="32" name="Rectangle 31"/>
          <p:cNvSpPr/>
          <p:nvPr/>
        </p:nvSpPr>
        <p:spPr>
          <a:xfrm>
            <a:off x="658368" y="4067417"/>
            <a:ext cx="1417320" cy="26185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658368" y="4067417"/>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EXERCISE</a:t>
            </a:r>
          </a:p>
        </p:txBody>
      </p:sp>
      <p:sp>
        <p:nvSpPr>
          <p:cNvPr id="34" name="Rectangle 33"/>
          <p:cNvSpPr/>
          <p:nvPr/>
        </p:nvSpPr>
        <p:spPr>
          <a:xfrm>
            <a:off x="2075688" y="4067417"/>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TextBox 34"/>
          <p:cNvSpPr txBox="1"/>
          <p:nvPr/>
        </p:nvSpPr>
        <p:spPr>
          <a:xfrm>
            <a:off x="2258568" y="4067417"/>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PREDICT — where does the time go, and where is the constraint?</a:t>
            </a:r>
          </a:p>
        </p:txBody>
      </p:sp>
      <p:sp>
        <p:nvSpPr>
          <p:cNvPr id="36" name="Rectangle 35"/>
          <p:cNvSpPr/>
          <p:nvPr/>
        </p:nvSpPr>
        <p:spPr>
          <a:xfrm>
            <a:off x="658368" y="4438996"/>
            <a:ext cx="1417320" cy="261850"/>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658368" y="4438996"/>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THEORY</a:t>
            </a:r>
          </a:p>
        </p:txBody>
      </p:sp>
      <p:sp>
        <p:nvSpPr>
          <p:cNvPr id="38" name="Rectangle 37"/>
          <p:cNvSpPr/>
          <p:nvPr/>
        </p:nvSpPr>
        <p:spPr>
          <a:xfrm>
            <a:off x="2075688" y="4438996"/>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2258568" y="4438996"/>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DORA metrics · team topologies · anti-patterns · the toolchain</a:t>
            </a:r>
          </a:p>
        </p:txBody>
      </p:sp>
      <p:sp>
        <p:nvSpPr>
          <p:cNvPr id="40" name="Rectangle 39"/>
          <p:cNvSpPr/>
          <p:nvPr/>
        </p:nvSpPr>
        <p:spPr>
          <a:xfrm>
            <a:off x="658368" y="4810575"/>
            <a:ext cx="1417320" cy="261850"/>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658368" y="4810575"/>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LIVE DEMO</a:t>
            </a:r>
          </a:p>
        </p:txBody>
      </p:sp>
      <p:sp>
        <p:nvSpPr>
          <p:cNvPr id="42" name="Rectangle 41"/>
          <p:cNvSpPr/>
          <p:nvPr/>
        </p:nvSpPr>
        <p:spPr>
          <a:xfrm>
            <a:off x="2075688" y="4810575"/>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3" name="TextBox 42"/>
          <p:cNvSpPr txBox="1"/>
          <p:nvPr/>
        </p:nvSpPr>
        <p:spPr>
          <a:xfrm>
            <a:off x="2258568" y="4810575"/>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Git fundamentals — look inside .git, the four areas, undo safely</a:t>
            </a:r>
          </a:p>
        </p:txBody>
      </p:sp>
      <p:sp>
        <p:nvSpPr>
          <p:cNvPr id="44" name="Rectangle 43"/>
          <p:cNvSpPr/>
          <p:nvPr/>
        </p:nvSpPr>
        <p:spPr>
          <a:xfrm>
            <a:off x="658368" y="5182154"/>
            <a:ext cx="1417320" cy="261850"/>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5" name="TextBox 44"/>
          <p:cNvSpPr txBox="1"/>
          <p:nvPr/>
        </p:nvSpPr>
        <p:spPr>
          <a:xfrm>
            <a:off x="658368" y="5182154"/>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PRACTICAL</a:t>
            </a:r>
          </a:p>
        </p:txBody>
      </p:sp>
      <p:sp>
        <p:nvSpPr>
          <p:cNvPr id="46" name="Rectangle 45"/>
          <p:cNvSpPr/>
          <p:nvPr/>
        </p:nvSpPr>
        <p:spPr>
          <a:xfrm>
            <a:off x="2075688" y="5182154"/>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7" name="TextBox 46"/>
          <p:cNvSpPr txBox="1"/>
          <p:nvPr/>
        </p:nvSpPr>
        <p:spPr>
          <a:xfrm>
            <a:off x="2258568" y="5182154"/>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Start Lab 00 and Lab 02 together, then check your understanding</a:t>
            </a:r>
          </a:p>
        </p:txBody>
      </p:sp>
      <p:sp>
        <p:nvSpPr>
          <p:cNvPr id="48" name="Rectangle 47"/>
          <p:cNvSpPr/>
          <p:nvPr/>
        </p:nvSpPr>
        <p:spPr>
          <a:xfrm>
            <a:off x="658368" y="5553733"/>
            <a:ext cx="1417320" cy="26185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9" name="TextBox 48"/>
          <p:cNvSpPr txBox="1"/>
          <p:nvPr/>
        </p:nvSpPr>
        <p:spPr>
          <a:xfrm>
            <a:off x="658368" y="5553733"/>
            <a:ext cx="1417320" cy="261850"/>
          </a:xfrm>
          <a:prstGeom prst="rect">
            <a:avLst/>
          </a:prstGeom>
          <a:noFill/>
        </p:spPr>
        <p:txBody>
          <a:bodyPr wrap="square" lIns="73152" rIns="73152" tIns="36576" bIns="36576" anchor="ctr">
            <a:spAutoFit/>
          </a:bodyPr>
          <a:lstStyle/>
          <a:p>
            <a:pPr algn="ctr">
              <a:lnSpc>
                <a:spcPct val="92000"/>
              </a:lnSpc>
              <a:spcAft>
                <a:spcPts val="200"/>
              </a:spcAft>
            </a:pPr>
            <a:r>
              <a:rPr sz="900" b="1" i="0">
                <a:solidFill>
                  <a:srgbClr val="FFFFFF"/>
                </a:solidFill>
                <a:latin typeface="Aptos"/>
              </a:rPr>
              <a:t>AFTER CLASS</a:t>
            </a:r>
          </a:p>
        </p:txBody>
      </p:sp>
      <p:sp>
        <p:nvSpPr>
          <p:cNvPr id="50" name="Rectangle 49"/>
          <p:cNvSpPr/>
          <p:nvPr/>
        </p:nvSpPr>
        <p:spPr>
          <a:xfrm>
            <a:off x="2075688" y="5553733"/>
            <a:ext cx="9454896" cy="26185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1" name="TextBox 50"/>
          <p:cNvSpPr txBox="1"/>
          <p:nvPr/>
        </p:nvSpPr>
        <p:spPr>
          <a:xfrm>
            <a:off x="2258568" y="5553733"/>
            <a:ext cx="9134856" cy="261850"/>
          </a:xfrm>
          <a:prstGeom prst="rect">
            <a:avLst/>
          </a:prstGeom>
          <a:noFill/>
        </p:spPr>
        <p:txBody>
          <a:bodyPr wrap="square" lIns="73152" rIns="73152" tIns="36576" bIns="36576" anchor="ctr">
            <a:spAutoFit/>
          </a:bodyPr>
          <a:lstStyle/>
          <a:p>
            <a:pPr algn="l">
              <a:lnSpc>
                <a:spcPct val="92000"/>
              </a:lnSpc>
              <a:spcAft>
                <a:spcPts val="200"/>
              </a:spcAft>
            </a:pPr>
            <a:r>
              <a:rPr sz="1350" b="1" i="0">
                <a:solidFill>
                  <a:srgbClr val="123A5F"/>
                </a:solidFill>
                <a:latin typeface="Aptos"/>
              </a:rPr>
              <a:t>Finish Labs 00–02 · Lab 01 maps YOUR organisation's value stream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TODAY</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What today gives you</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76656" y="1860804"/>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932688" y="1741932"/>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DevOps defined precisely — and distinguished from the tooling</a:t>
            </a:r>
          </a:p>
        </p:txBody>
      </p:sp>
      <p:sp>
        <p:nvSpPr>
          <p:cNvPr id="10" name="TextBox 9"/>
          <p:cNvSpPr txBox="1"/>
          <p:nvPr/>
        </p:nvSpPr>
        <p:spPr>
          <a:xfrm>
            <a:off x="932688" y="2075688"/>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You will be able to answer "are we doing DevOps?" with evidence rather than a tool list</a:t>
            </a:r>
          </a:p>
        </p:txBody>
      </p:sp>
      <p:sp>
        <p:nvSpPr>
          <p:cNvPr id="11" name="Rectangle 10"/>
          <p:cNvSpPr/>
          <p:nvPr/>
        </p:nvSpPr>
        <p:spPr>
          <a:xfrm>
            <a:off x="676656" y="2742285"/>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32688" y="2623413"/>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Culture you can actually change</a:t>
            </a:r>
          </a:p>
        </p:txBody>
      </p:sp>
      <p:sp>
        <p:nvSpPr>
          <p:cNvPr id="13" name="TextBox 12"/>
          <p:cNvSpPr txBox="1"/>
          <p:nvPr/>
        </p:nvSpPr>
        <p:spPr>
          <a:xfrm>
            <a:off x="932688" y="2957169"/>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The three levers, Westrum's typology, and blameless reviews</a:t>
            </a:r>
          </a:p>
        </p:txBody>
      </p:sp>
      <p:sp>
        <p:nvSpPr>
          <p:cNvPr id="14" name="Rectangle 13"/>
          <p:cNvSpPr/>
          <p:nvPr/>
        </p:nvSpPr>
        <p:spPr>
          <a:xfrm>
            <a:off x="676656" y="3623767"/>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32688" y="3504895"/>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123A5F"/>
                </a:solidFill>
                <a:latin typeface="Aptos"/>
              </a:rPr>
              <a:t>The CALMS framework as a diagnostic you can score your own team against</a:t>
            </a:r>
          </a:p>
        </p:txBody>
      </p:sp>
      <p:sp>
        <p:nvSpPr>
          <p:cNvPr id="16" name="Rectangle 15"/>
          <p:cNvSpPr/>
          <p:nvPr/>
        </p:nvSpPr>
        <p:spPr>
          <a:xfrm>
            <a:off x="676656" y="4212640"/>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932688" y="4093768"/>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Value stream mapping — where your delivery time ACTUALLY goes</a:t>
            </a:r>
          </a:p>
        </p:txBody>
      </p:sp>
      <p:sp>
        <p:nvSpPr>
          <p:cNvPr id="18" name="TextBox 17"/>
          <p:cNvSpPr txBox="1"/>
          <p:nvPr/>
        </p:nvSpPr>
        <p:spPr>
          <a:xfrm>
            <a:off x="932688" y="4427524"/>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Most teams discover that 85–95 % of lead time is queue time, not work</a:t>
            </a:r>
          </a:p>
        </p:txBody>
      </p:sp>
      <p:sp>
        <p:nvSpPr>
          <p:cNvPr id="19" name="Rectangle 18"/>
          <p:cNvSpPr/>
          <p:nvPr/>
        </p:nvSpPr>
        <p:spPr>
          <a:xfrm>
            <a:off x="676656" y="5094122"/>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932688" y="4975250"/>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123A5F"/>
                </a:solidFill>
                <a:latin typeface="Aptos"/>
              </a:rPr>
              <a:t>The DORA metrics, and why speed and stability are not a trade-off</a:t>
            </a:r>
          </a:p>
        </p:txBody>
      </p:sp>
      <p:sp>
        <p:nvSpPr>
          <p:cNvPr id="21" name="Rectangle 20"/>
          <p:cNvSpPr/>
          <p:nvPr/>
        </p:nvSpPr>
        <p:spPr>
          <a:xfrm>
            <a:off x="676656" y="5682996"/>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932688" y="5564124"/>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123A5F"/>
                </a:solidFill>
                <a:latin typeface="Aptos"/>
              </a:rPr>
              <a:t>Git's object model — so every command stops being magic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HOW THE COURSE FITS TOGETHER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720" b="1" i="0">
                <a:solidFill>
                  <a:srgbClr val="123A5F"/>
                </a:solidFill>
                <a:latin typeface="Aptos Display"/>
              </a:rPr>
              <a:t>Six days, one thread — PayTrack API</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41247" y="1965960"/>
            <a:ext cx="0" cy="2882866"/>
          </a:xfrm>
          <a:prstGeom prst="line">
            <a:avLst/>
          </a:prstGeom>
          <a:ln w="25400">
            <a:solidFill>
              <a:srgbClr val="B9CBD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58368" y="1773936"/>
            <a:ext cx="365760" cy="365760"/>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658368" y="181965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1</a:t>
            </a:r>
          </a:p>
        </p:txBody>
      </p:sp>
      <p:sp>
        <p:nvSpPr>
          <p:cNvPr id="11" name="TextBox 10"/>
          <p:cNvSpPr txBox="1"/>
          <p:nvPr/>
        </p:nvSpPr>
        <p:spPr>
          <a:xfrm>
            <a:off x="1188719" y="1755648"/>
            <a:ext cx="10305288" cy="436405"/>
          </a:xfrm>
          <a:prstGeom prst="rect">
            <a:avLst/>
          </a:prstGeom>
          <a:noFill/>
        </p:spPr>
        <p:txBody>
          <a:bodyPr wrap="square" lIns="73152" rIns="73152" tIns="36576" bIns="36576">
            <a:spAutoFit/>
          </a:bodyPr>
          <a:lstStyle/>
          <a:p>
            <a:pPr>
              <a:lnSpc>
                <a:spcPct val="95000"/>
              </a:lnSpc>
              <a:spcAft>
                <a:spcPts val="100"/>
              </a:spcAft>
            </a:pPr>
            <a:r>
              <a:rPr sz="1030" b="1">
                <a:solidFill>
                  <a:srgbClr val="123A5F"/>
                </a:solidFill>
                <a:latin typeface="Aptos"/>
              </a:rPr>
              <a:t>Day 1 · Foundations and Git</a:t>
            </a:r>
          </a:p>
          <a:p>
            <a:pPr>
              <a:lnSpc>
                <a:spcPct val="95000"/>
              </a:lnSpc>
              <a:spcBef>
                <a:spcPts val="200"/>
              </a:spcBef>
              <a:spcAft>
                <a:spcPts val="100"/>
              </a:spcAft>
            </a:pPr>
            <a:r>
              <a:rPr sz="860" b="0">
                <a:solidFill>
                  <a:srgbClr val="5A6570"/>
                </a:solidFill>
                <a:latin typeface="Aptos"/>
              </a:rPr>
              <a:t>A value stream map of YOUR organisation, and a repository containing PayTrack API</a:t>
            </a:r>
          </a:p>
        </p:txBody>
      </p:sp>
      <p:sp>
        <p:nvSpPr>
          <p:cNvPr id="12" name="Oval 11"/>
          <p:cNvSpPr/>
          <p:nvPr/>
        </p:nvSpPr>
        <p:spPr>
          <a:xfrm>
            <a:off x="658368" y="2350509"/>
            <a:ext cx="365760" cy="365760"/>
          </a:xfrm>
          <a:prstGeom prst="ellipse">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58368" y="2396229"/>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2</a:t>
            </a:r>
          </a:p>
        </p:txBody>
      </p:sp>
      <p:sp>
        <p:nvSpPr>
          <p:cNvPr id="14" name="TextBox 13"/>
          <p:cNvSpPr txBox="1"/>
          <p:nvPr/>
        </p:nvSpPr>
        <p:spPr>
          <a:xfrm>
            <a:off x="1188719" y="2332221"/>
            <a:ext cx="10305288" cy="436405"/>
          </a:xfrm>
          <a:prstGeom prst="rect">
            <a:avLst/>
          </a:prstGeom>
          <a:noFill/>
        </p:spPr>
        <p:txBody>
          <a:bodyPr wrap="square" lIns="73152" rIns="73152" tIns="36576" bIns="36576">
            <a:spAutoFit/>
          </a:bodyPr>
          <a:lstStyle/>
          <a:p>
            <a:pPr>
              <a:lnSpc>
                <a:spcPct val="95000"/>
              </a:lnSpc>
              <a:spcAft>
                <a:spcPts val="100"/>
              </a:spcAft>
            </a:pPr>
            <a:r>
              <a:rPr sz="1030" b="1">
                <a:solidFill>
                  <a:srgbClr val="123A5F"/>
                </a:solidFill>
                <a:latin typeface="Aptos"/>
              </a:rPr>
              <a:t>Day 2 · Branching, pull requests, CI</a:t>
            </a:r>
          </a:p>
          <a:p>
            <a:pPr>
              <a:lnSpc>
                <a:spcPct val="95000"/>
              </a:lnSpc>
              <a:spcBef>
                <a:spcPts val="200"/>
              </a:spcBef>
              <a:spcAft>
                <a:spcPts val="100"/>
              </a:spcAft>
            </a:pPr>
            <a:r>
              <a:rPr sz="860" b="0">
                <a:solidFill>
                  <a:srgbClr val="5A6570"/>
                </a:solidFill>
                <a:latin typeface="Aptos"/>
              </a:rPr>
              <a:t>A protected GitHub repository where a broken change cannot be merged</a:t>
            </a:r>
          </a:p>
        </p:txBody>
      </p:sp>
      <p:sp>
        <p:nvSpPr>
          <p:cNvPr id="15" name="Oval 14"/>
          <p:cNvSpPr/>
          <p:nvPr/>
        </p:nvSpPr>
        <p:spPr>
          <a:xfrm>
            <a:off x="658368" y="2927082"/>
            <a:ext cx="365760" cy="365760"/>
          </a:xfrm>
          <a:prstGeom prst="ellipse">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58368" y="2972802"/>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3</a:t>
            </a:r>
          </a:p>
        </p:txBody>
      </p:sp>
      <p:sp>
        <p:nvSpPr>
          <p:cNvPr id="17" name="TextBox 16"/>
          <p:cNvSpPr txBox="1"/>
          <p:nvPr/>
        </p:nvSpPr>
        <p:spPr>
          <a:xfrm>
            <a:off x="1188719" y="2908794"/>
            <a:ext cx="10305288" cy="436405"/>
          </a:xfrm>
          <a:prstGeom prst="rect">
            <a:avLst/>
          </a:prstGeom>
          <a:noFill/>
        </p:spPr>
        <p:txBody>
          <a:bodyPr wrap="square" lIns="73152" rIns="73152" tIns="36576" bIns="36576">
            <a:spAutoFit/>
          </a:bodyPr>
          <a:lstStyle/>
          <a:p>
            <a:pPr>
              <a:lnSpc>
                <a:spcPct val="95000"/>
              </a:lnSpc>
              <a:spcAft>
                <a:spcPts val="100"/>
              </a:spcAft>
            </a:pPr>
            <a:r>
              <a:rPr sz="1030" b="1">
                <a:solidFill>
                  <a:srgbClr val="123A5F"/>
                </a:solidFill>
                <a:latin typeface="Aptos"/>
              </a:rPr>
              <a:t>Day 3 · Containers</a:t>
            </a:r>
          </a:p>
          <a:p>
            <a:pPr>
              <a:lnSpc>
                <a:spcPct val="95000"/>
              </a:lnSpc>
              <a:spcBef>
                <a:spcPts val="200"/>
              </a:spcBef>
              <a:spcAft>
                <a:spcPts val="100"/>
              </a:spcAft>
            </a:pPr>
            <a:r>
              <a:rPr sz="860" b="0">
                <a:solidFill>
                  <a:srgbClr val="5A6570"/>
                </a:solidFill>
                <a:latin typeface="Aptos"/>
              </a:rPr>
              <a:t>A hardened multi-stage image in a registry, and a full local stack with Compose</a:t>
            </a:r>
          </a:p>
        </p:txBody>
      </p:sp>
      <p:sp>
        <p:nvSpPr>
          <p:cNvPr id="18" name="Oval 17"/>
          <p:cNvSpPr/>
          <p:nvPr/>
        </p:nvSpPr>
        <p:spPr>
          <a:xfrm>
            <a:off x="658368" y="3503655"/>
            <a:ext cx="365760" cy="365760"/>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58368" y="3549375"/>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4</a:t>
            </a:r>
          </a:p>
        </p:txBody>
      </p:sp>
      <p:sp>
        <p:nvSpPr>
          <p:cNvPr id="20" name="TextBox 19"/>
          <p:cNvSpPr txBox="1"/>
          <p:nvPr/>
        </p:nvSpPr>
        <p:spPr>
          <a:xfrm>
            <a:off x="1188719" y="3485367"/>
            <a:ext cx="10305288" cy="436405"/>
          </a:xfrm>
          <a:prstGeom prst="rect">
            <a:avLst/>
          </a:prstGeom>
          <a:noFill/>
        </p:spPr>
        <p:txBody>
          <a:bodyPr wrap="square" lIns="73152" rIns="73152" tIns="36576" bIns="36576">
            <a:spAutoFit/>
          </a:bodyPr>
          <a:lstStyle/>
          <a:p>
            <a:pPr>
              <a:lnSpc>
                <a:spcPct val="95000"/>
              </a:lnSpc>
              <a:spcAft>
                <a:spcPts val="100"/>
              </a:spcAft>
            </a:pPr>
            <a:r>
              <a:rPr sz="1030" b="1">
                <a:solidFill>
                  <a:srgbClr val="123A5F"/>
                </a:solidFill>
                <a:latin typeface="Aptos"/>
              </a:rPr>
              <a:t>Day 4 · Kubernetes</a:t>
            </a:r>
          </a:p>
          <a:p>
            <a:pPr>
              <a:lnSpc>
                <a:spcPct val="95000"/>
              </a:lnSpc>
              <a:spcBef>
                <a:spcPts val="200"/>
              </a:spcBef>
              <a:spcAft>
                <a:spcPts val="100"/>
              </a:spcAft>
            </a:pPr>
            <a:r>
              <a:rPr sz="860" b="0">
                <a:solidFill>
                  <a:srgbClr val="5A6570"/>
                </a:solidFill>
                <a:latin typeface="Aptos"/>
              </a:rPr>
              <a:t>PayTrack on a 3-node cluster: probes, config, secrets, storage, ingress, autoscaling</a:t>
            </a:r>
          </a:p>
        </p:txBody>
      </p:sp>
      <p:sp>
        <p:nvSpPr>
          <p:cNvPr id="21" name="Oval 20"/>
          <p:cNvSpPr/>
          <p:nvPr/>
        </p:nvSpPr>
        <p:spPr>
          <a:xfrm>
            <a:off x="658368" y="4080228"/>
            <a:ext cx="365760" cy="365760"/>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658368" y="4125948"/>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5</a:t>
            </a:r>
          </a:p>
        </p:txBody>
      </p:sp>
      <p:sp>
        <p:nvSpPr>
          <p:cNvPr id="23" name="TextBox 22"/>
          <p:cNvSpPr txBox="1"/>
          <p:nvPr/>
        </p:nvSpPr>
        <p:spPr>
          <a:xfrm>
            <a:off x="1188719" y="4061940"/>
            <a:ext cx="10305288" cy="436405"/>
          </a:xfrm>
          <a:prstGeom prst="rect">
            <a:avLst/>
          </a:prstGeom>
          <a:noFill/>
        </p:spPr>
        <p:txBody>
          <a:bodyPr wrap="square" lIns="73152" rIns="73152" tIns="36576" bIns="36576">
            <a:spAutoFit/>
          </a:bodyPr>
          <a:lstStyle/>
          <a:p>
            <a:pPr>
              <a:lnSpc>
                <a:spcPct val="95000"/>
              </a:lnSpc>
              <a:spcAft>
                <a:spcPts val="100"/>
              </a:spcAft>
            </a:pPr>
            <a:r>
              <a:rPr sz="1030" b="1">
                <a:solidFill>
                  <a:srgbClr val="123A5F"/>
                </a:solidFill>
                <a:latin typeface="Aptos"/>
              </a:rPr>
              <a:t>Day 5 · Infrastructure as code and delivery</a:t>
            </a:r>
          </a:p>
          <a:p>
            <a:pPr>
              <a:lnSpc>
                <a:spcPct val="95000"/>
              </a:lnSpc>
              <a:spcBef>
                <a:spcPts val="200"/>
              </a:spcBef>
              <a:spcAft>
                <a:spcPts val="100"/>
              </a:spcAft>
            </a:pPr>
            <a:r>
              <a:rPr sz="860" b="0">
                <a:solidFill>
                  <a:srgbClr val="5A6570"/>
                </a:solidFill>
                <a:latin typeface="Aptos"/>
              </a:rPr>
              <a:t>Terraform and Ansible, a GitOps pipeline, blue-green, canary, rollback</a:t>
            </a:r>
          </a:p>
        </p:txBody>
      </p:sp>
      <p:sp>
        <p:nvSpPr>
          <p:cNvPr id="24" name="Oval 23"/>
          <p:cNvSpPr/>
          <p:nvPr/>
        </p:nvSpPr>
        <p:spPr>
          <a:xfrm>
            <a:off x="658368" y="4656802"/>
            <a:ext cx="365760" cy="365760"/>
          </a:xfrm>
          <a:prstGeom prst="ellipse">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58368" y="4702522"/>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6</a:t>
            </a:r>
          </a:p>
        </p:txBody>
      </p:sp>
      <p:sp>
        <p:nvSpPr>
          <p:cNvPr id="26" name="TextBox 25"/>
          <p:cNvSpPr txBox="1"/>
          <p:nvPr/>
        </p:nvSpPr>
        <p:spPr>
          <a:xfrm>
            <a:off x="1188719" y="4638514"/>
            <a:ext cx="10305288" cy="436405"/>
          </a:xfrm>
          <a:prstGeom prst="rect">
            <a:avLst/>
          </a:prstGeom>
          <a:noFill/>
        </p:spPr>
        <p:txBody>
          <a:bodyPr wrap="square" lIns="73152" rIns="73152" tIns="36576" bIns="36576">
            <a:spAutoFit/>
          </a:bodyPr>
          <a:lstStyle/>
          <a:p>
            <a:pPr>
              <a:lnSpc>
                <a:spcPct val="95000"/>
              </a:lnSpc>
              <a:spcAft>
                <a:spcPts val="100"/>
              </a:spcAft>
            </a:pPr>
            <a:r>
              <a:rPr sz="1030" b="1">
                <a:solidFill>
                  <a:srgbClr val="123A5F"/>
                </a:solidFill>
                <a:latin typeface="Aptos"/>
              </a:rPr>
              <a:t>Day 6 · DevSecOps, observability, enterprise</a:t>
            </a:r>
          </a:p>
          <a:p>
            <a:pPr>
              <a:lnSpc>
                <a:spcPct val="95000"/>
              </a:lnSpc>
              <a:spcBef>
                <a:spcPts val="200"/>
              </a:spcBef>
              <a:spcAft>
                <a:spcPts val="100"/>
              </a:spcAft>
            </a:pPr>
            <a:r>
              <a:rPr sz="860" b="0">
                <a:solidFill>
                  <a:srgbClr val="5A6570"/>
                </a:solidFill>
                <a:latin typeface="Aptos"/>
              </a:rPr>
              <a:t>Security gates, SLO alerts, an injected incident, your 30-60-90 plan</a:t>
            </a:r>
          </a:p>
        </p:txBody>
      </p:sp>
      <p:sp>
        <p:nvSpPr>
          <p:cNvPr id="27" name="Rectangle 26"/>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8" name="TextBox 27"/>
          <p:cNvSpPr txBox="1"/>
          <p:nvPr/>
        </p:nvSpPr>
        <p:spPr>
          <a:xfrm>
            <a:off x="804672" y="5404104"/>
            <a:ext cx="1046073"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THE RULE</a:t>
            </a:r>
          </a:p>
        </p:txBody>
      </p:sp>
      <p:sp>
        <p:nvSpPr>
          <p:cNvPr id="29" name="TextBox 28"/>
          <p:cNvSpPr txBox="1"/>
          <p:nvPr/>
        </p:nvSpPr>
        <p:spPr>
          <a:xfrm>
            <a:off x="1841601" y="5394959"/>
            <a:ext cx="9524390"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Each lab consumes what the previous lab produced. If you fall behind, every lab README has a RECOVER block that puts you back on the thread in a few commands.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1</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What DevOps Is</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A definition you can defend, and the problem it solves</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definition, clause by clause</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wall of confusion</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What DevOps is not</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Three Ways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§1.1</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DevOps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1005840"/>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100584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859536"/>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A set of cultural practices, engineering practices and tools that shortens the time between committing a change to a system and that change being placed into normal production, while ensuring high quality.</a:t>
            </a:r>
          </a:p>
        </p:txBody>
      </p:sp>
      <p:sp>
        <p:nvSpPr>
          <p:cNvPr id="11" name="Rectangle 10"/>
          <p:cNvSpPr/>
          <p:nvPr/>
        </p:nvSpPr>
        <p:spPr>
          <a:xfrm>
            <a:off x="676656" y="3099815"/>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990087"/>
            <a:ext cx="10561320" cy="206795"/>
          </a:xfrm>
          <a:prstGeom prst="rect">
            <a:avLst/>
          </a:prstGeom>
          <a:noFill/>
        </p:spPr>
        <p:txBody>
          <a:bodyPr wrap="square" lIns="73152" rIns="73152" tIns="36576" bIns="36576" anchor="t">
            <a:spAutoFit/>
          </a:bodyPr>
          <a:lstStyle/>
          <a:p>
            <a:pPr algn="l">
              <a:lnSpc>
                <a:spcPct val="92000"/>
              </a:lnSpc>
              <a:spcAft>
                <a:spcPts val="200"/>
              </a:spcAft>
            </a:pPr>
            <a:r>
              <a:rPr sz="980" b="1" i="0">
                <a:solidFill>
                  <a:srgbClr val="123A5F"/>
                </a:solidFill>
                <a:latin typeface="Aptos"/>
              </a:rPr>
              <a:t>Bass, Weber and Zhu, 2015</a:t>
            </a:r>
          </a:p>
        </p:txBody>
      </p:sp>
      <p:sp>
        <p:nvSpPr>
          <p:cNvPr id="13" name="TextBox 12"/>
          <p:cNvSpPr txBox="1"/>
          <p:nvPr/>
        </p:nvSpPr>
        <p:spPr>
          <a:xfrm>
            <a:off x="950976" y="3242603"/>
            <a:ext cx="10561320" cy="179222"/>
          </a:xfrm>
          <a:prstGeom prst="rect">
            <a:avLst/>
          </a:prstGeom>
          <a:noFill/>
        </p:spPr>
        <p:txBody>
          <a:bodyPr wrap="square" lIns="73152" rIns="73152" tIns="36576" bIns="36576" anchor="t">
            <a:spAutoFit/>
          </a:bodyPr>
          <a:lstStyle/>
          <a:p>
            <a:pPr algn="l">
              <a:lnSpc>
                <a:spcPct val="92000"/>
              </a:lnSpc>
              <a:spcAft>
                <a:spcPts val="200"/>
              </a:spcAft>
            </a:pPr>
            <a:r>
              <a:rPr sz="810" b="0" i="0">
                <a:solidFill>
                  <a:srgbClr val="5A6570"/>
                </a:solidFill>
                <a:latin typeface="Aptos"/>
              </a:rPr>
              <a:t>The most useful definition in circulation, because every clause is testable</a:t>
            </a:r>
          </a:p>
        </p:txBody>
      </p:sp>
      <p:sp>
        <p:nvSpPr>
          <p:cNvPr id="14" name="Rectangle 13"/>
          <p:cNvSpPr/>
          <p:nvPr/>
        </p:nvSpPr>
        <p:spPr>
          <a:xfrm>
            <a:off x="676656" y="3653895"/>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44167"/>
            <a:ext cx="10561320" cy="206795"/>
          </a:xfrm>
          <a:prstGeom prst="rect">
            <a:avLst/>
          </a:prstGeom>
          <a:noFill/>
        </p:spPr>
        <p:txBody>
          <a:bodyPr wrap="square" lIns="73152" rIns="73152" tIns="36576" bIns="36576" anchor="t">
            <a:spAutoFit/>
          </a:bodyPr>
          <a:lstStyle/>
          <a:p>
            <a:pPr algn="l">
              <a:lnSpc>
                <a:spcPct val="92000"/>
              </a:lnSpc>
              <a:spcAft>
                <a:spcPts val="200"/>
              </a:spcAft>
            </a:pPr>
            <a:r>
              <a:rPr sz="980" b="1" i="0">
                <a:solidFill>
                  <a:srgbClr val="123A5F"/>
                </a:solidFill>
                <a:latin typeface="Aptos"/>
              </a:rPr>
              <a:t>It names no tool, no cloud, no container, no job title</a:t>
            </a:r>
          </a:p>
        </p:txBody>
      </p:sp>
      <p:sp>
        <p:nvSpPr>
          <p:cNvPr id="16" name="TextBox 15"/>
          <p:cNvSpPr txBox="1"/>
          <p:nvPr/>
        </p:nvSpPr>
        <p:spPr>
          <a:xfrm>
            <a:off x="950976" y="3796682"/>
            <a:ext cx="10561320" cy="179222"/>
          </a:xfrm>
          <a:prstGeom prst="rect">
            <a:avLst/>
          </a:prstGeom>
          <a:noFill/>
        </p:spPr>
        <p:txBody>
          <a:bodyPr wrap="square" lIns="73152" rIns="73152" tIns="36576" bIns="36576" anchor="t">
            <a:spAutoFit/>
          </a:bodyPr>
          <a:lstStyle/>
          <a:p>
            <a:pPr algn="l">
              <a:lnSpc>
                <a:spcPct val="92000"/>
              </a:lnSpc>
              <a:spcAft>
                <a:spcPts val="200"/>
              </a:spcAft>
            </a:pPr>
            <a:r>
              <a:rPr sz="810" b="0" i="0">
                <a:solidFill>
                  <a:srgbClr val="5A6570"/>
                </a:solidFill>
                <a:latin typeface="Aptos"/>
              </a:rPr>
              <a:t>Those are implementation details</a:t>
            </a:r>
          </a:p>
        </p:txBody>
      </p:sp>
      <p:sp>
        <p:nvSpPr>
          <p:cNvPr id="17" name="Rectangle 16"/>
          <p:cNvSpPr/>
          <p:nvPr/>
        </p:nvSpPr>
        <p:spPr>
          <a:xfrm>
            <a:off x="676656" y="4207975"/>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098247"/>
            <a:ext cx="10561320" cy="206795"/>
          </a:xfrm>
          <a:prstGeom prst="rect">
            <a:avLst/>
          </a:prstGeom>
          <a:noFill/>
        </p:spPr>
        <p:txBody>
          <a:bodyPr wrap="square" lIns="73152" rIns="73152" tIns="36576" bIns="36576" anchor="t">
            <a:spAutoFit/>
          </a:bodyPr>
          <a:lstStyle/>
          <a:p>
            <a:pPr algn="l">
              <a:lnSpc>
                <a:spcPct val="92000"/>
              </a:lnSpc>
              <a:spcAft>
                <a:spcPts val="200"/>
              </a:spcAft>
            </a:pPr>
            <a:r>
              <a:rPr sz="980" b="1" i="0">
                <a:solidFill>
                  <a:srgbClr val="123A5F"/>
                </a:solidFill>
                <a:latin typeface="Aptos"/>
              </a:rPr>
              <a:t>The clock starts at COMMIT and stops at PRODUCTION</a:t>
            </a:r>
          </a:p>
        </p:txBody>
      </p:sp>
      <p:sp>
        <p:nvSpPr>
          <p:cNvPr id="19" name="TextBox 18"/>
          <p:cNvSpPr txBox="1"/>
          <p:nvPr/>
        </p:nvSpPr>
        <p:spPr>
          <a:xfrm>
            <a:off x="950976" y="4350762"/>
            <a:ext cx="10561320" cy="179222"/>
          </a:xfrm>
          <a:prstGeom prst="rect">
            <a:avLst/>
          </a:prstGeom>
          <a:noFill/>
        </p:spPr>
        <p:txBody>
          <a:bodyPr wrap="square" lIns="73152" rIns="73152" tIns="36576" bIns="36576" anchor="t">
            <a:spAutoFit/>
          </a:bodyPr>
          <a:lstStyle/>
          <a:p>
            <a:pPr algn="l">
              <a:lnSpc>
                <a:spcPct val="92000"/>
              </a:lnSpc>
              <a:spcAft>
                <a:spcPts val="200"/>
              </a:spcAft>
            </a:pPr>
            <a:r>
              <a:rPr sz="810" b="0" i="0">
                <a:solidFill>
                  <a:srgbClr val="5A6570"/>
                </a:solidFill>
                <a:latin typeface="Aptos"/>
              </a:rPr>
              <a:t>Not at "dev complete", and not at "passed QA"</a:t>
            </a:r>
          </a:p>
        </p:txBody>
      </p:sp>
      <p:sp>
        <p:nvSpPr>
          <p:cNvPr id="20" name="Rectangle 19"/>
          <p:cNvSpPr/>
          <p:nvPr/>
        </p:nvSpPr>
        <p:spPr>
          <a:xfrm>
            <a:off x="676656" y="4762054"/>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4652326"/>
            <a:ext cx="10561320" cy="206795"/>
          </a:xfrm>
          <a:prstGeom prst="rect">
            <a:avLst/>
          </a:prstGeom>
          <a:noFill/>
        </p:spPr>
        <p:txBody>
          <a:bodyPr wrap="square" lIns="73152" rIns="73152" tIns="36576" bIns="36576" anchor="t">
            <a:spAutoFit/>
          </a:bodyPr>
          <a:lstStyle/>
          <a:p>
            <a:pPr algn="l">
              <a:lnSpc>
                <a:spcPct val="92000"/>
              </a:lnSpc>
              <a:spcAft>
                <a:spcPts val="200"/>
              </a:spcAft>
            </a:pPr>
            <a:r>
              <a:rPr sz="980" b="1" i="0">
                <a:solidFill>
                  <a:srgbClr val="123A5F"/>
                </a:solidFill>
                <a:latin typeface="Aptos"/>
              </a:rPr>
              <a:t>Success is measured in OUTCOMES</a:t>
            </a:r>
          </a:p>
        </p:txBody>
      </p:sp>
      <p:sp>
        <p:nvSpPr>
          <p:cNvPr id="22" name="TextBox 21"/>
          <p:cNvSpPr txBox="1"/>
          <p:nvPr/>
        </p:nvSpPr>
        <p:spPr>
          <a:xfrm>
            <a:off x="950976" y="4904841"/>
            <a:ext cx="10561320" cy="179222"/>
          </a:xfrm>
          <a:prstGeom prst="rect">
            <a:avLst/>
          </a:prstGeom>
          <a:noFill/>
        </p:spPr>
        <p:txBody>
          <a:bodyPr wrap="square" lIns="73152" rIns="73152" tIns="36576" bIns="36576" anchor="t">
            <a:spAutoFit/>
          </a:bodyPr>
          <a:lstStyle/>
          <a:p>
            <a:pPr algn="l">
              <a:lnSpc>
                <a:spcPct val="92000"/>
              </a:lnSpc>
              <a:spcAft>
                <a:spcPts val="200"/>
              </a:spcAft>
            </a:pPr>
            <a:r>
              <a:rPr sz="810" b="0" i="0">
                <a:solidFill>
                  <a:srgbClr val="5A6570"/>
                </a:solidFill>
                <a:latin typeface="Aptos"/>
              </a:rPr>
              <a:t>Lead time, failure rate, recovery time — never tool adoption</a:t>
            </a:r>
          </a:p>
        </p:txBody>
      </p:sp>
      <p:sp>
        <p:nvSpPr>
          <p:cNvPr id="23" name="Rectangle 22"/>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804672" y="5404104"/>
            <a:ext cx="1135684"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WATCH FOR</a:t>
            </a:r>
          </a:p>
        </p:txBody>
      </p:sp>
      <p:sp>
        <p:nvSpPr>
          <p:cNvPr id="25" name="TextBox 24"/>
          <p:cNvSpPr txBox="1"/>
          <p:nvPr/>
        </p:nvSpPr>
        <p:spPr>
          <a:xfrm>
            <a:off x="1931212" y="5394959"/>
            <a:ext cx="9434779"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If the answer to "are we doing DevOps?" is a list of tools, the answer is no. Ask instead: who carries the pager for the code your developers write?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§1.1</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definition, clause by clause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3119723"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Clause</a:t>
            </a:r>
          </a:p>
        </p:txBody>
      </p:sp>
      <p:sp>
        <p:nvSpPr>
          <p:cNvPr id="10" name="TextBox 9"/>
          <p:cNvSpPr txBox="1"/>
          <p:nvPr/>
        </p:nvSpPr>
        <p:spPr>
          <a:xfrm>
            <a:off x="4034123" y="1828800"/>
            <a:ext cx="4252245"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Why it is there</a:t>
            </a:r>
          </a:p>
        </p:txBody>
      </p:sp>
      <p:sp>
        <p:nvSpPr>
          <p:cNvPr id="11" name="TextBox 10"/>
          <p:cNvSpPr txBox="1"/>
          <p:nvPr/>
        </p:nvSpPr>
        <p:spPr>
          <a:xfrm>
            <a:off x="8450960" y="1828800"/>
            <a:ext cx="3006471"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How you measure it</a:t>
            </a:r>
          </a:p>
        </p:txBody>
      </p:sp>
      <p:sp>
        <p:nvSpPr>
          <p:cNvPr id="12" name="Rectangle 11"/>
          <p:cNvSpPr/>
          <p:nvPr/>
        </p:nvSpPr>
        <p:spPr>
          <a:xfrm>
            <a:off x="658368" y="2167128"/>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3119723"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"cultural practices … and tools"</a:t>
            </a:r>
          </a:p>
        </p:txBody>
      </p:sp>
      <p:sp>
        <p:nvSpPr>
          <p:cNvPr id="14" name="TextBox 13"/>
          <p:cNvSpPr txBox="1"/>
          <p:nvPr/>
        </p:nvSpPr>
        <p:spPr>
          <a:xfrm>
            <a:off x="4034123" y="2185416"/>
            <a:ext cx="4252245"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Tools without cultural change produce automated dysfunction</a:t>
            </a:r>
          </a:p>
        </p:txBody>
      </p:sp>
      <p:sp>
        <p:nvSpPr>
          <p:cNvPr id="15" name="TextBox 14"/>
          <p:cNvSpPr txBox="1"/>
          <p:nvPr/>
        </p:nvSpPr>
        <p:spPr>
          <a:xfrm>
            <a:off x="8450960" y="2185416"/>
            <a:ext cx="3006471"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Team shape, incentives, on-call rota</a:t>
            </a:r>
          </a:p>
        </p:txBody>
      </p:sp>
      <p:sp>
        <p:nvSpPr>
          <p:cNvPr id="16" name="Rectangle 15"/>
          <p:cNvSpPr/>
          <p:nvPr/>
        </p:nvSpPr>
        <p:spPr>
          <a:xfrm>
            <a:off x="658368" y="2903220"/>
            <a:ext cx="10872216" cy="736092"/>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921508"/>
            <a:ext cx="3119723"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"shortens the time"</a:t>
            </a:r>
          </a:p>
        </p:txBody>
      </p:sp>
      <p:sp>
        <p:nvSpPr>
          <p:cNvPr id="18" name="TextBox 17"/>
          <p:cNvSpPr txBox="1"/>
          <p:nvPr/>
        </p:nvSpPr>
        <p:spPr>
          <a:xfrm>
            <a:off x="4034123" y="2921508"/>
            <a:ext cx="4252245"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objective is FLOW, not automation for its own sake</a:t>
            </a:r>
          </a:p>
        </p:txBody>
      </p:sp>
      <p:sp>
        <p:nvSpPr>
          <p:cNvPr id="19" name="TextBox 18"/>
          <p:cNvSpPr txBox="1"/>
          <p:nvPr/>
        </p:nvSpPr>
        <p:spPr>
          <a:xfrm>
            <a:off x="8450960" y="2921508"/>
            <a:ext cx="3006471"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Lead time for change</a:t>
            </a:r>
          </a:p>
        </p:txBody>
      </p:sp>
      <p:sp>
        <p:nvSpPr>
          <p:cNvPr id="20" name="Rectangle 19"/>
          <p:cNvSpPr/>
          <p:nvPr/>
        </p:nvSpPr>
        <p:spPr>
          <a:xfrm>
            <a:off x="658368" y="3639311"/>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657599"/>
            <a:ext cx="3119723"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"committing a change … into production"</a:t>
            </a:r>
          </a:p>
        </p:txBody>
      </p:sp>
      <p:sp>
        <p:nvSpPr>
          <p:cNvPr id="22" name="TextBox 21"/>
          <p:cNvSpPr txBox="1"/>
          <p:nvPr/>
        </p:nvSpPr>
        <p:spPr>
          <a:xfrm>
            <a:off x="4034123" y="3657599"/>
            <a:ext cx="4252245"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clock runs commit → production, nothing shorter</a:t>
            </a:r>
          </a:p>
        </p:txBody>
      </p:sp>
      <p:sp>
        <p:nvSpPr>
          <p:cNvPr id="23" name="TextBox 22"/>
          <p:cNvSpPr txBox="1"/>
          <p:nvPr/>
        </p:nvSpPr>
        <p:spPr>
          <a:xfrm>
            <a:off x="8450960" y="3657599"/>
            <a:ext cx="3006471"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Commit timestamp → deploy timestamp</a:t>
            </a:r>
          </a:p>
        </p:txBody>
      </p:sp>
      <p:sp>
        <p:nvSpPr>
          <p:cNvPr id="24" name="Rectangle 23"/>
          <p:cNvSpPr/>
          <p:nvPr/>
        </p:nvSpPr>
        <p:spPr>
          <a:xfrm>
            <a:off x="658368" y="4375403"/>
            <a:ext cx="10872216" cy="736092"/>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4393691"/>
            <a:ext cx="3119723"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"normal production"</a:t>
            </a:r>
          </a:p>
        </p:txBody>
      </p:sp>
      <p:sp>
        <p:nvSpPr>
          <p:cNvPr id="26" name="TextBox 25"/>
          <p:cNvSpPr txBox="1"/>
          <p:nvPr/>
        </p:nvSpPr>
        <p:spPr>
          <a:xfrm>
            <a:off x="4034123" y="4393691"/>
            <a:ext cx="4252245"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routine path — not a heroic weekend release</a:t>
            </a:r>
          </a:p>
        </p:txBody>
      </p:sp>
      <p:sp>
        <p:nvSpPr>
          <p:cNvPr id="27" name="TextBox 26"/>
          <p:cNvSpPr txBox="1"/>
          <p:nvPr/>
        </p:nvSpPr>
        <p:spPr>
          <a:xfrm>
            <a:off x="8450960" y="4393691"/>
            <a:ext cx="3006471"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Deployment frequency</a:t>
            </a:r>
          </a:p>
        </p:txBody>
      </p:sp>
      <p:sp>
        <p:nvSpPr>
          <p:cNvPr id="28" name="Rectangle 27"/>
          <p:cNvSpPr/>
          <p:nvPr/>
        </p:nvSpPr>
        <p:spPr>
          <a:xfrm>
            <a:off x="658368" y="5111495"/>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5129783"/>
            <a:ext cx="3119723"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"high quality"</a:t>
            </a:r>
          </a:p>
        </p:txBody>
      </p:sp>
      <p:sp>
        <p:nvSpPr>
          <p:cNvPr id="30" name="TextBox 29"/>
          <p:cNvSpPr txBox="1"/>
          <p:nvPr/>
        </p:nvSpPr>
        <p:spPr>
          <a:xfrm>
            <a:off x="4034123" y="5129783"/>
            <a:ext cx="4252245"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Speed without stability is a faster way to break things</a:t>
            </a:r>
          </a:p>
        </p:txBody>
      </p:sp>
      <p:sp>
        <p:nvSpPr>
          <p:cNvPr id="31" name="TextBox 30"/>
          <p:cNvSpPr txBox="1"/>
          <p:nvPr/>
        </p:nvSpPr>
        <p:spPr>
          <a:xfrm>
            <a:off x="8450960" y="5129783"/>
            <a:ext cx="3006471"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Change failure rate, recovery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THE WALL</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380" b="1" i="0">
                <a:solidFill>
                  <a:srgbClr val="123A5F"/>
                </a:solidFill>
                <a:latin typeface="Aptos Display"/>
              </a:rPr>
              <a:t>The problem DevOps was invented to solve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905701"/>
            <a:ext cx="4480560" cy="2861157"/>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2011972"/>
            <a:ext cx="4480560" cy="286115"/>
          </a:xfrm>
          <a:prstGeom prst="rect">
            <a:avLst/>
          </a:prstGeom>
          <a:noFill/>
        </p:spPr>
        <p:txBody>
          <a:bodyPr wrap="square" lIns="73152" rIns="73152" tIns="36576" bIns="36576" anchor="t">
            <a:spAutoFit/>
          </a:bodyPr>
          <a:lstStyle/>
          <a:p>
            <a:pPr algn="ctr">
              <a:lnSpc>
                <a:spcPct val="92000"/>
              </a:lnSpc>
              <a:spcAft>
                <a:spcPts val="200"/>
              </a:spcAft>
            </a:pPr>
            <a:r>
              <a:rPr sz="1300" b="1" i="0">
                <a:solidFill>
                  <a:srgbClr val="117A69"/>
                </a:solidFill>
                <a:latin typeface="Aptos"/>
              </a:rPr>
              <a:t>DEVELOPMENT</a:t>
            </a:r>
          </a:p>
        </p:txBody>
      </p:sp>
      <p:sp>
        <p:nvSpPr>
          <p:cNvPr id="10" name="TextBox 9"/>
          <p:cNvSpPr txBox="1"/>
          <p:nvPr/>
        </p:nvSpPr>
        <p:spPr>
          <a:xfrm>
            <a:off x="932688" y="2437058"/>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Rewarded for CHANGE</a:t>
            </a:r>
          </a:p>
        </p:txBody>
      </p:sp>
      <p:sp>
        <p:nvSpPr>
          <p:cNvPr id="11" name="TextBox 10"/>
          <p:cNvSpPr txBox="1"/>
          <p:nvPr/>
        </p:nvSpPr>
        <p:spPr>
          <a:xfrm>
            <a:off x="932688" y="2813096"/>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Ships features</a:t>
            </a:r>
          </a:p>
        </p:txBody>
      </p:sp>
      <p:sp>
        <p:nvSpPr>
          <p:cNvPr id="12" name="TextBox 11"/>
          <p:cNvSpPr txBox="1"/>
          <p:nvPr/>
        </p:nvSpPr>
        <p:spPr>
          <a:xfrm>
            <a:off x="932688" y="3189134"/>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Owns the backlog</a:t>
            </a:r>
          </a:p>
        </p:txBody>
      </p:sp>
      <p:sp>
        <p:nvSpPr>
          <p:cNvPr id="13" name="TextBox 12"/>
          <p:cNvSpPr txBox="1"/>
          <p:nvPr/>
        </p:nvSpPr>
        <p:spPr>
          <a:xfrm>
            <a:off x="932688" y="3565172"/>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"It works on my machine"</a:t>
            </a:r>
          </a:p>
        </p:txBody>
      </p:sp>
      <p:sp>
        <p:nvSpPr>
          <p:cNvPr id="14" name="Rectangle 13"/>
          <p:cNvSpPr/>
          <p:nvPr/>
        </p:nvSpPr>
        <p:spPr>
          <a:xfrm>
            <a:off x="7050024" y="1905701"/>
            <a:ext cx="4480560" cy="2861157"/>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7050024" y="2011972"/>
            <a:ext cx="4480560" cy="286115"/>
          </a:xfrm>
          <a:prstGeom prst="rect">
            <a:avLst/>
          </a:prstGeom>
          <a:noFill/>
        </p:spPr>
        <p:txBody>
          <a:bodyPr wrap="square" lIns="73152" rIns="73152" tIns="36576" bIns="36576" anchor="t">
            <a:spAutoFit/>
          </a:bodyPr>
          <a:lstStyle/>
          <a:p>
            <a:pPr algn="ctr">
              <a:lnSpc>
                <a:spcPct val="92000"/>
              </a:lnSpc>
              <a:spcAft>
                <a:spcPts val="200"/>
              </a:spcAft>
            </a:pPr>
            <a:r>
              <a:rPr sz="1300" b="1" i="0">
                <a:solidFill>
                  <a:srgbClr val="D2760D"/>
                </a:solidFill>
                <a:latin typeface="Aptos"/>
              </a:rPr>
              <a:t>OPERATIONS</a:t>
            </a:r>
          </a:p>
        </p:txBody>
      </p:sp>
      <p:sp>
        <p:nvSpPr>
          <p:cNvPr id="16" name="TextBox 15"/>
          <p:cNvSpPr txBox="1"/>
          <p:nvPr/>
        </p:nvSpPr>
        <p:spPr>
          <a:xfrm>
            <a:off x="7324344" y="2437058"/>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Rewarded for STABILITY</a:t>
            </a:r>
          </a:p>
        </p:txBody>
      </p:sp>
      <p:sp>
        <p:nvSpPr>
          <p:cNvPr id="17" name="TextBox 16"/>
          <p:cNvSpPr txBox="1"/>
          <p:nvPr/>
        </p:nvSpPr>
        <p:spPr>
          <a:xfrm>
            <a:off x="7324344" y="2813096"/>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Carries the pager</a:t>
            </a:r>
          </a:p>
        </p:txBody>
      </p:sp>
      <p:sp>
        <p:nvSpPr>
          <p:cNvPr id="18" name="TextBox 17"/>
          <p:cNvSpPr txBox="1"/>
          <p:nvPr/>
        </p:nvSpPr>
        <p:spPr>
          <a:xfrm>
            <a:off x="7324344" y="3189134"/>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Owns uptime</a:t>
            </a:r>
          </a:p>
        </p:txBody>
      </p:sp>
      <p:sp>
        <p:nvSpPr>
          <p:cNvPr id="19" name="TextBox 18"/>
          <p:cNvSpPr txBox="1"/>
          <p:nvPr/>
        </p:nvSpPr>
        <p:spPr>
          <a:xfrm>
            <a:off x="7324344" y="3565172"/>
            <a:ext cx="3931920" cy="294290"/>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 "Then don't ship it"</a:t>
            </a:r>
          </a:p>
        </p:txBody>
      </p:sp>
      <p:sp>
        <p:nvSpPr>
          <p:cNvPr id="20" name="Rectangle 19"/>
          <p:cNvSpPr/>
          <p:nvPr/>
        </p:nvSpPr>
        <p:spPr>
          <a:xfrm>
            <a:off x="5248656" y="1783080"/>
            <a:ext cx="1691639" cy="3106399"/>
          </a:xfrm>
          <a:prstGeom prst="rect">
            <a:avLst/>
          </a:prstGeom>
          <a:solidFill>
            <a:srgbClr val="C9CED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5248656" y="1987447"/>
            <a:ext cx="1691639" cy="326989"/>
          </a:xfrm>
          <a:prstGeom prst="rect">
            <a:avLst/>
          </a:prstGeom>
          <a:noFill/>
        </p:spPr>
        <p:txBody>
          <a:bodyPr wrap="square" lIns="73152" rIns="73152" tIns="36576" bIns="36576" anchor="t">
            <a:spAutoFit/>
          </a:bodyPr>
          <a:lstStyle/>
          <a:p>
            <a:pPr algn="ctr">
              <a:lnSpc>
                <a:spcPct val="92000"/>
              </a:lnSpc>
              <a:spcAft>
                <a:spcPts val="200"/>
              </a:spcAft>
            </a:pPr>
            <a:r>
              <a:rPr sz="2000" b="1" i="0">
                <a:solidFill>
                  <a:srgbClr val="9AA3AC"/>
                </a:solidFill>
                <a:latin typeface="Aptos"/>
              </a:rPr>
              <a:t>▚</a:t>
            </a:r>
          </a:p>
        </p:txBody>
      </p:sp>
      <p:sp>
        <p:nvSpPr>
          <p:cNvPr id="22" name="TextBox 21"/>
          <p:cNvSpPr txBox="1"/>
          <p:nvPr/>
        </p:nvSpPr>
        <p:spPr>
          <a:xfrm>
            <a:off x="5248656" y="2461583"/>
            <a:ext cx="1691639" cy="326989"/>
          </a:xfrm>
          <a:prstGeom prst="rect">
            <a:avLst/>
          </a:prstGeom>
          <a:noFill/>
        </p:spPr>
        <p:txBody>
          <a:bodyPr wrap="square" lIns="73152" rIns="73152" tIns="36576" bIns="36576" anchor="t">
            <a:spAutoFit/>
          </a:bodyPr>
          <a:lstStyle/>
          <a:p>
            <a:pPr algn="ctr">
              <a:lnSpc>
                <a:spcPct val="92000"/>
              </a:lnSpc>
              <a:spcAft>
                <a:spcPts val="200"/>
              </a:spcAft>
            </a:pPr>
            <a:r>
              <a:rPr sz="2000" b="1" i="0">
                <a:solidFill>
                  <a:srgbClr val="9AA3AC"/>
                </a:solidFill>
                <a:latin typeface="Aptos"/>
              </a:rPr>
              <a:t>▚</a:t>
            </a:r>
          </a:p>
        </p:txBody>
      </p:sp>
      <p:sp>
        <p:nvSpPr>
          <p:cNvPr id="23" name="TextBox 22"/>
          <p:cNvSpPr txBox="1"/>
          <p:nvPr/>
        </p:nvSpPr>
        <p:spPr>
          <a:xfrm>
            <a:off x="5248656" y="2935717"/>
            <a:ext cx="1691639" cy="326989"/>
          </a:xfrm>
          <a:prstGeom prst="rect">
            <a:avLst/>
          </a:prstGeom>
          <a:noFill/>
        </p:spPr>
        <p:txBody>
          <a:bodyPr wrap="square" lIns="73152" rIns="73152" tIns="36576" bIns="36576" anchor="t">
            <a:spAutoFit/>
          </a:bodyPr>
          <a:lstStyle/>
          <a:p>
            <a:pPr algn="ctr">
              <a:lnSpc>
                <a:spcPct val="92000"/>
              </a:lnSpc>
              <a:spcAft>
                <a:spcPts val="200"/>
              </a:spcAft>
            </a:pPr>
            <a:r>
              <a:rPr sz="2000" b="1" i="0">
                <a:solidFill>
                  <a:srgbClr val="9AA3AC"/>
                </a:solidFill>
                <a:latin typeface="Aptos"/>
              </a:rPr>
              <a:t>▚</a:t>
            </a:r>
          </a:p>
        </p:txBody>
      </p:sp>
      <p:sp>
        <p:nvSpPr>
          <p:cNvPr id="24" name="TextBox 23"/>
          <p:cNvSpPr txBox="1"/>
          <p:nvPr/>
        </p:nvSpPr>
        <p:spPr>
          <a:xfrm>
            <a:off x="5248656" y="3409851"/>
            <a:ext cx="1691639" cy="326989"/>
          </a:xfrm>
          <a:prstGeom prst="rect">
            <a:avLst/>
          </a:prstGeom>
          <a:noFill/>
        </p:spPr>
        <p:txBody>
          <a:bodyPr wrap="square" lIns="73152" rIns="73152" tIns="36576" bIns="36576" anchor="t">
            <a:spAutoFit/>
          </a:bodyPr>
          <a:lstStyle/>
          <a:p>
            <a:pPr algn="ctr">
              <a:lnSpc>
                <a:spcPct val="92000"/>
              </a:lnSpc>
              <a:spcAft>
                <a:spcPts val="200"/>
              </a:spcAft>
            </a:pPr>
            <a:r>
              <a:rPr sz="2000" b="1" i="0">
                <a:solidFill>
                  <a:srgbClr val="9AA3AC"/>
                </a:solidFill>
                <a:latin typeface="Aptos"/>
              </a:rPr>
              <a:t>▚</a:t>
            </a:r>
          </a:p>
        </p:txBody>
      </p:sp>
      <p:sp>
        <p:nvSpPr>
          <p:cNvPr id="25" name="TextBox 24"/>
          <p:cNvSpPr txBox="1"/>
          <p:nvPr/>
        </p:nvSpPr>
        <p:spPr>
          <a:xfrm>
            <a:off x="5248656" y="3883986"/>
            <a:ext cx="1691639" cy="326989"/>
          </a:xfrm>
          <a:prstGeom prst="rect">
            <a:avLst/>
          </a:prstGeom>
          <a:noFill/>
        </p:spPr>
        <p:txBody>
          <a:bodyPr wrap="square" lIns="73152" rIns="73152" tIns="36576" bIns="36576" anchor="t">
            <a:spAutoFit/>
          </a:bodyPr>
          <a:lstStyle/>
          <a:p>
            <a:pPr algn="ctr">
              <a:lnSpc>
                <a:spcPct val="92000"/>
              </a:lnSpc>
              <a:spcAft>
                <a:spcPts val="200"/>
              </a:spcAft>
            </a:pPr>
            <a:r>
              <a:rPr sz="2000" b="1" i="0">
                <a:solidFill>
                  <a:srgbClr val="9AA3AC"/>
                </a:solidFill>
                <a:latin typeface="Aptos"/>
              </a:rPr>
              <a:t>▚</a:t>
            </a:r>
          </a:p>
        </p:txBody>
      </p:sp>
      <p:sp>
        <p:nvSpPr>
          <p:cNvPr id="26" name="TextBox 25"/>
          <p:cNvSpPr txBox="1"/>
          <p:nvPr/>
        </p:nvSpPr>
        <p:spPr>
          <a:xfrm>
            <a:off x="5248656" y="4358120"/>
            <a:ext cx="1691639" cy="326989"/>
          </a:xfrm>
          <a:prstGeom prst="rect">
            <a:avLst/>
          </a:prstGeom>
          <a:noFill/>
        </p:spPr>
        <p:txBody>
          <a:bodyPr wrap="square" lIns="73152" rIns="73152" tIns="36576" bIns="36576" anchor="t">
            <a:spAutoFit/>
          </a:bodyPr>
          <a:lstStyle/>
          <a:p>
            <a:pPr algn="ctr">
              <a:lnSpc>
                <a:spcPct val="92000"/>
              </a:lnSpc>
              <a:spcAft>
                <a:spcPts val="200"/>
              </a:spcAft>
            </a:pPr>
            <a:r>
              <a:rPr sz="2000" b="1" i="0">
                <a:solidFill>
                  <a:srgbClr val="9AA3AC"/>
                </a:solidFill>
                <a:latin typeface="Aptos"/>
              </a:rPr>
              <a:t>▚</a:t>
            </a:r>
          </a:p>
        </p:txBody>
      </p:sp>
      <p:sp>
        <p:nvSpPr>
          <p:cNvPr id="27" name="TextBox 26"/>
          <p:cNvSpPr txBox="1"/>
          <p:nvPr/>
        </p:nvSpPr>
        <p:spPr>
          <a:xfrm>
            <a:off x="4745736" y="4987576"/>
            <a:ext cx="2697480" cy="294290"/>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6B7580"/>
                </a:solidFill>
                <a:latin typeface="Aptos"/>
              </a:rPr>
              <a:t>THE WALL OF CONFUSION</a:t>
            </a:r>
          </a:p>
        </p:txBody>
      </p:sp>
      <p:sp>
        <p:nvSpPr>
          <p:cNvPr id="28" name="Rectangle 27"/>
          <p:cNvSpPr/>
          <p:nvPr/>
        </p:nvSpPr>
        <p:spPr>
          <a:xfrm>
            <a:off x="658368" y="5281867"/>
            <a:ext cx="10872216" cy="506833"/>
          </a:xfrm>
          <a:prstGeom prst="rect">
            <a:avLst/>
          </a:prstGeom>
          <a:solidFill>
            <a:srgbClr val="EDF4EA"/>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841247" y="5347264"/>
            <a:ext cx="10506456" cy="376037"/>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DevOps removes the wall by making the SAME team responsible for building it and running it — shared goals, shared pager, shared definition of done.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9</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§1.1</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What DevOps is not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49808" y="1783080"/>
            <a:ext cx="5298948"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A0275C"/>
                </a:solidFill>
                <a:latin typeface="Aptos"/>
              </a:rPr>
              <a:t>WHAT PEOPLE SAY</a:t>
            </a:r>
          </a:p>
        </p:txBody>
      </p:sp>
      <p:sp>
        <p:nvSpPr>
          <p:cNvPr id="9" name="TextBox 8"/>
          <p:cNvSpPr txBox="1"/>
          <p:nvPr/>
        </p:nvSpPr>
        <p:spPr>
          <a:xfrm>
            <a:off x="6323076" y="1783080"/>
            <a:ext cx="5298948"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IS ACTUALLY TRUE</a:t>
            </a:r>
          </a:p>
        </p:txBody>
      </p:sp>
      <p:sp>
        <p:nvSpPr>
          <p:cNvPr id="10" name="Rectangle 9"/>
          <p:cNvSpPr/>
          <p:nvPr/>
        </p:nvSpPr>
        <p:spPr>
          <a:xfrm>
            <a:off x="658368" y="2093976"/>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804672" y="2130552"/>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“DevOps is a job title.”</a:t>
            </a:r>
          </a:p>
        </p:txBody>
      </p:sp>
      <p:sp>
        <p:nvSpPr>
          <p:cNvPr id="12" name="Rectangle 11"/>
          <p:cNvSpPr/>
          <p:nvPr/>
        </p:nvSpPr>
        <p:spPr>
          <a:xfrm>
            <a:off x="6231636" y="2093976"/>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377940" y="2130552"/>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It is a way of working. A separate "DevOps team" between Dev and Ops is a third silo.</a:t>
            </a:r>
          </a:p>
        </p:txBody>
      </p:sp>
      <p:sp>
        <p:nvSpPr>
          <p:cNvPr id="14" name="Rectangle 13"/>
          <p:cNvSpPr/>
          <p:nvPr/>
        </p:nvSpPr>
        <p:spPr>
          <a:xfrm>
            <a:off x="658368" y="2839212"/>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804672" y="2875788"/>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“DevOps means no operations.”</a:t>
            </a:r>
          </a:p>
        </p:txBody>
      </p:sp>
      <p:sp>
        <p:nvSpPr>
          <p:cNvPr id="16" name="Rectangle 15"/>
          <p:cNvSpPr/>
          <p:nvPr/>
        </p:nvSpPr>
        <p:spPr>
          <a:xfrm>
            <a:off x="6231636" y="2839212"/>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6377940" y="2875788"/>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Operational concerns become SHARED; ops specialists build the platform that makes that possible.</a:t>
            </a:r>
          </a:p>
        </p:txBody>
      </p:sp>
      <p:sp>
        <p:nvSpPr>
          <p:cNvPr id="18" name="Rectangle 17"/>
          <p:cNvSpPr/>
          <p:nvPr/>
        </p:nvSpPr>
        <p:spPr>
          <a:xfrm>
            <a:off x="658368" y="3584448"/>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804672" y="3621024"/>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“DevOps is CI/CD tooling.”</a:t>
            </a:r>
          </a:p>
        </p:txBody>
      </p:sp>
      <p:sp>
        <p:nvSpPr>
          <p:cNvPr id="20" name="Rectangle 19"/>
          <p:cNvSpPr/>
          <p:nvPr/>
        </p:nvSpPr>
        <p:spPr>
          <a:xfrm>
            <a:off x="6231636" y="3584448"/>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377940" y="3621024"/>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CI/CD is a practice it depends on. A Jenkins server can still take six weeks to ship one line.</a:t>
            </a:r>
          </a:p>
        </p:txBody>
      </p:sp>
      <p:sp>
        <p:nvSpPr>
          <p:cNvPr id="22" name="Rectangle 21"/>
          <p:cNvSpPr/>
          <p:nvPr/>
        </p:nvSpPr>
        <p:spPr>
          <a:xfrm>
            <a:off x="658368" y="4329684"/>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804672" y="4366260"/>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“DevOps means deploying 100 times a day.”</a:t>
            </a:r>
          </a:p>
        </p:txBody>
      </p:sp>
      <p:sp>
        <p:nvSpPr>
          <p:cNvPr id="24" name="Rectangle 23"/>
          <p:cNvSpPr/>
          <p:nvPr/>
        </p:nvSpPr>
        <p:spPr>
          <a:xfrm>
            <a:off x="6231636" y="4329684"/>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377940" y="4366260"/>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Frequency is an indicator, not a target. Weekly with a 0.5 % failure rate can be excellent.</a:t>
            </a:r>
          </a:p>
        </p:txBody>
      </p:sp>
      <p:sp>
        <p:nvSpPr>
          <p:cNvPr id="26" name="Rectangle 25"/>
          <p:cNvSpPr/>
          <p:nvPr/>
        </p:nvSpPr>
        <p:spPr>
          <a:xfrm>
            <a:off x="658368" y="5074920"/>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804672" y="5111496"/>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“DevOps means no process or documentation.”</a:t>
            </a:r>
          </a:p>
        </p:txBody>
      </p:sp>
      <p:sp>
        <p:nvSpPr>
          <p:cNvPr id="28" name="Rectangle 27"/>
          <p:cNvSpPr/>
          <p:nvPr/>
        </p:nvSpPr>
        <p:spPr>
          <a:xfrm>
            <a:off x="6231636" y="5074920"/>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6377940" y="5111496"/>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It means LIGHT, AUTOMATED, ENFORCED process instead of heavy, manual, ignored process.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§1.1 — GENE KIM</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Three Ways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905701"/>
            <a:ext cx="10872216" cy="1226210"/>
          </a:xfrm>
          <a:prstGeom prst="rect">
            <a:avLst/>
          </a:prstGeom>
          <a:solidFill>
            <a:srgbClr val="E6F4F1"/>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905701"/>
            <a:ext cx="82296" cy="122621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896112" y="1987447"/>
            <a:ext cx="2468880" cy="212543"/>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5A6570"/>
                </a:solidFill>
                <a:latin typeface="Aptos"/>
              </a:rPr>
              <a:t>THE FIRST WAY</a:t>
            </a:r>
          </a:p>
        </p:txBody>
      </p:sp>
      <p:sp>
        <p:nvSpPr>
          <p:cNvPr id="11" name="TextBox 10"/>
          <p:cNvSpPr txBox="1"/>
          <p:nvPr/>
        </p:nvSpPr>
        <p:spPr>
          <a:xfrm>
            <a:off x="896112" y="2199991"/>
            <a:ext cx="2468880" cy="392387"/>
          </a:xfrm>
          <a:prstGeom prst="rect">
            <a:avLst/>
          </a:prstGeom>
          <a:noFill/>
        </p:spPr>
        <p:txBody>
          <a:bodyPr wrap="square" lIns="73152" rIns="73152" tIns="36576" bIns="36576" anchor="t">
            <a:spAutoFit/>
          </a:bodyPr>
          <a:lstStyle/>
          <a:p>
            <a:pPr algn="l">
              <a:lnSpc>
                <a:spcPct val="92000"/>
              </a:lnSpc>
              <a:spcAft>
                <a:spcPts val="200"/>
              </a:spcAft>
            </a:pPr>
            <a:r>
              <a:rPr sz="2200" b="1" i="0">
                <a:solidFill>
                  <a:srgbClr val="117A69"/>
                </a:solidFill>
                <a:latin typeface="Aptos Display"/>
              </a:rPr>
              <a:t>FLOW</a:t>
            </a:r>
          </a:p>
        </p:txBody>
      </p:sp>
      <p:sp>
        <p:nvSpPr>
          <p:cNvPr id="12" name="TextBox 11"/>
          <p:cNvSpPr txBox="1"/>
          <p:nvPr/>
        </p:nvSpPr>
        <p:spPr>
          <a:xfrm>
            <a:off x="896112" y="2625077"/>
            <a:ext cx="2331720" cy="425086"/>
          </a:xfrm>
          <a:prstGeom prst="rect">
            <a:avLst/>
          </a:prstGeom>
          <a:noFill/>
        </p:spPr>
        <p:txBody>
          <a:bodyPr wrap="square" lIns="73152" rIns="73152" tIns="36576" bIns="36576" anchor="t">
            <a:spAutoFit/>
          </a:bodyPr>
          <a:lstStyle/>
          <a:p>
            <a:pPr algn="l">
              <a:lnSpc>
                <a:spcPct val="92000"/>
              </a:lnSpc>
              <a:spcAft>
                <a:spcPts val="200"/>
              </a:spcAft>
            </a:pPr>
            <a:r>
              <a:rPr sz="1000" b="0" i="0">
                <a:solidFill>
                  <a:srgbClr val="5A6570"/>
                </a:solidFill>
                <a:latin typeface="Aptos"/>
              </a:rPr>
              <a:t>left to right, from the business to the customer</a:t>
            </a:r>
          </a:p>
        </p:txBody>
      </p:sp>
      <p:sp>
        <p:nvSpPr>
          <p:cNvPr id="13" name="Rectangle 12"/>
          <p:cNvSpPr/>
          <p:nvPr/>
        </p:nvSpPr>
        <p:spPr>
          <a:xfrm>
            <a:off x="3447287" y="2036496"/>
            <a:ext cx="1298448" cy="343338"/>
          </a:xfrm>
          <a:prstGeom prst="rect">
            <a:avLst/>
          </a:prstGeom>
          <a:solidFill>
            <a:srgbClr val="FFFFFF"/>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Business</a:t>
            </a:r>
          </a:p>
        </p:txBody>
      </p:sp>
      <p:sp>
        <p:nvSpPr>
          <p:cNvPr id="14" name="Rectangle 13"/>
          <p:cNvSpPr/>
          <p:nvPr/>
        </p:nvSpPr>
        <p:spPr>
          <a:xfrm>
            <a:off x="5086350" y="2036496"/>
            <a:ext cx="1298448" cy="343338"/>
          </a:xfrm>
          <a:prstGeom prst="rect">
            <a:avLst/>
          </a:prstGeom>
          <a:solidFill>
            <a:srgbClr val="FFFFFF"/>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Dev</a:t>
            </a:r>
          </a:p>
        </p:txBody>
      </p:sp>
      <p:sp>
        <p:nvSpPr>
          <p:cNvPr id="15" name="Rectangle 14"/>
          <p:cNvSpPr/>
          <p:nvPr/>
        </p:nvSpPr>
        <p:spPr>
          <a:xfrm>
            <a:off x="6725412" y="2036496"/>
            <a:ext cx="1298448" cy="343338"/>
          </a:xfrm>
          <a:prstGeom prst="rect">
            <a:avLst/>
          </a:prstGeom>
          <a:solidFill>
            <a:srgbClr val="FFFFFF"/>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Test</a:t>
            </a:r>
          </a:p>
        </p:txBody>
      </p:sp>
      <p:sp>
        <p:nvSpPr>
          <p:cNvPr id="16" name="Rectangle 15"/>
          <p:cNvSpPr/>
          <p:nvPr/>
        </p:nvSpPr>
        <p:spPr>
          <a:xfrm>
            <a:off x="8364473" y="2036496"/>
            <a:ext cx="1298448" cy="343338"/>
          </a:xfrm>
          <a:prstGeom prst="rect">
            <a:avLst/>
          </a:prstGeom>
          <a:solidFill>
            <a:srgbClr val="FFFFFF"/>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Ops</a:t>
            </a:r>
          </a:p>
        </p:txBody>
      </p:sp>
      <p:sp>
        <p:nvSpPr>
          <p:cNvPr id="17" name="Rectangle 16"/>
          <p:cNvSpPr/>
          <p:nvPr/>
        </p:nvSpPr>
        <p:spPr>
          <a:xfrm>
            <a:off x="10003536" y="2036496"/>
            <a:ext cx="1298448" cy="343338"/>
          </a:xfrm>
          <a:prstGeom prst="rect">
            <a:avLst/>
          </a:prstGeom>
          <a:solidFill>
            <a:srgbClr val="FFFFFF"/>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Customer</a:t>
            </a:r>
          </a:p>
        </p:txBody>
      </p:sp>
      <p:sp>
        <p:nvSpPr>
          <p:cNvPr id="18" name="Right Arrow 17"/>
          <p:cNvSpPr/>
          <p:nvPr/>
        </p:nvSpPr>
        <p:spPr>
          <a:xfrm>
            <a:off x="3447287" y="2445233"/>
            <a:ext cx="7854696" cy="163494"/>
          </a:xfrm>
          <a:prstGeom prst="rightArrow">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7287" y="2674125"/>
            <a:ext cx="7854696" cy="408736"/>
          </a:xfrm>
          <a:prstGeom prst="rect">
            <a:avLst/>
          </a:prstGeom>
          <a:noFill/>
        </p:spPr>
        <p:txBody>
          <a:bodyPr wrap="square" lIns="73152" rIns="73152" tIns="36576" bIns="36576" anchor="t">
            <a:spAutoFit/>
          </a:bodyPr>
          <a:lstStyle/>
          <a:p>
            <a:pPr algn="ctr">
              <a:lnSpc>
                <a:spcPct val="92000"/>
              </a:lnSpc>
              <a:spcAft>
                <a:spcPts val="200"/>
              </a:spcAft>
            </a:pPr>
            <a:r>
              <a:rPr sz="1100" b="0" i="0">
                <a:solidFill>
                  <a:srgbClr val="123A5F"/>
                </a:solidFill>
                <a:latin typeface="Aptos"/>
              </a:rPr>
              <a:t>Small batches  ·  limit work in progress  ·  never pass a defect downstream  ·  remove hand-offs</a:t>
            </a:r>
          </a:p>
        </p:txBody>
      </p:sp>
      <p:sp>
        <p:nvSpPr>
          <p:cNvPr id="20" name="Rectangle 19"/>
          <p:cNvSpPr/>
          <p:nvPr/>
        </p:nvSpPr>
        <p:spPr>
          <a:xfrm>
            <a:off x="658368" y="3213658"/>
            <a:ext cx="10872216" cy="1226210"/>
          </a:xfrm>
          <a:prstGeom prst="rect">
            <a:avLst/>
          </a:prstGeom>
          <a:solidFill>
            <a:srgbClr val="ECF1F6"/>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Rectangle 20"/>
          <p:cNvSpPr/>
          <p:nvPr/>
        </p:nvSpPr>
        <p:spPr>
          <a:xfrm>
            <a:off x="658368" y="3213658"/>
            <a:ext cx="82296" cy="122621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896112" y="3295406"/>
            <a:ext cx="2468880" cy="212543"/>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5A6570"/>
                </a:solidFill>
                <a:latin typeface="Aptos"/>
              </a:rPr>
              <a:t>THE SECOND WAY</a:t>
            </a:r>
          </a:p>
        </p:txBody>
      </p:sp>
      <p:sp>
        <p:nvSpPr>
          <p:cNvPr id="23" name="TextBox 22"/>
          <p:cNvSpPr txBox="1"/>
          <p:nvPr/>
        </p:nvSpPr>
        <p:spPr>
          <a:xfrm>
            <a:off x="896112" y="3507948"/>
            <a:ext cx="2468880" cy="392387"/>
          </a:xfrm>
          <a:prstGeom prst="rect">
            <a:avLst/>
          </a:prstGeom>
          <a:noFill/>
        </p:spPr>
        <p:txBody>
          <a:bodyPr wrap="square" lIns="73152" rIns="73152" tIns="36576" bIns="36576" anchor="t">
            <a:spAutoFit/>
          </a:bodyPr>
          <a:lstStyle/>
          <a:p>
            <a:pPr algn="l">
              <a:lnSpc>
                <a:spcPct val="92000"/>
              </a:lnSpc>
              <a:spcAft>
                <a:spcPts val="200"/>
              </a:spcAft>
            </a:pPr>
            <a:r>
              <a:rPr sz="2200" b="1" i="0">
                <a:solidFill>
                  <a:srgbClr val="29ABE2"/>
                </a:solidFill>
                <a:latin typeface="Aptos Display"/>
              </a:rPr>
              <a:t>FEEDBACK</a:t>
            </a:r>
          </a:p>
        </p:txBody>
      </p:sp>
      <p:sp>
        <p:nvSpPr>
          <p:cNvPr id="24" name="TextBox 23"/>
          <p:cNvSpPr txBox="1"/>
          <p:nvPr/>
        </p:nvSpPr>
        <p:spPr>
          <a:xfrm>
            <a:off x="896112" y="3933034"/>
            <a:ext cx="2331720" cy="425086"/>
          </a:xfrm>
          <a:prstGeom prst="rect">
            <a:avLst/>
          </a:prstGeom>
          <a:noFill/>
        </p:spPr>
        <p:txBody>
          <a:bodyPr wrap="square" lIns="73152" rIns="73152" tIns="36576" bIns="36576" anchor="t">
            <a:spAutoFit/>
          </a:bodyPr>
          <a:lstStyle/>
          <a:p>
            <a:pPr algn="l">
              <a:lnSpc>
                <a:spcPct val="92000"/>
              </a:lnSpc>
              <a:spcAft>
                <a:spcPts val="200"/>
              </a:spcAft>
            </a:pPr>
            <a:r>
              <a:rPr sz="1000" b="0" i="0">
                <a:solidFill>
                  <a:srgbClr val="5A6570"/>
                </a:solidFill>
                <a:latin typeface="Aptos"/>
              </a:rPr>
              <a:t>right to left, fast, at every stage</a:t>
            </a:r>
          </a:p>
        </p:txBody>
      </p:sp>
      <p:sp>
        <p:nvSpPr>
          <p:cNvPr id="25" name="Rectangle 24"/>
          <p:cNvSpPr/>
          <p:nvPr/>
        </p:nvSpPr>
        <p:spPr>
          <a:xfrm>
            <a:off x="3447287" y="3344454"/>
            <a:ext cx="1298448" cy="343338"/>
          </a:xfrm>
          <a:prstGeom prst="rect">
            <a:avLst/>
          </a:prstGeom>
          <a:solidFill>
            <a:srgbClr val="FFFFFF"/>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Business</a:t>
            </a:r>
          </a:p>
        </p:txBody>
      </p:sp>
      <p:sp>
        <p:nvSpPr>
          <p:cNvPr id="26" name="Rectangle 25"/>
          <p:cNvSpPr/>
          <p:nvPr/>
        </p:nvSpPr>
        <p:spPr>
          <a:xfrm>
            <a:off x="5086350" y="3344454"/>
            <a:ext cx="1298448" cy="343338"/>
          </a:xfrm>
          <a:prstGeom prst="rect">
            <a:avLst/>
          </a:prstGeom>
          <a:solidFill>
            <a:srgbClr val="FFFFFF"/>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Dev</a:t>
            </a:r>
          </a:p>
        </p:txBody>
      </p:sp>
      <p:sp>
        <p:nvSpPr>
          <p:cNvPr id="27" name="Rectangle 26"/>
          <p:cNvSpPr/>
          <p:nvPr/>
        </p:nvSpPr>
        <p:spPr>
          <a:xfrm>
            <a:off x="6725412" y="3344454"/>
            <a:ext cx="1298448" cy="343338"/>
          </a:xfrm>
          <a:prstGeom prst="rect">
            <a:avLst/>
          </a:prstGeom>
          <a:solidFill>
            <a:srgbClr val="FFFFFF"/>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Test</a:t>
            </a:r>
          </a:p>
        </p:txBody>
      </p:sp>
      <p:sp>
        <p:nvSpPr>
          <p:cNvPr id="28" name="Rectangle 27"/>
          <p:cNvSpPr/>
          <p:nvPr/>
        </p:nvSpPr>
        <p:spPr>
          <a:xfrm>
            <a:off x="8364473" y="3344454"/>
            <a:ext cx="1298448" cy="343338"/>
          </a:xfrm>
          <a:prstGeom prst="rect">
            <a:avLst/>
          </a:prstGeom>
          <a:solidFill>
            <a:srgbClr val="FFFFFF"/>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Ops</a:t>
            </a:r>
          </a:p>
        </p:txBody>
      </p:sp>
      <p:sp>
        <p:nvSpPr>
          <p:cNvPr id="29" name="Rectangle 28"/>
          <p:cNvSpPr/>
          <p:nvPr/>
        </p:nvSpPr>
        <p:spPr>
          <a:xfrm>
            <a:off x="10003536" y="3344454"/>
            <a:ext cx="1298448" cy="343338"/>
          </a:xfrm>
          <a:prstGeom prst="rect">
            <a:avLst/>
          </a:prstGeom>
          <a:solidFill>
            <a:srgbClr val="FFFFFF"/>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00" b="1" i="0">
                <a:solidFill>
                  <a:srgbClr val="123A5F"/>
                </a:solidFill>
                <a:latin typeface="Aptos"/>
              </a:rPr>
              <a:t>Customer</a:t>
            </a:r>
          </a:p>
        </p:txBody>
      </p:sp>
      <p:sp>
        <p:nvSpPr>
          <p:cNvPr id="30" name="Left Arrow 29"/>
          <p:cNvSpPr/>
          <p:nvPr/>
        </p:nvSpPr>
        <p:spPr>
          <a:xfrm>
            <a:off x="3447287" y="3753191"/>
            <a:ext cx="7854696" cy="163494"/>
          </a:xfrm>
          <a:prstGeom prst="leftArrow">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47287" y="3982083"/>
            <a:ext cx="7854696" cy="408736"/>
          </a:xfrm>
          <a:prstGeom prst="rect">
            <a:avLst/>
          </a:prstGeom>
          <a:noFill/>
        </p:spPr>
        <p:txBody>
          <a:bodyPr wrap="square" lIns="73152" rIns="73152" tIns="36576" bIns="36576" anchor="t">
            <a:spAutoFit/>
          </a:bodyPr>
          <a:lstStyle/>
          <a:p>
            <a:pPr algn="ctr">
              <a:lnSpc>
                <a:spcPct val="92000"/>
              </a:lnSpc>
              <a:spcAft>
                <a:spcPts val="200"/>
              </a:spcAft>
            </a:pPr>
            <a:r>
              <a:rPr sz="1100" b="0" i="0">
                <a:solidFill>
                  <a:srgbClr val="123A5F"/>
                </a:solidFill>
                <a:latin typeface="Aptos"/>
              </a:rPr>
              <a:t>Automated tests  ·  telemetry  ·  swarm on failure  ·  stop the line  ·  shift quality and security left</a:t>
            </a:r>
          </a:p>
        </p:txBody>
      </p:sp>
      <p:sp>
        <p:nvSpPr>
          <p:cNvPr id="32" name="Rectangle 31"/>
          <p:cNvSpPr/>
          <p:nvPr/>
        </p:nvSpPr>
        <p:spPr>
          <a:xfrm>
            <a:off x="658368" y="4521616"/>
            <a:ext cx="10872216" cy="1226210"/>
          </a:xfrm>
          <a:prstGeom prst="rect">
            <a:avLst/>
          </a:prstGeom>
          <a:solidFill>
            <a:srgbClr val="FAECF2"/>
          </a:solidFill>
          <a:ln w="9525">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Rectangle 32"/>
          <p:cNvSpPr/>
          <p:nvPr/>
        </p:nvSpPr>
        <p:spPr>
          <a:xfrm>
            <a:off x="658368" y="4521616"/>
            <a:ext cx="82296" cy="1226210"/>
          </a:xfrm>
          <a:prstGeom prst="rect">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4" name="TextBox 33"/>
          <p:cNvSpPr txBox="1"/>
          <p:nvPr/>
        </p:nvSpPr>
        <p:spPr>
          <a:xfrm>
            <a:off x="896112" y="4603363"/>
            <a:ext cx="2468880" cy="212543"/>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5A6570"/>
                </a:solidFill>
                <a:latin typeface="Aptos"/>
              </a:rPr>
              <a:t>THE THIRD WAY</a:t>
            </a:r>
          </a:p>
        </p:txBody>
      </p:sp>
      <p:sp>
        <p:nvSpPr>
          <p:cNvPr id="35" name="TextBox 34"/>
          <p:cNvSpPr txBox="1"/>
          <p:nvPr/>
        </p:nvSpPr>
        <p:spPr>
          <a:xfrm>
            <a:off x="896112" y="4815907"/>
            <a:ext cx="2468880" cy="392387"/>
          </a:xfrm>
          <a:prstGeom prst="rect">
            <a:avLst/>
          </a:prstGeom>
          <a:noFill/>
        </p:spPr>
        <p:txBody>
          <a:bodyPr wrap="square" lIns="73152" rIns="73152" tIns="36576" bIns="36576" anchor="t">
            <a:spAutoFit/>
          </a:bodyPr>
          <a:lstStyle/>
          <a:p>
            <a:pPr algn="l">
              <a:lnSpc>
                <a:spcPct val="92000"/>
              </a:lnSpc>
              <a:spcAft>
                <a:spcPts val="200"/>
              </a:spcAft>
            </a:pPr>
            <a:r>
              <a:rPr sz="2200" b="1" i="0">
                <a:solidFill>
                  <a:srgbClr val="A0275C"/>
                </a:solidFill>
                <a:latin typeface="Aptos Display"/>
              </a:rPr>
              <a:t>LEARNING</a:t>
            </a:r>
          </a:p>
        </p:txBody>
      </p:sp>
      <p:sp>
        <p:nvSpPr>
          <p:cNvPr id="36" name="TextBox 35"/>
          <p:cNvSpPr txBox="1"/>
          <p:nvPr/>
        </p:nvSpPr>
        <p:spPr>
          <a:xfrm>
            <a:off x="896112" y="5240993"/>
            <a:ext cx="2331720" cy="425086"/>
          </a:xfrm>
          <a:prstGeom prst="rect">
            <a:avLst/>
          </a:prstGeom>
          <a:noFill/>
        </p:spPr>
        <p:txBody>
          <a:bodyPr wrap="square" lIns="73152" rIns="73152" tIns="36576" bIns="36576" anchor="t">
            <a:spAutoFit/>
          </a:bodyPr>
          <a:lstStyle/>
          <a:p>
            <a:pPr algn="l">
              <a:lnSpc>
                <a:spcPct val="92000"/>
              </a:lnSpc>
              <a:spcAft>
                <a:spcPts val="200"/>
              </a:spcAft>
            </a:pPr>
            <a:r>
              <a:rPr sz="1000" b="0" i="0">
                <a:solidFill>
                  <a:srgbClr val="5A6570"/>
                </a:solidFill>
                <a:latin typeface="Aptos"/>
              </a:rPr>
              <a:t>a culture that treats failure as information</a:t>
            </a:r>
          </a:p>
        </p:txBody>
      </p:sp>
      <p:sp>
        <p:nvSpPr>
          <p:cNvPr id="37" name="TextBox 36"/>
          <p:cNvSpPr txBox="1"/>
          <p:nvPr/>
        </p:nvSpPr>
        <p:spPr>
          <a:xfrm>
            <a:off x="3447287" y="4636062"/>
            <a:ext cx="7854696" cy="449610"/>
          </a:xfrm>
          <a:prstGeom prst="rect">
            <a:avLst/>
          </a:prstGeom>
          <a:noFill/>
        </p:spPr>
        <p:txBody>
          <a:bodyPr wrap="square" lIns="73152" rIns="73152" tIns="36576" bIns="36576" anchor="t">
            <a:spAutoFit/>
          </a:bodyPr>
          <a:lstStyle/>
          <a:p>
            <a:pPr algn="ctr">
              <a:lnSpc>
                <a:spcPct val="92000"/>
              </a:lnSpc>
              <a:spcAft>
                <a:spcPts val="200"/>
              </a:spcAft>
            </a:pPr>
            <a:r>
              <a:rPr sz="2000" b="1" i="0">
                <a:solidFill>
                  <a:srgbClr val="A0275C"/>
                </a:solidFill>
                <a:latin typeface="Aptos Display"/>
              </a:rPr>
              <a:t>↻   learn  →  improve  →  share  →  repeat</a:t>
            </a:r>
          </a:p>
        </p:txBody>
      </p:sp>
      <p:sp>
        <p:nvSpPr>
          <p:cNvPr id="38" name="TextBox 37"/>
          <p:cNvSpPr txBox="1"/>
          <p:nvPr/>
        </p:nvSpPr>
        <p:spPr>
          <a:xfrm>
            <a:off x="3447287" y="5290041"/>
            <a:ext cx="7854696" cy="408736"/>
          </a:xfrm>
          <a:prstGeom prst="rect">
            <a:avLst/>
          </a:prstGeom>
          <a:noFill/>
        </p:spPr>
        <p:txBody>
          <a:bodyPr wrap="square" lIns="73152" rIns="73152" tIns="36576" bIns="36576" anchor="t">
            <a:spAutoFit/>
          </a:bodyPr>
          <a:lstStyle/>
          <a:p>
            <a:pPr algn="ctr">
              <a:lnSpc>
                <a:spcPct val="92000"/>
              </a:lnSpc>
              <a:spcAft>
                <a:spcPts val="200"/>
              </a:spcAft>
            </a:pPr>
            <a:r>
              <a:rPr sz="1100" b="0" i="0">
                <a:solidFill>
                  <a:srgbClr val="123A5F"/>
                </a:solidFill>
                <a:latin typeface="Aptos"/>
              </a:rPr>
              <a:t>Blameless post-mortems  ·  game days  ·  improvement work scheduled as real work  ·  local discoveries turned into global improvements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2</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Culture, Principles &amp; CALMS</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The part that decides whether any tool helps</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Culture, defined</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Westrum's three cultures</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Blameless post-mortems</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core principles</a:t>
            </a:r>
          </a:p>
        </p:txBody>
      </p:sp>
      <p:sp>
        <p:nvSpPr>
          <p:cNvPr id="17" name="Rectangle 16"/>
          <p:cNvSpPr/>
          <p:nvPr/>
        </p:nvSpPr>
        <p:spPr>
          <a:xfrm>
            <a:off x="2267712" y="5244084"/>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2523744" y="5134356"/>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CALMS as a diagnostic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Culture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The set of behaviours that the organisation's incentives, structures and rituals actually reward — as opposed to the behaviours its value statements claim to reward.</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Lever 1 — change the METRIC</a:t>
            </a:r>
          </a:p>
        </p:txBody>
      </p:sp>
      <p:sp>
        <p:nvSpPr>
          <p:cNvPr id="13" name="TextBox 12"/>
          <p:cNvSpPr txBox="1"/>
          <p:nvPr/>
        </p:nvSpPr>
        <p:spPr>
          <a:xfrm>
            <a:off x="950976" y="309067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Measure teams on story points and they optimise story points. Measure lead time and failure rate instead</a:t>
            </a:r>
          </a:p>
        </p:txBody>
      </p:sp>
      <p:sp>
        <p:nvSpPr>
          <p:cNvPr id="14" name="Rectangle 13"/>
          <p:cNvSpPr/>
          <p:nvPr/>
        </p:nvSpPr>
        <p:spPr>
          <a:xfrm>
            <a:off x="676656" y="3671316"/>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61588"/>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Lever 2 — change who carries the PAGER</a:t>
            </a:r>
          </a:p>
        </p:txBody>
      </p:sp>
      <p:sp>
        <p:nvSpPr>
          <p:cNvPr id="16" name="TextBox 15"/>
          <p:cNvSpPr txBox="1"/>
          <p:nvPr/>
        </p:nvSpPr>
        <p:spPr>
          <a:xfrm>
            <a:off x="950976" y="3881628"/>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"You build it, you run it." Developers woken at 03:00 by their own code write observable, resilient code</a:t>
            </a:r>
          </a:p>
        </p:txBody>
      </p:sp>
      <p:sp>
        <p:nvSpPr>
          <p:cNvPr id="17" name="Rectangle 16"/>
          <p:cNvSpPr/>
          <p:nvPr/>
        </p:nvSpPr>
        <p:spPr>
          <a:xfrm>
            <a:off x="676656" y="4462272"/>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352544"/>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Lever 3 — change what is EASY</a:t>
            </a:r>
          </a:p>
        </p:txBody>
      </p:sp>
      <p:sp>
        <p:nvSpPr>
          <p:cNvPr id="19" name="TextBox 18"/>
          <p:cNvSpPr txBox="1"/>
          <p:nvPr/>
        </p:nvSpPr>
        <p:spPr>
          <a:xfrm>
            <a:off x="950976" y="4672584"/>
            <a:ext cx="10561320" cy="411480"/>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If the compliant path is also the fastest path, people take it. That is the whole thesis of platform engineering</a:t>
            </a:r>
          </a:p>
        </p:txBody>
      </p:sp>
      <p:sp>
        <p:nvSpPr>
          <p:cNvPr id="20" name="Rectangle 19"/>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804672" y="5404104"/>
            <a:ext cx="230063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YOU CANNOT WORKSHOP IT</a:t>
            </a:r>
          </a:p>
        </p:txBody>
      </p:sp>
      <p:sp>
        <p:nvSpPr>
          <p:cNvPr id="22" name="TextBox 21"/>
          <p:cNvSpPr txBox="1"/>
          <p:nvPr/>
        </p:nvSpPr>
        <p:spPr>
          <a:xfrm>
            <a:off x="3096158" y="5394959"/>
            <a:ext cx="8269833"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Culture changes when what gets rewarded and what gets made easy changes. A values poster changes nothing.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Westrum's three cultures — and which one predicts performance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2413356"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
            </a:r>
          </a:p>
        </p:txBody>
      </p:sp>
      <p:sp>
        <p:nvSpPr>
          <p:cNvPr id="10" name="TextBox 9"/>
          <p:cNvSpPr txBox="1"/>
          <p:nvPr/>
        </p:nvSpPr>
        <p:spPr>
          <a:xfrm>
            <a:off x="3327756" y="1828800"/>
            <a:ext cx="2525440"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Pathological (power)</a:t>
            </a:r>
          </a:p>
        </p:txBody>
      </p:sp>
      <p:sp>
        <p:nvSpPr>
          <p:cNvPr id="11" name="TextBox 10"/>
          <p:cNvSpPr txBox="1"/>
          <p:nvPr/>
        </p:nvSpPr>
        <p:spPr>
          <a:xfrm>
            <a:off x="6017788" y="1828800"/>
            <a:ext cx="2525440"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Bureaucratic (rules)</a:t>
            </a:r>
          </a:p>
        </p:txBody>
      </p:sp>
      <p:sp>
        <p:nvSpPr>
          <p:cNvPr id="12" name="TextBox 11"/>
          <p:cNvSpPr txBox="1"/>
          <p:nvPr/>
        </p:nvSpPr>
        <p:spPr>
          <a:xfrm>
            <a:off x="8707821" y="1828800"/>
            <a:ext cx="2749610"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Generative (performance)</a:t>
            </a:r>
          </a:p>
        </p:txBody>
      </p:sp>
      <p:sp>
        <p:nvSpPr>
          <p:cNvPr id="13" name="Rectangle 12"/>
          <p:cNvSpPr/>
          <p:nvPr/>
        </p:nvSpPr>
        <p:spPr>
          <a:xfrm>
            <a:off x="658368" y="2167128"/>
            <a:ext cx="10872216" cy="466725"/>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749808" y="2185416"/>
            <a:ext cx="2413356" cy="43014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Cooperation</a:t>
            </a:r>
          </a:p>
        </p:txBody>
      </p:sp>
      <p:sp>
        <p:nvSpPr>
          <p:cNvPr id="15" name="TextBox 14"/>
          <p:cNvSpPr txBox="1"/>
          <p:nvPr/>
        </p:nvSpPr>
        <p:spPr>
          <a:xfrm>
            <a:off x="3327756" y="2185416"/>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Low</a:t>
            </a:r>
          </a:p>
        </p:txBody>
      </p:sp>
      <p:sp>
        <p:nvSpPr>
          <p:cNvPr id="16" name="TextBox 15"/>
          <p:cNvSpPr txBox="1"/>
          <p:nvPr/>
        </p:nvSpPr>
        <p:spPr>
          <a:xfrm>
            <a:off x="6017788" y="2185416"/>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Modest</a:t>
            </a:r>
          </a:p>
        </p:txBody>
      </p:sp>
      <p:sp>
        <p:nvSpPr>
          <p:cNvPr id="17" name="TextBox 16"/>
          <p:cNvSpPr txBox="1"/>
          <p:nvPr/>
        </p:nvSpPr>
        <p:spPr>
          <a:xfrm>
            <a:off x="8707821" y="2185416"/>
            <a:ext cx="274961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High</a:t>
            </a:r>
          </a:p>
        </p:txBody>
      </p:sp>
      <p:sp>
        <p:nvSpPr>
          <p:cNvPr id="18" name="Rectangle 17"/>
          <p:cNvSpPr/>
          <p:nvPr/>
        </p:nvSpPr>
        <p:spPr>
          <a:xfrm>
            <a:off x="658368" y="2633853"/>
            <a:ext cx="10872216" cy="466725"/>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749808" y="2652141"/>
            <a:ext cx="2413356" cy="43014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Messengers</a:t>
            </a:r>
          </a:p>
        </p:txBody>
      </p:sp>
      <p:sp>
        <p:nvSpPr>
          <p:cNvPr id="20" name="TextBox 19"/>
          <p:cNvSpPr txBox="1"/>
          <p:nvPr/>
        </p:nvSpPr>
        <p:spPr>
          <a:xfrm>
            <a:off x="3327756" y="2652141"/>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Shot</a:t>
            </a:r>
          </a:p>
        </p:txBody>
      </p:sp>
      <p:sp>
        <p:nvSpPr>
          <p:cNvPr id="21" name="TextBox 20"/>
          <p:cNvSpPr txBox="1"/>
          <p:nvPr/>
        </p:nvSpPr>
        <p:spPr>
          <a:xfrm>
            <a:off x="6017788" y="2652141"/>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Neglected</a:t>
            </a:r>
          </a:p>
        </p:txBody>
      </p:sp>
      <p:sp>
        <p:nvSpPr>
          <p:cNvPr id="22" name="TextBox 21"/>
          <p:cNvSpPr txBox="1"/>
          <p:nvPr/>
        </p:nvSpPr>
        <p:spPr>
          <a:xfrm>
            <a:off x="8707821" y="2652141"/>
            <a:ext cx="274961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Trained</a:t>
            </a:r>
          </a:p>
        </p:txBody>
      </p:sp>
      <p:sp>
        <p:nvSpPr>
          <p:cNvPr id="23" name="Rectangle 22"/>
          <p:cNvSpPr/>
          <p:nvPr/>
        </p:nvSpPr>
        <p:spPr>
          <a:xfrm>
            <a:off x="658368" y="3100578"/>
            <a:ext cx="10872216" cy="466725"/>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749808" y="3118866"/>
            <a:ext cx="2413356" cy="43014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Responsibilities</a:t>
            </a:r>
          </a:p>
        </p:txBody>
      </p:sp>
      <p:sp>
        <p:nvSpPr>
          <p:cNvPr id="25" name="TextBox 24"/>
          <p:cNvSpPr txBox="1"/>
          <p:nvPr/>
        </p:nvSpPr>
        <p:spPr>
          <a:xfrm>
            <a:off x="3327756" y="3118866"/>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Shirked</a:t>
            </a:r>
          </a:p>
        </p:txBody>
      </p:sp>
      <p:sp>
        <p:nvSpPr>
          <p:cNvPr id="26" name="TextBox 25"/>
          <p:cNvSpPr txBox="1"/>
          <p:nvPr/>
        </p:nvSpPr>
        <p:spPr>
          <a:xfrm>
            <a:off x="6017788" y="3118866"/>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Narrow</a:t>
            </a:r>
          </a:p>
        </p:txBody>
      </p:sp>
      <p:sp>
        <p:nvSpPr>
          <p:cNvPr id="27" name="TextBox 26"/>
          <p:cNvSpPr txBox="1"/>
          <p:nvPr/>
        </p:nvSpPr>
        <p:spPr>
          <a:xfrm>
            <a:off x="8707821" y="3118866"/>
            <a:ext cx="274961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Shared</a:t>
            </a:r>
          </a:p>
        </p:txBody>
      </p:sp>
      <p:sp>
        <p:nvSpPr>
          <p:cNvPr id="28" name="Rectangle 27"/>
          <p:cNvSpPr/>
          <p:nvPr/>
        </p:nvSpPr>
        <p:spPr>
          <a:xfrm>
            <a:off x="658368" y="3567303"/>
            <a:ext cx="10872216" cy="674751"/>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3585591"/>
            <a:ext cx="2413356" cy="63817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Bridging between teams</a:t>
            </a:r>
          </a:p>
        </p:txBody>
      </p:sp>
      <p:sp>
        <p:nvSpPr>
          <p:cNvPr id="30" name="TextBox 29"/>
          <p:cNvSpPr txBox="1"/>
          <p:nvPr/>
        </p:nvSpPr>
        <p:spPr>
          <a:xfrm>
            <a:off x="3327756" y="3585591"/>
            <a:ext cx="2525440" cy="6381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Discouraged</a:t>
            </a:r>
          </a:p>
        </p:txBody>
      </p:sp>
      <p:sp>
        <p:nvSpPr>
          <p:cNvPr id="31" name="TextBox 30"/>
          <p:cNvSpPr txBox="1"/>
          <p:nvPr/>
        </p:nvSpPr>
        <p:spPr>
          <a:xfrm>
            <a:off x="6017788" y="3585591"/>
            <a:ext cx="2525440" cy="6381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Tolerated</a:t>
            </a:r>
          </a:p>
        </p:txBody>
      </p:sp>
      <p:sp>
        <p:nvSpPr>
          <p:cNvPr id="32" name="TextBox 31"/>
          <p:cNvSpPr txBox="1"/>
          <p:nvPr/>
        </p:nvSpPr>
        <p:spPr>
          <a:xfrm>
            <a:off x="8707821" y="3585591"/>
            <a:ext cx="2749610" cy="6381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Encouraged</a:t>
            </a:r>
          </a:p>
        </p:txBody>
      </p:sp>
      <p:sp>
        <p:nvSpPr>
          <p:cNvPr id="33" name="Rectangle 32"/>
          <p:cNvSpPr/>
          <p:nvPr/>
        </p:nvSpPr>
        <p:spPr>
          <a:xfrm>
            <a:off x="658368" y="4242054"/>
            <a:ext cx="10872216" cy="466725"/>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4" name="TextBox 33"/>
          <p:cNvSpPr txBox="1"/>
          <p:nvPr/>
        </p:nvSpPr>
        <p:spPr>
          <a:xfrm>
            <a:off x="749808" y="4260342"/>
            <a:ext cx="2413356" cy="43014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Failure leads to</a:t>
            </a:r>
          </a:p>
        </p:txBody>
      </p:sp>
      <p:sp>
        <p:nvSpPr>
          <p:cNvPr id="35" name="TextBox 34"/>
          <p:cNvSpPr txBox="1"/>
          <p:nvPr/>
        </p:nvSpPr>
        <p:spPr>
          <a:xfrm>
            <a:off x="3327756" y="4260342"/>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Scapegoating</a:t>
            </a:r>
          </a:p>
        </p:txBody>
      </p:sp>
      <p:sp>
        <p:nvSpPr>
          <p:cNvPr id="36" name="TextBox 35"/>
          <p:cNvSpPr txBox="1"/>
          <p:nvPr/>
        </p:nvSpPr>
        <p:spPr>
          <a:xfrm>
            <a:off x="6017788" y="4260342"/>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Justice-seeking</a:t>
            </a:r>
          </a:p>
        </p:txBody>
      </p:sp>
      <p:sp>
        <p:nvSpPr>
          <p:cNvPr id="37" name="TextBox 36"/>
          <p:cNvSpPr txBox="1"/>
          <p:nvPr/>
        </p:nvSpPr>
        <p:spPr>
          <a:xfrm>
            <a:off x="8707821" y="4260342"/>
            <a:ext cx="274961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Inquiry</a:t>
            </a:r>
          </a:p>
        </p:txBody>
      </p:sp>
      <p:sp>
        <p:nvSpPr>
          <p:cNvPr id="38" name="Rectangle 37"/>
          <p:cNvSpPr/>
          <p:nvPr/>
        </p:nvSpPr>
        <p:spPr>
          <a:xfrm>
            <a:off x="658368" y="4708779"/>
            <a:ext cx="10872216" cy="466725"/>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749808" y="4727067"/>
            <a:ext cx="2413356" cy="43014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Novelty</a:t>
            </a:r>
          </a:p>
        </p:txBody>
      </p:sp>
      <p:sp>
        <p:nvSpPr>
          <p:cNvPr id="40" name="TextBox 39"/>
          <p:cNvSpPr txBox="1"/>
          <p:nvPr/>
        </p:nvSpPr>
        <p:spPr>
          <a:xfrm>
            <a:off x="3327756" y="4727067"/>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Crushed</a:t>
            </a:r>
          </a:p>
        </p:txBody>
      </p:sp>
      <p:sp>
        <p:nvSpPr>
          <p:cNvPr id="41" name="TextBox 40"/>
          <p:cNvSpPr txBox="1"/>
          <p:nvPr/>
        </p:nvSpPr>
        <p:spPr>
          <a:xfrm>
            <a:off x="6017788" y="4727067"/>
            <a:ext cx="252544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Problematic</a:t>
            </a:r>
          </a:p>
        </p:txBody>
      </p:sp>
      <p:sp>
        <p:nvSpPr>
          <p:cNvPr id="42" name="TextBox 41"/>
          <p:cNvSpPr txBox="1"/>
          <p:nvPr/>
        </p:nvSpPr>
        <p:spPr>
          <a:xfrm>
            <a:off x="8707821" y="4727067"/>
            <a:ext cx="2749610" cy="4301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Implemented</a:t>
            </a:r>
          </a:p>
        </p:txBody>
      </p:sp>
      <p:sp>
        <p:nvSpPr>
          <p:cNvPr id="43" name="Rectangle 42"/>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4" name="TextBox 43"/>
          <p:cNvSpPr txBox="1"/>
          <p:nvPr/>
        </p:nvSpPr>
        <p:spPr>
          <a:xfrm>
            <a:off x="804672" y="5404104"/>
            <a:ext cx="158374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WHY IT MATTERS</a:t>
            </a:r>
          </a:p>
        </p:txBody>
      </p:sp>
      <p:sp>
        <p:nvSpPr>
          <p:cNvPr id="45" name="TextBox 44"/>
          <p:cNvSpPr txBox="1"/>
          <p:nvPr/>
        </p:nvSpPr>
        <p:spPr>
          <a:xfrm>
            <a:off x="2379268" y="5394959"/>
            <a:ext cx="8986723"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DORA research found Westrum's typology PREDICTIVE of software delivery performance. Culture is not the soft part of DevOps — it is a measurable input.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Blameless post-mortem</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An incident review that assumes every person acted rationally given the information they had at the time, and asks what about the SYSTEM made the failure possible.</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Psychological safety (Amy Edmondson)</a:t>
            </a:r>
          </a:p>
        </p:txBody>
      </p:sp>
      <p:sp>
        <p:nvSpPr>
          <p:cNvPr id="13" name="TextBox 12"/>
          <p:cNvSpPr txBox="1"/>
          <p:nvPr/>
        </p:nvSpPr>
        <p:spPr>
          <a:xfrm>
            <a:off x="950976" y="3056909"/>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A shared belief that the team is safe for interpersonal risk — you can say "I broke production"</a:t>
            </a:r>
          </a:p>
        </p:txBody>
      </p:sp>
      <p:sp>
        <p:nvSpPr>
          <p:cNvPr id="14" name="Rectangle 13"/>
          <p:cNvSpPr/>
          <p:nvPr/>
        </p:nvSpPr>
        <p:spPr>
          <a:xfrm>
            <a:off x="676656" y="3495047"/>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385319"/>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Blame produces silence</a:t>
            </a:r>
          </a:p>
        </p:txBody>
      </p:sp>
      <p:sp>
        <p:nvSpPr>
          <p:cNvPr id="16" name="TextBox 15"/>
          <p:cNvSpPr txBox="1"/>
          <p:nvPr/>
        </p:nvSpPr>
        <p:spPr>
          <a:xfrm>
            <a:off x="950976" y="3671597"/>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People hide near-misses, and the next incident arrives with no warning</a:t>
            </a:r>
          </a:p>
        </p:txBody>
      </p:sp>
      <p:sp>
        <p:nvSpPr>
          <p:cNvPr id="17" name="Rectangle 16"/>
          <p:cNvSpPr/>
          <p:nvPr/>
        </p:nvSpPr>
        <p:spPr>
          <a:xfrm>
            <a:off x="676656" y="4109735"/>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000007"/>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Counterfactuals are banned</a:t>
            </a:r>
          </a:p>
        </p:txBody>
      </p:sp>
      <p:sp>
        <p:nvSpPr>
          <p:cNvPr id="19" name="TextBox 18"/>
          <p:cNvSpPr txBox="1"/>
          <p:nvPr/>
        </p:nvSpPr>
        <p:spPr>
          <a:xfrm>
            <a:off x="950976" y="4286285"/>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"Ahmed should have checked the config" is not a finding</a:t>
            </a:r>
          </a:p>
        </p:txBody>
      </p:sp>
      <p:sp>
        <p:nvSpPr>
          <p:cNvPr id="20" name="Rectangle 19"/>
          <p:cNvSpPr/>
          <p:nvPr/>
        </p:nvSpPr>
        <p:spPr>
          <a:xfrm>
            <a:off x="676656" y="4724423"/>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4614695"/>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Findings become backlog items</a:t>
            </a:r>
          </a:p>
        </p:txBody>
      </p:sp>
      <p:sp>
        <p:nvSpPr>
          <p:cNvPr id="22" name="TextBox 21"/>
          <p:cNvSpPr txBox="1"/>
          <p:nvPr/>
        </p:nvSpPr>
        <p:spPr>
          <a:xfrm>
            <a:off x="950976" y="4900972"/>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A review with no change to the system was a meeting, not a review</a:t>
            </a:r>
          </a:p>
        </p:txBody>
      </p:sp>
      <p:sp>
        <p:nvSpPr>
          <p:cNvPr id="23" name="Rectangle 22"/>
          <p:cNvSpPr/>
          <p:nvPr/>
        </p:nvSpPr>
        <p:spPr>
          <a:xfrm>
            <a:off x="676656" y="5339111"/>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950976" y="5229383"/>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Publish them organisation-wide</a:t>
            </a:r>
          </a:p>
        </p:txBody>
      </p:sp>
      <p:sp>
        <p:nvSpPr>
          <p:cNvPr id="25" name="TextBox 24"/>
          <p:cNvSpPr txBox="1"/>
          <p:nvPr/>
        </p:nvSpPr>
        <p:spPr>
          <a:xfrm>
            <a:off x="950976" y="5515660"/>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A lesson that stays in one team is a local optimum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COMPARE  ·  3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Rewrite the finding</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960120" cy="310896"/>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24228"/>
            <a:ext cx="960120" cy="237744"/>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COMPARE</a:t>
            </a:r>
          </a:p>
        </p:txBody>
      </p:sp>
      <p:sp>
        <p:nvSpPr>
          <p:cNvPr id="10" name="TextBox 9"/>
          <p:cNvSpPr txBox="1"/>
          <p:nvPr/>
        </p:nvSpPr>
        <p:spPr>
          <a:xfrm>
            <a:off x="1773936" y="1815084"/>
            <a:ext cx="9683496" cy="25603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117A69"/>
                </a:solidFill>
                <a:latin typeface="Aptos"/>
              </a:rPr>
              <a:t>Two minutes in pairs. Be ready to defend your choice.</a:t>
            </a:r>
          </a:p>
        </p:txBody>
      </p:sp>
      <p:sp>
        <p:nvSpPr>
          <p:cNvPr id="11" name="Rectangle 10"/>
          <p:cNvSpPr/>
          <p:nvPr/>
        </p:nvSpPr>
        <p:spPr>
          <a:xfrm>
            <a:off x="658368" y="2258568"/>
            <a:ext cx="10872216" cy="987552"/>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258568"/>
            <a:ext cx="68580" cy="98755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50976" y="2313432"/>
            <a:ext cx="10396728" cy="877824"/>
          </a:xfrm>
          <a:prstGeom prst="rect">
            <a:avLst/>
          </a:prstGeom>
          <a:noFill/>
        </p:spPr>
        <p:txBody>
          <a:bodyPr wrap="square" lIns="73152" rIns="73152" tIns="36576" bIns="36576" anchor="ctr">
            <a:spAutoFit/>
          </a:bodyPr>
          <a:lstStyle/>
          <a:p>
            <a:pPr algn="l">
              <a:lnSpc>
                <a:spcPct val="105000"/>
              </a:lnSpc>
              <a:spcAft>
                <a:spcPts val="200"/>
              </a:spcAft>
            </a:pPr>
            <a:r>
              <a:rPr sz="1500" b="1" i="0">
                <a:solidFill>
                  <a:srgbClr val="123A5F"/>
                </a:solidFill>
                <a:latin typeface="Aptos"/>
              </a:rPr>
              <a:t>A payment batch failed at 02:10 because a configuration change set the settlement cut-off to 25:00. The draft post-mortem says: "Ahmed should have checked the config before deploying." Rewrite that finding so it is blameless AND leads to a change in the system.</a:t>
            </a:r>
          </a:p>
        </p:txBody>
      </p:sp>
      <p:sp>
        <p:nvSpPr>
          <p:cNvPr id="14" name="Oval 13"/>
          <p:cNvSpPr/>
          <p:nvPr/>
        </p:nvSpPr>
        <p:spPr>
          <a:xfrm>
            <a:off x="676656" y="3502151"/>
            <a:ext cx="256032" cy="256032"/>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76656" y="3520439"/>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1</a:t>
            </a:r>
          </a:p>
        </p:txBody>
      </p:sp>
      <p:sp>
        <p:nvSpPr>
          <p:cNvPr id="16" name="TextBox 15"/>
          <p:cNvSpPr txBox="1"/>
          <p:nvPr/>
        </p:nvSpPr>
        <p:spPr>
          <a:xfrm>
            <a:off x="1078992" y="3474720"/>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Two minutes in pairs. Your finding must not contain a person's name.</a:t>
            </a:r>
          </a:p>
        </p:txBody>
      </p:sp>
      <p:sp>
        <p:nvSpPr>
          <p:cNvPr id="17" name="Oval 16"/>
          <p:cNvSpPr/>
          <p:nvPr/>
        </p:nvSpPr>
        <p:spPr>
          <a:xfrm>
            <a:off x="676656" y="4128515"/>
            <a:ext cx="256032" cy="256032"/>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76656" y="4146804"/>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2</a:t>
            </a:r>
          </a:p>
        </p:txBody>
      </p:sp>
      <p:sp>
        <p:nvSpPr>
          <p:cNvPr id="19" name="TextBox 18"/>
          <p:cNvSpPr txBox="1"/>
          <p:nvPr/>
        </p:nvSpPr>
        <p:spPr>
          <a:xfrm>
            <a:off x="1078992" y="410108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It must name something about the system that allowed the failure.</a:t>
            </a:r>
          </a:p>
        </p:txBody>
      </p:sp>
      <p:sp>
        <p:nvSpPr>
          <p:cNvPr id="20" name="Oval 19"/>
          <p:cNvSpPr/>
          <p:nvPr/>
        </p:nvSpPr>
        <p:spPr>
          <a:xfrm>
            <a:off x="676656" y="4754880"/>
            <a:ext cx="256032" cy="256032"/>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76656" y="4773168"/>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3</a:t>
            </a:r>
          </a:p>
        </p:txBody>
      </p:sp>
      <p:sp>
        <p:nvSpPr>
          <p:cNvPr id="22" name="TextBox 21"/>
          <p:cNvSpPr txBox="1"/>
          <p:nvPr/>
        </p:nvSpPr>
        <p:spPr>
          <a:xfrm>
            <a:off x="1078992" y="4727448"/>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Then name one concrete action that would make the same mistake impossible next time.</a:t>
            </a:r>
          </a:p>
        </p:txBody>
      </p:sp>
      <p:sp>
        <p:nvSpPr>
          <p:cNvPr id="23" name="TextBox 22"/>
          <p:cNvSpPr txBox="1"/>
          <p:nvPr/>
        </p:nvSpPr>
        <p:spPr>
          <a:xfrm>
            <a:off x="658368" y="5559552"/>
            <a:ext cx="10872216" cy="274320"/>
          </a:xfrm>
          <a:prstGeom prst="rect">
            <a:avLst/>
          </a:prstGeom>
          <a:noFill/>
        </p:spPr>
        <p:txBody>
          <a:bodyPr wrap="square" lIns="73152" rIns="73152" tIns="36576" bIns="36576" anchor="t">
            <a:spAutoFit/>
          </a:bodyPr>
          <a:lstStyle/>
          <a:p>
            <a:pPr algn="l">
              <a:lnSpc>
                <a:spcPct val="92000"/>
              </a:lnSpc>
              <a:spcAft>
                <a:spcPts val="200"/>
              </a:spcAft>
            </a:pPr>
            <a:r>
              <a:rPr sz="1100" b="1" i="1">
                <a:solidFill>
                  <a:srgbClr val="117A69"/>
                </a:solidFill>
                <a:latin typeface="Aptos"/>
              </a:rPr>
              <a:t>Answers on the next slide — commit to yours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COMPARE  ·  THE ANSWER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Rewrite the finding</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896112"/>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4864" cy="896112"/>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14400" y="1828800"/>
            <a:ext cx="10415016" cy="804672"/>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5A6570"/>
                </a:solidFill>
                <a:latin typeface="Aptos"/>
              </a:rPr>
              <a:t>A payment batch failed at 02:10 because a configuration change set the settlement cut-off to 25:00. The draft post-mortem says: "Ahmed should have checked the config before deploying." Rewrite that finding so it is blameless AND leads to a change in the system.</a:t>
            </a:r>
          </a:p>
        </p:txBody>
      </p:sp>
      <p:sp>
        <p:nvSpPr>
          <p:cNvPr id="11" name="Rectangle 10"/>
          <p:cNvSpPr/>
          <p:nvPr/>
        </p:nvSpPr>
        <p:spPr>
          <a:xfrm>
            <a:off x="658368" y="2953511"/>
            <a:ext cx="10872216" cy="291693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953511"/>
            <a:ext cx="73152" cy="2916936"/>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69264" y="3118103"/>
            <a:ext cx="10323576" cy="274320"/>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29ABE2"/>
                </a:solidFill>
                <a:latin typeface="Aptos"/>
              </a:rPr>
              <a:t>THE ANSWER</a:t>
            </a:r>
          </a:p>
        </p:txBody>
      </p:sp>
      <p:sp>
        <p:nvSpPr>
          <p:cNvPr id="14" name="TextBox 13"/>
          <p:cNvSpPr txBox="1"/>
          <p:nvPr/>
        </p:nvSpPr>
        <p:spPr>
          <a:xfrm>
            <a:off x="1207007" y="3483863"/>
            <a:ext cx="9774936" cy="2203704"/>
          </a:xfrm>
          <a:prstGeom prst="rect">
            <a:avLst/>
          </a:prstGeom>
          <a:noFill/>
        </p:spPr>
        <p:txBody>
          <a:bodyPr wrap="square" lIns="73152" rIns="73152" tIns="36576" bIns="36576" anchor="ctr">
            <a:spAutoFit/>
          </a:bodyPr>
          <a:lstStyle/>
          <a:p>
            <a:pPr algn="l">
              <a:lnSpc>
                <a:spcPct val="126000"/>
              </a:lnSpc>
              <a:spcAft>
                <a:spcPts val="200"/>
              </a:spcAft>
            </a:pPr>
            <a:r>
              <a:rPr sz="2100" b="0" i="0">
                <a:solidFill>
                  <a:srgbClr val="FFFFFF"/>
                </a:solidFill>
                <a:latin typeface="Aptos"/>
              </a:rPr>
              <a:t>A good rewrite: "The deployment tool accepted a configuration value that could not possibly be valid, and nothing validated it before production." The actions follow from it — schema-validate config in CI, and fail the pipeline on an impossible time. The next person cannot make the mistake at 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core principles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2611292"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Principle</a:t>
            </a:r>
          </a:p>
        </p:txBody>
      </p:sp>
      <p:sp>
        <p:nvSpPr>
          <p:cNvPr id="10" name="TextBox 9"/>
          <p:cNvSpPr txBox="1"/>
          <p:nvPr/>
        </p:nvSpPr>
        <p:spPr>
          <a:xfrm>
            <a:off x="3525692" y="1828800"/>
            <a:ext cx="4230559"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Meaning</a:t>
            </a:r>
          </a:p>
        </p:txBody>
      </p:sp>
      <p:sp>
        <p:nvSpPr>
          <p:cNvPr id="11" name="TextBox 10"/>
          <p:cNvSpPr txBox="1"/>
          <p:nvPr/>
        </p:nvSpPr>
        <p:spPr>
          <a:xfrm>
            <a:off x="7920844" y="1828800"/>
            <a:ext cx="3536587"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What it looks like</a:t>
            </a:r>
          </a:p>
        </p:txBody>
      </p:sp>
      <p:sp>
        <p:nvSpPr>
          <p:cNvPr id="12" name="Rectangle 11"/>
          <p:cNvSpPr/>
          <p:nvPr/>
        </p:nvSpPr>
        <p:spPr>
          <a:xfrm>
            <a:off x="658368" y="2167128"/>
            <a:ext cx="10872216" cy="615587"/>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2611292"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Shared responsibility</a:t>
            </a:r>
          </a:p>
        </p:txBody>
      </p:sp>
      <p:sp>
        <p:nvSpPr>
          <p:cNvPr id="14" name="TextBox 13"/>
          <p:cNvSpPr txBox="1"/>
          <p:nvPr/>
        </p:nvSpPr>
        <p:spPr>
          <a:xfrm>
            <a:off x="3525692" y="2185416"/>
            <a:ext cx="4230559"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One team owns the service from idea to retirement</a:t>
            </a:r>
          </a:p>
        </p:txBody>
      </p:sp>
      <p:sp>
        <p:nvSpPr>
          <p:cNvPr id="15" name="TextBox 14"/>
          <p:cNvSpPr txBox="1"/>
          <p:nvPr/>
        </p:nvSpPr>
        <p:spPr>
          <a:xfrm>
            <a:off x="7920844" y="2185416"/>
            <a:ext cx="3536587"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Devs on call; ops in planning</a:t>
            </a:r>
          </a:p>
        </p:txBody>
      </p:sp>
      <p:sp>
        <p:nvSpPr>
          <p:cNvPr id="16" name="Rectangle 15"/>
          <p:cNvSpPr/>
          <p:nvPr/>
        </p:nvSpPr>
        <p:spPr>
          <a:xfrm>
            <a:off x="658368" y="2782715"/>
            <a:ext cx="10872216" cy="407561"/>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801003"/>
            <a:ext cx="2611292" cy="37098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Small batch size</a:t>
            </a:r>
          </a:p>
        </p:txBody>
      </p:sp>
      <p:sp>
        <p:nvSpPr>
          <p:cNvPr id="18" name="TextBox 17"/>
          <p:cNvSpPr txBox="1"/>
          <p:nvPr/>
        </p:nvSpPr>
        <p:spPr>
          <a:xfrm>
            <a:off x="3525692" y="2801003"/>
            <a:ext cx="4230559"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Reduce the size of each change</a:t>
            </a:r>
          </a:p>
        </p:txBody>
      </p:sp>
      <p:sp>
        <p:nvSpPr>
          <p:cNvPr id="19" name="TextBox 18"/>
          <p:cNvSpPr txBox="1"/>
          <p:nvPr/>
        </p:nvSpPr>
        <p:spPr>
          <a:xfrm>
            <a:off x="7920844" y="2801003"/>
            <a:ext cx="3536587"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Trunk-based, PRs under 400 lines</a:t>
            </a:r>
          </a:p>
        </p:txBody>
      </p:sp>
      <p:sp>
        <p:nvSpPr>
          <p:cNvPr id="20" name="Rectangle 19"/>
          <p:cNvSpPr/>
          <p:nvPr/>
        </p:nvSpPr>
        <p:spPr>
          <a:xfrm>
            <a:off x="658368" y="3190276"/>
            <a:ext cx="10872216" cy="615587"/>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208564"/>
            <a:ext cx="2611292"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Automate the repeatable</a:t>
            </a:r>
          </a:p>
        </p:txBody>
      </p:sp>
      <p:sp>
        <p:nvSpPr>
          <p:cNvPr id="22" name="TextBox 21"/>
          <p:cNvSpPr txBox="1"/>
          <p:nvPr/>
        </p:nvSpPr>
        <p:spPr>
          <a:xfrm>
            <a:off x="3525692" y="3208564"/>
            <a:ext cx="4230559"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Humans do judgement; machines do repetition</a:t>
            </a:r>
          </a:p>
        </p:txBody>
      </p:sp>
      <p:sp>
        <p:nvSpPr>
          <p:cNvPr id="23" name="TextBox 22"/>
          <p:cNvSpPr txBox="1"/>
          <p:nvPr/>
        </p:nvSpPr>
        <p:spPr>
          <a:xfrm>
            <a:off x="7920844" y="3208564"/>
            <a:ext cx="3536587"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CI, IaC, auto-rollback</a:t>
            </a:r>
          </a:p>
        </p:txBody>
      </p:sp>
      <p:sp>
        <p:nvSpPr>
          <p:cNvPr id="24" name="Rectangle 23"/>
          <p:cNvSpPr/>
          <p:nvPr/>
        </p:nvSpPr>
        <p:spPr>
          <a:xfrm>
            <a:off x="658368" y="3805863"/>
            <a:ext cx="10872216" cy="615587"/>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824151"/>
            <a:ext cx="2611292"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Everything as code</a:t>
            </a:r>
          </a:p>
        </p:txBody>
      </p:sp>
      <p:sp>
        <p:nvSpPr>
          <p:cNvPr id="26" name="TextBox 25"/>
          <p:cNvSpPr txBox="1"/>
          <p:nvPr/>
        </p:nvSpPr>
        <p:spPr>
          <a:xfrm>
            <a:off x="3525692" y="3824151"/>
            <a:ext cx="4230559"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Infra, config, pipelines, policy, dashboards in git</a:t>
            </a:r>
          </a:p>
        </p:txBody>
      </p:sp>
      <p:sp>
        <p:nvSpPr>
          <p:cNvPr id="27" name="TextBox 26"/>
          <p:cNvSpPr txBox="1"/>
          <p:nvPr/>
        </p:nvSpPr>
        <p:spPr>
          <a:xfrm>
            <a:off x="7920844" y="3824151"/>
            <a:ext cx="3536587"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terraform/, .github/workflows/</a:t>
            </a:r>
          </a:p>
        </p:txBody>
      </p:sp>
      <p:sp>
        <p:nvSpPr>
          <p:cNvPr id="28" name="Rectangle 27"/>
          <p:cNvSpPr/>
          <p:nvPr/>
        </p:nvSpPr>
        <p:spPr>
          <a:xfrm>
            <a:off x="658368" y="4421450"/>
            <a:ext cx="10872216" cy="615587"/>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4439738"/>
            <a:ext cx="2611292" cy="57901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Fail fast, recover faster</a:t>
            </a:r>
          </a:p>
        </p:txBody>
      </p:sp>
      <p:sp>
        <p:nvSpPr>
          <p:cNvPr id="30" name="TextBox 29"/>
          <p:cNvSpPr txBox="1"/>
          <p:nvPr/>
        </p:nvSpPr>
        <p:spPr>
          <a:xfrm>
            <a:off x="3525692" y="4439738"/>
            <a:ext cx="4230559"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Optimise recovery time over time-between-failures</a:t>
            </a:r>
          </a:p>
        </p:txBody>
      </p:sp>
      <p:sp>
        <p:nvSpPr>
          <p:cNvPr id="31" name="TextBox 30"/>
          <p:cNvSpPr txBox="1"/>
          <p:nvPr/>
        </p:nvSpPr>
        <p:spPr>
          <a:xfrm>
            <a:off x="7920844" y="4439738"/>
            <a:ext cx="3536587" cy="57901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Feature flags, canaries</a:t>
            </a:r>
          </a:p>
        </p:txBody>
      </p:sp>
      <p:sp>
        <p:nvSpPr>
          <p:cNvPr id="32" name="Rectangle 31"/>
          <p:cNvSpPr/>
          <p:nvPr/>
        </p:nvSpPr>
        <p:spPr>
          <a:xfrm>
            <a:off x="658368" y="5037037"/>
            <a:ext cx="10872216" cy="407561"/>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5055325"/>
            <a:ext cx="2611292" cy="37098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Measure everything</a:t>
            </a:r>
          </a:p>
        </p:txBody>
      </p:sp>
      <p:sp>
        <p:nvSpPr>
          <p:cNvPr id="34" name="TextBox 33"/>
          <p:cNvSpPr txBox="1"/>
          <p:nvPr/>
        </p:nvSpPr>
        <p:spPr>
          <a:xfrm>
            <a:off x="3525692" y="5055325"/>
            <a:ext cx="4230559"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Decisions from telemetry, not opinion</a:t>
            </a:r>
          </a:p>
        </p:txBody>
      </p:sp>
      <p:sp>
        <p:nvSpPr>
          <p:cNvPr id="35" name="TextBox 34"/>
          <p:cNvSpPr txBox="1"/>
          <p:nvPr/>
        </p:nvSpPr>
        <p:spPr>
          <a:xfrm>
            <a:off x="7920844" y="5055325"/>
            <a:ext cx="3536587"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DORA metrics, SLOs</a:t>
            </a:r>
          </a:p>
        </p:txBody>
      </p:sp>
      <p:sp>
        <p:nvSpPr>
          <p:cNvPr id="36" name="Rectangle 35"/>
          <p:cNvSpPr/>
          <p:nvPr/>
        </p:nvSpPr>
        <p:spPr>
          <a:xfrm>
            <a:off x="658368" y="5444598"/>
            <a:ext cx="10872216" cy="407561"/>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749808" y="5462886"/>
            <a:ext cx="2611292" cy="37098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Continuous improvement</a:t>
            </a:r>
          </a:p>
        </p:txBody>
      </p:sp>
      <p:sp>
        <p:nvSpPr>
          <p:cNvPr id="38" name="TextBox 37"/>
          <p:cNvSpPr txBox="1"/>
          <p:nvPr/>
        </p:nvSpPr>
        <p:spPr>
          <a:xfrm>
            <a:off x="3525692" y="5462886"/>
            <a:ext cx="4230559"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Improvement work is real work</a:t>
            </a:r>
          </a:p>
        </p:txBody>
      </p:sp>
      <p:sp>
        <p:nvSpPr>
          <p:cNvPr id="39" name="TextBox 38"/>
          <p:cNvSpPr txBox="1"/>
          <p:nvPr/>
        </p:nvSpPr>
        <p:spPr>
          <a:xfrm>
            <a:off x="7920844" y="5462886"/>
            <a:ext cx="3536587" cy="37098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Improvement items in the backlog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§1.3</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CALMS — the diagnostic framework</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827531" y="1946574"/>
            <a:ext cx="1938528" cy="703027"/>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827531" y="1995623"/>
            <a:ext cx="1938528" cy="572231"/>
          </a:xfrm>
          <a:prstGeom prst="rect">
            <a:avLst/>
          </a:prstGeom>
          <a:noFill/>
        </p:spPr>
        <p:txBody>
          <a:bodyPr wrap="square" lIns="73152" rIns="73152" tIns="36576" bIns="36576" anchor="t">
            <a:spAutoFit/>
          </a:bodyPr>
          <a:lstStyle/>
          <a:p>
            <a:pPr algn="ctr">
              <a:lnSpc>
                <a:spcPct val="92000"/>
              </a:lnSpc>
              <a:spcAft>
                <a:spcPts val="200"/>
              </a:spcAft>
            </a:pPr>
            <a:r>
              <a:rPr sz="3800" b="1" i="0">
                <a:solidFill>
                  <a:srgbClr val="FFFFFF"/>
                </a:solidFill>
                <a:latin typeface="Aptos Display"/>
              </a:rPr>
              <a:t>C</a:t>
            </a:r>
          </a:p>
        </p:txBody>
      </p:sp>
      <p:sp>
        <p:nvSpPr>
          <p:cNvPr id="10" name="Rectangle 9"/>
          <p:cNvSpPr/>
          <p:nvPr/>
        </p:nvSpPr>
        <p:spPr>
          <a:xfrm>
            <a:off x="827531" y="2649602"/>
            <a:ext cx="1938528" cy="1324307"/>
          </a:xfrm>
          <a:prstGeom prst="rect">
            <a:avLst/>
          </a:prstGeom>
          <a:solidFill>
            <a:srgbClr val="F3F6F8"/>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900683" y="2764048"/>
            <a:ext cx="1792224"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117A69"/>
                </a:solidFill>
                <a:latin typeface="Aptos"/>
              </a:rPr>
              <a:t>CULTURE</a:t>
            </a:r>
          </a:p>
        </p:txBody>
      </p:sp>
      <p:sp>
        <p:nvSpPr>
          <p:cNvPr id="12" name="TextBox 11"/>
          <p:cNvSpPr txBox="1"/>
          <p:nvPr/>
        </p:nvSpPr>
        <p:spPr>
          <a:xfrm>
            <a:off x="918971" y="3107387"/>
            <a:ext cx="1755648" cy="776599"/>
          </a:xfrm>
          <a:prstGeom prst="rect">
            <a:avLst/>
          </a:prstGeom>
          <a:noFill/>
        </p:spPr>
        <p:txBody>
          <a:bodyPr wrap="square" lIns="73152" rIns="73152" tIns="36576" bIns="36576" anchor="ctr">
            <a:spAutoFit/>
          </a:bodyPr>
          <a:lstStyle/>
          <a:p>
            <a:pPr algn="ctr">
              <a:lnSpc>
                <a:spcPct val="92000"/>
              </a:lnSpc>
              <a:spcAft>
                <a:spcPts val="200"/>
              </a:spcAft>
            </a:pPr>
            <a:r>
              <a:rPr sz="1050" b="0" i="0">
                <a:solidFill>
                  <a:srgbClr val="123A5F"/>
                </a:solidFill>
                <a:latin typeface="Aptos"/>
              </a:rPr>
              <a:t>Shared ownership,</a:t>
            </a:r>
          </a:p>
          <a:p>
            <a:pPr algn="ctr">
              <a:lnSpc>
                <a:spcPct val="92000"/>
              </a:lnSpc>
              <a:spcAft>
                <a:spcPts val="200"/>
              </a:spcAft>
            </a:pPr>
            <a:r>
              <a:rPr sz="1050" b="0" i="0">
                <a:solidFill>
                  <a:srgbClr val="123A5F"/>
                </a:solidFill>
                <a:latin typeface="Aptos"/>
              </a:rPr>
              <a:t>blameless learning</a:t>
            </a:r>
          </a:p>
        </p:txBody>
      </p:sp>
      <p:sp>
        <p:nvSpPr>
          <p:cNvPr id="13" name="Rectangle 12"/>
          <p:cNvSpPr/>
          <p:nvPr/>
        </p:nvSpPr>
        <p:spPr>
          <a:xfrm>
            <a:off x="2976372" y="1946574"/>
            <a:ext cx="1938528" cy="703027"/>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976372" y="1995623"/>
            <a:ext cx="1938528" cy="572231"/>
          </a:xfrm>
          <a:prstGeom prst="rect">
            <a:avLst/>
          </a:prstGeom>
          <a:noFill/>
        </p:spPr>
        <p:txBody>
          <a:bodyPr wrap="square" lIns="73152" rIns="73152" tIns="36576" bIns="36576" anchor="t">
            <a:spAutoFit/>
          </a:bodyPr>
          <a:lstStyle/>
          <a:p>
            <a:pPr algn="ctr">
              <a:lnSpc>
                <a:spcPct val="92000"/>
              </a:lnSpc>
              <a:spcAft>
                <a:spcPts val="200"/>
              </a:spcAft>
            </a:pPr>
            <a:r>
              <a:rPr sz="3800" b="1" i="0">
                <a:solidFill>
                  <a:srgbClr val="FFFFFF"/>
                </a:solidFill>
                <a:latin typeface="Aptos Display"/>
              </a:rPr>
              <a:t>A</a:t>
            </a:r>
          </a:p>
        </p:txBody>
      </p:sp>
      <p:sp>
        <p:nvSpPr>
          <p:cNvPr id="15" name="Rectangle 14"/>
          <p:cNvSpPr/>
          <p:nvPr/>
        </p:nvSpPr>
        <p:spPr>
          <a:xfrm>
            <a:off x="2976372" y="2649602"/>
            <a:ext cx="1938528" cy="1324307"/>
          </a:xfrm>
          <a:prstGeom prst="rect">
            <a:avLst/>
          </a:prstGeom>
          <a:solidFill>
            <a:srgbClr val="F3F6F8"/>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3049524" y="2764048"/>
            <a:ext cx="1792224"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29ABE2"/>
                </a:solidFill>
                <a:latin typeface="Aptos"/>
              </a:rPr>
              <a:t>AUTOMATION</a:t>
            </a:r>
          </a:p>
        </p:txBody>
      </p:sp>
      <p:sp>
        <p:nvSpPr>
          <p:cNvPr id="17" name="TextBox 16"/>
          <p:cNvSpPr txBox="1"/>
          <p:nvPr/>
        </p:nvSpPr>
        <p:spPr>
          <a:xfrm>
            <a:off x="3067812" y="3107387"/>
            <a:ext cx="1755648" cy="776599"/>
          </a:xfrm>
          <a:prstGeom prst="rect">
            <a:avLst/>
          </a:prstGeom>
          <a:noFill/>
        </p:spPr>
        <p:txBody>
          <a:bodyPr wrap="square" lIns="73152" rIns="73152" tIns="36576" bIns="36576" anchor="ctr">
            <a:spAutoFit/>
          </a:bodyPr>
          <a:lstStyle/>
          <a:p>
            <a:pPr algn="ctr">
              <a:lnSpc>
                <a:spcPct val="92000"/>
              </a:lnSpc>
              <a:spcAft>
                <a:spcPts val="200"/>
              </a:spcAft>
            </a:pPr>
            <a:r>
              <a:rPr sz="1050" b="0" i="0">
                <a:solidFill>
                  <a:srgbClr val="123A5F"/>
                </a:solidFill>
                <a:latin typeface="Aptos"/>
              </a:rPr>
              <a:t>CI/CD, IaC,</a:t>
            </a:r>
          </a:p>
          <a:p>
            <a:pPr algn="ctr">
              <a:lnSpc>
                <a:spcPct val="92000"/>
              </a:lnSpc>
              <a:spcAft>
                <a:spcPts val="200"/>
              </a:spcAft>
            </a:pPr>
            <a:r>
              <a:rPr sz="1050" b="0" i="0">
                <a:solidFill>
                  <a:srgbClr val="123A5F"/>
                </a:solidFill>
                <a:latin typeface="Aptos"/>
              </a:rPr>
              <a:t>testing, self-service</a:t>
            </a:r>
          </a:p>
        </p:txBody>
      </p:sp>
      <p:sp>
        <p:nvSpPr>
          <p:cNvPr id="18" name="Rectangle 17"/>
          <p:cNvSpPr/>
          <p:nvPr/>
        </p:nvSpPr>
        <p:spPr>
          <a:xfrm>
            <a:off x="5125212" y="1946574"/>
            <a:ext cx="1938528" cy="703027"/>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5125212" y="1995623"/>
            <a:ext cx="1938528" cy="572231"/>
          </a:xfrm>
          <a:prstGeom prst="rect">
            <a:avLst/>
          </a:prstGeom>
          <a:noFill/>
        </p:spPr>
        <p:txBody>
          <a:bodyPr wrap="square" lIns="73152" rIns="73152" tIns="36576" bIns="36576" anchor="t">
            <a:spAutoFit/>
          </a:bodyPr>
          <a:lstStyle/>
          <a:p>
            <a:pPr algn="ctr">
              <a:lnSpc>
                <a:spcPct val="92000"/>
              </a:lnSpc>
              <a:spcAft>
                <a:spcPts val="200"/>
              </a:spcAft>
            </a:pPr>
            <a:r>
              <a:rPr sz="3800" b="1" i="0">
                <a:solidFill>
                  <a:srgbClr val="FFFFFF"/>
                </a:solidFill>
                <a:latin typeface="Aptos Display"/>
              </a:rPr>
              <a:t>L</a:t>
            </a:r>
          </a:p>
        </p:txBody>
      </p:sp>
      <p:sp>
        <p:nvSpPr>
          <p:cNvPr id="20" name="Rectangle 19"/>
          <p:cNvSpPr/>
          <p:nvPr/>
        </p:nvSpPr>
        <p:spPr>
          <a:xfrm>
            <a:off x="5125212" y="2649602"/>
            <a:ext cx="1938528" cy="1324307"/>
          </a:xfrm>
          <a:prstGeom prst="rect">
            <a:avLst/>
          </a:prstGeom>
          <a:solidFill>
            <a:srgbClr val="F3F6F8"/>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5198364" y="2764048"/>
            <a:ext cx="1792224"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3E7D32"/>
                </a:solidFill>
                <a:latin typeface="Aptos"/>
              </a:rPr>
              <a:t>LEAN</a:t>
            </a:r>
          </a:p>
        </p:txBody>
      </p:sp>
      <p:sp>
        <p:nvSpPr>
          <p:cNvPr id="22" name="TextBox 21"/>
          <p:cNvSpPr txBox="1"/>
          <p:nvPr/>
        </p:nvSpPr>
        <p:spPr>
          <a:xfrm>
            <a:off x="5216652" y="3107387"/>
            <a:ext cx="1755648" cy="776599"/>
          </a:xfrm>
          <a:prstGeom prst="rect">
            <a:avLst/>
          </a:prstGeom>
          <a:noFill/>
        </p:spPr>
        <p:txBody>
          <a:bodyPr wrap="square" lIns="73152" rIns="73152" tIns="36576" bIns="36576" anchor="ctr">
            <a:spAutoFit/>
          </a:bodyPr>
          <a:lstStyle/>
          <a:p>
            <a:pPr algn="ctr">
              <a:lnSpc>
                <a:spcPct val="92000"/>
              </a:lnSpc>
              <a:spcAft>
                <a:spcPts val="200"/>
              </a:spcAft>
            </a:pPr>
            <a:r>
              <a:rPr sz="1050" b="0" i="0">
                <a:solidFill>
                  <a:srgbClr val="123A5F"/>
                </a:solidFill>
                <a:latin typeface="Aptos"/>
              </a:rPr>
              <a:t>Small batches,</a:t>
            </a:r>
          </a:p>
          <a:p>
            <a:pPr algn="ctr">
              <a:lnSpc>
                <a:spcPct val="92000"/>
              </a:lnSpc>
              <a:spcAft>
                <a:spcPts val="200"/>
              </a:spcAft>
            </a:pPr>
            <a:r>
              <a:rPr sz="1050" b="0" i="0">
                <a:solidFill>
                  <a:srgbClr val="123A5F"/>
                </a:solidFill>
                <a:latin typeface="Aptos"/>
              </a:rPr>
              <a:t>limit WIP, flow</a:t>
            </a:r>
          </a:p>
        </p:txBody>
      </p:sp>
      <p:sp>
        <p:nvSpPr>
          <p:cNvPr id="23" name="Rectangle 22"/>
          <p:cNvSpPr/>
          <p:nvPr/>
        </p:nvSpPr>
        <p:spPr>
          <a:xfrm>
            <a:off x="7274052" y="1946574"/>
            <a:ext cx="1938528" cy="703027"/>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7274052" y="1995623"/>
            <a:ext cx="1938528" cy="572231"/>
          </a:xfrm>
          <a:prstGeom prst="rect">
            <a:avLst/>
          </a:prstGeom>
          <a:noFill/>
        </p:spPr>
        <p:txBody>
          <a:bodyPr wrap="square" lIns="73152" rIns="73152" tIns="36576" bIns="36576" anchor="t">
            <a:spAutoFit/>
          </a:bodyPr>
          <a:lstStyle/>
          <a:p>
            <a:pPr algn="ctr">
              <a:lnSpc>
                <a:spcPct val="92000"/>
              </a:lnSpc>
              <a:spcAft>
                <a:spcPts val="200"/>
              </a:spcAft>
            </a:pPr>
            <a:r>
              <a:rPr sz="3800" b="1" i="0">
                <a:solidFill>
                  <a:srgbClr val="FFFFFF"/>
                </a:solidFill>
                <a:latin typeface="Aptos Display"/>
              </a:rPr>
              <a:t>M</a:t>
            </a:r>
          </a:p>
        </p:txBody>
      </p:sp>
      <p:sp>
        <p:nvSpPr>
          <p:cNvPr id="25" name="Rectangle 24"/>
          <p:cNvSpPr/>
          <p:nvPr/>
        </p:nvSpPr>
        <p:spPr>
          <a:xfrm>
            <a:off x="7274052" y="2649602"/>
            <a:ext cx="1938528" cy="1324307"/>
          </a:xfrm>
          <a:prstGeom prst="rect">
            <a:avLst/>
          </a:prstGeom>
          <a:solidFill>
            <a:srgbClr val="F3F6F8"/>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347204" y="2764048"/>
            <a:ext cx="1792224"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D2760D"/>
                </a:solidFill>
                <a:latin typeface="Aptos"/>
              </a:rPr>
              <a:t>MEASUREMENT</a:t>
            </a:r>
          </a:p>
        </p:txBody>
      </p:sp>
      <p:sp>
        <p:nvSpPr>
          <p:cNvPr id="27" name="TextBox 26"/>
          <p:cNvSpPr txBox="1"/>
          <p:nvPr/>
        </p:nvSpPr>
        <p:spPr>
          <a:xfrm>
            <a:off x="7365492" y="3107387"/>
            <a:ext cx="1755648" cy="776599"/>
          </a:xfrm>
          <a:prstGeom prst="rect">
            <a:avLst/>
          </a:prstGeom>
          <a:noFill/>
        </p:spPr>
        <p:txBody>
          <a:bodyPr wrap="square" lIns="73152" rIns="73152" tIns="36576" bIns="36576" anchor="ctr">
            <a:spAutoFit/>
          </a:bodyPr>
          <a:lstStyle/>
          <a:p>
            <a:pPr algn="ctr">
              <a:lnSpc>
                <a:spcPct val="92000"/>
              </a:lnSpc>
              <a:spcAft>
                <a:spcPts val="200"/>
              </a:spcAft>
            </a:pPr>
            <a:r>
              <a:rPr sz="1050" b="0" i="0">
                <a:solidFill>
                  <a:srgbClr val="123A5F"/>
                </a:solidFill>
                <a:latin typeface="Aptos"/>
              </a:rPr>
              <a:t>DORA metrics,</a:t>
            </a:r>
          </a:p>
          <a:p>
            <a:pPr algn="ctr">
              <a:lnSpc>
                <a:spcPct val="92000"/>
              </a:lnSpc>
              <a:spcAft>
                <a:spcPts val="200"/>
              </a:spcAft>
            </a:pPr>
            <a:r>
              <a:rPr sz="1050" b="0" i="0">
                <a:solidFill>
                  <a:srgbClr val="123A5F"/>
                </a:solidFill>
                <a:latin typeface="Aptos"/>
              </a:rPr>
              <a:t>SLOs, telemetry</a:t>
            </a:r>
          </a:p>
        </p:txBody>
      </p:sp>
      <p:sp>
        <p:nvSpPr>
          <p:cNvPr id="28" name="Rectangle 27"/>
          <p:cNvSpPr/>
          <p:nvPr/>
        </p:nvSpPr>
        <p:spPr>
          <a:xfrm>
            <a:off x="9422892" y="1946574"/>
            <a:ext cx="1938528" cy="703027"/>
          </a:xfrm>
          <a:prstGeom prst="rect">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9422892" y="1995623"/>
            <a:ext cx="1938528" cy="572231"/>
          </a:xfrm>
          <a:prstGeom prst="rect">
            <a:avLst/>
          </a:prstGeom>
          <a:noFill/>
        </p:spPr>
        <p:txBody>
          <a:bodyPr wrap="square" lIns="73152" rIns="73152" tIns="36576" bIns="36576" anchor="t">
            <a:spAutoFit/>
          </a:bodyPr>
          <a:lstStyle/>
          <a:p>
            <a:pPr algn="ctr">
              <a:lnSpc>
                <a:spcPct val="92000"/>
              </a:lnSpc>
              <a:spcAft>
                <a:spcPts val="200"/>
              </a:spcAft>
            </a:pPr>
            <a:r>
              <a:rPr sz="3800" b="1" i="0">
                <a:solidFill>
                  <a:srgbClr val="FFFFFF"/>
                </a:solidFill>
                <a:latin typeface="Aptos Display"/>
              </a:rPr>
              <a:t>S</a:t>
            </a:r>
          </a:p>
        </p:txBody>
      </p:sp>
      <p:sp>
        <p:nvSpPr>
          <p:cNvPr id="30" name="Rectangle 29"/>
          <p:cNvSpPr/>
          <p:nvPr/>
        </p:nvSpPr>
        <p:spPr>
          <a:xfrm>
            <a:off x="9422892" y="2649602"/>
            <a:ext cx="1938528" cy="1324307"/>
          </a:xfrm>
          <a:prstGeom prst="rect">
            <a:avLst/>
          </a:prstGeom>
          <a:solidFill>
            <a:srgbClr val="F3F6F8"/>
          </a:solidFill>
          <a:ln w="9525">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9496044" y="2764048"/>
            <a:ext cx="1792224"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A0275C"/>
                </a:solidFill>
                <a:latin typeface="Aptos"/>
              </a:rPr>
              <a:t>SHARING</a:t>
            </a:r>
          </a:p>
        </p:txBody>
      </p:sp>
      <p:sp>
        <p:nvSpPr>
          <p:cNvPr id="32" name="TextBox 31"/>
          <p:cNvSpPr txBox="1"/>
          <p:nvPr/>
        </p:nvSpPr>
        <p:spPr>
          <a:xfrm>
            <a:off x="9514332" y="3107387"/>
            <a:ext cx="1755648" cy="776599"/>
          </a:xfrm>
          <a:prstGeom prst="rect">
            <a:avLst/>
          </a:prstGeom>
          <a:noFill/>
        </p:spPr>
        <p:txBody>
          <a:bodyPr wrap="square" lIns="73152" rIns="73152" tIns="36576" bIns="36576" anchor="ctr">
            <a:spAutoFit/>
          </a:bodyPr>
          <a:lstStyle/>
          <a:p>
            <a:pPr algn="ctr">
              <a:lnSpc>
                <a:spcPct val="92000"/>
              </a:lnSpc>
              <a:spcAft>
                <a:spcPts val="200"/>
              </a:spcAft>
            </a:pPr>
            <a:r>
              <a:rPr sz="1050" b="0" i="0">
                <a:solidFill>
                  <a:srgbClr val="123A5F"/>
                </a:solidFill>
                <a:latin typeface="Aptos"/>
              </a:rPr>
              <a:t>Runbooks, post-mortems,</a:t>
            </a:r>
          </a:p>
          <a:p>
            <a:pPr algn="ctr">
              <a:lnSpc>
                <a:spcPct val="92000"/>
              </a:lnSpc>
              <a:spcAft>
                <a:spcPts val="200"/>
              </a:spcAft>
            </a:pPr>
            <a:r>
              <a:rPr sz="1050" b="0" i="0">
                <a:solidFill>
                  <a:srgbClr val="123A5F"/>
                </a:solidFill>
                <a:latin typeface="Aptos"/>
              </a:rPr>
              <a:t>cross-team reuse</a:t>
            </a:r>
          </a:p>
        </p:txBody>
      </p:sp>
      <p:sp>
        <p:nvSpPr>
          <p:cNvPr id="33" name="Rectangle 32"/>
          <p:cNvSpPr/>
          <p:nvPr/>
        </p:nvSpPr>
        <p:spPr>
          <a:xfrm>
            <a:off x="658368" y="4358121"/>
            <a:ext cx="10872216" cy="858347"/>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4" name="TextBox 33"/>
          <p:cNvSpPr txBox="1"/>
          <p:nvPr/>
        </p:nvSpPr>
        <p:spPr>
          <a:xfrm>
            <a:off x="859536" y="4439869"/>
            <a:ext cx="10469880" cy="694852"/>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CALMS is a diagnostic, not a checklist. Score each dimension 1–5 and invest in the LOWEST — not the most interesting. Most organisations score highest on Automation and lowest on Culture or Measurement, which is exactly why buying tools alone never works.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19</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§1.3</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CALMS, dimension by dimension</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1852932"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Dimension</a:t>
            </a:r>
          </a:p>
        </p:txBody>
      </p:sp>
      <p:sp>
        <p:nvSpPr>
          <p:cNvPr id="10" name="TextBox 9"/>
          <p:cNvSpPr txBox="1"/>
          <p:nvPr/>
        </p:nvSpPr>
        <p:spPr>
          <a:xfrm>
            <a:off x="2767332" y="1828800"/>
            <a:ext cx="4094626"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What you are looking for</a:t>
            </a:r>
          </a:p>
        </p:txBody>
      </p:sp>
      <p:sp>
        <p:nvSpPr>
          <p:cNvPr id="11" name="TextBox 10"/>
          <p:cNvSpPr txBox="1"/>
          <p:nvPr/>
        </p:nvSpPr>
        <p:spPr>
          <a:xfrm>
            <a:off x="7026551" y="1828800"/>
            <a:ext cx="4430880"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The diagnostic question</a:t>
            </a:r>
          </a:p>
        </p:txBody>
      </p:sp>
      <p:sp>
        <p:nvSpPr>
          <p:cNvPr id="12" name="Rectangle 11"/>
          <p:cNvSpPr/>
          <p:nvPr/>
        </p:nvSpPr>
        <p:spPr>
          <a:xfrm>
            <a:off x="658368" y="2167128"/>
            <a:ext cx="10872216" cy="601675"/>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1852932" cy="56509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Culture</a:t>
            </a:r>
          </a:p>
        </p:txBody>
      </p:sp>
      <p:sp>
        <p:nvSpPr>
          <p:cNvPr id="14" name="TextBox 13"/>
          <p:cNvSpPr txBox="1"/>
          <p:nvPr/>
        </p:nvSpPr>
        <p:spPr>
          <a:xfrm>
            <a:off x="2767332" y="2185416"/>
            <a:ext cx="4094626"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Shared goals; failure investigated, not punished</a:t>
            </a:r>
          </a:p>
        </p:txBody>
      </p:sp>
      <p:sp>
        <p:nvSpPr>
          <p:cNvPr id="15" name="TextBox 14"/>
          <p:cNvSpPr txBox="1"/>
          <p:nvPr/>
        </p:nvSpPr>
        <p:spPr>
          <a:xfrm>
            <a:off x="7026551" y="2185416"/>
            <a:ext cx="4430880"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When production last broke, what was the FIRST question asked?</a:t>
            </a:r>
          </a:p>
        </p:txBody>
      </p:sp>
      <p:sp>
        <p:nvSpPr>
          <p:cNvPr id="16" name="Rectangle 15"/>
          <p:cNvSpPr/>
          <p:nvPr/>
        </p:nvSpPr>
        <p:spPr>
          <a:xfrm>
            <a:off x="658368" y="2768803"/>
            <a:ext cx="10872216" cy="601675"/>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787091"/>
            <a:ext cx="1852932" cy="56509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Automation</a:t>
            </a:r>
          </a:p>
        </p:txBody>
      </p:sp>
      <p:sp>
        <p:nvSpPr>
          <p:cNvPr id="18" name="TextBox 17"/>
          <p:cNvSpPr txBox="1"/>
          <p:nvPr/>
        </p:nvSpPr>
        <p:spPr>
          <a:xfrm>
            <a:off x="2767332" y="2787091"/>
            <a:ext cx="4094626"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build → test → deploy → provision → configure → recover</a:t>
            </a:r>
          </a:p>
        </p:txBody>
      </p:sp>
      <p:sp>
        <p:nvSpPr>
          <p:cNvPr id="19" name="TextBox 18"/>
          <p:cNvSpPr txBox="1"/>
          <p:nvPr/>
        </p:nvSpPr>
        <p:spPr>
          <a:xfrm>
            <a:off x="7026551" y="2787091"/>
            <a:ext cx="4430880"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How many humans must type something for a one-line change to ship?</a:t>
            </a:r>
          </a:p>
        </p:txBody>
      </p:sp>
      <p:sp>
        <p:nvSpPr>
          <p:cNvPr id="20" name="Rectangle 19"/>
          <p:cNvSpPr/>
          <p:nvPr/>
        </p:nvSpPr>
        <p:spPr>
          <a:xfrm>
            <a:off x="658368" y="3370478"/>
            <a:ext cx="10872216" cy="601675"/>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388766"/>
            <a:ext cx="1852932" cy="56509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Lean</a:t>
            </a:r>
          </a:p>
        </p:txBody>
      </p:sp>
      <p:sp>
        <p:nvSpPr>
          <p:cNvPr id="22" name="TextBox 21"/>
          <p:cNvSpPr txBox="1"/>
          <p:nvPr/>
        </p:nvSpPr>
        <p:spPr>
          <a:xfrm>
            <a:off x="2767332" y="3388766"/>
            <a:ext cx="4094626"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Small batches, limited WIP, the seven wastes removed</a:t>
            </a:r>
          </a:p>
        </p:txBody>
      </p:sp>
      <p:sp>
        <p:nvSpPr>
          <p:cNvPr id="23" name="TextBox 22"/>
          <p:cNvSpPr txBox="1"/>
          <p:nvPr/>
        </p:nvSpPr>
        <p:spPr>
          <a:xfrm>
            <a:off x="7026551" y="3388766"/>
            <a:ext cx="4430880"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What share of lead time does a change spend waiting for a human?</a:t>
            </a:r>
          </a:p>
        </p:txBody>
      </p:sp>
      <p:sp>
        <p:nvSpPr>
          <p:cNvPr id="24" name="Rectangle 23"/>
          <p:cNvSpPr/>
          <p:nvPr/>
        </p:nvSpPr>
        <p:spPr>
          <a:xfrm>
            <a:off x="658368" y="3972153"/>
            <a:ext cx="10872216" cy="601675"/>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990441"/>
            <a:ext cx="1852932" cy="56509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Measurement</a:t>
            </a:r>
          </a:p>
        </p:txBody>
      </p:sp>
      <p:sp>
        <p:nvSpPr>
          <p:cNvPr id="26" name="TextBox 25"/>
          <p:cNvSpPr txBox="1"/>
          <p:nvPr/>
        </p:nvSpPr>
        <p:spPr>
          <a:xfrm>
            <a:off x="2767332" y="3990441"/>
            <a:ext cx="4094626"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Outcomes (lead time, failure rate), not outputs (tickets)</a:t>
            </a:r>
          </a:p>
        </p:txBody>
      </p:sp>
      <p:sp>
        <p:nvSpPr>
          <p:cNvPr id="27" name="TextBox 26"/>
          <p:cNvSpPr txBox="1"/>
          <p:nvPr/>
        </p:nvSpPr>
        <p:spPr>
          <a:xfrm>
            <a:off x="7026551" y="3990441"/>
            <a:ext cx="4430880"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What is your change failure rate? If nobody knows, that is the answer</a:t>
            </a:r>
          </a:p>
        </p:txBody>
      </p:sp>
      <p:sp>
        <p:nvSpPr>
          <p:cNvPr id="28" name="Rectangle 27"/>
          <p:cNvSpPr/>
          <p:nvPr/>
        </p:nvSpPr>
        <p:spPr>
          <a:xfrm>
            <a:off x="658368" y="4573828"/>
            <a:ext cx="10872216" cy="601675"/>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4592116"/>
            <a:ext cx="1852932" cy="56509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Sharing</a:t>
            </a:r>
          </a:p>
        </p:txBody>
      </p:sp>
      <p:sp>
        <p:nvSpPr>
          <p:cNvPr id="30" name="TextBox 29"/>
          <p:cNvSpPr txBox="1"/>
          <p:nvPr/>
        </p:nvSpPr>
        <p:spPr>
          <a:xfrm>
            <a:off x="2767332" y="4592116"/>
            <a:ext cx="4094626"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Runbooks, dashboards and post-mortems discoverable by all</a:t>
            </a:r>
          </a:p>
        </p:txBody>
      </p:sp>
      <p:sp>
        <p:nvSpPr>
          <p:cNvPr id="31" name="TextBox 30"/>
          <p:cNvSpPr txBox="1"/>
          <p:nvPr/>
        </p:nvSpPr>
        <p:spPr>
          <a:xfrm>
            <a:off x="7026551" y="4592116"/>
            <a:ext cx="4430880" cy="56509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Can another team find and read your last incident review?</a:t>
            </a:r>
          </a:p>
        </p:txBody>
      </p:sp>
      <p:sp>
        <p:nvSpPr>
          <p:cNvPr id="32" name="Rectangle 31"/>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804672" y="5404104"/>
            <a:ext cx="96012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SCORING</a:t>
            </a:r>
          </a:p>
        </p:txBody>
      </p:sp>
      <p:sp>
        <p:nvSpPr>
          <p:cNvPr id="34" name="TextBox 33"/>
          <p:cNvSpPr txBox="1"/>
          <p:nvPr/>
        </p:nvSpPr>
        <p:spPr>
          <a:xfrm>
            <a:off x="1755648" y="5394959"/>
            <a:ext cx="9610344"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1 Initial (heroic, undocumented) · 2 Repeatable (documented, manual) · 3 Defined (standardised, partly automated) · 4 Managed (automated and measured) · 5 Optimising (self-service, data-driven)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AUDIT  ·  4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Score your own organisation</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960120" cy="310896"/>
          </a:xfrm>
          <a:prstGeom prst="rect">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24228"/>
            <a:ext cx="960120" cy="237744"/>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AUDIT</a:t>
            </a:r>
          </a:p>
        </p:txBody>
      </p:sp>
      <p:sp>
        <p:nvSpPr>
          <p:cNvPr id="10" name="TextBox 9"/>
          <p:cNvSpPr txBox="1"/>
          <p:nvPr/>
        </p:nvSpPr>
        <p:spPr>
          <a:xfrm>
            <a:off x="1773936" y="1815084"/>
            <a:ext cx="9683496" cy="25603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A0275C"/>
                </a:solidFill>
                <a:latin typeface="Aptos"/>
              </a:rPr>
              <a:t>Score your OWN organisation. Honestly.</a:t>
            </a:r>
          </a:p>
        </p:txBody>
      </p:sp>
      <p:sp>
        <p:nvSpPr>
          <p:cNvPr id="11" name="Rectangle 10"/>
          <p:cNvSpPr/>
          <p:nvPr/>
        </p:nvSpPr>
        <p:spPr>
          <a:xfrm>
            <a:off x="658368" y="2258568"/>
            <a:ext cx="10872216" cy="768096"/>
          </a:xfrm>
          <a:prstGeom prst="rect">
            <a:avLst/>
          </a:prstGeom>
          <a:solidFill>
            <a:srgbClr val="FAECF2"/>
          </a:solidFill>
          <a:ln w="1270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258568"/>
            <a:ext cx="68580" cy="768096"/>
          </a:xfrm>
          <a:prstGeom prst="rect">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50976" y="2313432"/>
            <a:ext cx="10396728" cy="658368"/>
          </a:xfrm>
          <a:prstGeom prst="rect">
            <a:avLst/>
          </a:prstGeom>
          <a:noFill/>
        </p:spPr>
        <p:txBody>
          <a:bodyPr wrap="square" lIns="73152" rIns="73152" tIns="36576" bIns="36576" anchor="ctr">
            <a:spAutoFit/>
          </a:bodyPr>
          <a:lstStyle/>
          <a:p>
            <a:pPr algn="l">
              <a:lnSpc>
                <a:spcPct val="105000"/>
              </a:lnSpc>
              <a:spcAft>
                <a:spcPts val="200"/>
              </a:spcAft>
            </a:pPr>
            <a:r>
              <a:rPr sz="1500" b="1" i="0">
                <a:solidFill>
                  <a:srgbClr val="123A5F"/>
                </a:solidFill>
                <a:latin typeface="Aptos"/>
              </a:rPr>
              <a:t>Give each CALMS dimension a mark out of 5, using the scale on the previous slide. Be honest: this only works if the number is real.</a:t>
            </a:r>
          </a:p>
        </p:txBody>
      </p:sp>
      <p:sp>
        <p:nvSpPr>
          <p:cNvPr id="14" name="Oval 13"/>
          <p:cNvSpPr/>
          <p:nvPr/>
        </p:nvSpPr>
        <p:spPr>
          <a:xfrm>
            <a:off x="676656" y="3282696"/>
            <a:ext cx="256032" cy="256032"/>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76656" y="3300984"/>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1</a:t>
            </a:r>
          </a:p>
        </p:txBody>
      </p:sp>
      <p:sp>
        <p:nvSpPr>
          <p:cNvPr id="16" name="TextBox 15"/>
          <p:cNvSpPr txBox="1"/>
          <p:nvPr/>
        </p:nvSpPr>
        <p:spPr>
          <a:xfrm>
            <a:off x="1078992" y="325526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CULTURE — when production last broke, what was the FIRST question asked in the room?</a:t>
            </a:r>
          </a:p>
        </p:txBody>
      </p:sp>
      <p:sp>
        <p:nvSpPr>
          <p:cNvPr id="17" name="Oval 16"/>
          <p:cNvSpPr/>
          <p:nvPr/>
        </p:nvSpPr>
        <p:spPr>
          <a:xfrm>
            <a:off x="676656" y="3685031"/>
            <a:ext cx="256032" cy="256032"/>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76656" y="3703320"/>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2</a:t>
            </a:r>
          </a:p>
        </p:txBody>
      </p:sp>
      <p:sp>
        <p:nvSpPr>
          <p:cNvPr id="19" name="TextBox 18"/>
          <p:cNvSpPr txBox="1"/>
          <p:nvPr/>
        </p:nvSpPr>
        <p:spPr>
          <a:xfrm>
            <a:off x="1078992" y="3657600"/>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AUTOMATION — how many humans must type something for a one-line change to reach production?</a:t>
            </a:r>
          </a:p>
        </p:txBody>
      </p:sp>
      <p:sp>
        <p:nvSpPr>
          <p:cNvPr id="20" name="Oval 19"/>
          <p:cNvSpPr/>
          <p:nvPr/>
        </p:nvSpPr>
        <p:spPr>
          <a:xfrm>
            <a:off x="676656" y="4087368"/>
            <a:ext cx="256032" cy="256032"/>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76656" y="4105656"/>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3</a:t>
            </a:r>
          </a:p>
        </p:txBody>
      </p:sp>
      <p:sp>
        <p:nvSpPr>
          <p:cNvPr id="22" name="TextBox 21"/>
          <p:cNvSpPr txBox="1"/>
          <p:nvPr/>
        </p:nvSpPr>
        <p:spPr>
          <a:xfrm>
            <a:off x="1078992" y="4059936"/>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LEAN — what percentage of your lead time is queue time? (If you do not know: that is a 1.)</a:t>
            </a:r>
          </a:p>
        </p:txBody>
      </p:sp>
      <p:sp>
        <p:nvSpPr>
          <p:cNvPr id="23" name="Oval 22"/>
          <p:cNvSpPr/>
          <p:nvPr/>
        </p:nvSpPr>
        <p:spPr>
          <a:xfrm>
            <a:off x="676656" y="4489704"/>
            <a:ext cx="256032" cy="256032"/>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676656" y="4507992"/>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4</a:t>
            </a:r>
          </a:p>
        </p:txBody>
      </p:sp>
      <p:sp>
        <p:nvSpPr>
          <p:cNvPr id="25" name="TextBox 24"/>
          <p:cNvSpPr txBox="1"/>
          <p:nvPr/>
        </p:nvSpPr>
        <p:spPr>
          <a:xfrm>
            <a:off x="1078992" y="4462272"/>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MEASUREMENT — what is your change failure rate? If nobody knows, that IS the answer.</a:t>
            </a:r>
          </a:p>
        </p:txBody>
      </p:sp>
      <p:sp>
        <p:nvSpPr>
          <p:cNvPr id="26" name="Oval 25"/>
          <p:cNvSpPr/>
          <p:nvPr/>
        </p:nvSpPr>
        <p:spPr>
          <a:xfrm>
            <a:off x="676656" y="4892040"/>
            <a:ext cx="256032" cy="256032"/>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676656" y="4910328"/>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5</a:t>
            </a:r>
          </a:p>
        </p:txBody>
      </p:sp>
      <p:sp>
        <p:nvSpPr>
          <p:cNvPr id="28" name="TextBox 27"/>
          <p:cNvSpPr txBox="1"/>
          <p:nvPr/>
        </p:nvSpPr>
        <p:spPr>
          <a:xfrm>
            <a:off x="1078992" y="4864608"/>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SHARING — can another team find and read your last incident review?</a:t>
            </a:r>
          </a:p>
        </p:txBody>
      </p:sp>
      <p:sp>
        <p:nvSpPr>
          <p:cNvPr id="29" name="TextBox 28"/>
          <p:cNvSpPr txBox="1"/>
          <p:nvPr/>
        </p:nvSpPr>
        <p:spPr>
          <a:xfrm>
            <a:off x="658368" y="5559552"/>
            <a:ext cx="10872216" cy="274320"/>
          </a:xfrm>
          <a:prstGeom prst="rect">
            <a:avLst/>
          </a:prstGeom>
          <a:noFill/>
        </p:spPr>
        <p:txBody>
          <a:bodyPr wrap="square" lIns="73152" rIns="73152" tIns="36576" bIns="36576" anchor="t">
            <a:spAutoFit/>
          </a:bodyPr>
          <a:lstStyle/>
          <a:p>
            <a:pPr algn="l">
              <a:lnSpc>
                <a:spcPct val="92000"/>
              </a:lnSpc>
              <a:spcAft>
                <a:spcPts val="200"/>
              </a:spcAft>
            </a:pPr>
            <a:r>
              <a:rPr sz="1100" b="1" i="1">
                <a:solidFill>
                  <a:srgbClr val="A0275C"/>
                </a:solidFill>
                <a:latin typeface="Aptos"/>
              </a:rPr>
              <a:t>Answers on the next slide — commit to yours first.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AUDIT  ·  THE ANSWER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Score your own organisation</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694944"/>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4864" cy="694944"/>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14400" y="1828800"/>
            <a:ext cx="10415016" cy="603504"/>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5A6570"/>
                </a:solidFill>
                <a:latin typeface="Aptos"/>
              </a:rPr>
              <a:t>Give each CALMS dimension a mark out of 5, using the scale on the previous slide. Be honest: this only works if the number is real.</a:t>
            </a:r>
          </a:p>
        </p:txBody>
      </p:sp>
      <p:sp>
        <p:nvSpPr>
          <p:cNvPr id="11" name="Rectangle 10"/>
          <p:cNvSpPr/>
          <p:nvPr/>
        </p:nvSpPr>
        <p:spPr>
          <a:xfrm>
            <a:off x="658368" y="2752344"/>
            <a:ext cx="10872216" cy="3118104"/>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752344"/>
            <a:ext cx="73152" cy="3118104"/>
          </a:xfrm>
          <a:prstGeom prst="rect">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69264" y="2916936"/>
            <a:ext cx="10323576" cy="274320"/>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29ABE2"/>
                </a:solidFill>
                <a:latin typeface="Aptos"/>
              </a:rPr>
              <a:t>THE ANSWER</a:t>
            </a:r>
          </a:p>
        </p:txBody>
      </p:sp>
      <p:sp>
        <p:nvSpPr>
          <p:cNvPr id="14" name="TextBox 13"/>
          <p:cNvSpPr txBox="1"/>
          <p:nvPr/>
        </p:nvSpPr>
        <p:spPr>
          <a:xfrm>
            <a:off x="1207007" y="3282696"/>
            <a:ext cx="9774936" cy="2404872"/>
          </a:xfrm>
          <a:prstGeom prst="rect">
            <a:avLst/>
          </a:prstGeom>
          <a:noFill/>
        </p:spPr>
        <p:txBody>
          <a:bodyPr wrap="square" lIns="73152" rIns="73152" tIns="36576" bIns="36576" anchor="ctr">
            <a:spAutoFit/>
          </a:bodyPr>
          <a:lstStyle/>
          <a:p>
            <a:pPr algn="l">
              <a:lnSpc>
                <a:spcPct val="126000"/>
              </a:lnSpc>
              <a:spcAft>
                <a:spcPts val="200"/>
              </a:spcAft>
            </a:pPr>
            <a:r>
              <a:rPr sz="2100" b="0" i="0">
                <a:solidFill>
                  <a:srgbClr val="FFFFFF"/>
                </a:solidFill>
                <a:latin typeface="Aptos"/>
              </a:rPr>
              <a:t>Your LOWEST score is where the next investment belongs — not the dimension you find most interesting. Most rooms score highest on Automation and lowest on Measurement. Keep your scores: Lab 01 records them, and the day 6 capstone asks you to score again.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3</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Agile, the Lifecycle &amp; Release</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Where DevOps starts and where Agile stops</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Agile vs DevOps</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Water-scrum-fall</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lifecycle, phase by phase</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Deploy is not release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§1.4</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440" b="1" i="0">
                <a:solidFill>
                  <a:srgbClr val="123A5F"/>
                </a:solidFill>
                <a:latin typeface="Aptos Display"/>
              </a:rPr>
              <a:t>Agile and DevOps are not the same thing</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5280660" cy="3447288"/>
          </a:xfrm>
          <a:prstGeom prst="rect">
            <a:avLst/>
          </a:prstGeom>
          <a:solidFill>
            <a:srgbClr val="E6F4F1"/>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280660" cy="402336"/>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804672"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AGILE</a:t>
            </a:r>
          </a:p>
        </p:txBody>
      </p:sp>
      <p:sp>
        <p:nvSpPr>
          <p:cNvPr id="11" name="Rectangle 10"/>
          <p:cNvSpPr/>
          <p:nvPr/>
        </p:nvSpPr>
        <p:spPr>
          <a:xfrm>
            <a:off x="822959" y="2427160"/>
            <a:ext cx="100584" cy="1005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1060704" y="231800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Optimises: idea → working software</a:t>
            </a:r>
          </a:p>
        </p:txBody>
      </p:sp>
      <p:sp>
        <p:nvSpPr>
          <p:cNvPr id="13" name="Rectangle 12"/>
          <p:cNvSpPr/>
          <p:nvPr/>
        </p:nvSpPr>
        <p:spPr>
          <a:xfrm>
            <a:off x="822959" y="3090100"/>
            <a:ext cx="100584" cy="1005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1060704" y="2980944"/>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Unit: the iteration / sprint</a:t>
            </a:r>
          </a:p>
        </p:txBody>
      </p:sp>
      <p:sp>
        <p:nvSpPr>
          <p:cNvPr id="15" name="Rectangle 14"/>
          <p:cNvSpPr/>
          <p:nvPr/>
        </p:nvSpPr>
        <p:spPr>
          <a:xfrm>
            <a:off x="822959" y="3753040"/>
            <a:ext cx="100584" cy="1005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1060704" y="3643883"/>
            <a:ext cx="4713732" cy="544639"/>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Ends at "done" — often at the deployment boundary</a:t>
            </a:r>
          </a:p>
        </p:txBody>
      </p:sp>
      <p:sp>
        <p:nvSpPr>
          <p:cNvPr id="17" name="Rectangle 16"/>
          <p:cNvSpPr/>
          <p:nvPr/>
        </p:nvSpPr>
        <p:spPr>
          <a:xfrm>
            <a:off x="822959" y="4626863"/>
            <a:ext cx="100584" cy="1005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1060704" y="4517707"/>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Answers: are we building the right thing?</a:t>
            </a:r>
          </a:p>
        </p:txBody>
      </p:sp>
      <p:sp>
        <p:nvSpPr>
          <p:cNvPr id="19" name="Rectangle 18"/>
          <p:cNvSpPr/>
          <p:nvPr/>
        </p:nvSpPr>
        <p:spPr>
          <a:xfrm>
            <a:off x="6249924" y="1783080"/>
            <a:ext cx="5280660" cy="3447288"/>
          </a:xfrm>
          <a:prstGeom prst="rect">
            <a:avLst/>
          </a:prstGeom>
          <a:solidFill>
            <a:srgbClr val="EDF4EA"/>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Rectangle 19"/>
          <p:cNvSpPr/>
          <p:nvPr/>
        </p:nvSpPr>
        <p:spPr>
          <a:xfrm>
            <a:off x="6249924" y="1783080"/>
            <a:ext cx="5280660" cy="402336"/>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396228"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DEVOPS</a:t>
            </a:r>
          </a:p>
        </p:txBody>
      </p:sp>
      <p:sp>
        <p:nvSpPr>
          <p:cNvPr id="22" name="Rectangle 21"/>
          <p:cNvSpPr/>
          <p:nvPr/>
        </p:nvSpPr>
        <p:spPr>
          <a:xfrm>
            <a:off x="6414516" y="2427160"/>
            <a:ext cx="100584" cy="100584"/>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6652260" y="2318003"/>
            <a:ext cx="4713732" cy="544639"/>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Optimises: working software → running in production → feedback</a:t>
            </a:r>
          </a:p>
        </p:txBody>
      </p:sp>
      <p:sp>
        <p:nvSpPr>
          <p:cNvPr id="24" name="Rectangle 23"/>
          <p:cNvSpPr/>
          <p:nvPr/>
        </p:nvSpPr>
        <p:spPr>
          <a:xfrm>
            <a:off x="6414516" y="3291459"/>
            <a:ext cx="100584" cy="100584"/>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652260" y="3182302"/>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Unit: the change</a:t>
            </a:r>
          </a:p>
        </p:txBody>
      </p:sp>
      <p:sp>
        <p:nvSpPr>
          <p:cNvPr id="26" name="Rectangle 25"/>
          <p:cNvSpPr/>
          <p:nvPr/>
        </p:nvSpPr>
        <p:spPr>
          <a:xfrm>
            <a:off x="6414516" y="3944874"/>
            <a:ext cx="100584" cy="100584"/>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6652260" y="3835717"/>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Includes operating the thing you built</a:t>
            </a:r>
          </a:p>
        </p:txBody>
      </p:sp>
      <p:sp>
        <p:nvSpPr>
          <p:cNvPr id="28" name="Rectangle 27"/>
          <p:cNvSpPr/>
          <p:nvPr/>
        </p:nvSpPr>
        <p:spPr>
          <a:xfrm>
            <a:off x="6414516" y="4598289"/>
            <a:ext cx="100584" cy="100584"/>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6652260" y="4489132"/>
            <a:ext cx="4713732" cy="544639"/>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Answers: can we deliver it safely, repeatedly, fast?</a:t>
            </a:r>
          </a:p>
        </p:txBody>
      </p:sp>
      <p:sp>
        <p:nvSpPr>
          <p:cNvPr id="30" name="Rectangle 29"/>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804672" y="5404104"/>
            <a:ext cx="1046073"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THE TRAP</a:t>
            </a:r>
          </a:p>
        </p:txBody>
      </p:sp>
      <p:sp>
        <p:nvSpPr>
          <p:cNvPr id="32" name="TextBox 31"/>
          <p:cNvSpPr txBox="1"/>
          <p:nvPr/>
        </p:nvSpPr>
        <p:spPr>
          <a:xfrm>
            <a:off x="1841601" y="5394959"/>
            <a:ext cx="9524390"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A team can be perfectly Agile and still take six weeks to deploy. Agile without DevOps produces a fast-moving development team feeding a slow, manual delivery pipeline.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§1.4</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Agile and DevOps, side by side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2077102"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
            </a:r>
          </a:p>
        </p:txBody>
      </p:sp>
      <p:sp>
        <p:nvSpPr>
          <p:cNvPr id="10" name="TextBox 9"/>
          <p:cNvSpPr txBox="1"/>
          <p:nvPr/>
        </p:nvSpPr>
        <p:spPr>
          <a:xfrm>
            <a:off x="2991502" y="1828800"/>
            <a:ext cx="4094626"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Agile</a:t>
            </a:r>
          </a:p>
        </p:txBody>
      </p:sp>
      <p:sp>
        <p:nvSpPr>
          <p:cNvPr id="11" name="TextBox 10"/>
          <p:cNvSpPr txBox="1"/>
          <p:nvPr/>
        </p:nvSpPr>
        <p:spPr>
          <a:xfrm>
            <a:off x="7250720" y="1828800"/>
            <a:ext cx="4206711"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DevOps</a:t>
            </a:r>
          </a:p>
        </p:txBody>
      </p:sp>
      <p:sp>
        <p:nvSpPr>
          <p:cNvPr id="12" name="Rectangle 11"/>
          <p:cNvSpPr/>
          <p:nvPr/>
        </p:nvSpPr>
        <p:spPr>
          <a:xfrm>
            <a:off x="658368" y="2167128"/>
            <a:ext cx="10872216" cy="340614"/>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2077102" cy="30403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Origin</a:t>
            </a:r>
          </a:p>
        </p:txBody>
      </p:sp>
      <p:sp>
        <p:nvSpPr>
          <p:cNvPr id="14" name="TextBox 13"/>
          <p:cNvSpPr txBox="1"/>
          <p:nvPr/>
        </p:nvSpPr>
        <p:spPr>
          <a:xfrm>
            <a:off x="2991502" y="2185416"/>
            <a:ext cx="4094626"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Agile Manifesto, 2001</a:t>
            </a:r>
          </a:p>
        </p:txBody>
      </p:sp>
      <p:sp>
        <p:nvSpPr>
          <p:cNvPr id="15" name="TextBox 14"/>
          <p:cNvSpPr txBox="1"/>
          <p:nvPr/>
        </p:nvSpPr>
        <p:spPr>
          <a:xfrm>
            <a:off x="7250720" y="2185416"/>
            <a:ext cx="4206711"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DevOpsDays, 2009</a:t>
            </a:r>
          </a:p>
        </p:txBody>
      </p:sp>
      <p:sp>
        <p:nvSpPr>
          <p:cNvPr id="16" name="Rectangle 15"/>
          <p:cNvSpPr/>
          <p:nvPr/>
        </p:nvSpPr>
        <p:spPr>
          <a:xfrm>
            <a:off x="658368" y="2507742"/>
            <a:ext cx="10872216" cy="54864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526030"/>
            <a:ext cx="2077102" cy="51206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Primary concern</a:t>
            </a:r>
          </a:p>
        </p:txBody>
      </p:sp>
      <p:sp>
        <p:nvSpPr>
          <p:cNvPr id="18" name="TextBox 17"/>
          <p:cNvSpPr txBox="1"/>
          <p:nvPr/>
        </p:nvSpPr>
        <p:spPr>
          <a:xfrm>
            <a:off x="2991502" y="2526030"/>
            <a:ext cx="4094626" cy="51206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Building the right thing, iteratively</a:t>
            </a:r>
          </a:p>
        </p:txBody>
      </p:sp>
      <p:sp>
        <p:nvSpPr>
          <p:cNvPr id="19" name="TextBox 18"/>
          <p:cNvSpPr txBox="1"/>
          <p:nvPr/>
        </p:nvSpPr>
        <p:spPr>
          <a:xfrm>
            <a:off x="7250720" y="2526030"/>
            <a:ext cx="4206711" cy="51206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Delivering and running it, reliably and fast</a:t>
            </a:r>
          </a:p>
        </p:txBody>
      </p:sp>
      <p:sp>
        <p:nvSpPr>
          <p:cNvPr id="20" name="Rectangle 19"/>
          <p:cNvSpPr/>
          <p:nvPr/>
        </p:nvSpPr>
        <p:spPr>
          <a:xfrm>
            <a:off x="658368" y="3056382"/>
            <a:ext cx="10872216" cy="340614"/>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074670"/>
            <a:ext cx="2077102" cy="30403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Scope</a:t>
            </a:r>
          </a:p>
        </p:txBody>
      </p:sp>
      <p:sp>
        <p:nvSpPr>
          <p:cNvPr id="22" name="TextBox 21"/>
          <p:cNvSpPr txBox="1"/>
          <p:nvPr/>
        </p:nvSpPr>
        <p:spPr>
          <a:xfrm>
            <a:off x="2991502" y="3074670"/>
            <a:ext cx="4094626"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Dev team + product owner</a:t>
            </a:r>
          </a:p>
        </p:txBody>
      </p:sp>
      <p:sp>
        <p:nvSpPr>
          <p:cNvPr id="23" name="TextBox 22"/>
          <p:cNvSpPr txBox="1"/>
          <p:nvPr/>
        </p:nvSpPr>
        <p:spPr>
          <a:xfrm>
            <a:off x="7250720" y="3074670"/>
            <a:ext cx="4206711"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Dev + Ops + Security + the platform</a:t>
            </a:r>
          </a:p>
        </p:txBody>
      </p:sp>
      <p:sp>
        <p:nvSpPr>
          <p:cNvPr id="24" name="Rectangle 23"/>
          <p:cNvSpPr/>
          <p:nvPr/>
        </p:nvSpPr>
        <p:spPr>
          <a:xfrm>
            <a:off x="658368" y="3396996"/>
            <a:ext cx="10872216" cy="340614"/>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415284"/>
            <a:ext cx="2077102" cy="30403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Batch</a:t>
            </a:r>
          </a:p>
        </p:txBody>
      </p:sp>
      <p:sp>
        <p:nvSpPr>
          <p:cNvPr id="26" name="TextBox 25"/>
          <p:cNvSpPr txBox="1"/>
          <p:nvPr/>
        </p:nvSpPr>
        <p:spPr>
          <a:xfrm>
            <a:off x="2991502" y="3415284"/>
            <a:ext cx="4094626"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Sprint (1–4 weeks)</a:t>
            </a:r>
          </a:p>
        </p:txBody>
      </p:sp>
      <p:sp>
        <p:nvSpPr>
          <p:cNvPr id="27" name="TextBox 26"/>
          <p:cNvSpPr txBox="1"/>
          <p:nvPr/>
        </p:nvSpPr>
        <p:spPr>
          <a:xfrm>
            <a:off x="7250720" y="3415284"/>
            <a:ext cx="4206711"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Individual change (minutes to hours)</a:t>
            </a:r>
          </a:p>
        </p:txBody>
      </p:sp>
      <p:sp>
        <p:nvSpPr>
          <p:cNvPr id="28" name="Rectangle 27"/>
          <p:cNvSpPr/>
          <p:nvPr/>
        </p:nvSpPr>
        <p:spPr>
          <a:xfrm>
            <a:off x="658368" y="3737610"/>
            <a:ext cx="10872216" cy="340614"/>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3755898"/>
            <a:ext cx="2077102" cy="30403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Feedback source</a:t>
            </a:r>
          </a:p>
        </p:txBody>
      </p:sp>
      <p:sp>
        <p:nvSpPr>
          <p:cNvPr id="30" name="TextBox 29"/>
          <p:cNvSpPr txBox="1"/>
          <p:nvPr/>
        </p:nvSpPr>
        <p:spPr>
          <a:xfrm>
            <a:off x="2991502" y="3755898"/>
            <a:ext cx="4094626"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Sprint review, customer demo</a:t>
            </a:r>
          </a:p>
        </p:txBody>
      </p:sp>
      <p:sp>
        <p:nvSpPr>
          <p:cNvPr id="31" name="TextBox 30"/>
          <p:cNvSpPr txBox="1"/>
          <p:nvPr/>
        </p:nvSpPr>
        <p:spPr>
          <a:xfrm>
            <a:off x="7250720" y="3755898"/>
            <a:ext cx="4206711" cy="30403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Production telemetry, real users</a:t>
            </a:r>
          </a:p>
        </p:txBody>
      </p:sp>
      <p:sp>
        <p:nvSpPr>
          <p:cNvPr id="32" name="Rectangle 31"/>
          <p:cNvSpPr/>
          <p:nvPr/>
        </p:nvSpPr>
        <p:spPr>
          <a:xfrm>
            <a:off x="658368" y="4078224"/>
            <a:ext cx="10872216" cy="54864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096512"/>
            <a:ext cx="2077102" cy="51206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Key artefact</a:t>
            </a:r>
          </a:p>
        </p:txBody>
      </p:sp>
      <p:sp>
        <p:nvSpPr>
          <p:cNvPr id="34" name="TextBox 33"/>
          <p:cNvSpPr txBox="1"/>
          <p:nvPr/>
        </p:nvSpPr>
        <p:spPr>
          <a:xfrm>
            <a:off x="2991502" y="4096512"/>
            <a:ext cx="4094626" cy="51206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Working software at the end of a sprint</a:t>
            </a:r>
          </a:p>
        </p:txBody>
      </p:sp>
      <p:sp>
        <p:nvSpPr>
          <p:cNvPr id="35" name="TextBox 34"/>
          <p:cNvSpPr txBox="1"/>
          <p:nvPr/>
        </p:nvSpPr>
        <p:spPr>
          <a:xfrm>
            <a:off x="7250720" y="4096512"/>
            <a:ext cx="4206711" cy="51206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Working software IN PRODUCTION, continuously</a:t>
            </a:r>
          </a:p>
        </p:txBody>
      </p:sp>
      <p:sp>
        <p:nvSpPr>
          <p:cNvPr id="36" name="Rectangle 35"/>
          <p:cNvSpPr/>
          <p:nvPr/>
        </p:nvSpPr>
        <p:spPr>
          <a:xfrm>
            <a:off x="658368" y="4626864"/>
            <a:ext cx="10872216" cy="54864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749808" y="4645152"/>
            <a:ext cx="2077102" cy="51206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Fails when</a:t>
            </a:r>
          </a:p>
        </p:txBody>
      </p:sp>
      <p:sp>
        <p:nvSpPr>
          <p:cNvPr id="38" name="TextBox 37"/>
          <p:cNvSpPr txBox="1"/>
          <p:nvPr/>
        </p:nvSpPr>
        <p:spPr>
          <a:xfrm>
            <a:off x="2991502" y="4645152"/>
            <a:ext cx="4094626" cy="51206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increment is never actually released</a:t>
            </a:r>
          </a:p>
        </p:txBody>
      </p:sp>
      <p:sp>
        <p:nvSpPr>
          <p:cNvPr id="39" name="TextBox 38"/>
          <p:cNvSpPr txBox="1"/>
          <p:nvPr/>
        </p:nvSpPr>
        <p:spPr>
          <a:xfrm>
            <a:off x="7250720" y="4645152"/>
            <a:ext cx="4206711" cy="51206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Culture is unchanged and only tools are bought</a:t>
            </a:r>
          </a:p>
        </p:txBody>
      </p:sp>
      <p:sp>
        <p:nvSpPr>
          <p:cNvPr id="40" name="Rectangle 39"/>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804672" y="5404104"/>
            <a:ext cx="1762963"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WATER-SCRUM-FALL</a:t>
            </a:r>
          </a:p>
        </p:txBody>
      </p:sp>
      <p:sp>
        <p:nvSpPr>
          <p:cNvPr id="42" name="TextBox 41"/>
          <p:cNvSpPr txBox="1"/>
          <p:nvPr/>
        </p:nvSpPr>
        <p:spPr>
          <a:xfrm>
            <a:off x="2558491" y="5394959"/>
            <a:ext cx="8807500"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Two-week sprints producing increments that queue for a quarterly release: Agile at the front, waterfall at the back, lead time unchanged. Lean sits upstream of both.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DevOps lifecycle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Chevron 7"/>
          <p:cNvSpPr/>
          <p:nvPr/>
        </p:nvSpPr>
        <p:spPr>
          <a:xfrm>
            <a:off x="795528" y="2232690"/>
            <a:ext cx="1500759" cy="686677"/>
          </a:xfrm>
          <a:prstGeom prst="chevron">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PLAN</a:t>
            </a:r>
          </a:p>
        </p:txBody>
      </p:sp>
      <p:sp>
        <p:nvSpPr>
          <p:cNvPr id="9" name="Chevron 8"/>
          <p:cNvSpPr/>
          <p:nvPr/>
        </p:nvSpPr>
        <p:spPr>
          <a:xfrm>
            <a:off x="2095118" y="2232690"/>
            <a:ext cx="1500759" cy="686677"/>
          </a:xfrm>
          <a:prstGeom prst="chevron">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CODE</a:t>
            </a:r>
          </a:p>
        </p:txBody>
      </p:sp>
      <p:sp>
        <p:nvSpPr>
          <p:cNvPr id="10" name="Chevron 9"/>
          <p:cNvSpPr/>
          <p:nvPr/>
        </p:nvSpPr>
        <p:spPr>
          <a:xfrm>
            <a:off x="3394709" y="2232690"/>
            <a:ext cx="1500759" cy="686677"/>
          </a:xfrm>
          <a:prstGeom prst="chevron">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BUILD</a:t>
            </a:r>
          </a:p>
        </p:txBody>
      </p:sp>
      <p:sp>
        <p:nvSpPr>
          <p:cNvPr id="11" name="Chevron 10"/>
          <p:cNvSpPr/>
          <p:nvPr/>
        </p:nvSpPr>
        <p:spPr>
          <a:xfrm>
            <a:off x="4694300" y="2232690"/>
            <a:ext cx="1500759" cy="686677"/>
          </a:xfrm>
          <a:prstGeom prst="chevron">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TEST</a:t>
            </a:r>
          </a:p>
        </p:txBody>
      </p:sp>
      <p:sp>
        <p:nvSpPr>
          <p:cNvPr id="12" name="Chevron 11"/>
          <p:cNvSpPr/>
          <p:nvPr/>
        </p:nvSpPr>
        <p:spPr>
          <a:xfrm>
            <a:off x="5993891" y="2232690"/>
            <a:ext cx="1500759" cy="686677"/>
          </a:xfrm>
          <a:prstGeom prst="chevron">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RELEASE</a:t>
            </a:r>
          </a:p>
        </p:txBody>
      </p:sp>
      <p:sp>
        <p:nvSpPr>
          <p:cNvPr id="13" name="Chevron 12"/>
          <p:cNvSpPr/>
          <p:nvPr/>
        </p:nvSpPr>
        <p:spPr>
          <a:xfrm>
            <a:off x="7293482" y="2232690"/>
            <a:ext cx="1500759" cy="686677"/>
          </a:xfrm>
          <a:prstGeom prst="chevron">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DEPLOY</a:t>
            </a:r>
          </a:p>
        </p:txBody>
      </p:sp>
      <p:sp>
        <p:nvSpPr>
          <p:cNvPr id="14" name="Chevron 13"/>
          <p:cNvSpPr/>
          <p:nvPr/>
        </p:nvSpPr>
        <p:spPr>
          <a:xfrm>
            <a:off x="8593074" y="2232690"/>
            <a:ext cx="1500759" cy="686677"/>
          </a:xfrm>
          <a:prstGeom prst="chevron">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OPERATE</a:t>
            </a:r>
          </a:p>
        </p:txBody>
      </p:sp>
      <p:sp>
        <p:nvSpPr>
          <p:cNvPr id="15" name="Chevron 14"/>
          <p:cNvSpPr/>
          <p:nvPr/>
        </p:nvSpPr>
        <p:spPr>
          <a:xfrm>
            <a:off x="9892665" y="2232690"/>
            <a:ext cx="1500759" cy="686677"/>
          </a:xfrm>
          <a:prstGeom prst="chevron">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900" b="1" i="0">
                <a:solidFill>
                  <a:srgbClr val="FFFFFF"/>
                </a:solidFill>
                <a:latin typeface="Aptos"/>
              </a:rPr>
              <a:t>MONITOR</a:t>
            </a:r>
          </a:p>
        </p:txBody>
      </p:sp>
      <p:sp>
        <p:nvSpPr>
          <p:cNvPr id="16" name="TextBox 15"/>
          <p:cNvSpPr txBox="1"/>
          <p:nvPr/>
        </p:nvSpPr>
        <p:spPr>
          <a:xfrm>
            <a:off x="658368" y="3107387"/>
            <a:ext cx="10872216" cy="245242"/>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5A6570"/>
                </a:solidFill>
                <a:latin typeface="Aptos"/>
              </a:rPr>
              <a:t>◄────────────────────  continuous feedback  ────────────────────►</a:t>
            </a:r>
          </a:p>
        </p:txBody>
      </p:sp>
      <p:sp>
        <p:nvSpPr>
          <p:cNvPr id="17" name="Rectangle 16"/>
          <p:cNvSpPr/>
          <p:nvPr/>
        </p:nvSpPr>
        <p:spPr>
          <a:xfrm>
            <a:off x="658368" y="3540648"/>
            <a:ext cx="10872216" cy="752075"/>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841247" y="3614220"/>
            <a:ext cx="10506456" cy="604930"/>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DEV SIDE (plan → test): shorten the loop, make feedback fast and cheap.   OPS SIDE (release → monitor): make change safe, observable and reversible.</a:t>
            </a:r>
          </a:p>
        </p:txBody>
      </p:sp>
      <p:sp>
        <p:nvSpPr>
          <p:cNvPr id="19" name="Rectangle 18"/>
          <p:cNvSpPr/>
          <p:nvPr/>
        </p:nvSpPr>
        <p:spPr>
          <a:xfrm>
            <a:off x="704088" y="4480742"/>
            <a:ext cx="1720596" cy="588580"/>
          </a:xfrm>
          <a:prstGeom prst="rect">
            <a:avLst/>
          </a:prstGeom>
          <a:solidFill>
            <a:srgbClr val="F3F6F8"/>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04088" y="4546140"/>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117A69"/>
                </a:solidFill>
                <a:latin typeface="Aptos"/>
              </a:rPr>
              <a:t>Lab 02–03</a:t>
            </a:r>
          </a:p>
        </p:txBody>
      </p:sp>
      <p:sp>
        <p:nvSpPr>
          <p:cNvPr id="21" name="TextBox 20"/>
          <p:cNvSpPr txBox="1"/>
          <p:nvPr/>
        </p:nvSpPr>
        <p:spPr>
          <a:xfrm>
            <a:off x="704088" y="4775033"/>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00" b="0" i="0">
                <a:solidFill>
                  <a:srgbClr val="5A6570"/>
                </a:solidFill>
                <a:latin typeface="Aptos"/>
              </a:rPr>
              <a:t>source control</a:t>
            </a:r>
          </a:p>
        </p:txBody>
      </p:sp>
      <p:sp>
        <p:nvSpPr>
          <p:cNvPr id="22" name="Rectangle 21"/>
          <p:cNvSpPr/>
          <p:nvPr/>
        </p:nvSpPr>
        <p:spPr>
          <a:xfrm>
            <a:off x="2516124" y="4480742"/>
            <a:ext cx="1720596" cy="588580"/>
          </a:xfrm>
          <a:prstGeom prst="rect">
            <a:avLst/>
          </a:prstGeom>
          <a:solidFill>
            <a:srgbClr val="F3F6F8"/>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2516124" y="4546140"/>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117A69"/>
                </a:solidFill>
                <a:latin typeface="Aptos"/>
              </a:rPr>
              <a:t>Lab 04–05</a:t>
            </a:r>
          </a:p>
        </p:txBody>
      </p:sp>
      <p:sp>
        <p:nvSpPr>
          <p:cNvPr id="24" name="TextBox 23"/>
          <p:cNvSpPr txBox="1"/>
          <p:nvPr/>
        </p:nvSpPr>
        <p:spPr>
          <a:xfrm>
            <a:off x="2516124" y="4775033"/>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00" b="0" i="0">
                <a:solidFill>
                  <a:srgbClr val="5A6570"/>
                </a:solidFill>
                <a:latin typeface="Aptos"/>
              </a:rPr>
              <a:t>CI</a:t>
            </a:r>
          </a:p>
        </p:txBody>
      </p:sp>
      <p:sp>
        <p:nvSpPr>
          <p:cNvPr id="25" name="Rectangle 24"/>
          <p:cNvSpPr/>
          <p:nvPr/>
        </p:nvSpPr>
        <p:spPr>
          <a:xfrm>
            <a:off x="4328160" y="4480742"/>
            <a:ext cx="1720596" cy="588580"/>
          </a:xfrm>
          <a:prstGeom prst="rect">
            <a:avLst/>
          </a:prstGeom>
          <a:solidFill>
            <a:srgbClr val="F3F6F8"/>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4328160" y="4546140"/>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117A69"/>
                </a:solidFill>
                <a:latin typeface="Aptos"/>
              </a:rPr>
              <a:t>Lab 06–07</a:t>
            </a:r>
          </a:p>
        </p:txBody>
      </p:sp>
      <p:sp>
        <p:nvSpPr>
          <p:cNvPr id="27" name="TextBox 26"/>
          <p:cNvSpPr txBox="1"/>
          <p:nvPr/>
        </p:nvSpPr>
        <p:spPr>
          <a:xfrm>
            <a:off x="4328160" y="4775033"/>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00" b="0" i="0">
                <a:solidFill>
                  <a:srgbClr val="5A6570"/>
                </a:solidFill>
                <a:latin typeface="Aptos"/>
              </a:rPr>
              <a:t>containers</a:t>
            </a:r>
          </a:p>
        </p:txBody>
      </p:sp>
      <p:sp>
        <p:nvSpPr>
          <p:cNvPr id="28" name="Rectangle 27"/>
          <p:cNvSpPr/>
          <p:nvPr/>
        </p:nvSpPr>
        <p:spPr>
          <a:xfrm>
            <a:off x="6140196" y="4480742"/>
            <a:ext cx="1720596" cy="588580"/>
          </a:xfrm>
          <a:prstGeom prst="rect">
            <a:avLst/>
          </a:prstGeom>
          <a:solidFill>
            <a:srgbClr val="F3F6F8"/>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6140196" y="4546140"/>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117A69"/>
                </a:solidFill>
                <a:latin typeface="Aptos"/>
              </a:rPr>
              <a:t>Lab 10–12</a:t>
            </a:r>
          </a:p>
        </p:txBody>
      </p:sp>
      <p:sp>
        <p:nvSpPr>
          <p:cNvPr id="30" name="TextBox 29"/>
          <p:cNvSpPr txBox="1"/>
          <p:nvPr/>
        </p:nvSpPr>
        <p:spPr>
          <a:xfrm>
            <a:off x="6140196" y="4775033"/>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00" b="0" i="0">
                <a:solidFill>
                  <a:srgbClr val="5A6570"/>
                </a:solidFill>
                <a:latin typeface="Aptos"/>
              </a:rPr>
              <a:t>Kubernetes</a:t>
            </a:r>
          </a:p>
        </p:txBody>
      </p:sp>
      <p:sp>
        <p:nvSpPr>
          <p:cNvPr id="31" name="Rectangle 30"/>
          <p:cNvSpPr/>
          <p:nvPr/>
        </p:nvSpPr>
        <p:spPr>
          <a:xfrm>
            <a:off x="7952232" y="4480742"/>
            <a:ext cx="1720596" cy="588580"/>
          </a:xfrm>
          <a:prstGeom prst="rect">
            <a:avLst/>
          </a:prstGeom>
          <a:solidFill>
            <a:srgbClr val="F3F6F8"/>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2" name="TextBox 31"/>
          <p:cNvSpPr txBox="1"/>
          <p:nvPr/>
        </p:nvSpPr>
        <p:spPr>
          <a:xfrm>
            <a:off x="7952232" y="4546140"/>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117A69"/>
                </a:solidFill>
                <a:latin typeface="Aptos"/>
              </a:rPr>
              <a:t>Lab 15–16</a:t>
            </a:r>
          </a:p>
        </p:txBody>
      </p:sp>
      <p:sp>
        <p:nvSpPr>
          <p:cNvPr id="33" name="TextBox 32"/>
          <p:cNvSpPr txBox="1"/>
          <p:nvPr/>
        </p:nvSpPr>
        <p:spPr>
          <a:xfrm>
            <a:off x="7952232" y="4775033"/>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00" b="0" i="0">
                <a:solidFill>
                  <a:srgbClr val="5A6570"/>
                </a:solidFill>
                <a:latin typeface="Aptos"/>
              </a:rPr>
              <a:t>delivery</a:t>
            </a:r>
          </a:p>
        </p:txBody>
      </p:sp>
      <p:sp>
        <p:nvSpPr>
          <p:cNvPr id="34" name="Rectangle 33"/>
          <p:cNvSpPr/>
          <p:nvPr/>
        </p:nvSpPr>
        <p:spPr>
          <a:xfrm>
            <a:off x="9764268" y="4480742"/>
            <a:ext cx="1720596" cy="588580"/>
          </a:xfrm>
          <a:prstGeom prst="rect">
            <a:avLst/>
          </a:prstGeom>
          <a:solidFill>
            <a:srgbClr val="F3F6F8"/>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TextBox 34"/>
          <p:cNvSpPr txBox="1"/>
          <p:nvPr/>
        </p:nvSpPr>
        <p:spPr>
          <a:xfrm>
            <a:off x="9764268" y="4546140"/>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50" b="1" i="0">
                <a:solidFill>
                  <a:srgbClr val="117A69"/>
                </a:solidFill>
                <a:latin typeface="Aptos"/>
              </a:rPr>
              <a:t>Lab 18</a:t>
            </a:r>
          </a:p>
        </p:txBody>
      </p:sp>
      <p:sp>
        <p:nvSpPr>
          <p:cNvPr id="36" name="TextBox 35"/>
          <p:cNvSpPr txBox="1"/>
          <p:nvPr/>
        </p:nvSpPr>
        <p:spPr>
          <a:xfrm>
            <a:off x="9764268" y="4775033"/>
            <a:ext cx="1720596" cy="228892"/>
          </a:xfrm>
          <a:prstGeom prst="rect">
            <a:avLst/>
          </a:prstGeom>
          <a:noFill/>
        </p:spPr>
        <p:txBody>
          <a:bodyPr wrap="square" lIns="73152" rIns="73152" tIns="36576" bIns="36576" anchor="t">
            <a:spAutoFit/>
          </a:bodyPr>
          <a:lstStyle/>
          <a:p>
            <a:pPr algn="ctr">
              <a:lnSpc>
                <a:spcPct val="92000"/>
              </a:lnSpc>
              <a:spcAft>
                <a:spcPts val="200"/>
              </a:spcAft>
            </a:pPr>
            <a:r>
              <a:rPr sz="1000" b="0" i="0">
                <a:solidFill>
                  <a:srgbClr val="5A6570"/>
                </a:solidFill>
                <a:latin typeface="Aptos"/>
              </a:rPr>
              <a:t>monitoring</a:t>
            </a:r>
          </a:p>
        </p:txBody>
      </p:sp>
      <p:sp>
        <p:nvSpPr>
          <p:cNvPr id="37" name="TextBox 36"/>
          <p:cNvSpPr txBox="1"/>
          <p:nvPr/>
        </p:nvSpPr>
        <p:spPr>
          <a:xfrm>
            <a:off x="658368" y="5216469"/>
            <a:ext cx="10872216" cy="245242"/>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123A5F"/>
                </a:solidFill>
                <a:latin typeface="Aptos"/>
              </a:rPr>
              <a:t>This course walks the whole loop, in order.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lifecycle, phase by phase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1357518"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Phase</a:t>
            </a:r>
          </a:p>
        </p:txBody>
      </p:sp>
      <p:sp>
        <p:nvSpPr>
          <p:cNvPr id="10" name="TextBox 9"/>
          <p:cNvSpPr txBox="1"/>
          <p:nvPr/>
        </p:nvSpPr>
        <p:spPr>
          <a:xfrm>
            <a:off x="2271918" y="1828800"/>
            <a:ext cx="5597682"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What "good" looks like</a:t>
            </a:r>
          </a:p>
        </p:txBody>
      </p:sp>
      <p:sp>
        <p:nvSpPr>
          <p:cNvPr id="11" name="TextBox 10"/>
          <p:cNvSpPr txBox="1"/>
          <p:nvPr/>
        </p:nvSpPr>
        <p:spPr>
          <a:xfrm>
            <a:off x="8034192" y="1828800"/>
            <a:ext cx="3423239"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Where you build it</a:t>
            </a:r>
          </a:p>
        </p:txBody>
      </p:sp>
      <p:sp>
        <p:nvSpPr>
          <p:cNvPr id="12" name="Rectangle 11"/>
          <p:cNvSpPr/>
          <p:nvPr/>
        </p:nvSpPr>
        <p:spPr>
          <a:xfrm>
            <a:off x="658368" y="2167128"/>
            <a:ext cx="10872216" cy="54813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1357518" cy="51155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Plan</a:t>
            </a:r>
          </a:p>
        </p:txBody>
      </p:sp>
      <p:sp>
        <p:nvSpPr>
          <p:cNvPr id="14" name="TextBox 13"/>
          <p:cNvSpPr txBox="1"/>
          <p:nvPr/>
        </p:nvSpPr>
        <p:spPr>
          <a:xfrm>
            <a:off x="2271918" y="2185416"/>
            <a:ext cx="5597682" cy="51155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WIP limits; work visible on one board; slices under 2 days</a:t>
            </a:r>
          </a:p>
        </p:txBody>
      </p:sp>
      <p:sp>
        <p:nvSpPr>
          <p:cNvPr id="15" name="TextBox 14"/>
          <p:cNvSpPr txBox="1"/>
          <p:nvPr/>
        </p:nvSpPr>
        <p:spPr>
          <a:xfrm>
            <a:off x="8034192" y="2185416"/>
            <a:ext cx="3423239" cy="51155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Lab 01</a:t>
            </a:r>
          </a:p>
        </p:txBody>
      </p:sp>
      <p:sp>
        <p:nvSpPr>
          <p:cNvPr id="16" name="Rectangle 15"/>
          <p:cNvSpPr/>
          <p:nvPr/>
        </p:nvSpPr>
        <p:spPr>
          <a:xfrm>
            <a:off x="658368" y="2715260"/>
            <a:ext cx="10872216" cy="34010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733548"/>
            <a:ext cx="1357518" cy="30353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Code</a:t>
            </a:r>
          </a:p>
        </p:txBody>
      </p:sp>
      <p:sp>
        <p:nvSpPr>
          <p:cNvPr id="18" name="TextBox 17"/>
          <p:cNvSpPr txBox="1"/>
          <p:nvPr/>
        </p:nvSpPr>
        <p:spPr>
          <a:xfrm>
            <a:off x="2271918" y="2733548"/>
            <a:ext cx="5597682"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Short-lived branches; PR reviewed within 24 hours</a:t>
            </a:r>
          </a:p>
        </p:txBody>
      </p:sp>
      <p:sp>
        <p:nvSpPr>
          <p:cNvPr id="19" name="TextBox 18"/>
          <p:cNvSpPr txBox="1"/>
          <p:nvPr/>
        </p:nvSpPr>
        <p:spPr>
          <a:xfrm>
            <a:off x="8034192" y="2733548"/>
            <a:ext cx="3423239"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GitHub — Labs 02–03</a:t>
            </a:r>
          </a:p>
        </p:txBody>
      </p:sp>
      <p:sp>
        <p:nvSpPr>
          <p:cNvPr id="20" name="Rectangle 19"/>
          <p:cNvSpPr/>
          <p:nvPr/>
        </p:nvSpPr>
        <p:spPr>
          <a:xfrm>
            <a:off x="658368" y="3055366"/>
            <a:ext cx="10872216" cy="54813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073654"/>
            <a:ext cx="1357518" cy="51155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Build</a:t>
            </a:r>
          </a:p>
        </p:txBody>
      </p:sp>
      <p:sp>
        <p:nvSpPr>
          <p:cNvPr id="22" name="TextBox 21"/>
          <p:cNvSpPr txBox="1"/>
          <p:nvPr/>
        </p:nvSpPr>
        <p:spPr>
          <a:xfrm>
            <a:off x="2271918" y="3073654"/>
            <a:ext cx="5597682" cy="51155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One build per commit; the artefact is built ONCE and promoted</a:t>
            </a:r>
          </a:p>
        </p:txBody>
      </p:sp>
      <p:sp>
        <p:nvSpPr>
          <p:cNvPr id="23" name="TextBox 22"/>
          <p:cNvSpPr txBox="1"/>
          <p:nvPr/>
        </p:nvSpPr>
        <p:spPr>
          <a:xfrm>
            <a:off x="8034192" y="3073654"/>
            <a:ext cx="3423239" cy="51155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Actions, Jenkins, Docker — 04–06</a:t>
            </a:r>
          </a:p>
        </p:txBody>
      </p:sp>
      <p:sp>
        <p:nvSpPr>
          <p:cNvPr id="24" name="Rectangle 23"/>
          <p:cNvSpPr/>
          <p:nvPr/>
        </p:nvSpPr>
        <p:spPr>
          <a:xfrm>
            <a:off x="658368" y="3603498"/>
            <a:ext cx="10872216" cy="548132"/>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621786"/>
            <a:ext cx="1357518" cy="51155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Test</a:t>
            </a:r>
          </a:p>
        </p:txBody>
      </p:sp>
      <p:sp>
        <p:nvSpPr>
          <p:cNvPr id="26" name="TextBox 25"/>
          <p:cNvSpPr txBox="1"/>
          <p:nvPr/>
        </p:nvSpPr>
        <p:spPr>
          <a:xfrm>
            <a:off x="2271918" y="3621786"/>
            <a:ext cx="5597682" cy="51155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Test pyramid; suite under 10 minutes; no manual regression gate</a:t>
            </a:r>
          </a:p>
        </p:txBody>
      </p:sp>
      <p:sp>
        <p:nvSpPr>
          <p:cNvPr id="27" name="TextBox 26"/>
          <p:cNvSpPr txBox="1"/>
          <p:nvPr/>
        </p:nvSpPr>
        <p:spPr>
          <a:xfrm>
            <a:off x="8034192" y="3621786"/>
            <a:ext cx="3423239" cy="51155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pytest, Trivy — 04, 17</a:t>
            </a:r>
          </a:p>
        </p:txBody>
      </p:sp>
      <p:sp>
        <p:nvSpPr>
          <p:cNvPr id="28" name="Rectangle 27"/>
          <p:cNvSpPr/>
          <p:nvPr/>
        </p:nvSpPr>
        <p:spPr>
          <a:xfrm>
            <a:off x="658368" y="4151630"/>
            <a:ext cx="10872216" cy="34010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4169917"/>
            <a:ext cx="1357518" cy="30353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Release</a:t>
            </a:r>
          </a:p>
        </p:txBody>
      </p:sp>
      <p:sp>
        <p:nvSpPr>
          <p:cNvPr id="30" name="TextBox 29"/>
          <p:cNvSpPr txBox="1"/>
          <p:nvPr/>
        </p:nvSpPr>
        <p:spPr>
          <a:xfrm>
            <a:off x="2271918" y="4169917"/>
            <a:ext cx="5597682"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business decision, decoupled from deploying</a:t>
            </a:r>
          </a:p>
        </p:txBody>
      </p:sp>
      <p:sp>
        <p:nvSpPr>
          <p:cNvPr id="31" name="TextBox 30"/>
          <p:cNvSpPr txBox="1"/>
          <p:nvPr/>
        </p:nvSpPr>
        <p:spPr>
          <a:xfrm>
            <a:off x="8034192" y="4169917"/>
            <a:ext cx="3423239"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GHCR, tags — 06, 15</a:t>
            </a:r>
          </a:p>
        </p:txBody>
      </p:sp>
      <p:sp>
        <p:nvSpPr>
          <p:cNvPr id="32" name="Rectangle 31"/>
          <p:cNvSpPr/>
          <p:nvPr/>
        </p:nvSpPr>
        <p:spPr>
          <a:xfrm>
            <a:off x="658368" y="4491736"/>
            <a:ext cx="10872216" cy="34010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510024"/>
            <a:ext cx="1357518" cy="30353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Deploy</a:t>
            </a:r>
          </a:p>
        </p:txBody>
      </p:sp>
      <p:sp>
        <p:nvSpPr>
          <p:cNvPr id="34" name="TextBox 33"/>
          <p:cNvSpPr txBox="1"/>
          <p:nvPr/>
        </p:nvSpPr>
        <p:spPr>
          <a:xfrm>
            <a:off x="2271918" y="4510024"/>
            <a:ext cx="5597682"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Automated, repeatable, reversible in one command</a:t>
            </a:r>
          </a:p>
        </p:txBody>
      </p:sp>
      <p:sp>
        <p:nvSpPr>
          <p:cNvPr id="35" name="TextBox 34"/>
          <p:cNvSpPr txBox="1"/>
          <p:nvPr/>
        </p:nvSpPr>
        <p:spPr>
          <a:xfrm>
            <a:off x="8034192" y="4510024"/>
            <a:ext cx="3423239"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Kubernetes, GitOps — 10, 15, 16</a:t>
            </a:r>
          </a:p>
        </p:txBody>
      </p:sp>
      <p:sp>
        <p:nvSpPr>
          <p:cNvPr id="36" name="Rectangle 35"/>
          <p:cNvSpPr/>
          <p:nvPr/>
        </p:nvSpPr>
        <p:spPr>
          <a:xfrm>
            <a:off x="658368" y="4831842"/>
            <a:ext cx="10872216" cy="34010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749808" y="4850130"/>
            <a:ext cx="1357518" cy="30353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Operate</a:t>
            </a:r>
          </a:p>
        </p:txBody>
      </p:sp>
      <p:sp>
        <p:nvSpPr>
          <p:cNvPr id="38" name="TextBox 37"/>
          <p:cNvSpPr txBox="1"/>
          <p:nvPr/>
        </p:nvSpPr>
        <p:spPr>
          <a:xfrm>
            <a:off x="2271918" y="4850130"/>
            <a:ext cx="5597682"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Runbooks as code; toil measured and reduced</a:t>
            </a:r>
          </a:p>
        </p:txBody>
      </p:sp>
      <p:sp>
        <p:nvSpPr>
          <p:cNvPr id="39" name="TextBox 38"/>
          <p:cNvSpPr txBox="1"/>
          <p:nvPr/>
        </p:nvSpPr>
        <p:spPr>
          <a:xfrm>
            <a:off x="8034192" y="4850130"/>
            <a:ext cx="3423239"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Terraform, Ansible — 13, 14</a:t>
            </a:r>
          </a:p>
        </p:txBody>
      </p:sp>
      <p:sp>
        <p:nvSpPr>
          <p:cNvPr id="40" name="Rectangle 39"/>
          <p:cNvSpPr/>
          <p:nvPr/>
        </p:nvSpPr>
        <p:spPr>
          <a:xfrm>
            <a:off x="658368" y="5171948"/>
            <a:ext cx="10872216" cy="340106"/>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749808" y="5190236"/>
            <a:ext cx="1357518" cy="30353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Monitor</a:t>
            </a:r>
          </a:p>
        </p:txBody>
      </p:sp>
      <p:sp>
        <p:nvSpPr>
          <p:cNvPr id="42" name="TextBox 41"/>
          <p:cNvSpPr txBox="1"/>
          <p:nvPr/>
        </p:nvSpPr>
        <p:spPr>
          <a:xfrm>
            <a:off x="2271918" y="5190236"/>
            <a:ext cx="5597682"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SLOs; alerts on symptoms; dashboards as code</a:t>
            </a:r>
          </a:p>
        </p:txBody>
      </p:sp>
      <p:sp>
        <p:nvSpPr>
          <p:cNvPr id="43" name="TextBox 42"/>
          <p:cNvSpPr txBox="1"/>
          <p:nvPr/>
        </p:nvSpPr>
        <p:spPr>
          <a:xfrm>
            <a:off x="8034192" y="5190236"/>
            <a:ext cx="3423239"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Prometheus, Grafana — 18</a:t>
            </a:r>
          </a:p>
        </p:txBody>
      </p:sp>
      <p:sp>
        <p:nvSpPr>
          <p:cNvPr id="44" name="Rectangle 43"/>
          <p:cNvSpPr/>
          <p:nvPr/>
        </p:nvSpPr>
        <p:spPr>
          <a:xfrm>
            <a:off x="658368" y="5512054"/>
            <a:ext cx="10872216" cy="34010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5" name="TextBox 44"/>
          <p:cNvSpPr txBox="1"/>
          <p:nvPr/>
        </p:nvSpPr>
        <p:spPr>
          <a:xfrm>
            <a:off x="749808" y="5530342"/>
            <a:ext cx="1357518" cy="30353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Learn</a:t>
            </a:r>
          </a:p>
        </p:txBody>
      </p:sp>
      <p:sp>
        <p:nvSpPr>
          <p:cNvPr id="46" name="TextBox 45"/>
          <p:cNvSpPr txBox="1"/>
          <p:nvPr/>
        </p:nvSpPr>
        <p:spPr>
          <a:xfrm>
            <a:off x="2271918" y="5530342"/>
            <a:ext cx="5597682"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Blameless reviews; findings become backlog items</a:t>
            </a:r>
          </a:p>
        </p:txBody>
      </p:sp>
      <p:sp>
        <p:nvSpPr>
          <p:cNvPr id="47" name="TextBox 46"/>
          <p:cNvSpPr txBox="1"/>
          <p:nvPr/>
        </p:nvSpPr>
        <p:spPr>
          <a:xfrm>
            <a:off x="8034192" y="5530342"/>
            <a:ext cx="3423239" cy="30353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Capstone debrief — 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§1.5</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Deploy ≠ Release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1005840"/>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100584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859536"/>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DEPLOY is a technical event: place version 2.1 onto the infrastructure. RELEASE is a business decision: make 2.1's behaviour visible to users. Separating them is what lets you deploy twenty times a day and release on a business schedule.</a:t>
            </a:r>
          </a:p>
        </p:txBody>
      </p:sp>
      <p:sp>
        <p:nvSpPr>
          <p:cNvPr id="11" name="Rectangle 10"/>
          <p:cNvSpPr/>
          <p:nvPr/>
        </p:nvSpPr>
        <p:spPr>
          <a:xfrm>
            <a:off x="676656" y="3099815"/>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990087"/>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Feature flags</a:t>
            </a:r>
          </a:p>
        </p:txBody>
      </p:sp>
      <p:sp>
        <p:nvSpPr>
          <p:cNvPr id="13" name="TextBox 12"/>
          <p:cNvSpPr txBox="1"/>
          <p:nvPr/>
        </p:nvSpPr>
        <p:spPr>
          <a:xfrm>
            <a:off x="950976" y="3310127"/>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The code ships dormant; a toggle enables it. The fastest rollback that exists</a:t>
            </a:r>
          </a:p>
        </p:txBody>
      </p:sp>
      <p:sp>
        <p:nvSpPr>
          <p:cNvPr id="14" name="Rectangle 13"/>
          <p:cNvSpPr/>
          <p:nvPr/>
        </p:nvSpPr>
        <p:spPr>
          <a:xfrm>
            <a:off x="676656" y="382524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71551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Dark launching</a:t>
            </a:r>
          </a:p>
        </p:txBody>
      </p:sp>
      <p:sp>
        <p:nvSpPr>
          <p:cNvPr id="16" name="TextBox 15"/>
          <p:cNvSpPr txBox="1"/>
          <p:nvPr/>
        </p:nvSpPr>
        <p:spPr>
          <a:xfrm>
            <a:off x="950976" y="403555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The new path runs; its output is discarded</a:t>
            </a:r>
          </a:p>
        </p:txBody>
      </p:sp>
      <p:sp>
        <p:nvSpPr>
          <p:cNvPr id="17" name="Rectangle 16"/>
          <p:cNvSpPr/>
          <p:nvPr/>
        </p:nvSpPr>
        <p:spPr>
          <a:xfrm>
            <a:off x="676656" y="4550664"/>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440936"/>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Canary / traffic weighting</a:t>
            </a:r>
          </a:p>
        </p:txBody>
      </p:sp>
      <p:sp>
        <p:nvSpPr>
          <p:cNvPr id="19" name="TextBox 18"/>
          <p:cNvSpPr txBox="1"/>
          <p:nvPr/>
        </p:nvSpPr>
        <p:spPr>
          <a:xfrm>
            <a:off x="950976" y="4760976"/>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A defined percentage sees the new behaviour</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Blue-green</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Deployed, warm and tested — but receiving no traffic yet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4</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Flow &amp; Value Streams</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Where delivery time actually goes</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Value stream, lead time, flow efficiency</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 worked value stream map</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Little's Law</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Theory of Constraints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29</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§1.6</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Value stream</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1005840"/>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100584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859536"/>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The complete sequence of activities required to deliver a change from initial request to running in production and delivering value to a user — including every queue, hand-off and approval between them.</a:t>
            </a:r>
          </a:p>
        </p:txBody>
      </p:sp>
      <p:sp>
        <p:nvSpPr>
          <p:cNvPr id="11" name="Rectangle 10"/>
          <p:cNvSpPr/>
          <p:nvPr/>
        </p:nvSpPr>
        <p:spPr>
          <a:xfrm>
            <a:off x="676656" y="3099815"/>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990087"/>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PROCESS TIME (PT)</a:t>
            </a:r>
          </a:p>
        </p:txBody>
      </p:sp>
      <p:sp>
        <p:nvSpPr>
          <p:cNvPr id="13" name="TextBox 12"/>
          <p:cNvSpPr txBox="1"/>
          <p:nvPr/>
        </p:nvSpPr>
        <p:spPr>
          <a:xfrm>
            <a:off x="950976" y="3310127"/>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Hands-on-keyboard time actually spent working the item</a:t>
            </a:r>
          </a:p>
        </p:txBody>
      </p:sp>
      <p:sp>
        <p:nvSpPr>
          <p:cNvPr id="14" name="Rectangle 13"/>
          <p:cNvSpPr/>
          <p:nvPr/>
        </p:nvSpPr>
        <p:spPr>
          <a:xfrm>
            <a:off x="676656" y="382524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71551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WAIT TIME (WT)</a:t>
            </a:r>
          </a:p>
        </p:txBody>
      </p:sp>
      <p:sp>
        <p:nvSpPr>
          <p:cNvPr id="16" name="TextBox 15"/>
          <p:cNvSpPr txBox="1"/>
          <p:nvPr/>
        </p:nvSpPr>
        <p:spPr>
          <a:xfrm>
            <a:off x="950976" y="403555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Time the item sits in a queue between steps — where the surprises live</a:t>
            </a:r>
          </a:p>
        </p:txBody>
      </p:sp>
      <p:sp>
        <p:nvSpPr>
          <p:cNvPr id="17" name="Rectangle 16"/>
          <p:cNvSpPr/>
          <p:nvPr/>
        </p:nvSpPr>
        <p:spPr>
          <a:xfrm>
            <a:off x="676656" y="4550664"/>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440936"/>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%C/A</a:t>
            </a:r>
          </a:p>
        </p:txBody>
      </p:sp>
      <p:sp>
        <p:nvSpPr>
          <p:cNvPr id="19" name="TextBox 18"/>
          <p:cNvSpPr txBox="1"/>
          <p:nvPr/>
        </p:nvSpPr>
        <p:spPr>
          <a:xfrm>
            <a:off x="950976" y="4760976"/>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Percentage arriving complete and accurate, needing no rework</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FLOW EFFICIENCY = ΣPT ÷ Lead Time</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Typical unimproved enterprise: 5–15 %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§1.6</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030" b="1" i="0">
                <a:solidFill>
                  <a:srgbClr val="123A5F"/>
                </a:solidFill>
                <a:latin typeface="Aptos Display"/>
              </a:rPr>
              <a:t>Seven terms you must be able to state precisely</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2467628"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Term</a:t>
            </a:r>
          </a:p>
        </p:txBody>
      </p:sp>
      <p:sp>
        <p:nvSpPr>
          <p:cNvPr id="10" name="TextBox 9"/>
          <p:cNvSpPr txBox="1"/>
          <p:nvPr/>
        </p:nvSpPr>
        <p:spPr>
          <a:xfrm>
            <a:off x="3382028" y="1828800"/>
            <a:ext cx="4642071"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Definition</a:t>
            </a:r>
          </a:p>
        </p:txBody>
      </p:sp>
      <p:sp>
        <p:nvSpPr>
          <p:cNvPr id="11" name="TextBox 10"/>
          <p:cNvSpPr txBox="1"/>
          <p:nvPr/>
        </p:nvSpPr>
        <p:spPr>
          <a:xfrm>
            <a:off x="8188692" y="1828800"/>
            <a:ext cx="3268739"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Why it matters</a:t>
            </a:r>
          </a:p>
        </p:txBody>
      </p:sp>
      <p:sp>
        <p:nvSpPr>
          <p:cNvPr id="12" name="Rectangle 11"/>
          <p:cNvSpPr/>
          <p:nvPr/>
        </p:nvSpPr>
        <p:spPr>
          <a:xfrm>
            <a:off x="658368" y="2167128"/>
            <a:ext cx="10872216" cy="466997"/>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2467628" cy="43042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Lead time</a:t>
            </a:r>
          </a:p>
        </p:txBody>
      </p:sp>
      <p:sp>
        <p:nvSpPr>
          <p:cNvPr id="14" name="TextBox 13"/>
          <p:cNvSpPr txBox="1"/>
          <p:nvPr/>
        </p:nvSpPr>
        <p:spPr>
          <a:xfrm>
            <a:off x="3382028" y="2185416"/>
            <a:ext cx="4642071"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Request accepted → value delivered, wall-clock</a:t>
            </a:r>
          </a:p>
        </p:txBody>
      </p:sp>
      <p:sp>
        <p:nvSpPr>
          <p:cNvPr id="15" name="TextBox 14"/>
          <p:cNvSpPr txBox="1"/>
          <p:nvPr/>
        </p:nvSpPr>
        <p:spPr>
          <a:xfrm>
            <a:off x="8188692" y="2185416"/>
            <a:ext cx="3268739"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What the customer experiences</a:t>
            </a:r>
          </a:p>
        </p:txBody>
      </p:sp>
      <p:sp>
        <p:nvSpPr>
          <p:cNvPr id="16" name="Rectangle 15"/>
          <p:cNvSpPr/>
          <p:nvPr/>
        </p:nvSpPr>
        <p:spPr>
          <a:xfrm>
            <a:off x="658368" y="2634125"/>
            <a:ext cx="10872216" cy="466997"/>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652413"/>
            <a:ext cx="2467628" cy="43042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Lead time for change</a:t>
            </a:r>
          </a:p>
        </p:txBody>
      </p:sp>
      <p:sp>
        <p:nvSpPr>
          <p:cNvPr id="18" name="TextBox 17"/>
          <p:cNvSpPr txBox="1"/>
          <p:nvPr/>
        </p:nvSpPr>
        <p:spPr>
          <a:xfrm>
            <a:off x="3382028" y="2652413"/>
            <a:ext cx="4642071"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Commit → running in production</a:t>
            </a:r>
          </a:p>
        </p:txBody>
      </p:sp>
      <p:sp>
        <p:nvSpPr>
          <p:cNvPr id="19" name="TextBox 18"/>
          <p:cNvSpPr txBox="1"/>
          <p:nvPr/>
        </p:nvSpPr>
        <p:spPr>
          <a:xfrm>
            <a:off x="8188692" y="2652413"/>
            <a:ext cx="3268739"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DORA metric</a:t>
            </a:r>
          </a:p>
        </p:txBody>
      </p:sp>
      <p:sp>
        <p:nvSpPr>
          <p:cNvPr id="20" name="Rectangle 19"/>
          <p:cNvSpPr/>
          <p:nvPr/>
        </p:nvSpPr>
        <p:spPr>
          <a:xfrm>
            <a:off x="658368" y="3101122"/>
            <a:ext cx="10872216" cy="466997"/>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119410"/>
            <a:ext cx="2467628" cy="43042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Process / cycle time</a:t>
            </a:r>
          </a:p>
        </p:txBody>
      </p:sp>
      <p:sp>
        <p:nvSpPr>
          <p:cNvPr id="22" name="TextBox 21"/>
          <p:cNvSpPr txBox="1"/>
          <p:nvPr/>
        </p:nvSpPr>
        <p:spPr>
          <a:xfrm>
            <a:off x="3382028" y="3119410"/>
            <a:ext cx="4642071"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Time actually spent working the item in a step</a:t>
            </a:r>
          </a:p>
        </p:txBody>
      </p:sp>
      <p:sp>
        <p:nvSpPr>
          <p:cNvPr id="23" name="TextBox 22"/>
          <p:cNvSpPr txBox="1"/>
          <p:nvPr/>
        </p:nvSpPr>
        <p:spPr>
          <a:xfrm>
            <a:off x="8188692" y="3119410"/>
            <a:ext cx="3268739"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Usually the small number</a:t>
            </a:r>
          </a:p>
        </p:txBody>
      </p:sp>
      <p:sp>
        <p:nvSpPr>
          <p:cNvPr id="24" name="Rectangle 23"/>
          <p:cNvSpPr/>
          <p:nvPr/>
        </p:nvSpPr>
        <p:spPr>
          <a:xfrm>
            <a:off x="658368" y="3568119"/>
            <a:ext cx="10872216" cy="466997"/>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586407"/>
            <a:ext cx="2467628" cy="43042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Wait / queue time</a:t>
            </a:r>
          </a:p>
        </p:txBody>
      </p:sp>
      <p:sp>
        <p:nvSpPr>
          <p:cNvPr id="26" name="TextBox 25"/>
          <p:cNvSpPr txBox="1"/>
          <p:nvPr/>
        </p:nvSpPr>
        <p:spPr>
          <a:xfrm>
            <a:off x="3382028" y="3586407"/>
            <a:ext cx="4642071"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Time the item sits idle between steps</a:t>
            </a:r>
          </a:p>
        </p:txBody>
      </p:sp>
      <p:sp>
        <p:nvSpPr>
          <p:cNvPr id="27" name="TextBox 26"/>
          <p:cNvSpPr txBox="1"/>
          <p:nvPr/>
        </p:nvSpPr>
        <p:spPr>
          <a:xfrm>
            <a:off x="8188692" y="3586407"/>
            <a:ext cx="3268739"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Usually the big number</a:t>
            </a:r>
          </a:p>
        </p:txBody>
      </p:sp>
      <p:sp>
        <p:nvSpPr>
          <p:cNvPr id="28" name="Rectangle 27"/>
          <p:cNvSpPr/>
          <p:nvPr/>
        </p:nvSpPr>
        <p:spPr>
          <a:xfrm>
            <a:off x="658368" y="4035116"/>
            <a:ext cx="10872216" cy="675023"/>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4053404"/>
            <a:ext cx="2467628" cy="638447"/>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Work in progress (WIP)</a:t>
            </a:r>
          </a:p>
        </p:txBody>
      </p:sp>
      <p:sp>
        <p:nvSpPr>
          <p:cNvPr id="30" name="TextBox 29"/>
          <p:cNvSpPr txBox="1"/>
          <p:nvPr/>
        </p:nvSpPr>
        <p:spPr>
          <a:xfrm>
            <a:off x="3382028" y="4053404"/>
            <a:ext cx="4642071" cy="638447"/>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Items started but not finished</a:t>
            </a:r>
          </a:p>
        </p:txBody>
      </p:sp>
      <p:sp>
        <p:nvSpPr>
          <p:cNvPr id="31" name="TextBox 30"/>
          <p:cNvSpPr txBox="1"/>
          <p:nvPr/>
        </p:nvSpPr>
        <p:spPr>
          <a:xfrm>
            <a:off x="8188692" y="4053404"/>
            <a:ext cx="3268739" cy="638447"/>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Drives lead time directly</a:t>
            </a:r>
          </a:p>
        </p:txBody>
      </p:sp>
      <p:sp>
        <p:nvSpPr>
          <p:cNvPr id="32" name="Rectangle 31"/>
          <p:cNvSpPr/>
          <p:nvPr/>
        </p:nvSpPr>
        <p:spPr>
          <a:xfrm>
            <a:off x="658368" y="4710139"/>
            <a:ext cx="10872216" cy="466997"/>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728427"/>
            <a:ext cx="2467628" cy="430421"/>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Rolled %C/A</a:t>
            </a:r>
          </a:p>
        </p:txBody>
      </p:sp>
      <p:sp>
        <p:nvSpPr>
          <p:cNvPr id="34" name="TextBox 33"/>
          <p:cNvSpPr txBox="1"/>
          <p:nvPr/>
        </p:nvSpPr>
        <p:spPr>
          <a:xfrm>
            <a:off x="3382028" y="4728427"/>
            <a:ext cx="4642071"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%C/A of every step multiplied together</a:t>
            </a:r>
          </a:p>
        </p:txBody>
      </p:sp>
      <p:sp>
        <p:nvSpPr>
          <p:cNvPr id="35" name="TextBox 34"/>
          <p:cNvSpPr txBox="1"/>
          <p:nvPr/>
        </p:nvSpPr>
        <p:spPr>
          <a:xfrm>
            <a:off x="8188692" y="4728427"/>
            <a:ext cx="3268739" cy="430421"/>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Usually shockingly low</a:t>
            </a:r>
          </a:p>
        </p:txBody>
      </p:sp>
      <p:sp>
        <p:nvSpPr>
          <p:cNvPr id="36" name="Rectangle 35"/>
          <p:cNvSpPr/>
          <p:nvPr/>
        </p:nvSpPr>
        <p:spPr>
          <a:xfrm>
            <a:off x="658368" y="5177136"/>
            <a:ext cx="10872216" cy="675023"/>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749808" y="5195424"/>
            <a:ext cx="2467628" cy="638447"/>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Constraint</a:t>
            </a:r>
          </a:p>
        </p:txBody>
      </p:sp>
      <p:sp>
        <p:nvSpPr>
          <p:cNvPr id="38" name="TextBox 37"/>
          <p:cNvSpPr txBox="1"/>
          <p:nvPr/>
        </p:nvSpPr>
        <p:spPr>
          <a:xfrm>
            <a:off x="3382028" y="5195424"/>
            <a:ext cx="4642071" cy="638447"/>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step that limits throughput of the whole stream</a:t>
            </a:r>
          </a:p>
        </p:txBody>
      </p:sp>
      <p:sp>
        <p:nvSpPr>
          <p:cNvPr id="39" name="TextBox 38"/>
          <p:cNvSpPr txBox="1"/>
          <p:nvPr/>
        </p:nvSpPr>
        <p:spPr>
          <a:xfrm>
            <a:off x="8188692" y="5195424"/>
            <a:ext cx="3268739" cy="638447"/>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only place improvement counts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PREDICT  ·  3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Before we look at the numbers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960120" cy="31089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24228"/>
            <a:ext cx="960120" cy="237744"/>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PREDICT</a:t>
            </a:r>
          </a:p>
        </p:txBody>
      </p:sp>
      <p:sp>
        <p:nvSpPr>
          <p:cNvPr id="10" name="TextBox 9"/>
          <p:cNvSpPr txBox="1"/>
          <p:nvPr/>
        </p:nvSpPr>
        <p:spPr>
          <a:xfrm>
            <a:off x="1773936" y="1815084"/>
            <a:ext cx="9683496" cy="25603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123A5F"/>
                </a:solidFill>
                <a:latin typeface="Aptos"/>
              </a:rPr>
              <a:t>Write your answer down BEFORE the reveal.</a:t>
            </a:r>
          </a:p>
        </p:txBody>
      </p:sp>
      <p:sp>
        <p:nvSpPr>
          <p:cNvPr id="11" name="Rectangle 10"/>
          <p:cNvSpPr/>
          <p:nvPr/>
        </p:nvSpPr>
        <p:spPr>
          <a:xfrm>
            <a:off x="658368" y="2258568"/>
            <a:ext cx="10872216" cy="768096"/>
          </a:xfrm>
          <a:prstGeom prst="rect">
            <a:avLst/>
          </a:prstGeom>
          <a:solidFill>
            <a:srgbClr val="ECF1F6"/>
          </a:solidFill>
          <a:ln w="12700">
            <a:solidFill>
              <a:srgbClr val="123A5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258568"/>
            <a:ext cx="68580" cy="76809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50976" y="2313432"/>
            <a:ext cx="10396728" cy="658368"/>
          </a:xfrm>
          <a:prstGeom prst="rect">
            <a:avLst/>
          </a:prstGeom>
          <a:noFill/>
        </p:spPr>
        <p:txBody>
          <a:bodyPr wrap="square" lIns="73152" rIns="73152" tIns="36576" bIns="36576" anchor="ctr">
            <a:spAutoFit/>
          </a:bodyPr>
          <a:lstStyle/>
          <a:p>
            <a:pPr algn="l">
              <a:lnSpc>
                <a:spcPct val="105000"/>
              </a:lnSpc>
              <a:spcAft>
                <a:spcPts val="200"/>
              </a:spcAft>
            </a:pPr>
            <a:r>
              <a:rPr sz="1500" b="1" i="0">
                <a:solidFill>
                  <a:srgbClr val="123A5F"/>
                </a:solidFill>
                <a:latin typeface="Aptos"/>
              </a:rPr>
              <a:t>A typical enterprise change takes 340 hours of lead time. Of those 340 hours, how many do you think anyone is actually WORKING on the change?</a:t>
            </a:r>
          </a:p>
        </p:txBody>
      </p:sp>
      <p:sp>
        <p:nvSpPr>
          <p:cNvPr id="14" name="Oval 13"/>
          <p:cNvSpPr/>
          <p:nvPr/>
        </p:nvSpPr>
        <p:spPr>
          <a:xfrm>
            <a:off x="676656" y="3282696"/>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76656" y="3300984"/>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1</a:t>
            </a:r>
          </a:p>
        </p:txBody>
      </p:sp>
      <p:sp>
        <p:nvSpPr>
          <p:cNvPr id="16" name="TextBox 15"/>
          <p:cNvSpPr txBox="1"/>
          <p:nvPr/>
        </p:nvSpPr>
        <p:spPr>
          <a:xfrm>
            <a:off x="1078992" y="325526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Write your guess down now — a single number, in hours.</a:t>
            </a:r>
          </a:p>
        </p:txBody>
      </p:sp>
      <p:sp>
        <p:nvSpPr>
          <p:cNvPr id="17" name="Oval 16"/>
          <p:cNvSpPr/>
          <p:nvPr/>
        </p:nvSpPr>
        <p:spPr>
          <a:xfrm>
            <a:off x="676656" y="3922775"/>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76656" y="3941063"/>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2</a:t>
            </a:r>
          </a:p>
        </p:txBody>
      </p:sp>
      <p:sp>
        <p:nvSpPr>
          <p:cNvPr id="19" name="TextBox 18"/>
          <p:cNvSpPr txBox="1"/>
          <p:nvPr/>
        </p:nvSpPr>
        <p:spPr>
          <a:xfrm>
            <a:off x="1078992" y="389534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Then write what you think the biggest single queue is in YOUR process.</a:t>
            </a:r>
          </a:p>
        </p:txBody>
      </p:sp>
      <p:sp>
        <p:nvSpPr>
          <p:cNvPr id="20" name="Oval 19"/>
          <p:cNvSpPr/>
          <p:nvPr/>
        </p:nvSpPr>
        <p:spPr>
          <a:xfrm>
            <a:off x="676656" y="4562855"/>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76656" y="4581144"/>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3</a:t>
            </a:r>
          </a:p>
        </p:txBody>
      </p:sp>
      <p:sp>
        <p:nvSpPr>
          <p:cNvPr id="22" name="TextBox 21"/>
          <p:cNvSpPr txBox="1"/>
          <p:nvPr/>
        </p:nvSpPr>
        <p:spPr>
          <a:xfrm>
            <a:off x="1078992" y="4535424"/>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We will compare against real data, and against your own map in Lab 01.</a:t>
            </a:r>
          </a:p>
        </p:txBody>
      </p:sp>
      <p:sp>
        <p:nvSpPr>
          <p:cNvPr id="23" name="TextBox 22"/>
          <p:cNvSpPr txBox="1"/>
          <p:nvPr/>
        </p:nvSpPr>
        <p:spPr>
          <a:xfrm>
            <a:off x="658368" y="5559552"/>
            <a:ext cx="10872216" cy="274320"/>
          </a:xfrm>
          <a:prstGeom prst="rect">
            <a:avLst/>
          </a:prstGeom>
          <a:noFill/>
        </p:spPr>
        <p:txBody>
          <a:bodyPr wrap="square" lIns="73152" rIns="73152" tIns="36576" bIns="36576" anchor="t">
            <a:spAutoFit/>
          </a:bodyPr>
          <a:lstStyle/>
          <a:p>
            <a:pPr algn="l">
              <a:lnSpc>
                <a:spcPct val="92000"/>
              </a:lnSpc>
              <a:spcAft>
                <a:spcPts val="200"/>
              </a:spcAft>
            </a:pPr>
            <a:r>
              <a:rPr sz="1100" b="1" i="1">
                <a:solidFill>
                  <a:srgbClr val="123A5F"/>
                </a:solidFill>
                <a:latin typeface="Aptos"/>
              </a:rPr>
              <a:t>Answers on the next slide — commit to yours first.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PREDICT  ·  THE ANSWER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Before we look at the numbers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694944"/>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4864" cy="694944"/>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14400" y="1828800"/>
            <a:ext cx="10415016" cy="603504"/>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5A6570"/>
                </a:solidFill>
                <a:latin typeface="Aptos"/>
              </a:rPr>
              <a:t>A typical enterprise change takes 340 hours of lead time. Of those 340 hours, how many do you think anyone is actually WORKING on the change?</a:t>
            </a:r>
          </a:p>
        </p:txBody>
      </p:sp>
      <p:sp>
        <p:nvSpPr>
          <p:cNvPr id="11" name="Rectangle 10"/>
          <p:cNvSpPr/>
          <p:nvPr/>
        </p:nvSpPr>
        <p:spPr>
          <a:xfrm>
            <a:off x="658368" y="2752344"/>
            <a:ext cx="10872216" cy="3118104"/>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752344"/>
            <a:ext cx="73152" cy="3118104"/>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69264" y="2916936"/>
            <a:ext cx="10323576" cy="274320"/>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29ABE2"/>
                </a:solidFill>
                <a:latin typeface="Aptos"/>
              </a:rPr>
              <a:t>THE ANSWER</a:t>
            </a:r>
          </a:p>
        </p:txBody>
      </p:sp>
      <p:sp>
        <p:nvSpPr>
          <p:cNvPr id="14" name="TextBox 13"/>
          <p:cNvSpPr txBox="1"/>
          <p:nvPr/>
        </p:nvSpPr>
        <p:spPr>
          <a:xfrm>
            <a:off x="1207007" y="3282696"/>
            <a:ext cx="9774936" cy="2404872"/>
          </a:xfrm>
          <a:prstGeom prst="rect">
            <a:avLst/>
          </a:prstGeom>
          <a:noFill/>
        </p:spPr>
        <p:txBody>
          <a:bodyPr wrap="square" lIns="73152" rIns="73152" tIns="36576" bIns="36576" anchor="ctr">
            <a:spAutoFit/>
          </a:bodyPr>
          <a:lstStyle/>
          <a:p>
            <a:pPr algn="l">
              <a:lnSpc>
                <a:spcPct val="126000"/>
              </a:lnSpc>
              <a:spcAft>
                <a:spcPts val="200"/>
              </a:spcAft>
            </a:pPr>
            <a:r>
              <a:rPr sz="2100" b="0" i="0">
                <a:solidFill>
                  <a:srgbClr val="FFFFFF"/>
                </a:solidFill>
                <a:latin typeface="Aptos"/>
              </a:rPr>
              <a:t>About 22 hours. Flow efficiency of 6.5 %. For 93.5 % of its life the change was sitting in a queue — which is why buying faster build servers changes almost nothing.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VALUE STREAM MAPPING</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Where delivery time actually goes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823953"/>
            <a:ext cx="10872216" cy="245242"/>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A typical enterprise change: 22 h of work, 340 h of lead time</a:t>
            </a:r>
          </a:p>
        </p:txBody>
      </p:sp>
      <p:sp>
        <p:nvSpPr>
          <p:cNvPr id="9" name="Rectangle 8"/>
          <p:cNvSpPr/>
          <p:nvPr/>
        </p:nvSpPr>
        <p:spPr>
          <a:xfrm>
            <a:off x="658368" y="2232690"/>
            <a:ext cx="703496" cy="588580"/>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Rectangle 9"/>
          <p:cNvSpPr/>
          <p:nvPr/>
        </p:nvSpPr>
        <p:spPr>
          <a:xfrm>
            <a:off x="1361864" y="2232690"/>
            <a:ext cx="10168719" cy="588580"/>
          </a:xfrm>
          <a:prstGeom prst="rect">
            <a:avLst/>
          </a:prstGeom>
          <a:solidFill>
            <a:srgbClr val="D3D9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1361864" y="2371660"/>
            <a:ext cx="10168719" cy="326989"/>
          </a:xfrm>
          <a:prstGeom prst="rect">
            <a:avLst/>
          </a:prstGeom>
          <a:noFill/>
        </p:spPr>
        <p:txBody>
          <a:bodyPr wrap="square" lIns="73152" rIns="73152" tIns="36576" bIns="36576" anchor="t">
            <a:spAutoFit/>
          </a:bodyPr>
          <a:lstStyle/>
          <a:p>
            <a:pPr algn="ctr">
              <a:lnSpc>
                <a:spcPct val="92000"/>
              </a:lnSpc>
              <a:spcAft>
                <a:spcPts val="200"/>
              </a:spcAft>
            </a:pPr>
            <a:r>
              <a:rPr sz="1200" b="1" i="0">
                <a:solidFill>
                  <a:srgbClr val="4A5560"/>
                </a:solidFill>
                <a:latin typeface="Aptos"/>
              </a:rPr>
              <a:t>waiting in queues  318 h</a:t>
            </a:r>
          </a:p>
        </p:txBody>
      </p:sp>
      <p:sp>
        <p:nvSpPr>
          <p:cNvPr id="12" name="TextBox 11"/>
          <p:cNvSpPr txBox="1"/>
          <p:nvPr/>
        </p:nvSpPr>
        <p:spPr>
          <a:xfrm>
            <a:off x="658368" y="2903018"/>
            <a:ext cx="10872216" cy="245242"/>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17A69"/>
                </a:solidFill>
                <a:latin typeface="Aptos"/>
              </a:rPr>
              <a:t>│◄─ 6.5 % ─►│</a:t>
            </a:r>
          </a:p>
        </p:txBody>
      </p:sp>
      <p:sp>
        <p:nvSpPr>
          <p:cNvPr id="13" name="Rectangle 12"/>
          <p:cNvSpPr/>
          <p:nvPr/>
        </p:nvSpPr>
        <p:spPr>
          <a:xfrm>
            <a:off x="658368" y="3270881"/>
            <a:ext cx="5074920" cy="1267084"/>
          </a:xfrm>
          <a:prstGeom prst="rect">
            <a:avLst/>
          </a:prstGeom>
          <a:solidFill>
            <a:srgbClr val="FBEBEA"/>
          </a:solidFill>
          <a:ln w="952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841247" y="3352629"/>
            <a:ext cx="4754880" cy="24524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B3261E"/>
                </a:solidFill>
                <a:latin typeface="Aptos"/>
              </a:rPr>
              <a:t>WHERE TEAMS USUALLY INVEST</a:t>
            </a:r>
          </a:p>
        </p:txBody>
      </p:sp>
      <p:sp>
        <p:nvSpPr>
          <p:cNvPr id="15" name="TextBox 14"/>
          <p:cNvSpPr txBox="1"/>
          <p:nvPr/>
        </p:nvSpPr>
        <p:spPr>
          <a:xfrm>
            <a:off x="841247" y="3622395"/>
            <a:ext cx="4754880" cy="817473"/>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Faster builds · better IDEs · more developers.</a:t>
            </a:r>
          </a:p>
          <a:p>
            <a:pPr algn="l">
              <a:lnSpc>
                <a:spcPct val="92000"/>
              </a:lnSpc>
              <a:spcAft>
                <a:spcPts val="200"/>
              </a:spcAft>
            </a:pPr>
            <a:r>
              <a:rPr sz="1200" b="0" i="0">
                <a:solidFill>
                  <a:srgbClr val="123A5F"/>
                </a:solidFill>
                <a:latin typeface="Aptos"/>
              </a:rPr>
              <a:t>All of it attacks the 6.5 %.</a:t>
            </a:r>
          </a:p>
        </p:txBody>
      </p:sp>
      <p:sp>
        <p:nvSpPr>
          <p:cNvPr id="16" name="Rectangle 15"/>
          <p:cNvSpPr/>
          <p:nvPr/>
        </p:nvSpPr>
        <p:spPr>
          <a:xfrm>
            <a:off x="6455664" y="3270881"/>
            <a:ext cx="5074920" cy="1267084"/>
          </a:xfrm>
          <a:prstGeom prst="rect">
            <a:avLst/>
          </a:prstGeom>
          <a:solidFill>
            <a:srgbClr val="EDF4EA"/>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6638544" y="3352629"/>
            <a:ext cx="4754880" cy="24524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3E7D32"/>
                </a:solidFill>
                <a:latin typeface="Aptos"/>
              </a:rPr>
              <a:t>WHERE THE TIME ACTUALLY IS</a:t>
            </a:r>
          </a:p>
        </p:txBody>
      </p:sp>
      <p:sp>
        <p:nvSpPr>
          <p:cNvPr id="18" name="TextBox 17"/>
          <p:cNvSpPr txBox="1"/>
          <p:nvPr/>
        </p:nvSpPr>
        <p:spPr>
          <a:xfrm>
            <a:off x="6638544" y="3622395"/>
            <a:ext cx="4754880" cy="817473"/>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Approval queues · hand-offs · environment waits ·</a:t>
            </a:r>
          </a:p>
          <a:p>
            <a:pPr algn="l">
              <a:lnSpc>
                <a:spcPct val="92000"/>
              </a:lnSpc>
              <a:spcAft>
                <a:spcPts val="200"/>
              </a:spcAft>
            </a:pPr>
            <a:r>
              <a:rPr sz="1200" b="0" i="0">
                <a:solidFill>
                  <a:srgbClr val="123A5F"/>
                </a:solidFill>
                <a:latin typeface="Aptos"/>
              </a:rPr>
              <a:t>review latency · release windows.</a:t>
            </a:r>
          </a:p>
        </p:txBody>
      </p:sp>
      <p:sp>
        <p:nvSpPr>
          <p:cNvPr id="19" name="Rectangle 18"/>
          <p:cNvSpPr/>
          <p:nvPr/>
        </p:nvSpPr>
        <p:spPr>
          <a:xfrm>
            <a:off x="658368" y="4742334"/>
            <a:ext cx="10872216" cy="1013667"/>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859536" y="4824081"/>
            <a:ext cx="10469880" cy="858347"/>
          </a:xfrm>
          <a:prstGeom prst="rect">
            <a:avLst/>
          </a:prstGeom>
          <a:noFill/>
        </p:spPr>
        <p:txBody>
          <a:bodyPr wrap="square" lIns="73152" rIns="73152" tIns="36576" bIns="36576" anchor="t">
            <a:spAutoFit/>
          </a:bodyPr>
          <a:lstStyle/>
          <a:p>
            <a:pPr algn="l">
              <a:lnSpc>
                <a:spcPct val="115000"/>
              </a:lnSpc>
              <a:spcAft>
                <a:spcPts val="200"/>
              </a:spcAft>
            </a:pPr>
            <a:r>
              <a:rPr sz="1250" b="0" i="0">
                <a:solidFill>
                  <a:srgbClr val="123A5F"/>
                </a:solidFill>
                <a:latin typeface="Aptos"/>
              </a:rPr>
              <a:t>LITTLE'S LAW   ·   Lead Time = WIP ÷ Throughput</a:t>
            </a:r>
          </a:p>
          <a:p>
            <a:pPr algn="l">
              <a:lnSpc>
                <a:spcPct val="115000"/>
              </a:lnSpc>
              <a:spcAft>
                <a:spcPts val="200"/>
              </a:spcAft>
            </a:pPr>
            <a:r>
              <a:rPr sz="1250" b="0" i="0">
                <a:solidFill>
                  <a:srgbClr val="123A5F"/>
                </a:solidFill>
                <a:latin typeface="Aptos"/>
              </a:rPr>
              <a:t>WIP 30, throughput 3/week → 10 weeks.  Cut WIP to 10 → 3.3 weeks.</a:t>
            </a:r>
          </a:p>
          <a:p>
            <a:pPr algn="l">
              <a:lnSpc>
                <a:spcPct val="115000"/>
              </a:lnSpc>
              <a:spcAft>
                <a:spcPts val="200"/>
              </a:spcAft>
            </a:pPr>
            <a:r>
              <a:rPr sz="1250" b="0" i="0">
                <a:solidFill>
                  <a:srgbClr val="123A5F"/>
                </a:solidFill>
                <a:latin typeface="Aptos"/>
              </a:rPr>
              <a:t>A 67 % reduction in lead time with no new tools, no new people and no process redesign.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PREDICT  ·  3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Where is the constraint?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960120" cy="31089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24228"/>
            <a:ext cx="960120" cy="237744"/>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PREDICT</a:t>
            </a:r>
          </a:p>
        </p:txBody>
      </p:sp>
      <p:sp>
        <p:nvSpPr>
          <p:cNvPr id="10" name="TextBox 9"/>
          <p:cNvSpPr txBox="1"/>
          <p:nvPr/>
        </p:nvSpPr>
        <p:spPr>
          <a:xfrm>
            <a:off x="1773936" y="1815084"/>
            <a:ext cx="9683496" cy="25603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123A5F"/>
                </a:solidFill>
                <a:latin typeface="Aptos"/>
              </a:rPr>
              <a:t>Write your answer down BEFORE the reveal.</a:t>
            </a:r>
          </a:p>
        </p:txBody>
      </p:sp>
      <p:sp>
        <p:nvSpPr>
          <p:cNvPr id="11" name="Rectangle 10"/>
          <p:cNvSpPr/>
          <p:nvPr/>
        </p:nvSpPr>
        <p:spPr>
          <a:xfrm>
            <a:off x="658368" y="2258568"/>
            <a:ext cx="10872216" cy="987552"/>
          </a:xfrm>
          <a:prstGeom prst="rect">
            <a:avLst/>
          </a:prstGeom>
          <a:solidFill>
            <a:srgbClr val="ECF1F6"/>
          </a:solidFill>
          <a:ln w="12700">
            <a:solidFill>
              <a:srgbClr val="123A5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258568"/>
            <a:ext cx="68580" cy="987552"/>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50976" y="2313432"/>
            <a:ext cx="10396728" cy="877824"/>
          </a:xfrm>
          <a:prstGeom prst="rect">
            <a:avLst/>
          </a:prstGeom>
          <a:noFill/>
        </p:spPr>
        <p:txBody>
          <a:bodyPr wrap="square" lIns="73152" rIns="73152" tIns="36576" bIns="36576" anchor="ctr">
            <a:spAutoFit/>
          </a:bodyPr>
          <a:lstStyle/>
          <a:p>
            <a:pPr algn="l">
              <a:lnSpc>
                <a:spcPct val="105000"/>
              </a:lnSpc>
              <a:spcAft>
                <a:spcPts val="200"/>
              </a:spcAft>
            </a:pPr>
            <a:r>
              <a:rPr sz="1500" b="1" i="0">
                <a:solidFill>
                  <a:srgbClr val="123A5F"/>
                </a:solidFill>
                <a:latin typeface="Aptos"/>
              </a:rPr>
              <a:t>A change passes through six steps. Wait times: backlog refinement 40 h · development 4 h · code review 26 h · QA testing 60 h · CAB approval 120 h · deployment 48 h. The team is certain the bottleneck is QA, because QA is where the pain is felt. Where is it really?</a:t>
            </a:r>
          </a:p>
        </p:txBody>
      </p:sp>
      <p:sp>
        <p:nvSpPr>
          <p:cNvPr id="14" name="Oval 13"/>
          <p:cNvSpPr/>
          <p:nvPr/>
        </p:nvSpPr>
        <p:spPr>
          <a:xfrm>
            <a:off x="676656" y="3502151"/>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76656" y="3520439"/>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1</a:t>
            </a:r>
          </a:p>
        </p:txBody>
      </p:sp>
      <p:sp>
        <p:nvSpPr>
          <p:cNvPr id="16" name="TextBox 15"/>
          <p:cNvSpPr txBox="1"/>
          <p:nvPr/>
        </p:nvSpPr>
        <p:spPr>
          <a:xfrm>
            <a:off x="1078992" y="3474720"/>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Pick the step you think limits the whole stream.</a:t>
            </a:r>
          </a:p>
        </p:txBody>
      </p:sp>
      <p:sp>
        <p:nvSpPr>
          <p:cNvPr id="17" name="Oval 16"/>
          <p:cNvSpPr/>
          <p:nvPr/>
        </p:nvSpPr>
        <p:spPr>
          <a:xfrm>
            <a:off x="676656" y="4142231"/>
            <a:ext cx="256032" cy="256032"/>
          </a:xfrm>
          <a:prstGeom prst="ellipse">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76656" y="4160520"/>
            <a:ext cx="256032" cy="219456"/>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FFFFFF"/>
                </a:solidFill>
                <a:latin typeface="Aptos"/>
              </a:rPr>
              <a:t>2</a:t>
            </a:r>
          </a:p>
        </p:txBody>
      </p:sp>
      <p:sp>
        <p:nvSpPr>
          <p:cNvPr id="19" name="TextBox 18"/>
          <p:cNvSpPr txBox="1"/>
          <p:nvPr/>
        </p:nvSpPr>
        <p:spPr>
          <a:xfrm>
            <a:off x="1078992" y="4114800"/>
            <a:ext cx="10415016" cy="292608"/>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F2933"/>
                </a:solidFill>
                <a:latin typeface="Aptos"/>
              </a:rPr>
              <a:t>Then decide: if the team spends a quarter automating tests, how much faster does a change ship?</a:t>
            </a:r>
          </a:p>
        </p:txBody>
      </p:sp>
      <p:sp>
        <p:nvSpPr>
          <p:cNvPr id="20" name="TextBox 19"/>
          <p:cNvSpPr txBox="1"/>
          <p:nvPr/>
        </p:nvSpPr>
        <p:spPr>
          <a:xfrm>
            <a:off x="658368" y="5559552"/>
            <a:ext cx="10872216" cy="274320"/>
          </a:xfrm>
          <a:prstGeom prst="rect">
            <a:avLst/>
          </a:prstGeom>
          <a:noFill/>
        </p:spPr>
        <p:txBody>
          <a:bodyPr wrap="square" lIns="73152" rIns="73152" tIns="36576" bIns="36576" anchor="t">
            <a:spAutoFit/>
          </a:bodyPr>
          <a:lstStyle/>
          <a:p>
            <a:pPr algn="l">
              <a:lnSpc>
                <a:spcPct val="92000"/>
              </a:lnSpc>
              <a:spcAft>
                <a:spcPts val="200"/>
              </a:spcAft>
            </a:pPr>
            <a:r>
              <a:rPr sz="1100" b="1" i="1">
                <a:solidFill>
                  <a:srgbClr val="123A5F"/>
                </a:solidFill>
                <a:latin typeface="Aptos"/>
              </a:rPr>
              <a:t>Answers on the next slide — commit to yours first.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PREDICT  ·  THE ANSWER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Where is the constraint?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896112"/>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4864" cy="896112"/>
          </a:xfrm>
          <a:prstGeom prst="rect">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14400" y="1828800"/>
            <a:ext cx="10415016" cy="804672"/>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5A6570"/>
                </a:solidFill>
                <a:latin typeface="Aptos"/>
              </a:rPr>
              <a:t>A change passes through six steps. Wait times: backlog refinement 40 h · development 4 h · code review 26 h · QA testing 60 h · CAB approval 120 h · deployment 48 h. The team is certain the bottleneck is QA, because QA is where the pain is felt. Where is it really?</a:t>
            </a:r>
          </a:p>
        </p:txBody>
      </p:sp>
      <p:sp>
        <p:nvSpPr>
          <p:cNvPr id="11" name="Rectangle 10"/>
          <p:cNvSpPr/>
          <p:nvPr/>
        </p:nvSpPr>
        <p:spPr>
          <a:xfrm>
            <a:off x="658368" y="2953511"/>
            <a:ext cx="10872216" cy="291693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Rectangle 11"/>
          <p:cNvSpPr/>
          <p:nvPr/>
        </p:nvSpPr>
        <p:spPr>
          <a:xfrm>
            <a:off x="658368" y="2953511"/>
            <a:ext cx="73152" cy="291693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69264" y="3118103"/>
            <a:ext cx="10323576" cy="274320"/>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29ABE2"/>
                </a:solidFill>
                <a:latin typeface="Aptos"/>
              </a:rPr>
              <a:t>THE ANSWER</a:t>
            </a:r>
          </a:p>
        </p:txBody>
      </p:sp>
      <p:sp>
        <p:nvSpPr>
          <p:cNvPr id="14" name="TextBox 13"/>
          <p:cNvSpPr txBox="1"/>
          <p:nvPr/>
        </p:nvSpPr>
        <p:spPr>
          <a:xfrm>
            <a:off x="1207007" y="3483863"/>
            <a:ext cx="9774936" cy="2203704"/>
          </a:xfrm>
          <a:prstGeom prst="rect">
            <a:avLst/>
          </a:prstGeom>
          <a:noFill/>
        </p:spPr>
        <p:txBody>
          <a:bodyPr wrap="square" lIns="73152" rIns="73152" tIns="36576" bIns="36576" anchor="ctr">
            <a:spAutoFit/>
          </a:bodyPr>
          <a:lstStyle/>
          <a:p>
            <a:pPr algn="l">
              <a:lnSpc>
                <a:spcPct val="126000"/>
              </a:lnSpc>
              <a:spcAft>
                <a:spcPts val="200"/>
              </a:spcAft>
            </a:pPr>
            <a:r>
              <a:rPr sz="2100" b="0" i="0">
                <a:solidFill>
                  <a:srgbClr val="FFFFFF"/>
                </a:solidFill>
                <a:latin typeface="Aptos"/>
              </a:rPr>
              <a:t>The constraint is CAB approval — 120 hours of pure queue for 0.5 hours of work. Automating QA improves a step that is not the constraint, so lead time barely moves. The gap between the PERCEIVED and the ACTUAL bottleneck is the entire point of drawing the map.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§1.6</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A worked value stream map</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905701"/>
            <a:ext cx="1621536" cy="506833"/>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Backlog</a:t>
            </a:r>
          </a:p>
          <a:p>
            <a:pPr algn="ctr">
              <a:lnSpc>
                <a:spcPct val="92000"/>
              </a:lnSpc>
              <a:spcAft>
                <a:spcPts val="200"/>
              </a:spcAft>
            </a:pPr>
            <a:r>
              <a:rPr sz="1150" b="1" i="0">
                <a:solidFill>
                  <a:srgbClr val="FFFFFF"/>
                </a:solidFill>
                <a:latin typeface="Aptos"/>
              </a:rPr>
              <a:t>refine</a:t>
            </a:r>
          </a:p>
        </p:txBody>
      </p:sp>
      <p:sp>
        <p:nvSpPr>
          <p:cNvPr id="9" name="Rectangle 8"/>
          <p:cNvSpPr/>
          <p:nvPr/>
        </p:nvSpPr>
        <p:spPr>
          <a:xfrm>
            <a:off x="658368" y="2412534"/>
            <a:ext cx="1621536" cy="915570"/>
          </a:xfrm>
          <a:prstGeom prst="rect">
            <a:avLst/>
          </a:prstGeom>
          <a:solidFill>
            <a:srgbClr val="F3F6F8"/>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768096" y="2469757"/>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PT  2 h</a:t>
            </a:r>
          </a:p>
        </p:txBody>
      </p:sp>
      <p:sp>
        <p:nvSpPr>
          <p:cNvPr id="11" name="TextBox 10"/>
          <p:cNvSpPr txBox="1"/>
          <p:nvPr/>
        </p:nvSpPr>
        <p:spPr>
          <a:xfrm>
            <a:off x="768096" y="2714999"/>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WT  40 h</a:t>
            </a:r>
          </a:p>
        </p:txBody>
      </p:sp>
      <p:sp>
        <p:nvSpPr>
          <p:cNvPr id="12" name="TextBox 11"/>
          <p:cNvSpPr txBox="1"/>
          <p:nvPr/>
        </p:nvSpPr>
        <p:spPr>
          <a:xfrm>
            <a:off x="768096" y="2960241"/>
            <a:ext cx="1438656"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%C/A  80</a:t>
            </a:r>
          </a:p>
        </p:txBody>
      </p:sp>
      <p:sp>
        <p:nvSpPr>
          <p:cNvPr id="13" name="Rectangle 12"/>
          <p:cNvSpPr/>
          <p:nvPr/>
        </p:nvSpPr>
        <p:spPr>
          <a:xfrm>
            <a:off x="982675" y="3467075"/>
            <a:ext cx="972921" cy="367863"/>
          </a:xfrm>
          <a:prstGeom prst="rect">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Right Arrow 13"/>
          <p:cNvSpPr/>
          <p:nvPr/>
        </p:nvSpPr>
        <p:spPr>
          <a:xfrm>
            <a:off x="2307335" y="2028322"/>
            <a:ext cx="173736"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08504" y="1905701"/>
            <a:ext cx="1621536" cy="506833"/>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Dev</a:t>
            </a:r>
          </a:p>
        </p:txBody>
      </p:sp>
      <p:sp>
        <p:nvSpPr>
          <p:cNvPr id="16" name="Rectangle 15"/>
          <p:cNvSpPr/>
          <p:nvPr/>
        </p:nvSpPr>
        <p:spPr>
          <a:xfrm>
            <a:off x="2508504" y="2412534"/>
            <a:ext cx="1621536" cy="915570"/>
          </a:xfrm>
          <a:prstGeom prst="rect">
            <a:avLst/>
          </a:prstGeom>
          <a:solidFill>
            <a:srgbClr val="F3F6F8"/>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2618232" y="2469757"/>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PT  16 h</a:t>
            </a:r>
          </a:p>
        </p:txBody>
      </p:sp>
      <p:sp>
        <p:nvSpPr>
          <p:cNvPr id="18" name="TextBox 17"/>
          <p:cNvSpPr txBox="1"/>
          <p:nvPr/>
        </p:nvSpPr>
        <p:spPr>
          <a:xfrm>
            <a:off x="2618232" y="2714999"/>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WT  4 h</a:t>
            </a:r>
          </a:p>
        </p:txBody>
      </p:sp>
      <p:sp>
        <p:nvSpPr>
          <p:cNvPr id="19" name="TextBox 18"/>
          <p:cNvSpPr txBox="1"/>
          <p:nvPr/>
        </p:nvSpPr>
        <p:spPr>
          <a:xfrm>
            <a:off x="2618232" y="2960241"/>
            <a:ext cx="1438656"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%C/A  90</a:t>
            </a:r>
          </a:p>
        </p:txBody>
      </p:sp>
      <p:sp>
        <p:nvSpPr>
          <p:cNvPr id="20" name="Rectangle 19"/>
          <p:cNvSpPr/>
          <p:nvPr/>
        </p:nvSpPr>
        <p:spPr>
          <a:xfrm>
            <a:off x="2832811" y="3467075"/>
            <a:ext cx="972921" cy="54864"/>
          </a:xfrm>
          <a:prstGeom prst="rect">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Right Arrow 20"/>
          <p:cNvSpPr/>
          <p:nvPr/>
        </p:nvSpPr>
        <p:spPr>
          <a:xfrm>
            <a:off x="4157472" y="2028322"/>
            <a:ext cx="173736"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58640" y="1905701"/>
            <a:ext cx="1621536" cy="506833"/>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Code</a:t>
            </a:r>
          </a:p>
          <a:p>
            <a:pPr algn="ctr">
              <a:lnSpc>
                <a:spcPct val="92000"/>
              </a:lnSpc>
              <a:spcAft>
                <a:spcPts val="200"/>
              </a:spcAft>
            </a:pPr>
            <a:r>
              <a:rPr sz="1150" b="1" i="0">
                <a:solidFill>
                  <a:srgbClr val="FFFFFF"/>
                </a:solidFill>
                <a:latin typeface="Aptos"/>
              </a:rPr>
              <a:t>review</a:t>
            </a:r>
          </a:p>
        </p:txBody>
      </p:sp>
      <p:sp>
        <p:nvSpPr>
          <p:cNvPr id="23" name="Rectangle 22"/>
          <p:cNvSpPr/>
          <p:nvPr/>
        </p:nvSpPr>
        <p:spPr>
          <a:xfrm>
            <a:off x="4358640" y="2412534"/>
            <a:ext cx="1621536" cy="915570"/>
          </a:xfrm>
          <a:prstGeom prst="rect">
            <a:avLst/>
          </a:prstGeom>
          <a:solidFill>
            <a:srgbClr val="F3F6F8"/>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4468368" y="2469757"/>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PT  1 h</a:t>
            </a:r>
          </a:p>
        </p:txBody>
      </p:sp>
      <p:sp>
        <p:nvSpPr>
          <p:cNvPr id="25" name="TextBox 24"/>
          <p:cNvSpPr txBox="1"/>
          <p:nvPr/>
        </p:nvSpPr>
        <p:spPr>
          <a:xfrm>
            <a:off x="4468368" y="2714999"/>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WT  26 h</a:t>
            </a:r>
          </a:p>
        </p:txBody>
      </p:sp>
      <p:sp>
        <p:nvSpPr>
          <p:cNvPr id="26" name="TextBox 25"/>
          <p:cNvSpPr txBox="1"/>
          <p:nvPr/>
        </p:nvSpPr>
        <p:spPr>
          <a:xfrm>
            <a:off x="4468368" y="2960241"/>
            <a:ext cx="1438656"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%C/A  85</a:t>
            </a:r>
          </a:p>
        </p:txBody>
      </p:sp>
      <p:sp>
        <p:nvSpPr>
          <p:cNvPr id="27" name="Rectangle 26"/>
          <p:cNvSpPr/>
          <p:nvPr/>
        </p:nvSpPr>
        <p:spPr>
          <a:xfrm>
            <a:off x="4682947" y="3467075"/>
            <a:ext cx="972921" cy="239111"/>
          </a:xfrm>
          <a:prstGeom prst="rect">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8" name="Right Arrow 27"/>
          <p:cNvSpPr/>
          <p:nvPr/>
        </p:nvSpPr>
        <p:spPr>
          <a:xfrm>
            <a:off x="6007608" y="2028322"/>
            <a:ext cx="173736"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1905701"/>
            <a:ext cx="1621536" cy="506833"/>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QA</a:t>
            </a:r>
          </a:p>
          <a:p>
            <a:pPr algn="ctr">
              <a:lnSpc>
                <a:spcPct val="92000"/>
              </a:lnSpc>
              <a:spcAft>
                <a:spcPts val="200"/>
              </a:spcAft>
            </a:pPr>
            <a:r>
              <a:rPr sz="1150" b="1" i="0">
                <a:solidFill>
                  <a:srgbClr val="FFFFFF"/>
                </a:solidFill>
                <a:latin typeface="Aptos"/>
              </a:rPr>
              <a:t>test</a:t>
            </a:r>
          </a:p>
        </p:txBody>
      </p:sp>
      <p:sp>
        <p:nvSpPr>
          <p:cNvPr id="30" name="Rectangle 29"/>
          <p:cNvSpPr/>
          <p:nvPr/>
        </p:nvSpPr>
        <p:spPr>
          <a:xfrm>
            <a:off x="6208776" y="2412534"/>
            <a:ext cx="1621536" cy="915570"/>
          </a:xfrm>
          <a:prstGeom prst="rect">
            <a:avLst/>
          </a:prstGeom>
          <a:solidFill>
            <a:srgbClr val="F3F6F8"/>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6318504" y="2469757"/>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PT  8 h</a:t>
            </a:r>
          </a:p>
        </p:txBody>
      </p:sp>
      <p:sp>
        <p:nvSpPr>
          <p:cNvPr id="32" name="TextBox 31"/>
          <p:cNvSpPr txBox="1"/>
          <p:nvPr/>
        </p:nvSpPr>
        <p:spPr>
          <a:xfrm>
            <a:off x="6318504" y="2714999"/>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WT  60 h</a:t>
            </a:r>
          </a:p>
        </p:txBody>
      </p:sp>
      <p:sp>
        <p:nvSpPr>
          <p:cNvPr id="33" name="TextBox 32"/>
          <p:cNvSpPr txBox="1"/>
          <p:nvPr/>
        </p:nvSpPr>
        <p:spPr>
          <a:xfrm>
            <a:off x="6318504" y="2960241"/>
            <a:ext cx="1438656"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%C/A  70</a:t>
            </a:r>
          </a:p>
        </p:txBody>
      </p:sp>
      <p:sp>
        <p:nvSpPr>
          <p:cNvPr id="34" name="Rectangle 33"/>
          <p:cNvSpPr/>
          <p:nvPr/>
        </p:nvSpPr>
        <p:spPr>
          <a:xfrm>
            <a:off x="6533083" y="3467075"/>
            <a:ext cx="972921" cy="551794"/>
          </a:xfrm>
          <a:prstGeom prst="rect">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Right Arrow 34"/>
          <p:cNvSpPr/>
          <p:nvPr/>
        </p:nvSpPr>
        <p:spPr>
          <a:xfrm>
            <a:off x="7857743" y="2028322"/>
            <a:ext cx="173736"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58911" y="1905701"/>
            <a:ext cx="1621536" cy="506833"/>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CAB</a:t>
            </a:r>
          </a:p>
          <a:p>
            <a:pPr algn="ctr">
              <a:lnSpc>
                <a:spcPct val="92000"/>
              </a:lnSpc>
              <a:spcAft>
                <a:spcPts val="200"/>
              </a:spcAft>
            </a:pPr>
            <a:r>
              <a:rPr sz="1150" b="1" i="0">
                <a:solidFill>
                  <a:srgbClr val="FFFFFF"/>
                </a:solidFill>
                <a:latin typeface="Aptos"/>
              </a:rPr>
              <a:t>approve</a:t>
            </a:r>
          </a:p>
        </p:txBody>
      </p:sp>
      <p:sp>
        <p:nvSpPr>
          <p:cNvPr id="37" name="Rectangle 36"/>
          <p:cNvSpPr/>
          <p:nvPr/>
        </p:nvSpPr>
        <p:spPr>
          <a:xfrm>
            <a:off x="8058911" y="2412534"/>
            <a:ext cx="1621536" cy="915570"/>
          </a:xfrm>
          <a:prstGeom prst="rect">
            <a:avLst/>
          </a:prstGeom>
          <a:solidFill>
            <a:srgbClr val="FBEBEA"/>
          </a:solidFill>
          <a:ln w="952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8" name="TextBox 37"/>
          <p:cNvSpPr txBox="1"/>
          <p:nvPr/>
        </p:nvSpPr>
        <p:spPr>
          <a:xfrm>
            <a:off x="8168639" y="2469757"/>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PT  0.5 h</a:t>
            </a:r>
          </a:p>
        </p:txBody>
      </p:sp>
      <p:sp>
        <p:nvSpPr>
          <p:cNvPr id="39" name="TextBox 38"/>
          <p:cNvSpPr txBox="1"/>
          <p:nvPr/>
        </p:nvSpPr>
        <p:spPr>
          <a:xfrm>
            <a:off x="8168639" y="2714999"/>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B3261E"/>
                </a:solidFill>
                <a:latin typeface="Aptos"/>
              </a:rPr>
              <a:t>WT  120 h</a:t>
            </a:r>
          </a:p>
        </p:txBody>
      </p:sp>
      <p:sp>
        <p:nvSpPr>
          <p:cNvPr id="40" name="TextBox 39"/>
          <p:cNvSpPr txBox="1"/>
          <p:nvPr/>
        </p:nvSpPr>
        <p:spPr>
          <a:xfrm>
            <a:off x="8168639" y="2960241"/>
            <a:ext cx="1438656"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%C/A  95</a:t>
            </a:r>
          </a:p>
        </p:txBody>
      </p:sp>
      <p:sp>
        <p:nvSpPr>
          <p:cNvPr id="41" name="Rectangle 40"/>
          <p:cNvSpPr/>
          <p:nvPr/>
        </p:nvSpPr>
        <p:spPr>
          <a:xfrm>
            <a:off x="8383219" y="3467075"/>
            <a:ext cx="972921" cy="110358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2" name="Right Arrow 41"/>
          <p:cNvSpPr/>
          <p:nvPr/>
        </p:nvSpPr>
        <p:spPr>
          <a:xfrm>
            <a:off x="9707879" y="2028322"/>
            <a:ext cx="173736"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09048" y="1905701"/>
            <a:ext cx="1621536" cy="506833"/>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Deploy</a:t>
            </a:r>
          </a:p>
        </p:txBody>
      </p:sp>
      <p:sp>
        <p:nvSpPr>
          <p:cNvPr id="44" name="Rectangle 43"/>
          <p:cNvSpPr/>
          <p:nvPr/>
        </p:nvSpPr>
        <p:spPr>
          <a:xfrm>
            <a:off x="9909048" y="2412534"/>
            <a:ext cx="1621536" cy="915570"/>
          </a:xfrm>
          <a:prstGeom prst="rect">
            <a:avLst/>
          </a:prstGeom>
          <a:solidFill>
            <a:srgbClr val="F3F6F8"/>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5" name="TextBox 44"/>
          <p:cNvSpPr txBox="1"/>
          <p:nvPr/>
        </p:nvSpPr>
        <p:spPr>
          <a:xfrm>
            <a:off x="10018775" y="2469757"/>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PT  2 h</a:t>
            </a:r>
          </a:p>
        </p:txBody>
      </p:sp>
      <p:sp>
        <p:nvSpPr>
          <p:cNvPr id="46" name="TextBox 45"/>
          <p:cNvSpPr txBox="1"/>
          <p:nvPr/>
        </p:nvSpPr>
        <p:spPr>
          <a:xfrm>
            <a:off x="10018775" y="2714999"/>
            <a:ext cx="1438656"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5A6570"/>
                </a:solidFill>
                <a:latin typeface="Aptos"/>
              </a:rPr>
              <a:t>WT  48 h</a:t>
            </a:r>
          </a:p>
        </p:txBody>
      </p:sp>
      <p:sp>
        <p:nvSpPr>
          <p:cNvPr id="47" name="TextBox 46"/>
          <p:cNvSpPr txBox="1"/>
          <p:nvPr/>
        </p:nvSpPr>
        <p:spPr>
          <a:xfrm>
            <a:off x="10018775" y="2960241"/>
            <a:ext cx="1438656" cy="261591"/>
          </a:xfrm>
          <a:prstGeom prst="rect">
            <a:avLst/>
          </a:prstGeom>
          <a:noFill/>
        </p:spPr>
        <p:txBody>
          <a:bodyPr wrap="square" lIns="73152" rIns="73152" tIns="36576" bIns="36576" anchor="t">
            <a:spAutoFit/>
          </a:bodyPr>
          <a:lstStyle/>
          <a:p>
            <a:pPr algn="l">
              <a:lnSpc>
                <a:spcPct val="92000"/>
              </a:lnSpc>
              <a:spcAft>
                <a:spcPts val="200"/>
              </a:spcAft>
            </a:pPr>
            <a:r>
              <a:rPr sz="1100" b="0" i="0">
                <a:solidFill>
                  <a:srgbClr val="123A5F"/>
                </a:solidFill>
                <a:latin typeface="Aptos"/>
              </a:rPr>
              <a:t>%C/A  90</a:t>
            </a:r>
          </a:p>
        </p:txBody>
      </p:sp>
      <p:sp>
        <p:nvSpPr>
          <p:cNvPr id="48" name="Rectangle 47"/>
          <p:cNvSpPr/>
          <p:nvPr/>
        </p:nvSpPr>
        <p:spPr>
          <a:xfrm>
            <a:off x="10233355" y="3467075"/>
            <a:ext cx="972921" cy="441435"/>
          </a:xfrm>
          <a:prstGeom prst="rect">
            <a:avLst/>
          </a:prstGeom>
          <a:solidFill>
            <a:srgbClr val="C9D2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9" name="TextBox 48"/>
          <p:cNvSpPr txBox="1"/>
          <p:nvPr/>
        </p:nvSpPr>
        <p:spPr>
          <a:xfrm>
            <a:off x="658368" y="4595189"/>
            <a:ext cx="10872216" cy="212543"/>
          </a:xfrm>
          <a:prstGeom prst="rect">
            <a:avLst/>
          </a:prstGeom>
          <a:noFill/>
        </p:spPr>
        <p:txBody>
          <a:bodyPr wrap="square" lIns="73152" rIns="73152" tIns="36576" bIns="36576" anchor="t">
            <a:spAutoFit/>
          </a:bodyPr>
          <a:lstStyle/>
          <a:p>
            <a:pPr algn="l">
              <a:lnSpc>
                <a:spcPct val="92000"/>
              </a:lnSpc>
              <a:spcAft>
                <a:spcPts val="200"/>
              </a:spcAft>
            </a:pPr>
            <a:r>
              <a:rPr sz="950" b="0" i="1">
                <a:solidFill>
                  <a:srgbClr val="5A6570"/>
                </a:solidFill>
                <a:latin typeface="Aptos"/>
              </a:rPr>
              <a:t>grey bars = wait time, drawn to scale</a:t>
            </a:r>
          </a:p>
        </p:txBody>
      </p:sp>
      <p:sp>
        <p:nvSpPr>
          <p:cNvPr id="50" name="Rectangle 49"/>
          <p:cNvSpPr/>
          <p:nvPr/>
        </p:nvSpPr>
        <p:spPr>
          <a:xfrm>
            <a:off x="694944" y="4848605"/>
            <a:ext cx="3550920" cy="42508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1" name="TextBox 50"/>
          <p:cNvSpPr txBox="1"/>
          <p:nvPr/>
        </p:nvSpPr>
        <p:spPr>
          <a:xfrm>
            <a:off x="804672" y="4873130"/>
            <a:ext cx="3349752" cy="179844"/>
          </a:xfrm>
          <a:prstGeom prst="rect">
            <a:avLst/>
          </a:prstGeom>
          <a:noFill/>
        </p:spPr>
        <p:txBody>
          <a:bodyPr wrap="square" lIns="73152" rIns="73152" tIns="36576" bIns="36576" anchor="t">
            <a:spAutoFit/>
          </a:bodyPr>
          <a:lstStyle/>
          <a:p>
            <a:pPr algn="l">
              <a:lnSpc>
                <a:spcPct val="92000"/>
              </a:lnSpc>
              <a:spcAft>
                <a:spcPts val="200"/>
              </a:spcAft>
            </a:pPr>
            <a:r>
              <a:rPr sz="850" b="1" i="0">
                <a:solidFill>
                  <a:srgbClr val="5A6570"/>
                </a:solidFill>
                <a:latin typeface="Aptos"/>
              </a:rPr>
              <a:t>TOTAL PROCESS TIME</a:t>
            </a:r>
          </a:p>
        </p:txBody>
      </p:sp>
      <p:sp>
        <p:nvSpPr>
          <p:cNvPr id="52" name="TextBox 51"/>
          <p:cNvSpPr txBox="1"/>
          <p:nvPr/>
        </p:nvSpPr>
        <p:spPr>
          <a:xfrm>
            <a:off x="804672" y="5028450"/>
            <a:ext cx="3349752" cy="228892"/>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29.5 h</a:t>
            </a:r>
          </a:p>
        </p:txBody>
      </p:sp>
      <p:sp>
        <p:nvSpPr>
          <p:cNvPr id="53" name="Rectangle 52"/>
          <p:cNvSpPr/>
          <p:nvPr/>
        </p:nvSpPr>
        <p:spPr>
          <a:xfrm>
            <a:off x="4319016" y="4848605"/>
            <a:ext cx="3550920" cy="42508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4" name="TextBox 53"/>
          <p:cNvSpPr txBox="1"/>
          <p:nvPr/>
        </p:nvSpPr>
        <p:spPr>
          <a:xfrm>
            <a:off x="4428744" y="4873130"/>
            <a:ext cx="3349752" cy="179844"/>
          </a:xfrm>
          <a:prstGeom prst="rect">
            <a:avLst/>
          </a:prstGeom>
          <a:noFill/>
        </p:spPr>
        <p:txBody>
          <a:bodyPr wrap="square" lIns="73152" rIns="73152" tIns="36576" bIns="36576" anchor="t">
            <a:spAutoFit/>
          </a:bodyPr>
          <a:lstStyle/>
          <a:p>
            <a:pPr algn="l">
              <a:lnSpc>
                <a:spcPct val="92000"/>
              </a:lnSpc>
              <a:spcAft>
                <a:spcPts val="200"/>
              </a:spcAft>
            </a:pPr>
            <a:r>
              <a:rPr sz="850" b="1" i="0">
                <a:solidFill>
                  <a:srgbClr val="5A6570"/>
                </a:solidFill>
                <a:latin typeface="Aptos"/>
              </a:rPr>
              <a:t>TOTAL WAIT TIME</a:t>
            </a:r>
          </a:p>
        </p:txBody>
      </p:sp>
      <p:sp>
        <p:nvSpPr>
          <p:cNvPr id="55" name="TextBox 54"/>
          <p:cNvSpPr txBox="1"/>
          <p:nvPr/>
        </p:nvSpPr>
        <p:spPr>
          <a:xfrm>
            <a:off x="4428744" y="5028450"/>
            <a:ext cx="3349752" cy="228892"/>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298 h</a:t>
            </a:r>
          </a:p>
        </p:txBody>
      </p:sp>
      <p:sp>
        <p:nvSpPr>
          <p:cNvPr id="56" name="Rectangle 55"/>
          <p:cNvSpPr/>
          <p:nvPr/>
        </p:nvSpPr>
        <p:spPr>
          <a:xfrm>
            <a:off x="7943087" y="4848605"/>
            <a:ext cx="3550920" cy="42508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7" name="TextBox 56"/>
          <p:cNvSpPr txBox="1"/>
          <p:nvPr/>
        </p:nvSpPr>
        <p:spPr>
          <a:xfrm>
            <a:off x="8052816" y="4873130"/>
            <a:ext cx="3349752" cy="179844"/>
          </a:xfrm>
          <a:prstGeom prst="rect">
            <a:avLst/>
          </a:prstGeom>
          <a:noFill/>
        </p:spPr>
        <p:txBody>
          <a:bodyPr wrap="square" lIns="73152" rIns="73152" tIns="36576" bIns="36576" anchor="t">
            <a:spAutoFit/>
          </a:bodyPr>
          <a:lstStyle/>
          <a:p>
            <a:pPr algn="l">
              <a:lnSpc>
                <a:spcPct val="92000"/>
              </a:lnSpc>
              <a:spcAft>
                <a:spcPts val="200"/>
              </a:spcAft>
            </a:pPr>
            <a:r>
              <a:rPr sz="850" b="1" i="0">
                <a:solidFill>
                  <a:srgbClr val="5A6570"/>
                </a:solidFill>
                <a:latin typeface="Aptos"/>
              </a:rPr>
              <a:t>LEAD TIME</a:t>
            </a:r>
          </a:p>
        </p:txBody>
      </p:sp>
      <p:sp>
        <p:nvSpPr>
          <p:cNvPr id="58" name="TextBox 57"/>
          <p:cNvSpPr txBox="1"/>
          <p:nvPr/>
        </p:nvSpPr>
        <p:spPr>
          <a:xfrm>
            <a:off x="8052816" y="5028450"/>
            <a:ext cx="3349752" cy="228892"/>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327.5 h  ≈ 8 working weeks</a:t>
            </a:r>
          </a:p>
        </p:txBody>
      </p:sp>
      <p:sp>
        <p:nvSpPr>
          <p:cNvPr id="59" name="Rectangle 58"/>
          <p:cNvSpPr/>
          <p:nvPr/>
        </p:nvSpPr>
        <p:spPr>
          <a:xfrm>
            <a:off x="694944" y="5322740"/>
            <a:ext cx="3550920" cy="42508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60" name="TextBox 59"/>
          <p:cNvSpPr txBox="1"/>
          <p:nvPr/>
        </p:nvSpPr>
        <p:spPr>
          <a:xfrm>
            <a:off x="804672" y="5347264"/>
            <a:ext cx="3349752" cy="179844"/>
          </a:xfrm>
          <a:prstGeom prst="rect">
            <a:avLst/>
          </a:prstGeom>
          <a:noFill/>
        </p:spPr>
        <p:txBody>
          <a:bodyPr wrap="square" lIns="73152" rIns="73152" tIns="36576" bIns="36576" anchor="t">
            <a:spAutoFit/>
          </a:bodyPr>
          <a:lstStyle/>
          <a:p>
            <a:pPr algn="l">
              <a:lnSpc>
                <a:spcPct val="92000"/>
              </a:lnSpc>
              <a:spcAft>
                <a:spcPts val="200"/>
              </a:spcAft>
            </a:pPr>
            <a:r>
              <a:rPr sz="850" b="1" i="0">
                <a:solidFill>
                  <a:srgbClr val="5A6570"/>
                </a:solidFill>
                <a:latin typeface="Aptos"/>
              </a:rPr>
              <a:t>FLOW EFFICIENCY</a:t>
            </a:r>
          </a:p>
        </p:txBody>
      </p:sp>
      <p:sp>
        <p:nvSpPr>
          <p:cNvPr id="61" name="TextBox 60"/>
          <p:cNvSpPr txBox="1"/>
          <p:nvPr/>
        </p:nvSpPr>
        <p:spPr>
          <a:xfrm>
            <a:off x="804672" y="5502584"/>
            <a:ext cx="3349752" cy="228892"/>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29.5 ÷ 327.5 = 9 %</a:t>
            </a:r>
          </a:p>
        </p:txBody>
      </p:sp>
      <p:sp>
        <p:nvSpPr>
          <p:cNvPr id="62" name="Rectangle 61"/>
          <p:cNvSpPr/>
          <p:nvPr/>
        </p:nvSpPr>
        <p:spPr>
          <a:xfrm>
            <a:off x="4319016" y="5322740"/>
            <a:ext cx="3550920" cy="42508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63" name="TextBox 62"/>
          <p:cNvSpPr txBox="1"/>
          <p:nvPr/>
        </p:nvSpPr>
        <p:spPr>
          <a:xfrm>
            <a:off x="4428744" y="5347264"/>
            <a:ext cx="3349752" cy="179844"/>
          </a:xfrm>
          <a:prstGeom prst="rect">
            <a:avLst/>
          </a:prstGeom>
          <a:noFill/>
        </p:spPr>
        <p:txBody>
          <a:bodyPr wrap="square" lIns="73152" rIns="73152" tIns="36576" bIns="36576" anchor="t">
            <a:spAutoFit/>
          </a:bodyPr>
          <a:lstStyle/>
          <a:p>
            <a:pPr algn="l">
              <a:lnSpc>
                <a:spcPct val="92000"/>
              </a:lnSpc>
              <a:spcAft>
                <a:spcPts val="200"/>
              </a:spcAft>
            </a:pPr>
            <a:r>
              <a:rPr sz="850" b="1" i="0">
                <a:solidFill>
                  <a:srgbClr val="5A6570"/>
                </a:solidFill>
                <a:latin typeface="Aptos"/>
              </a:rPr>
              <a:t>ROLLED %C/A</a:t>
            </a:r>
          </a:p>
        </p:txBody>
      </p:sp>
      <p:sp>
        <p:nvSpPr>
          <p:cNvPr id="64" name="TextBox 63"/>
          <p:cNvSpPr txBox="1"/>
          <p:nvPr/>
        </p:nvSpPr>
        <p:spPr>
          <a:xfrm>
            <a:off x="4428744" y="5502584"/>
            <a:ext cx="3349752" cy="228892"/>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.80×.90×.85×.70×.95×.90 = 36.6 %</a:t>
            </a:r>
          </a:p>
        </p:txBody>
      </p:sp>
      <p:sp>
        <p:nvSpPr>
          <p:cNvPr id="65" name="Rectangle 64"/>
          <p:cNvSpPr/>
          <p:nvPr/>
        </p:nvSpPr>
        <p:spPr>
          <a:xfrm>
            <a:off x="7943087" y="5322740"/>
            <a:ext cx="3550920" cy="42508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66" name="TextBox 65"/>
          <p:cNvSpPr txBox="1"/>
          <p:nvPr/>
        </p:nvSpPr>
        <p:spPr>
          <a:xfrm>
            <a:off x="8052816" y="5347264"/>
            <a:ext cx="3349752" cy="179844"/>
          </a:xfrm>
          <a:prstGeom prst="rect">
            <a:avLst/>
          </a:prstGeom>
          <a:noFill/>
        </p:spPr>
        <p:txBody>
          <a:bodyPr wrap="square" lIns="73152" rIns="73152" tIns="36576" bIns="36576" anchor="t">
            <a:spAutoFit/>
          </a:bodyPr>
          <a:lstStyle/>
          <a:p>
            <a:pPr algn="l">
              <a:lnSpc>
                <a:spcPct val="92000"/>
              </a:lnSpc>
              <a:spcAft>
                <a:spcPts val="200"/>
              </a:spcAft>
            </a:pPr>
            <a:r>
              <a:rPr sz="850" b="1" i="0">
                <a:solidFill>
                  <a:srgbClr val="B9D4EA"/>
                </a:solidFill>
                <a:latin typeface="Aptos"/>
              </a:rPr>
              <a:t>THE CONSTRAINT</a:t>
            </a:r>
          </a:p>
        </p:txBody>
      </p:sp>
      <p:sp>
        <p:nvSpPr>
          <p:cNvPr id="67" name="TextBox 66"/>
          <p:cNvSpPr txBox="1"/>
          <p:nvPr/>
        </p:nvSpPr>
        <p:spPr>
          <a:xfrm>
            <a:off x="8052816" y="5502584"/>
            <a:ext cx="3349752" cy="228892"/>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FFFFFF"/>
                </a:solidFill>
                <a:latin typeface="Aptos"/>
              </a:rPr>
              <a:t>CAB approval — 120 h of queue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§1.6</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Little's Law</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Lead Time = Work in Progress ÷ Throughput. At constant throughput, halving the work in progress halves the lead time.</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A worked example</a:t>
            </a:r>
          </a:p>
        </p:txBody>
      </p:sp>
      <p:sp>
        <p:nvSpPr>
          <p:cNvPr id="13" name="TextBox 12"/>
          <p:cNvSpPr txBox="1"/>
          <p:nvPr/>
        </p:nvSpPr>
        <p:spPr>
          <a:xfrm>
            <a:off x="950976" y="3056909"/>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30 items in progress, 3 finished per week → 10 weeks average lead time</a:t>
            </a:r>
          </a:p>
        </p:txBody>
      </p:sp>
      <p:sp>
        <p:nvSpPr>
          <p:cNvPr id="14" name="Rectangle 13"/>
          <p:cNvSpPr/>
          <p:nvPr/>
        </p:nvSpPr>
        <p:spPr>
          <a:xfrm>
            <a:off x="676656" y="3486583"/>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376855"/>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Cut WIP to 10, same people, same tools</a:t>
            </a:r>
          </a:p>
        </p:txBody>
      </p:sp>
      <p:sp>
        <p:nvSpPr>
          <p:cNvPr id="16" name="TextBox 15"/>
          <p:cNvSpPr txBox="1"/>
          <p:nvPr/>
        </p:nvSpPr>
        <p:spPr>
          <a:xfrm>
            <a:off x="950976" y="3663133"/>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10 ÷ 3 → 3.3 weeks. A two-thirds cut in lead time</a:t>
            </a:r>
          </a:p>
        </p:txBody>
      </p:sp>
      <p:sp>
        <p:nvSpPr>
          <p:cNvPr id="17" name="Rectangle 16"/>
          <p:cNvSpPr/>
          <p:nvPr/>
        </p:nvSpPr>
        <p:spPr>
          <a:xfrm>
            <a:off x="676656" y="4092807"/>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3983079"/>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Why it works</a:t>
            </a:r>
          </a:p>
        </p:txBody>
      </p:sp>
      <p:sp>
        <p:nvSpPr>
          <p:cNvPr id="19" name="TextBox 18"/>
          <p:cNvSpPr txBox="1"/>
          <p:nvPr/>
        </p:nvSpPr>
        <p:spPr>
          <a:xfrm>
            <a:off x="950976" y="4269357"/>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Every extra item in progress adds context-switching and waiting to all the others</a:t>
            </a:r>
          </a:p>
        </p:txBody>
      </p:sp>
      <p:sp>
        <p:nvSpPr>
          <p:cNvPr id="20" name="Rectangle 19"/>
          <p:cNvSpPr/>
          <p:nvPr/>
        </p:nvSpPr>
        <p:spPr>
          <a:xfrm>
            <a:off x="676656" y="4699031"/>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4589303"/>
            <a:ext cx="10561320"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What it looks like in practice</a:t>
            </a:r>
          </a:p>
        </p:txBody>
      </p:sp>
      <p:sp>
        <p:nvSpPr>
          <p:cNvPr id="22" name="TextBox 21"/>
          <p:cNvSpPr txBox="1"/>
          <p:nvPr/>
        </p:nvSpPr>
        <p:spPr>
          <a:xfrm>
            <a:off x="950976" y="4875580"/>
            <a:ext cx="10561320"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WIP limits on the board; finish before you start; stop starting</a:t>
            </a:r>
          </a:p>
        </p:txBody>
      </p:sp>
      <p:sp>
        <p:nvSpPr>
          <p:cNvPr id="23" name="Rectangle 22"/>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804672" y="5404104"/>
            <a:ext cx="310896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THE MOST ACTIONABLE EQUATION IN DEVOPS</a:t>
            </a:r>
          </a:p>
        </p:txBody>
      </p:sp>
      <p:sp>
        <p:nvSpPr>
          <p:cNvPr id="25" name="TextBox 24"/>
          <p:cNvSpPr txBox="1"/>
          <p:nvPr/>
        </p:nvSpPr>
        <p:spPr>
          <a:xfrm>
            <a:off x="3904488" y="5394959"/>
            <a:ext cx="7461504"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It needs no budget, no tool and no reorganisation — only the discipline to stop starting new work.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§1.6 — GOLDRATT</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The Theory of Constraints — the improvement algorithm</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41247" y="1965960"/>
            <a:ext cx="0" cy="2761488"/>
          </a:xfrm>
          <a:prstGeom prst="line">
            <a:avLst/>
          </a:prstGeom>
          <a:ln w="25400">
            <a:solidFill>
              <a:srgbClr val="B9CBD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58368" y="1773936"/>
            <a:ext cx="365760" cy="365760"/>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658368" y="1819656"/>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1</a:t>
            </a:r>
          </a:p>
        </p:txBody>
      </p:sp>
      <p:sp>
        <p:nvSpPr>
          <p:cNvPr id="11" name="TextBox 10"/>
          <p:cNvSpPr txBox="1"/>
          <p:nvPr/>
        </p:nvSpPr>
        <p:spPr>
          <a:xfrm>
            <a:off x="1188719" y="1755648"/>
            <a:ext cx="10305288"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IDENTIFY the constraint</a:t>
            </a:r>
          </a:p>
          <a:p>
            <a:pPr>
              <a:lnSpc>
                <a:spcPct val="95000"/>
              </a:lnSpc>
              <a:spcBef>
                <a:spcPts val="200"/>
              </a:spcBef>
              <a:spcAft>
                <a:spcPts val="100"/>
              </a:spcAft>
            </a:pPr>
            <a:r>
              <a:rPr sz="1180" b="0">
                <a:solidFill>
                  <a:srgbClr val="5A6570"/>
                </a:solidFill>
                <a:latin typeface="Aptos"/>
              </a:rPr>
              <a:t>The largest wait time, or the step where the queue keeps growing</a:t>
            </a:r>
          </a:p>
        </p:txBody>
      </p:sp>
      <p:sp>
        <p:nvSpPr>
          <p:cNvPr id="12" name="Oval 11"/>
          <p:cNvSpPr/>
          <p:nvPr/>
        </p:nvSpPr>
        <p:spPr>
          <a:xfrm>
            <a:off x="658368" y="2464308"/>
            <a:ext cx="365760" cy="365760"/>
          </a:xfrm>
          <a:prstGeom prst="ellipse">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58368" y="2510028"/>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2</a:t>
            </a:r>
          </a:p>
        </p:txBody>
      </p:sp>
      <p:sp>
        <p:nvSpPr>
          <p:cNvPr id="14" name="TextBox 13"/>
          <p:cNvSpPr txBox="1"/>
          <p:nvPr/>
        </p:nvSpPr>
        <p:spPr>
          <a:xfrm>
            <a:off x="1188719" y="2446020"/>
            <a:ext cx="10305288"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EXPLOIT it</a:t>
            </a:r>
          </a:p>
          <a:p>
            <a:pPr>
              <a:lnSpc>
                <a:spcPct val="95000"/>
              </a:lnSpc>
              <a:spcBef>
                <a:spcPts val="200"/>
              </a:spcBef>
              <a:spcAft>
                <a:spcPts val="100"/>
              </a:spcAft>
            </a:pPr>
            <a:r>
              <a:rPr sz="1180" b="0">
                <a:solidFill>
                  <a:srgbClr val="5A6570"/>
                </a:solidFill>
                <a:latin typeface="Aptos"/>
              </a:rPr>
              <a:t>Make sure the constraint is never idle and never doing non-constraint work</a:t>
            </a:r>
          </a:p>
        </p:txBody>
      </p:sp>
      <p:sp>
        <p:nvSpPr>
          <p:cNvPr id="15" name="Oval 14"/>
          <p:cNvSpPr/>
          <p:nvPr/>
        </p:nvSpPr>
        <p:spPr>
          <a:xfrm>
            <a:off x="658368" y="3154680"/>
            <a:ext cx="365760" cy="365760"/>
          </a:xfrm>
          <a:prstGeom prst="ellipse">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58368" y="3200400"/>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3</a:t>
            </a:r>
          </a:p>
        </p:txBody>
      </p:sp>
      <p:sp>
        <p:nvSpPr>
          <p:cNvPr id="17" name="TextBox 16"/>
          <p:cNvSpPr txBox="1"/>
          <p:nvPr/>
        </p:nvSpPr>
        <p:spPr>
          <a:xfrm>
            <a:off x="1188719" y="3136392"/>
            <a:ext cx="10305288"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SUBORDINATE everything else to it</a:t>
            </a:r>
          </a:p>
          <a:p>
            <a:pPr>
              <a:lnSpc>
                <a:spcPct val="95000"/>
              </a:lnSpc>
              <a:spcBef>
                <a:spcPts val="200"/>
              </a:spcBef>
              <a:spcAft>
                <a:spcPts val="100"/>
              </a:spcAft>
            </a:pPr>
            <a:r>
              <a:rPr sz="1180" b="0">
                <a:solidFill>
                  <a:srgbClr val="5A6570"/>
                </a:solidFill>
                <a:latin typeface="Aptos"/>
              </a:rPr>
              <a:t>Stop feeding it faster than it can consume</a:t>
            </a:r>
          </a:p>
        </p:txBody>
      </p:sp>
      <p:sp>
        <p:nvSpPr>
          <p:cNvPr id="18" name="Oval 17"/>
          <p:cNvSpPr/>
          <p:nvPr/>
        </p:nvSpPr>
        <p:spPr>
          <a:xfrm>
            <a:off x="658368" y="3845052"/>
            <a:ext cx="365760" cy="365760"/>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58368" y="3890772"/>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4</a:t>
            </a:r>
          </a:p>
        </p:txBody>
      </p:sp>
      <p:sp>
        <p:nvSpPr>
          <p:cNvPr id="20" name="TextBox 19"/>
          <p:cNvSpPr txBox="1"/>
          <p:nvPr/>
        </p:nvSpPr>
        <p:spPr>
          <a:xfrm>
            <a:off x="1188719" y="3826763"/>
            <a:ext cx="10305288"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ELEVATE it</a:t>
            </a:r>
          </a:p>
          <a:p>
            <a:pPr>
              <a:lnSpc>
                <a:spcPct val="95000"/>
              </a:lnSpc>
              <a:spcBef>
                <a:spcPts val="200"/>
              </a:spcBef>
              <a:spcAft>
                <a:spcPts val="100"/>
              </a:spcAft>
            </a:pPr>
            <a:r>
              <a:rPr sz="1180" b="0">
                <a:solidFill>
                  <a:srgbClr val="5A6570"/>
                </a:solidFill>
                <a:latin typeface="Aptos"/>
              </a:rPr>
              <a:t>Add capacity, automate it, or remove the step altogether</a:t>
            </a:r>
          </a:p>
        </p:txBody>
      </p:sp>
      <p:sp>
        <p:nvSpPr>
          <p:cNvPr id="21" name="Oval 20"/>
          <p:cNvSpPr/>
          <p:nvPr/>
        </p:nvSpPr>
        <p:spPr>
          <a:xfrm>
            <a:off x="658368" y="4535424"/>
            <a:ext cx="365760" cy="365760"/>
          </a:xfrm>
          <a:prstGeom prst="ellipse">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658368" y="4581144"/>
            <a:ext cx="365760"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FFFFFF"/>
                </a:solidFill>
                <a:latin typeface="Aptos"/>
              </a:rPr>
              <a:t>5</a:t>
            </a:r>
          </a:p>
        </p:txBody>
      </p:sp>
      <p:sp>
        <p:nvSpPr>
          <p:cNvPr id="23" name="TextBox 22"/>
          <p:cNvSpPr txBox="1"/>
          <p:nvPr/>
        </p:nvSpPr>
        <p:spPr>
          <a:xfrm>
            <a:off x="1188719" y="4517136"/>
            <a:ext cx="10305288" cy="557784"/>
          </a:xfrm>
          <a:prstGeom prst="rect">
            <a:avLst/>
          </a:prstGeom>
          <a:noFill/>
        </p:spPr>
        <p:txBody>
          <a:bodyPr wrap="square" lIns="73152" rIns="73152" tIns="36576" bIns="36576">
            <a:spAutoFit/>
          </a:bodyPr>
          <a:lstStyle/>
          <a:p>
            <a:pPr>
              <a:lnSpc>
                <a:spcPct val="95000"/>
              </a:lnSpc>
              <a:spcAft>
                <a:spcPts val="100"/>
              </a:spcAft>
            </a:pPr>
            <a:r>
              <a:rPr sz="1350" b="1">
                <a:solidFill>
                  <a:srgbClr val="123A5F"/>
                </a:solidFill>
                <a:latin typeface="Aptos"/>
              </a:rPr>
              <a:t>REPEAT</a:t>
            </a:r>
          </a:p>
          <a:p>
            <a:pPr>
              <a:lnSpc>
                <a:spcPct val="95000"/>
              </a:lnSpc>
              <a:spcBef>
                <a:spcPts val="200"/>
              </a:spcBef>
              <a:spcAft>
                <a:spcPts val="100"/>
              </a:spcAft>
            </a:pPr>
            <a:r>
              <a:rPr sz="1180" b="0">
                <a:solidFill>
                  <a:srgbClr val="5A6570"/>
                </a:solidFill>
                <a:latin typeface="Aptos"/>
              </a:rPr>
              <a:t>The constraint always moves. Do not let inertia become the new one</a:t>
            </a:r>
          </a:p>
        </p:txBody>
      </p:sp>
      <p:sp>
        <p:nvSpPr>
          <p:cNvPr id="24" name="Rectangle 23"/>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804672" y="5404104"/>
            <a:ext cx="158374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DORA'S FINDING</a:t>
            </a:r>
          </a:p>
        </p:txBody>
      </p:sp>
      <p:sp>
        <p:nvSpPr>
          <p:cNvPr id="26" name="TextBox 25"/>
          <p:cNvSpPr txBox="1"/>
          <p:nvPr/>
        </p:nvSpPr>
        <p:spPr>
          <a:xfrm>
            <a:off x="2379268" y="5394959"/>
            <a:ext cx="8986723"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Automated change approval outperforms external approval boards on BOTH speed and stability. A CAB is very often the constraint, and it provides no measurable risk reduction.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39</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IN A REGULATED BANK</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Mapping a value stream in a bank</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877824"/>
          </a:xfrm>
          <a:prstGeom prst="rect">
            <a:avLst/>
          </a:prstGeom>
          <a:solidFill>
            <a:srgbClr val="FDF1E2"/>
          </a:solidFill>
          <a:ln w="12700">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877824"/>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32688" y="1837943"/>
            <a:ext cx="10415016" cy="768096"/>
          </a:xfrm>
          <a:prstGeom prst="rect">
            <a:avLst/>
          </a:prstGeom>
          <a:noFill/>
        </p:spPr>
        <p:txBody>
          <a:bodyPr wrap="square" lIns="73152" rIns="73152" tIns="36576" bIns="36576" anchor="ctr">
            <a:spAutoFit/>
          </a:bodyPr>
          <a:lstStyle/>
          <a:p>
            <a:pPr algn="l">
              <a:lnSpc>
                <a:spcPct val="100000"/>
              </a:lnSpc>
              <a:spcAft>
                <a:spcPts val="200"/>
              </a:spcAft>
            </a:pPr>
            <a:r>
              <a:rPr sz="1400" b="0" i="0">
                <a:solidFill>
                  <a:srgbClr val="123A5F"/>
                </a:solidFill>
                <a:latin typeface="Aptos"/>
              </a:rPr>
              <a:t>The objection you will hear is "we are regulated, so it has to take this long." The map is how you find out which parts of the delay are the regulation and which parts are habit wearing the regulation's uniform.</a:t>
            </a:r>
          </a:p>
        </p:txBody>
      </p:sp>
      <p:sp>
        <p:nvSpPr>
          <p:cNvPr id="11" name="Diamond 10"/>
          <p:cNvSpPr/>
          <p:nvPr/>
        </p:nvSpPr>
        <p:spPr>
          <a:xfrm>
            <a:off x="676656" y="2958084"/>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69264" y="2843784"/>
            <a:ext cx="10543032"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The engineering steps are rarely the constraint</a:t>
            </a:r>
          </a:p>
        </p:txBody>
      </p:sp>
      <p:sp>
        <p:nvSpPr>
          <p:cNvPr id="13" name="TextBox 12"/>
          <p:cNvSpPr txBox="1"/>
          <p:nvPr/>
        </p:nvSpPr>
        <p:spPr>
          <a:xfrm>
            <a:off x="969264" y="3130061"/>
            <a:ext cx="10543032"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Coding and testing are usually 10–20 % of lead time; the queues are the rest</a:t>
            </a:r>
          </a:p>
        </p:txBody>
      </p:sp>
      <p:sp>
        <p:nvSpPr>
          <p:cNvPr id="14" name="Diamond 13"/>
          <p:cNvSpPr/>
          <p:nvPr/>
        </p:nvSpPr>
        <p:spPr>
          <a:xfrm>
            <a:off x="676656" y="3583627"/>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69264" y="3469327"/>
            <a:ext cx="10543032"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Record the DEADLINE effects, not just the durations</a:t>
            </a:r>
          </a:p>
        </p:txBody>
      </p:sp>
      <p:sp>
        <p:nvSpPr>
          <p:cNvPr id="16" name="TextBox 15"/>
          <p:cNvSpPr txBox="1"/>
          <p:nvPr/>
        </p:nvSpPr>
        <p:spPr>
          <a:xfrm>
            <a:off x="969264" y="3755604"/>
            <a:ext cx="10543032"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"CAB meets Thursday, submissions close Tuesday" means a change ready on Wednesday waits six days</a:t>
            </a:r>
          </a:p>
        </p:txBody>
      </p:sp>
      <p:sp>
        <p:nvSpPr>
          <p:cNvPr id="17" name="Diamond 16"/>
          <p:cNvSpPr/>
          <p:nvPr/>
        </p:nvSpPr>
        <p:spPr>
          <a:xfrm>
            <a:off x="676656" y="4209170"/>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69264" y="4094870"/>
            <a:ext cx="10543032"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Bank-specific steps that belong on your map</a:t>
            </a:r>
          </a:p>
        </p:txBody>
      </p:sp>
      <p:sp>
        <p:nvSpPr>
          <p:cNvPr id="19" name="TextBox 18"/>
          <p:cNvSpPr txBox="1"/>
          <p:nvPr/>
        </p:nvSpPr>
        <p:spPr>
          <a:xfrm>
            <a:off x="969264" y="4381148"/>
            <a:ext cx="10543032" cy="360836"/>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Risk assessment · architecture review · InfoSec sign-off · DPIA · vendor approval · pen-test slot · CAB · release window · business sign-off</a:t>
            </a:r>
          </a:p>
        </p:txBody>
      </p:sp>
      <p:sp>
        <p:nvSpPr>
          <p:cNvPr id="20" name="Diamond 19"/>
          <p:cNvSpPr/>
          <p:nvPr/>
        </p:nvSpPr>
        <p:spPr>
          <a:xfrm>
            <a:off x="676656" y="4987067"/>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69264" y="4872767"/>
            <a:ext cx="10543032" cy="240557"/>
          </a:xfrm>
          <a:prstGeom prst="rect">
            <a:avLst/>
          </a:prstGeom>
          <a:noFill/>
        </p:spPr>
        <p:txBody>
          <a:bodyPr wrap="square" lIns="73152" rIns="73152" tIns="36576" bIns="36576" anchor="t">
            <a:spAutoFit/>
          </a:bodyPr>
          <a:lstStyle/>
          <a:p>
            <a:pPr algn="l">
              <a:lnSpc>
                <a:spcPct val="92000"/>
              </a:lnSpc>
              <a:spcAft>
                <a:spcPts val="200"/>
              </a:spcAft>
            </a:pPr>
            <a:r>
              <a:rPr sz="1140" b="1" i="0">
                <a:solidFill>
                  <a:srgbClr val="123A5F"/>
                </a:solidFill>
                <a:latin typeface="Aptos"/>
              </a:rPr>
              <a:t>Map an ORDINARY change, not the heroic one</a:t>
            </a:r>
          </a:p>
        </p:txBody>
      </p:sp>
      <p:sp>
        <p:nvSpPr>
          <p:cNvPr id="22" name="TextBox 21"/>
          <p:cNvSpPr txBox="1"/>
          <p:nvPr/>
        </p:nvSpPr>
        <p:spPr>
          <a:xfrm>
            <a:off x="969264" y="5159044"/>
            <a:ext cx="10543032" cy="208483"/>
          </a:xfrm>
          <a:prstGeom prst="rect">
            <a:avLst/>
          </a:prstGeom>
          <a:noFill/>
        </p:spPr>
        <p:txBody>
          <a:bodyPr wrap="square" lIns="73152" rIns="73152" tIns="36576" bIns="36576" anchor="t">
            <a:spAutoFit/>
          </a:bodyPr>
          <a:lstStyle/>
          <a:p>
            <a:pPr algn="l">
              <a:lnSpc>
                <a:spcPct val="92000"/>
              </a:lnSpc>
              <a:spcAft>
                <a:spcPts val="200"/>
              </a:spcAft>
            </a:pPr>
            <a:r>
              <a:rPr sz="970" b="0" i="0">
                <a:solidFill>
                  <a:srgbClr val="5A6570"/>
                </a:solidFill>
                <a:latin typeface="Aptos"/>
              </a:rPr>
              <a:t>And avoid core banking or a vendor package release for your first map — different economics</a:t>
            </a:r>
          </a:p>
        </p:txBody>
      </p:sp>
      <p:sp>
        <p:nvSpPr>
          <p:cNvPr id="23" name="TextBox 22"/>
          <p:cNvSpPr txBox="1"/>
          <p:nvPr/>
        </p:nvSpPr>
        <p:spPr>
          <a:xfrm>
            <a:off x="658368" y="5596128"/>
            <a:ext cx="10872216" cy="256032"/>
          </a:xfrm>
          <a:prstGeom prst="rect">
            <a:avLst/>
          </a:prstGeom>
          <a:noFill/>
        </p:spPr>
        <p:txBody>
          <a:bodyPr wrap="square" lIns="73152" rIns="73152" tIns="36576" bIns="36576" anchor="t">
            <a:spAutoFit/>
          </a:bodyPr>
          <a:lstStyle/>
          <a:p>
            <a:pPr algn="l">
              <a:lnSpc>
                <a:spcPct val="92000"/>
              </a:lnSpc>
              <a:spcAft>
                <a:spcPts val="200"/>
              </a:spcAft>
            </a:pPr>
            <a:r>
              <a:rPr sz="950" b="1" i="1">
                <a:solidFill>
                  <a:srgbClr val="D2760D"/>
                </a:solidFill>
                <a:latin typeface="Aptos"/>
              </a:rPr>
              <a:t>Appendix A §A.1 · Lab 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5</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Measurement &amp; Teams</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What to measure, and how to organise around it</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four DORA metrics</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Team topologies</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Anti-patterns</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toolchain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9 §9.2 — INTRODUCED TODAY</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The four DORA metrics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207007" y="1905701"/>
            <a:ext cx="4663440" cy="1675819"/>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1389888" y="1987447"/>
            <a:ext cx="4297680"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17A69"/>
                </a:solidFill>
                <a:latin typeface="Aptos"/>
              </a:rPr>
              <a:t>THROUGHPUT  (speed)</a:t>
            </a:r>
          </a:p>
        </p:txBody>
      </p:sp>
      <p:sp>
        <p:nvSpPr>
          <p:cNvPr id="10" name="TextBox 9"/>
          <p:cNvSpPr txBox="1"/>
          <p:nvPr/>
        </p:nvSpPr>
        <p:spPr>
          <a:xfrm>
            <a:off x="1389888" y="2306263"/>
            <a:ext cx="4297680" cy="1144463"/>
          </a:xfrm>
          <a:prstGeom prst="rect">
            <a:avLst/>
          </a:prstGeom>
          <a:noFill/>
        </p:spPr>
        <p:txBody>
          <a:bodyPr wrap="square" lIns="73152" rIns="73152" tIns="36576" bIns="36576" anchor="t">
            <a:spAutoFit/>
          </a:bodyPr>
          <a:lstStyle/>
          <a:p>
            <a:pPr algn="l">
              <a:lnSpc>
                <a:spcPct val="105000"/>
              </a:lnSpc>
              <a:spcAft>
                <a:spcPts val="200"/>
              </a:spcAft>
            </a:pPr>
            <a:r>
              <a:rPr sz="1200" b="0" i="0">
                <a:solidFill>
                  <a:srgbClr val="123A5F"/>
                </a:solidFill>
                <a:latin typeface="Aptos"/>
              </a:rPr>
              <a:t>1 · Deployment frequency</a:t>
            </a:r>
          </a:p>
          <a:p>
            <a:pPr algn="l">
              <a:lnSpc>
                <a:spcPct val="105000"/>
              </a:lnSpc>
              <a:spcAft>
                <a:spcPts val="200"/>
              </a:spcAft>
            </a:pPr>
            <a:r>
              <a:rPr sz="1200" b="0" i="0">
                <a:solidFill>
                  <a:srgbClr val="123A5F"/>
                </a:solidFill>
                <a:latin typeface="Aptos"/>
              </a:rPr>
              <a:t>     How often you deploy to production</a:t>
            </a:r>
          </a:p>
          <a:p>
            <a:pPr algn="l">
              <a:lnSpc>
                <a:spcPct val="105000"/>
              </a:lnSpc>
              <a:spcAft>
                <a:spcPts val="200"/>
              </a:spcAft>
            </a:pPr>
            <a:r>
              <a:rPr sz="1200" b="0" i="0">
                <a:solidFill>
                  <a:srgbClr val="123A5F"/>
                </a:solidFill>
                <a:latin typeface="Aptos"/>
              </a:rPr>
              <a:t/>
            </a:r>
          </a:p>
          <a:p>
            <a:pPr algn="l">
              <a:lnSpc>
                <a:spcPct val="105000"/>
              </a:lnSpc>
              <a:spcAft>
                <a:spcPts val="200"/>
              </a:spcAft>
            </a:pPr>
            <a:r>
              <a:rPr sz="1200" b="0" i="0">
                <a:solidFill>
                  <a:srgbClr val="123A5F"/>
                </a:solidFill>
                <a:latin typeface="Aptos"/>
              </a:rPr>
              <a:t>2 · Lead time for change</a:t>
            </a:r>
          </a:p>
          <a:p>
            <a:pPr algn="l">
              <a:lnSpc>
                <a:spcPct val="105000"/>
              </a:lnSpc>
              <a:spcAft>
                <a:spcPts val="200"/>
              </a:spcAft>
            </a:pPr>
            <a:r>
              <a:rPr sz="1200" b="0" i="0">
                <a:solidFill>
                  <a:srgbClr val="123A5F"/>
                </a:solidFill>
                <a:latin typeface="Aptos"/>
              </a:rPr>
              <a:t>     Commit → running in production</a:t>
            </a:r>
          </a:p>
        </p:txBody>
      </p:sp>
      <p:sp>
        <p:nvSpPr>
          <p:cNvPr id="11" name="Rectangle 10"/>
          <p:cNvSpPr/>
          <p:nvPr/>
        </p:nvSpPr>
        <p:spPr>
          <a:xfrm>
            <a:off x="6318504" y="1905701"/>
            <a:ext cx="4663440" cy="1675819"/>
          </a:xfrm>
          <a:prstGeom prst="rect">
            <a:avLst/>
          </a:prstGeom>
          <a:solidFill>
            <a:srgbClr val="EDF4EA"/>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6501384" y="1987447"/>
            <a:ext cx="4297680" cy="261591"/>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3E7D32"/>
                </a:solidFill>
                <a:latin typeface="Aptos"/>
              </a:rPr>
              <a:t>STABILITY  (quality)</a:t>
            </a:r>
          </a:p>
        </p:txBody>
      </p:sp>
      <p:sp>
        <p:nvSpPr>
          <p:cNvPr id="13" name="TextBox 12"/>
          <p:cNvSpPr txBox="1"/>
          <p:nvPr/>
        </p:nvSpPr>
        <p:spPr>
          <a:xfrm>
            <a:off x="6501384" y="2306263"/>
            <a:ext cx="4297680" cy="1144463"/>
          </a:xfrm>
          <a:prstGeom prst="rect">
            <a:avLst/>
          </a:prstGeom>
          <a:noFill/>
        </p:spPr>
        <p:txBody>
          <a:bodyPr wrap="square" lIns="73152" rIns="73152" tIns="36576" bIns="36576" anchor="t">
            <a:spAutoFit/>
          </a:bodyPr>
          <a:lstStyle/>
          <a:p>
            <a:pPr algn="l">
              <a:lnSpc>
                <a:spcPct val="105000"/>
              </a:lnSpc>
              <a:spcAft>
                <a:spcPts val="200"/>
              </a:spcAft>
            </a:pPr>
            <a:r>
              <a:rPr sz="1200" b="0" i="0">
                <a:solidFill>
                  <a:srgbClr val="123A5F"/>
                </a:solidFill>
                <a:latin typeface="Aptos"/>
              </a:rPr>
              <a:t>3 · Change failure rate</a:t>
            </a:r>
          </a:p>
          <a:p>
            <a:pPr algn="l">
              <a:lnSpc>
                <a:spcPct val="105000"/>
              </a:lnSpc>
              <a:spcAft>
                <a:spcPts val="200"/>
              </a:spcAft>
            </a:pPr>
            <a:r>
              <a:rPr sz="1200" b="0" i="0">
                <a:solidFill>
                  <a:srgbClr val="123A5F"/>
                </a:solidFill>
                <a:latin typeface="Aptos"/>
              </a:rPr>
              <a:t>     % of deploys needing remediation</a:t>
            </a:r>
          </a:p>
          <a:p>
            <a:pPr algn="l">
              <a:lnSpc>
                <a:spcPct val="105000"/>
              </a:lnSpc>
              <a:spcAft>
                <a:spcPts val="200"/>
              </a:spcAft>
            </a:pPr>
            <a:r>
              <a:rPr sz="1200" b="0" i="0">
                <a:solidFill>
                  <a:srgbClr val="123A5F"/>
                </a:solidFill>
                <a:latin typeface="Aptos"/>
              </a:rPr>
              <a:t/>
            </a:r>
          </a:p>
          <a:p>
            <a:pPr algn="l">
              <a:lnSpc>
                <a:spcPct val="105000"/>
              </a:lnSpc>
              <a:spcAft>
                <a:spcPts val="200"/>
              </a:spcAft>
            </a:pPr>
            <a:r>
              <a:rPr sz="1200" b="0" i="0">
                <a:solidFill>
                  <a:srgbClr val="123A5F"/>
                </a:solidFill>
                <a:latin typeface="Aptos"/>
              </a:rPr>
              <a:t>4 · Failed-deployment recovery</a:t>
            </a:r>
          </a:p>
          <a:p>
            <a:pPr algn="l">
              <a:lnSpc>
                <a:spcPct val="105000"/>
              </a:lnSpc>
              <a:spcAft>
                <a:spcPts val="200"/>
              </a:spcAft>
            </a:pPr>
            <a:r>
              <a:rPr sz="1200" b="0" i="0">
                <a:solidFill>
                  <a:srgbClr val="123A5F"/>
                </a:solidFill>
                <a:latin typeface="Aptos"/>
              </a:rPr>
              <a:t>     How long to restore service</a:t>
            </a:r>
          </a:p>
        </p:txBody>
      </p:sp>
      <p:sp>
        <p:nvSpPr>
          <p:cNvPr id="14" name="Right Arrow 13"/>
          <p:cNvSpPr/>
          <p:nvPr/>
        </p:nvSpPr>
        <p:spPr>
          <a:xfrm>
            <a:off x="6007607" y="2559679"/>
            <a:ext cx="502920" cy="343338"/>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007607" y="2968416"/>
            <a:ext cx="502920" cy="343338"/>
          </a:xfrm>
          <a:prstGeom prst="lef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810414"/>
            <a:ext cx="10872216" cy="637629"/>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841247" y="3892161"/>
            <a:ext cx="10506456" cy="490484"/>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FFFFFF"/>
                </a:solidFill>
                <a:latin typeface="Aptos"/>
              </a:rPr>
              <a:t>THE CENTRAL FINDING:  these do NOT trade off.  Elite performers are better at BOTH — because speed comes FROM the practices that create stability.</a:t>
            </a:r>
          </a:p>
        </p:txBody>
      </p:sp>
      <p:sp>
        <p:nvSpPr>
          <p:cNvPr id="18" name="TextBox 17"/>
          <p:cNvSpPr txBox="1"/>
          <p:nvPr/>
        </p:nvSpPr>
        <p:spPr>
          <a:xfrm>
            <a:off x="713232" y="4562490"/>
            <a:ext cx="1371600" cy="22889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
            </a:r>
          </a:p>
        </p:txBody>
      </p:sp>
      <p:sp>
        <p:nvSpPr>
          <p:cNvPr id="19" name="TextBox 18"/>
          <p:cNvSpPr txBox="1"/>
          <p:nvPr/>
        </p:nvSpPr>
        <p:spPr>
          <a:xfrm>
            <a:off x="2084831" y="4562490"/>
            <a:ext cx="2377440" cy="22889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Deploy freq.</a:t>
            </a:r>
          </a:p>
        </p:txBody>
      </p:sp>
      <p:sp>
        <p:nvSpPr>
          <p:cNvPr id="20" name="TextBox 19"/>
          <p:cNvSpPr txBox="1"/>
          <p:nvPr/>
        </p:nvSpPr>
        <p:spPr>
          <a:xfrm>
            <a:off x="4462272" y="4562490"/>
            <a:ext cx="2286000" cy="22889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Lead time</a:t>
            </a:r>
          </a:p>
        </p:txBody>
      </p:sp>
      <p:sp>
        <p:nvSpPr>
          <p:cNvPr id="21" name="TextBox 20"/>
          <p:cNvSpPr txBox="1"/>
          <p:nvPr/>
        </p:nvSpPr>
        <p:spPr>
          <a:xfrm>
            <a:off x="6748272" y="4562490"/>
            <a:ext cx="2103120" cy="22889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Change fail</a:t>
            </a:r>
          </a:p>
        </p:txBody>
      </p:sp>
      <p:sp>
        <p:nvSpPr>
          <p:cNvPr id="22" name="TextBox 21"/>
          <p:cNvSpPr txBox="1"/>
          <p:nvPr/>
        </p:nvSpPr>
        <p:spPr>
          <a:xfrm>
            <a:off x="8851392" y="4562490"/>
            <a:ext cx="2377440" cy="22889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Recovery</a:t>
            </a:r>
          </a:p>
        </p:txBody>
      </p:sp>
      <p:sp>
        <p:nvSpPr>
          <p:cNvPr id="23" name="Rectangle 22"/>
          <p:cNvSpPr/>
          <p:nvPr/>
        </p:nvSpPr>
        <p:spPr>
          <a:xfrm>
            <a:off x="658368" y="4791382"/>
            <a:ext cx="10872216" cy="253416"/>
          </a:xfrm>
          <a:prstGeom prst="rect">
            <a:avLst/>
          </a:prstGeom>
          <a:solidFill>
            <a:srgbClr val="FFFFFF"/>
          </a:solidFill>
          <a:ln w="635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Rectangle 23"/>
          <p:cNvSpPr/>
          <p:nvPr/>
        </p:nvSpPr>
        <p:spPr>
          <a:xfrm>
            <a:off x="658368" y="4791382"/>
            <a:ext cx="64008" cy="253416"/>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86384" y="4803644"/>
            <a:ext cx="1225296" cy="228892"/>
          </a:xfrm>
          <a:prstGeom prst="rect">
            <a:avLst/>
          </a:prstGeom>
          <a:noFill/>
        </p:spPr>
        <p:txBody>
          <a:bodyPr wrap="square" lIns="73152" rIns="73152" tIns="36576" bIns="36576" anchor="ctr">
            <a:spAutoFit/>
          </a:bodyPr>
          <a:lstStyle/>
          <a:p>
            <a:pPr algn="l">
              <a:lnSpc>
                <a:spcPct val="92000"/>
              </a:lnSpc>
              <a:spcAft>
                <a:spcPts val="200"/>
              </a:spcAft>
            </a:pPr>
            <a:r>
              <a:rPr sz="1050" b="1" i="0">
                <a:solidFill>
                  <a:srgbClr val="3E7D32"/>
                </a:solidFill>
                <a:latin typeface="Aptos"/>
              </a:rPr>
              <a:t>Elite</a:t>
            </a:r>
          </a:p>
        </p:txBody>
      </p:sp>
      <p:sp>
        <p:nvSpPr>
          <p:cNvPr id="26" name="TextBox 25"/>
          <p:cNvSpPr txBox="1"/>
          <p:nvPr/>
        </p:nvSpPr>
        <p:spPr>
          <a:xfrm>
            <a:off x="2157984" y="4803644"/>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On demand</a:t>
            </a:r>
          </a:p>
        </p:txBody>
      </p:sp>
      <p:sp>
        <p:nvSpPr>
          <p:cNvPr id="27" name="TextBox 26"/>
          <p:cNvSpPr txBox="1"/>
          <p:nvPr/>
        </p:nvSpPr>
        <p:spPr>
          <a:xfrm>
            <a:off x="4535424" y="4803644"/>
            <a:ext cx="213969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&lt; 1 hour</a:t>
            </a:r>
          </a:p>
        </p:txBody>
      </p:sp>
      <p:sp>
        <p:nvSpPr>
          <p:cNvPr id="28" name="TextBox 27"/>
          <p:cNvSpPr txBox="1"/>
          <p:nvPr/>
        </p:nvSpPr>
        <p:spPr>
          <a:xfrm>
            <a:off x="6821424" y="4803644"/>
            <a:ext cx="1956815"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0–15 %</a:t>
            </a:r>
          </a:p>
        </p:txBody>
      </p:sp>
      <p:sp>
        <p:nvSpPr>
          <p:cNvPr id="29" name="TextBox 28"/>
          <p:cNvSpPr txBox="1"/>
          <p:nvPr/>
        </p:nvSpPr>
        <p:spPr>
          <a:xfrm>
            <a:off x="8924544" y="4803644"/>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&lt; 1 hour</a:t>
            </a:r>
          </a:p>
        </p:txBody>
      </p:sp>
      <p:sp>
        <p:nvSpPr>
          <p:cNvPr id="30" name="Rectangle 29"/>
          <p:cNvSpPr/>
          <p:nvPr/>
        </p:nvSpPr>
        <p:spPr>
          <a:xfrm>
            <a:off x="658368" y="5061149"/>
            <a:ext cx="10872216" cy="253416"/>
          </a:xfrm>
          <a:prstGeom prst="rect">
            <a:avLst/>
          </a:prstGeom>
          <a:solidFill>
            <a:srgbClr val="FFFFFF"/>
          </a:solidFill>
          <a:ln w="635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Rectangle 30"/>
          <p:cNvSpPr/>
          <p:nvPr/>
        </p:nvSpPr>
        <p:spPr>
          <a:xfrm>
            <a:off x="658368" y="5061149"/>
            <a:ext cx="64008" cy="253416"/>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2" name="TextBox 31"/>
          <p:cNvSpPr txBox="1"/>
          <p:nvPr/>
        </p:nvSpPr>
        <p:spPr>
          <a:xfrm>
            <a:off x="786384" y="5073411"/>
            <a:ext cx="1225296" cy="228892"/>
          </a:xfrm>
          <a:prstGeom prst="rect">
            <a:avLst/>
          </a:prstGeom>
          <a:noFill/>
        </p:spPr>
        <p:txBody>
          <a:bodyPr wrap="square" lIns="73152" rIns="73152" tIns="36576" bIns="36576" anchor="ctr">
            <a:spAutoFit/>
          </a:bodyPr>
          <a:lstStyle/>
          <a:p>
            <a:pPr algn="l">
              <a:lnSpc>
                <a:spcPct val="92000"/>
              </a:lnSpc>
              <a:spcAft>
                <a:spcPts val="200"/>
              </a:spcAft>
            </a:pPr>
            <a:r>
              <a:rPr sz="1050" b="1" i="0">
                <a:solidFill>
                  <a:srgbClr val="29ABE2"/>
                </a:solidFill>
                <a:latin typeface="Aptos"/>
              </a:rPr>
              <a:t>High</a:t>
            </a:r>
          </a:p>
        </p:txBody>
      </p:sp>
      <p:sp>
        <p:nvSpPr>
          <p:cNvPr id="33" name="TextBox 32"/>
          <p:cNvSpPr txBox="1"/>
          <p:nvPr/>
        </p:nvSpPr>
        <p:spPr>
          <a:xfrm>
            <a:off x="2157984" y="5073411"/>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Weekly–monthly</a:t>
            </a:r>
          </a:p>
        </p:txBody>
      </p:sp>
      <p:sp>
        <p:nvSpPr>
          <p:cNvPr id="34" name="TextBox 33"/>
          <p:cNvSpPr txBox="1"/>
          <p:nvPr/>
        </p:nvSpPr>
        <p:spPr>
          <a:xfrm>
            <a:off x="4535424" y="5073411"/>
            <a:ext cx="213969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1 day–1 week</a:t>
            </a:r>
          </a:p>
        </p:txBody>
      </p:sp>
      <p:sp>
        <p:nvSpPr>
          <p:cNvPr id="35" name="TextBox 34"/>
          <p:cNvSpPr txBox="1"/>
          <p:nvPr/>
        </p:nvSpPr>
        <p:spPr>
          <a:xfrm>
            <a:off x="6821424" y="5073411"/>
            <a:ext cx="1956815"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16–30 %</a:t>
            </a:r>
          </a:p>
        </p:txBody>
      </p:sp>
      <p:sp>
        <p:nvSpPr>
          <p:cNvPr id="36" name="TextBox 35"/>
          <p:cNvSpPr txBox="1"/>
          <p:nvPr/>
        </p:nvSpPr>
        <p:spPr>
          <a:xfrm>
            <a:off x="8924544" y="5073411"/>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&lt; 1 day</a:t>
            </a:r>
          </a:p>
        </p:txBody>
      </p:sp>
      <p:sp>
        <p:nvSpPr>
          <p:cNvPr id="37" name="Rectangle 36"/>
          <p:cNvSpPr/>
          <p:nvPr/>
        </p:nvSpPr>
        <p:spPr>
          <a:xfrm>
            <a:off x="658368" y="5330915"/>
            <a:ext cx="10872216" cy="253416"/>
          </a:xfrm>
          <a:prstGeom prst="rect">
            <a:avLst/>
          </a:prstGeom>
          <a:solidFill>
            <a:srgbClr val="FFFFFF"/>
          </a:solidFill>
          <a:ln w="635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8" name="Rectangle 37"/>
          <p:cNvSpPr/>
          <p:nvPr/>
        </p:nvSpPr>
        <p:spPr>
          <a:xfrm>
            <a:off x="658368" y="5330915"/>
            <a:ext cx="64008" cy="253416"/>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786384" y="5343177"/>
            <a:ext cx="1225296" cy="228892"/>
          </a:xfrm>
          <a:prstGeom prst="rect">
            <a:avLst/>
          </a:prstGeom>
          <a:noFill/>
        </p:spPr>
        <p:txBody>
          <a:bodyPr wrap="square" lIns="73152" rIns="73152" tIns="36576" bIns="36576" anchor="ctr">
            <a:spAutoFit/>
          </a:bodyPr>
          <a:lstStyle/>
          <a:p>
            <a:pPr algn="l">
              <a:lnSpc>
                <a:spcPct val="92000"/>
              </a:lnSpc>
              <a:spcAft>
                <a:spcPts val="200"/>
              </a:spcAft>
            </a:pPr>
            <a:r>
              <a:rPr sz="1050" b="1" i="0">
                <a:solidFill>
                  <a:srgbClr val="D2760D"/>
                </a:solidFill>
                <a:latin typeface="Aptos"/>
              </a:rPr>
              <a:t>Medium</a:t>
            </a:r>
          </a:p>
        </p:txBody>
      </p:sp>
      <p:sp>
        <p:nvSpPr>
          <p:cNvPr id="40" name="TextBox 39"/>
          <p:cNvSpPr txBox="1"/>
          <p:nvPr/>
        </p:nvSpPr>
        <p:spPr>
          <a:xfrm>
            <a:off x="2157984" y="5343177"/>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Monthly–6 mo</a:t>
            </a:r>
          </a:p>
        </p:txBody>
      </p:sp>
      <p:sp>
        <p:nvSpPr>
          <p:cNvPr id="41" name="TextBox 40"/>
          <p:cNvSpPr txBox="1"/>
          <p:nvPr/>
        </p:nvSpPr>
        <p:spPr>
          <a:xfrm>
            <a:off x="4535424" y="5343177"/>
            <a:ext cx="213969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1–6 months</a:t>
            </a:r>
          </a:p>
        </p:txBody>
      </p:sp>
      <p:sp>
        <p:nvSpPr>
          <p:cNvPr id="42" name="TextBox 41"/>
          <p:cNvSpPr txBox="1"/>
          <p:nvPr/>
        </p:nvSpPr>
        <p:spPr>
          <a:xfrm>
            <a:off x="6821424" y="5343177"/>
            <a:ext cx="1956815"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16–30 %</a:t>
            </a:r>
          </a:p>
        </p:txBody>
      </p:sp>
      <p:sp>
        <p:nvSpPr>
          <p:cNvPr id="43" name="TextBox 42"/>
          <p:cNvSpPr txBox="1"/>
          <p:nvPr/>
        </p:nvSpPr>
        <p:spPr>
          <a:xfrm>
            <a:off x="8924544" y="5343177"/>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1 day–1 week</a:t>
            </a:r>
          </a:p>
        </p:txBody>
      </p:sp>
      <p:sp>
        <p:nvSpPr>
          <p:cNvPr id="44" name="Rectangle 43"/>
          <p:cNvSpPr/>
          <p:nvPr/>
        </p:nvSpPr>
        <p:spPr>
          <a:xfrm>
            <a:off x="658368" y="5600681"/>
            <a:ext cx="10872216" cy="253416"/>
          </a:xfrm>
          <a:prstGeom prst="rect">
            <a:avLst/>
          </a:prstGeom>
          <a:solidFill>
            <a:srgbClr val="FFFFFF"/>
          </a:solidFill>
          <a:ln w="6350">
            <a:solidFill>
              <a:srgbClr val="DDE2E7"/>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5" name="Rectangle 44"/>
          <p:cNvSpPr/>
          <p:nvPr/>
        </p:nvSpPr>
        <p:spPr>
          <a:xfrm>
            <a:off x="658368" y="5600681"/>
            <a:ext cx="64008" cy="253416"/>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6" name="TextBox 45"/>
          <p:cNvSpPr txBox="1"/>
          <p:nvPr/>
        </p:nvSpPr>
        <p:spPr>
          <a:xfrm>
            <a:off x="786384" y="5612943"/>
            <a:ext cx="1225296" cy="228892"/>
          </a:xfrm>
          <a:prstGeom prst="rect">
            <a:avLst/>
          </a:prstGeom>
          <a:noFill/>
        </p:spPr>
        <p:txBody>
          <a:bodyPr wrap="square" lIns="73152" rIns="73152" tIns="36576" bIns="36576" anchor="ctr">
            <a:spAutoFit/>
          </a:bodyPr>
          <a:lstStyle/>
          <a:p>
            <a:pPr algn="l">
              <a:lnSpc>
                <a:spcPct val="92000"/>
              </a:lnSpc>
              <a:spcAft>
                <a:spcPts val="200"/>
              </a:spcAft>
            </a:pPr>
            <a:r>
              <a:rPr sz="1050" b="1" i="0">
                <a:solidFill>
                  <a:srgbClr val="B3261E"/>
                </a:solidFill>
                <a:latin typeface="Aptos"/>
              </a:rPr>
              <a:t>Low</a:t>
            </a:r>
          </a:p>
        </p:txBody>
      </p:sp>
      <p:sp>
        <p:nvSpPr>
          <p:cNvPr id="47" name="TextBox 46"/>
          <p:cNvSpPr txBox="1"/>
          <p:nvPr/>
        </p:nvSpPr>
        <p:spPr>
          <a:xfrm>
            <a:off x="2157984" y="5612943"/>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&gt; 6 months</a:t>
            </a:r>
          </a:p>
        </p:txBody>
      </p:sp>
      <p:sp>
        <p:nvSpPr>
          <p:cNvPr id="48" name="TextBox 47"/>
          <p:cNvSpPr txBox="1"/>
          <p:nvPr/>
        </p:nvSpPr>
        <p:spPr>
          <a:xfrm>
            <a:off x="4535424" y="5612943"/>
            <a:ext cx="213969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&gt; 6 months</a:t>
            </a:r>
          </a:p>
        </p:txBody>
      </p:sp>
      <p:sp>
        <p:nvSpPr>
          <p:cNvPr id="49" name="TextBox 48"/>
          <p:cNvSpPr txBox="1"/>
          <p:nvPr/>
        </p:nvSpPr>
        <p:spPr>
          <a:xfrm>
            <a:off x="6821424" y="5612943"/>
            <a:ext cx="1956815"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16–30 %</a:t>
            </a:r>
          </a:p>
        </p:txBody>
      </p:sp>
      <p:sp>
        <p:nvSpPr>
          <p:cNvPr id="50" name="TextBox 49"/>
          <p:cNvSpPr txBox="1"/>
          <p:nvPr/>
        </p:nvSpPr>
        <p:spPr>
          <a:xfrm>
            <a:off x="8924544" y="5612943"/>
            <a:ext cx="2231136" cy="228892"/>
          </a:xfrm>
          <a:prstGeom prst="rect">
            <a:avLst/>
          </a:prstGeom>
          <a:noFill/>
        </p:spPr>
        <p:txBody>
          <a:bodyPr wrap="square" lIns="73152" rIns="73152" tIns="36576" bIns="36576" anchor="ctr">
            <a:spAutoFit/>
          </a:bodyPr>
          <a:lstStyle/>
          <a:p>
            <a:pPr algn="l">
              <a:lnSpc>
                <a:spcPct val="92000"/>
              </a:lnSpc>
              <a:spcAft>
                <a:spcPts val="200"/>
              </a:spcAft>
            </a:pPr>
            <a:r>
              <a:rPr sz="1050" b="0" i="0">
                <a:solidFill>
                  <a:srgbClr val="123A5F"/>
                </a:solidFill>
                <a:latin typeface="Aptos"/>
              </a:rPr>
              <a:t>&gt; 6 months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9 §9.2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Using DORA metrics well — and the ways teams ruin them</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5280660" cy="3447288"/>
          </a:xfrm>
          <a:prstGeom prst="rect">
            <a:avLst/>
          </a:prstGeom>
          <a:solidFill>
            <a:srgbClr val="EDF4EA"/>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280660" cy="402336"/>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804672"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USE THEM FOR</a:t>
            </a:r>
          </a:p>
        </p:txBody>
      </p:sp>
      <p:sp>
        <p:nvSpPr>
          <p:cNvPr id="11" name="TextBox 10"/>
          <p:cNvSpPr txBox="1"/>
          <p:nvPr/>
        </p:nvSpPr>
        <p:spPr>
          <a:xfrm>
            <a:off x="804672" y="231800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12" name="TextBox 11"/>
          <p:cNvSpPr txBox="1"/>
          <p:nvPr/>
        </p:nvSpPr>
        <p:spPr>
          <a:xfrm>
            <a:off x="1069848" y="231800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Trending ONE team over time</a:t>
            </a:r>
          </a:p>
        </p:txBody>
      </p:sp>
      <p:sp>
        <p:nvSpPr>
          <p:cNvPr id="13" name="TextBox 12"/>
          <p:cNvSpPr txBox="1"/>
          <p:nvPr/>
        </p:nvSpPr>
        <p:spPr>
          <a:xfrm>
            <a:off x="804672" y="2980944"/>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14" name="TextBox 13"/>
          <p:cNvSpPr txBox="1"/>
          <p:nvPr/>
        </p:nvSpPr>
        <p:spPr>
          <a:xfrm>
            <a:off x="1069848" y="2980944"/>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Finding the constraint in your own flow</a:t>
            </a:r>
          </a:p>
        </p:txBody>
      </p:sp>
      <p:sp>
        <p:nvSpPr>
          <p:cNvPr id="15" name="TextBox 14"/>
          <p:cNvSpPr txBox="1"/>
          <p:nvPr/>
        </p:nvSpPr>
        <p:spPr>
          <a:xfrm>
            <a:off x="804672" y="364388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16" name="TextBox 15"/>
          <p:cNvSpPr txBox="1"/>
          <p:nvPr/>
        </p:nvSpPr>
        <p:spPr>
          <a:xfrm>
            <a:off x="1069848" y="364388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Making improvement visible to leadership</a:t>
            </a:r>
          </a:p>
        </p:txBody>
      </p:sp>
      <p:sp>
        <p:nvSpPr>
          <p:cNvPr id="17" name="TextBox 16"/>
          <p:cNvSpPr txBox="1"/>
          <p:nvPr/>
        </p:nvSpPr>
        <p:spPr>
          <a:xfrm>
            <a:off x="804672" y="430682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3E7D32"/>
                </a:solidFill>
                <a:latin typeface="Aptos"/>
              </a:rPr>
              <a:t>✔</a:t>
            </a:r>
          </a:p>
        </p:txBody>
      </p:sp>
      <p:sp>
        <p:nvSpPr>
          <p:cNvPr id="18" name="TextBox 17"/>
          <p:cNvSpPr txBox="1"/>
          <p:nvPr/>
        </p:nvSpPr>
        <p:spPr>
          <a:xfrm>
            <a:off x="1069848" y="430682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Always reporting speed WITH stability</a:t>
            </a:r>
          </a:p>
        </p:txBody>
      </p:sp>
      <p:sp>
        <p:nvSpPr>
          <p:cNvPr id="19" name="Rectangle 18"/>
          <p:cNvSpPr/>
          <p:nvPr/>
        </p:nvSpPr>
        <p:spPr>
          <a:xfrm>
            <a:off x="6249924" y="1783080"/>
            <a:ext cx="5280660" cy="3447288"/>
          </a:xfrm>
          <a:prstGeom prst="rect">
            <a:avLst/>
          </a:prstGeom>
          <a:solidFill>
            <a:srgbClr val="FBEBEA"/>
          </a:solidFill>
          <a:ln w="952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Rectangle 19"/>
          <p:cNvSpPr/>
          <p:nvPr/>
        </p:nvSpPr>
        <p:spPr>
          <a:xfrm>
            <a:off x="6249924" y="1783080"/>
            <a:ext cx="5280660" cy="402336"/>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396228" y="1837943"/>
            <a:ext cx="5006340" cy="292608"/>
          </a:xfrm>
          <a:prstGeom prst="rect">
            <a:avLst/>
          </a:prstGeom>
          <a:noFill/>
        </p:spPr>
        <p:txBody>
          <a:bodyPr wrap="square" lIns="73152" rIns="73152" tIns="36576" bIns="36576" anchor="t">
            <a:spAutoFit/>
          </a:bodyPr>
          <a:lstStyle/>
          <a:p>
            <a:pPr algn="l">
              <a:lnSpc>
                <a:spcPct val="92000"/>
              </a:lnSpc>
              <a:spcAft>
                <a:spcPts val="200"/>
              </a:spcAft>
            </a:pPr>
            <a:r>
              <a:rPr sz="1250" b="1" i="0">
                <a:solidFill>
                  <a:srgbClr val="FFFFFF"/>
                </a:solidFill>
                <a:latin typeface="Aptos"/>
              </a:rPr>
              <a:t>NEVER</a:t>
            </a:r>
          </a:p>
        </p:txBody>
      </p:sp>
      <p:sp>
        <p:nvSpPr>
          <p:cNvPr id="22" name="TextBox 21"/>
          <p:cNvSpPr txBox="1"/>
          <p:nvPr/>
        </p:nvSpPr>
        <p:spPr>
          <a:xfrm>
            <a:off x="6396228" y="2318003"/>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B3261E"/>
                </a:solidFill>
                <a:latin typeface="Aptos"/>
              </a:rPr>
              <a:t>✗</a:t>
            </a:r>
          </a:p>
        </p:txBody>
      </p:sp>
      <p:sp>
        <p:nvSpPr>
          <p:cNvPr id="23" name="TextBox 22"/>
          <p:cNvSpPr txBox="1"/>
          <p:nvPr/>
        </p:nvSpPr>
        <p:spPr>
          <a:xfrm>
            <a:off x="6661404" y="2318003"/>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Ranking teams against each other</a:t>
            </a:r>
          </a:p>
        </p:txBody>
      </p:sp>
      <p:sp>
        <p:nvSpPr>
          <p:cNvPr id="24" name="TextBox 23"/>
          <p:cNvSpPr txBox="1"/>
          <p:nvPr/>
        </p:nvSpPr>
        <p:spPr>
          <a:xfrm>
            <a:off x="6396228" y="2980944"/>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B3261E"/>
                </a:solidFill>
                <a:latin typeface="Aptos"/>
              </a:rPr>
              <a:t>✗</a:t>
            </a:r>
          </a:p>
        </p:txBody>
      </p:sp>
      <p:sp>
        <p:nvSpPr>
          <p:cNvPr id="25" name="TextBox 24"/>
          <p:cNvSpPr txBox="1"/>
          <p:nvPr/>
        </p:nvSpPr>
        <p:spPr>
          <a:xfrm>
            <a:off x="6661404" y="2980944"/>
            <a:ext cx="4713732" cy="544639"/>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Making deployment frequency a target (Goodhart's Law)</a:t>
            </a:r>
          </a:p>
        </p:txBody>
      </p:sp>
      <p:sp>
        <p:nvSpPr>
          <p:cNvPr id="26" name="TextBox 25"/>
          <p:cNvSpPr txBox="1"/>
          <p:nvPr/>
        </p:nvSpPr>
        <p:spPr>
          <a:xfrm>
            <a:off x="6396228" y="3854767"/>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B3261E"/>
                </a:solidFill>
                <a:latin typeface="Aptos"/>
              </a:rPr>
              <a:t>✗</a:t>
            </a:r>
          </a:p>
        </p:txBody>
      </p:sp>
      <p:sp>
        <p:nvSpPr>
          <p:cNvPr id="27" name="TextBox 26"/>
          <p:cNvSpPr txBox="1"/>
          <p:nvPr/>
        </p:nvSpPr>
        <p:spPr>
          <a:xfrm>
            <a:off x="6661404" y="3854767"/>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Measuring individuals</a:t>
            </a:r>
          </a:p>
        </p:txBody>
      </p:sp>
      <p:sp>
        <p:nvSpPr>
          <p:cNvPr id="28" name="TextBox 27"/>
          <p:cNvSpPr txBox="1"/>
          <p:nvPr/>
        </p:nvSpPr>
        <p:spPr>
          <a:xfrm>
            <a:off x="6396228" y="4517707"/>
            <a:ext cx="237744" cy="274320"/>
          </a:xfrm>
          <a:prstGeom prst="rect">
            <a:avLst/>
          </a:prstGeom>
          <a:noFill/>
        </p:spPr>
        <p:txBody>
          <a:bodyPr wrap="square" lIns="73152" rIns="73152" tIns="36576" bIns="36576" anchor="t">
            <a:spAutoFit/>
          </a:bodyPr>
          <a:lstStyle/>
          <a:p>
            <a:pPr algn="l">
              <a:lnSpc>
                <a:spcPct val="92000"/>
              </a:lnSpc>
              <a:spcAft>
                <a:spcPts val="200"/>
              </a:spcAft>
            </a:pPr>
            <a:r>
              <a:rPr sz="1350" b="1" i="0">
                <a:solidFill>
                  <a:srgbClr val="B3261E"/>
                </a:solidFill>
                <a:latin typeface="Aptos"/>
              </a:rPr>
              <a:t>✗</a:t>
            </a:r>
          </a:p>
        </p:txBody>
      </p:sp>
      <p:sp>
        <p:nvSpPr>
          <p:cNvPr id="29" name="TextBox 28"/>
          <p:cNvSpPr txBox="1"/>
          <p:nvPr/>
        </p:nvSpPr>
        <p:spPr>
          <a:xfrm>
            <a:off x="6661404" y="4517707"/>
            <a:ext cx="4713732" cy="333756"/>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Reporting speed alone</a:t>
            </a:r>
          </a:p>
        </p:txBody>
      </p:sp>
      <p:sp>
        <p:nvSpPr>
          <p:cNvPr id="30" name="Rectangle 29"/>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804672" y="5404104"/>
            <a:ext cx="158374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GOODHART'S LAW</a:t>
            </a:r>
          </a:p>
        </p:txBody>
      </p:sp>
      <p:sp>
        <p:nvSpPr>
          <p:cNvPr id="32" name="TextBox 31"/>
          <p:cNvSpPr txBox="1"/>
          <p:nvPr/>
        </p:nvSpPr>
        <p:spPr>
          <a:xfrm>
            <a:off x="2379268" y="5394959"/>
            <a:ext cx="8986723"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"When a measure becomes a target, it ceases to be a good measure." Set deployment frequency as a target and teams will split one change into ten deploys and learn nothing.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§1.7 — SKELTON &amp; PAIS</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210" b="1" i="0">
                <a:solidFill>
                  <a:srgbClr val="123A5F"/>
                </a:solidFill>
                <a:latin typeface="Aptos Display"/>
              </a:rPr>
              <a:t>Team topologies — the four shapes that work</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2227295"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Team type</a:t>
            </a:r>
          </a:p>
        </p:txBody>
      </p:sp>
      <p:sp>
        <p:nvSpPr>
          <p:cNvPr id="10" name="TextBox 9"/>
          <p:cNvSpPr txBox="1"/>
          <p:nvPr/>
        </p:nvSpPr>
        <p:spPr>
          <a:xfrm>
            <a:off x="3141695" y="1828800"/>
            <a:ext cx="4184294"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Purpose</a:t>
            </a:r>
          </a:p>
        </p:txBody>
      </p:sp>
      <p:sp>
        <p:nvSpPr>
          <p:cNvPr id="11" name="TextBox 10"/>
          <p:cNvSpPr txBox="1"/>
          <p:nvPr/>
        </p:nvSpPr>
        <p:spPr>
          <a:xfrm>
            <a:off x="7490581" y="1828800"/>
            <a:ext cx="3966850"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Example in a bank</a:t>
            </a:r>
          </a:p>
        </p:txBody>
      </p:sp>
      <p:sp>
        <p:nvSpPr>
          <p:cNvPr id="12" name="Rectangle 11"/>
          <p:cNvSpPr/>
          <p:nvPr/>
        </p:nvSpPr>
        <p:spPr>
          <a:xfrm>
            <a:off x="658368" y="2167128"/>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2227295"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Stream-aligned</a:t>
            </a:r>
          </a:p>
        </p:txBody>
      </p:sp>
      <p:sp>
        <p:nvSpPr>
          <p:cNvPr id="14" name="TextBox 13"/>
          <p:cNvSpPr txBox="1"/>
          <p:nvPr/>
        </p:nvSpPr>
        <p:spPr>
          <a:xfrm>
            <a:off x="3141695" y="2185416"/>
            <a:ext cx="4184294"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Owns a slice of the business end to end. The default — most teams</a:t>
            </a:r>
          </a:p>
        </p:txBody>
      </p:sp>
      <p:sp>
        <p:nvSpPr>
          <p:cNvPr id="15" name="TextBox 14"/>
          <p:cNvSpPr txBox="1"/>
          <p:nvPr/>
        </p:nvSpPr>
        <p:spPr>
          <a:xfrm>
            <a:off x="7490581" y="2185416"/>
            <a:ext cx="3966850"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payments team owns payments code AND its production behaviour</a:t>
            </a:r>
          </a:p>
        </p:txBody>
      </p:sp>
      <p:sp>
        <p:nvSpPr>
          <p:cNvPr id="16" name="Rectangle 15"/>
          <p:cNvSpPr/>
          <p:nvPr/>
        </p:nvSpPr>
        <p:spPr>
          <a:xfrm>
            <a:off x="658368" y="2903220"/>
            <a:ext cx="10872216" cy="736092"/>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921508"/>
            <a:ext cx="2227295"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Platform</a:t>
            </a:r>
          </a:p>
        </p:txBody>
      </p:sp>
      <p:sp>
        <p:nvSpPr>
          <p:cNvPr id="18" name="TextBox 17"/>
          <p:cNvSpPr txBox="1"/>
          <p:nvPr/>
        </p:nvSpPr>
        <p:spPr>
          <a:xfrm>
            <a:off x="3141695" y="2921508"/>
            <a:ext cx="4184294"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Builds internal products that reduce the load on stream-aligned teams</a:t>
            </a:r>
          </a:p>
        </p:txBody>
      </p:sp>
      <p:sp>
        <p:nvSpPr>
          <p:cNvPr id="19" name="TextBox 18"/>
          <p:cNvSpPr txBox="1"/>
          <p:nvPr/>
        </p:nvSpPr>
        <p:spPr>
          <a:xfrm>
            <a:off x="7490581" y="2921508"/>
            <a:ext cx="3966850"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Paved-road CI templates, the cluster, the observability stack</a:t>
            </a:r>
          </a:p>
        </p:txBody>
      </p:sp>
      <p:sp>
        <p:nvSpPr>
          <p:cNvPr id="20" name="Rectangle 19"/>
          <p:cNvSpPr/>
          <p:nvPr/>
        </p:nvSpPr>
        <p:spPr>
          <a:xfrm>
            <a:off x="658368" y="3639311"/>
            <a:ext cx="10872216" cy="736092"/>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657599"/>
            <a:ext cx="2227295"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Enabling</a:t>
            </a:r>
          </a:p>
        </p:txBody>
      </p:sp>
      <p:sp>
        <p:nvSpPr>
          <p:cNvPr id="22" name="TextBox 21"/>
          <p:cNvSpPr txBox="1"/>
          <p:nvPr/>
        </p:nvSpPr>
        <p:spPr>
          <a:xfrm>
            <a:off x="3141695" y="3657599"/>
            <a:ext cx="4184294"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Coaches a team to acquire a capability, then leaves</a:t>
            </a:r>
          </a:p>
        </p:txBody>
      </p:sp>
      <p:sp>
        <p:nvSpPr>
          <p:cNvPr id="23" name="TextBox 22"/>
          <p:cNvSpPr txBox="1"/>
          <p:nvPr/>
        </p:nvSpPr>
        <p:spPr>
          <a:xfrm>
            <a:off x="7490581" y="3657599"/>
            <a:ext cx="3966850"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test-automation coach embedded for six weeks</a:t>
            </a:r>
          </a:p>
        </p:txBody>
      </p:sp>
      <p:sp>
        <p:nvSpPr>
          <p:cNvPr id="24" name="Rectangle 23"/>
          <p:cNvSpPr/>
          <p:nvPr/>
        </p:nvSpPr>
        <p:spPr>
          <a:xfrm>
            <a:off x="658368" y="4375403"/>
            <a:ext cx="10872216" cy="736092"/>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4393691"/>
            <a:ext cx="2227295" cy="69951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Complicated-subsystem</a:t>
            </a:r>
          </a:p>
        </p:txBody>
      </p:sp>
      <p:sp>
        <p:nvSpPr>
          <p:cNvPr id="26" name="TextBox 25"/>
          <p:cNvSpPr txBox="1"/>
          <p:nvPr/>
        </p:nvSpPr>
        <p:spPr>
          <a:xfrm>
            <a:off x="3141695" y="4393691"/>
            <a:ext cx="4184294"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Owns a component needing deep specialist knowledge</a:t>
            </a:r>
          </a:p>
        </p:txBody>
      </p:sp>
      <p:sp>
        <p:nvSpPr>
          <p:cNvPr id="27" name="TextBox 26"/>
          <p:cNvSpPr txBox="1"/>
          <p:nvPr/>
        </p:nvSpPr>
        <p:spPr>
          <a:xfrm>
            <a:off x="7490581" y="4393691"/>
            <a:ext cx="3966850" cy="69951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pricing or fraud-scoring model</a:t>
            </a:r>
          </a:p>
        </p:txBody>
      </p:sp>
      <p:sp>
        <p:nvSpPr>
          <p:cNvPr id="28" name="Rectangle 27"/>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804672" y="5404104"/>
            <a:ext cx="1852574"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INTERACTION MODES</a:t>
            </a:r>
          </a:p>
        </p:txBody>
      </p:sp>
      <p:sp>
        <p:nvSpPr>
          <p:cNvPr id="30" name="TextBox 29"/>
          <p:cNvSpPr txBox="1"/>
          <p:nvPr/>
        </p:nvSpPr>
        <p:spPr>
          <a:xfrm>
            <a:off x="2648102" y="5394959"/>
            <a:ext cx="8717889"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Collaboration (high-bandwidth, temporary, for discovery) · X-as-a-Service (low-bandwidth, predictable consumption) · Facilitating (one team helps another improve).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§1.7 · MODULE 9</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Common DevOps anti-patterns — score yourself honestly</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2758046"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Anti-pattern</a:t>
            </a:r>
          </a:p>
        </p:txBody>
      </p:sp>
      <p:sp>
        <p:nvSpPr>
          <p:cNvPr id="10" name="TextBox 9"/>
          <p:cNvSpPr txBox="1"/>
          <p:nvPr/>
        </p:nvSpPr>
        <p:spPr>
          <a:xfrm>
            <a:off x="3672446" y="1828800"/>
            <a:ext cx="4044007"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What it looks like</a:t>
            </a:r>
          </a:p>
        </p:txBody>
      </p:sp>
      <p:sp>
        <p:nvSpPr>
          <p:cNvPr id="11" name="TextBox 10"/>
          <p:cNvSpPr txBox="1"/>
          <p:nvPr/>
        </p:nvSpPr>
        <p:spPr>
          <a:xfrm>
            <a:off x="7881046" y="1828800"/>
            <a:ext cx="3576385"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First step out</a:t>
            </a:r>
          </a:p>
        </p:txBody>
      </p:sp>
      <p:sp>
        <p:nvSpPr>
          <p:cNvPr id="12" name="Rectangle 11"/>
          <p:cNvSpPr/>
          <p:nvPr/>
        </p:nvSpPr>
        <p:spPr>
          <a:xfrm>
            <a:off x="658368" y="2167128"/>
            <a:ext cx="10872216" cy="556151"/>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2758046" cy="51957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DevOps team as a third silo</a:t>
            </a:r>
          </a:p>
        </p:txBody>
      </p:sp>
      <p:sp>
        <p:nvSpPr>
          <p:cNvPr id="14" name="TextBox 13"/>
          <p:cNvSpPr txBox="1"/>
          <p:nvPr/>
        </p:nvSpPr>
        <p:spPr>
          <a:xfrm>
            <a:off x="3672446" y="2185416"/>
            <a:ext cx="4044007"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new wall between Dev and Ops, plus a translation layer</a:t>
            </a:r>
          </a:p>
        </p:txBody>
      </p:sp>
      <p:sp>
        <p:nvSpPr>
          <p:cNvPr id="15" name="TextBox 14"/>
          <p:cNvSpPr txBox="1"/>
          <p:nvPr/>
        </p:nvSpPr>
        <p:spPr>
          <a:xfrm>
            <a:off x="7881046" y="2185416"/>
            <a:ext cx="3576385"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Stream-aligned teams + a platform team</a:t>
            </a:r>
          </a:p>
        </p:txBody>
      </p:sp>
      <p:sp>
        <p:nvSpPr>
          <p:cNvPr id="16" name="Rectangle 15"/>
          <p:cNvSpPr/>
          <p:nvPr/>
        </p:nvSpPr>
        <p:spPr>
          <a:xfrm>
            <a:off x="658368" y="2723279"/>
            <a:ext cx="10872216" cy="556151"/>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741567"/>
            <a:ext cx="2758046" cy="51957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DevOps = tools</a:t>
            </a:r>
          </a:p>
        </p:txBody>
      </p:sp>
      <p:sp>
        <p:nvSpPr>
          <p:cNvPr id="18" name="TextBox 17"/>
          <p:cNvSpPr txBox="1"/>
          <p:nvPr/>
        </p:nvSpPr>
        <p:spPr>
          <a:xfrm>
            <a:off x="3672446" y="2741567"/>
            <a:ext cx="4044007"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Big licence spend, unchanged lead time</a:t>
            </a:r>
          </a:p>
        </p:txBody>
      </p:sp>
      <p:sp>
        <p:nvSpPr>
          <p:cNvPr id="19" name="TextBox 18"/>
          <p:cNvSpPr txBox="1"/>
          <p:nvPr/>
        </p:nvSpPr>
        <p:spPr>
          <a:xfrm>
            <a:off x="7881046" y="2741567"/>
            <a:ext cx="3576385"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Change the metrics and the incentives</a:t>
            </a:r>
          </a:p>
        </p:txBody>
      </p:sp>
      <p:sp>
        <p:nvSpPr>
          <p:cNvPr id="20" name="Rectangle 19"/>
          <p:cNvSpPr/>
          <p:nvPr/>
        </p:nvSpPr>
        <p:spPr>
          <a:xfrm>
            <a:off x="658368" y="3279430"/>
            <a:ext cx="10872216" cy="556151"/>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297718"/>
            <a:ext cx="2758046" cy="51957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SRE as renamed Ops</a:t>
            </a:r>
          </a:p>
        </p:txBody>
      </p:sp>
      <p:sp>
        <p:nvSpPr>
          <p:cNvPr id="22" name="TextBox 21"/>
          <p:cNvSpPr txBox="1"/>
          <p:nvPr/>
        </p:nvSpPr>
        <p:spPr>
          <a:xfrm>
            <a:off x="3672446" y="3297718"/>
            <a:ext cx="4044007"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Same team, same hand-off, new logo, no error budgets</a:t>
            </a:r>
          </a:p>
        </p:txBody>
      </p:sp>
      <p:sp>
        <p:nvSpPr>
          <p:cNvPr id="23" name="TextBox 22"/>
          <p:cNvSpPr txBox="1"/>
          <p:nvPr/>
        </p:nvSpPr>
        <p:spPr>
          <a:xfrm>
            <a:off x="7881046" y="3297718"/>
            <a:ext cx="3576385"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Error budgets agreed with the business</a:t>
            </a:r>
          </a:p>
        </p:txBody>
      </p:sp>
      <p:sp>
        <p:nvSpPr>
          <p:cNvPr id="24" name="Rectangle 23"/>
          <p:cNvSpPr/>
          <p:nvPr/>
        </p:nvSpPr>
        <p:spPr>
          <a:xfrm>
            <a:off x="658368" y="3835581"/>
            <a:ext cx="10872216" cy="556151"/>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853869"/>
            <a:ext cx="2758046" cy="51957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Automating a broken process</a:t>
            </a:r>
          </a:p>
        </p:txBody>
      </p:sp>
      <p:sp>
        <p:nvSpPr>
          <p:cNvPr id="26" name="TextBox 25"/>
          <p:cNvSpPr txBox="1"/>
          <p:nvPr/>
        </p:nvSpPr>
        <p:spPr>
          <a:xfrm>
            <a:off x="3672446" y="3853869"/>
            <a:ext cx="4044007"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Faster chaos, same outcomes</a:t>
            </a:r>
          </a:p>
        </p:txBody>
      </p:sp>
      <p:sp>
        <p:nvSpPr>
          <p:cNvPr id="27" name="TextBox 26"/>
          <p:cNvSpPr txBox="1"/>
          <p:nvPr/>
        </p:nvSpPr>
        <p:spPr>
          <a:xfrm>
            <a:off x="7881046" y="3853869"/>
            <a:ext cx="3576385"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Map the value stream first</a:t>
            </a:r>
          </a:p>
        </p:txBody>
      </p:sp>
      <p:sp>
        <p:nvSpPr>
          <p:cNvPr id="28" name="Rectangle 27"/>
          <p:cNvSpPr/>
          <p:nvPr/>
        </p:nvSpPr>
        <p:spPr>
          <a:xfrm>
            <a:off x="658368" y="4391732"/>
            <a:ext cx="10872216" cy="556151"/>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4410020"/>
            <a:ext cx="2758046" cy="51957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No tested rollback</a:t>
            </a:r>
          </a:p>
        </p:txBody>
      </p:sp>
      <p:sp>
        <p:nvSpPr>
          <p:cNvPr id="30" name="TextBox 29"/>
          <p:cNvSpPr txBox="1"/>
          <p:nvPr/>
        </p:nvSpPr>
        <p:spPr>
          <a:xfrm>
            <a:off x="3672446" y="4410020"/>
            <a:ext cx="4044007"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"We'll fix forward" — said during an outage</a:t>
            </a:r>
          </a:p>
        </p:txBody>
      </p:sp>
      <p:sp>
        <p:nvSpPr>
          <p:cNvPr id="31" name="TextBox 30"/>
          <p:cNvSpPr txBox="1"/>
          <p:nvPr/>
        </p:nvSpPr>
        <p:spPr>
          <a:xfrm>
            <a:off x="7881046" y="4410020"/>
            <a:ext cx="3576385"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Rehearse one this week</a:t>
            </a:r>
          </a:p>
        </p:txBody>
      </p:sp>
      <p:sp>
        <p:nvSpPr>
          <p:cNvPr id="32" name="Rectangle 31"/>
          <p:cNvSpPr/>
          <p:nvPr/>
        </p:nvSpPr>
        <p:spPr>
          <a:xfrm>
            <a:off x="658368" y="4947883"/>
            <a:ext cx="10872216" cy="348125"/>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966171"/>
            <a:ext cx="2758046" cy="311549"/>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Change freezes</a:t>
            </a:r>
          </a:p>
        </p:txBody>
      </p:sp>
      <p:sp>
        <p:nvSpPr>
          <p:cNvPr id="34" name="TextBox 33"/>
          <p:cNvSpPr txBox="1"/>
          <p:nvPr/>
        </p:nvSpPr>
        <p:spPr>
          <a:xfrm>
            <a:off x="3672446" y="4966171"/>
            <a:ext cx="4044007" cy="3115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Batched risk at the least-staffed time</a:t>
            </a:r>
          </a:p>
        </p:txBody>
      </p:sp>
      <p:sp>
        <p:nvSpPr>
          <p:cNvPr id="35" name="TextBox 34"/>
          <p:cNvSpPr txBox="1"/>
          <p:nvPr/>
        </p:nvSpPr>
        <p:spPr>
          <a:xfrm>
            <a:off x="7881046" y="4966171"/>
            <a:ext cx="3576385" cy="311549"/>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Risk-proportionate freezing</a:t>
            </a:r>
          </a:p>
        </p:txBody>
      </p:sp>
      <p:sp>
        <p:nvSpPr>
          <p:cNvPr id="36" name="Rectangle 35"/>
          <p:cNvSpPr/>
          <p:nvPr/>
        </p:nvSpPr>
        <p:spPr>
          <a:xfrm>
            <a:off x="658368" y="5296008"/>
            <a:ext cx="10872216" cy="556151"/>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749808" y="5314296"/>
            <a:ext cx="2758046" cy="519575"/>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Hero culture</a:t>
            </a:r>
          </a:p>
        </p:txBody>
      </p:sp>
      <p:sp>
        <p:nvSpPr>
          <p:cNvPr id="38" name="TextBox 37"/>
          <p:cNvSpPr txBox="1"/>
          <p:nvPr/>
        </p:nvSpPr>
        <p:spPr>
          <a:xfrm>
            <a:off x="3672446" y="5314296"/>
            <a:ext cx="4044007"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One person fixes everything</a:t>
            </a:r>
          </a:p>
        </p:txBody>
      </p:sp>
      <p:sp>
        <p:nvSpPr>
          <p:cNvPr id="39" name="TextBox 38"/>
          <p:cNvSpPr txBox="1"/>
          <p:nvPr/>
        </p:nvSpPr>
        <p:spPr>
          <a:xfrm>
            <a:off x="7881046" y="5314296"/>
            <a:ext cx="3576385" cy="519575"/>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Runbooks, shared on-call, blamelessness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MYTH VS REALITY</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720" b="1" i="0">
                <a:solidFill>
                  <a:srgbClr val="123A5F"/>
                </a:solidFill>
                <a:latin typeface="Aptos Display"/>
              </a:rPr>
              <a:t>Four things you will hear in a bank</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49808" y="1783080"/>
            <a:ext cx="5298948"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A0275C"/>
                </a:solidFill>
                <a:latin typeface="Aptos"/>
              </a:rPr>
              <a:t>WHAT PEOPLE SAY</a:t>
            </a:r>
          </a:p>
        </p:txBody>
      </p:sp>
      <p:sp>
        <p:nvSpPr>
          <p:cNvPr id="9" name="TextBox 8"/>
          <p:cNvSpPr txBox="1"/>
          <p:nvPr/>
        </p:nvSpPr>
        <p:spPr>
          <a:xfrm>
            <a:off x="6323076" y="1783080"/>
            <a:ext cx="5298948"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IS ACTUALLY TRUE</a:t>
            </a:r>
          </a:p>
        </p:txBody>
      </p:sp>
      <p:sp>
        <p:nvSpPr>
          <p:cNvPr id="10" name="Rectangle 9"/>
          <p:cNvSpPr/>
          <p:nvPr/>
        </p:nvSpPr>
        <p:spPr>
          <a:xfrm>
            <a:off x="658368" y="2093976"/>
            <a:ext cx="5298948" cy="813816"/>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804672" y="2130552"/>
            <a:ext cx="5024628" cy="740664"/>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“We are regulated, so we cannot deploy frequently.”</a:t>
            </a:r>
          </a:p>
        </p:txBody>
      </p:sp>
      <p:sp>
        <p:nvSpPr>
          <p:cNvPr id="12" name="Rectangle 11"/>
          <p:cNvSpPr/>
          <p:nvPr/>
        </p:nvSpPr>
        <p:spPr>
          <a:xfrm>
            <a:off x="6231636" y="2093976"/>
            <a:ext cx="5298948" cy="813816"/>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377940" y="2130552"/>
            <a:ext cx="5024628" cy="740664"/>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Regulation demands evidenced control, not slow delivery. Small changes are EASIER to evidence and roll back.</a:t>
            </a:r>
          </a:p>
        </p:txBody>
      </p:sp>
      <p:sp>
        <p:nvSpPr>
          <p:cNvPr id="14" name="Rectangle 13"/>
          <p:cNvSpPr/>
          <p:nvPr/>
        </p:nvSpPr>
        <p:spPr>
          <a:xfrm>
            <a:off x="658368" y="3035808"/>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804672" y="3072384"/>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“Moving faster means breaking more things.”</a:t>
            </a:r>
          </a:p>
        </p:txBody>
      </p:sp>
      <p:sp>
        <p:nvSpPr>
          <p:cNvPr id="16" name="Rectangle 15"/>
          <p:cNvSpPr/>
          <p:nvPr/>
        </p:nvSpPr>
        <p:spPr>
          <a:xfrm>
            <a:off x="6231636" y="3035808"/>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6377940" y="3072384"/>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DORA has measured the opposite for a decade: elite performers are faster AND more stable.</a:t>
            </a:r>
          </a:p>
        </p:txBody>
      </p:sp>
      <p:sp>
        <p:nvSpPr>
          <p:cNvPr id="18" name="Rectangle 17"/>
          <p:cNvSpPr/>
          <p:nvPr/>
        </p:nvSpPr>
        <p:spPr>
          <a:xfrm>
            <a:off x="658368" y="3781044"/>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804672" y="3817620"/>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“The CAB is what keeps production safe.”</a:t>
            </a:r>
          </a:p>
        </p:txBody>
      </p:sp>
      <p:sp>
        <p:nvSpPr>
          <p:cNvPr id="20" name="Rectangle 19"/>
          <p:cNvSpPr/>
          <p:nvPr/>
        </p:nvSpPr>
        <p:spPr>
          <a:xfrm>
            <a:off x="6231636" y="3781044"/>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377940" y="3817620"/>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DORA found external approval boards slow delivery with no measurable stability benefit.</a:t>
            </a:r>
          </a:p>
        </p:txBody>
      </p:sp>
      <p:sp>
        <p:nvSpPr>
          <p:cNvPr id="22" name="Rectangle 21"/>
          <p:cNvSpPr/>
          <p:nvPr/>
        </p:nvSpPr>
        <p:spPr>
          <a:xfrm>
            <a:off x="658368" y="4526280"/>
            <a:ext cx="5298948" cy="617220"/>
          </a:xfrm>
          <a:prstGeom prst="rect">
            <a:avLst/>
          </a:prstGeom>
          <a:solidFill>
            <a:srgbClr val="FAECF2"/>
          </a:solidFill>
          <a:ln w="762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804672" y="4562856"/>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1">
                <a:solidFill>
                  <a:srgbClr val="1F2933"/>
                </a:solidFill>
                <a:latin typeface="Aptos"/>
              </a:rPr>
              <a:t>“Many small changes mean more risk than one big release.”</a:t>
            </a:r>
          </a:p>
        </p:txBody>
      </p:sp>
      <p:sp>
        <p:nvSpPr>
          <p:cNvPr id="24" name="Rectangle 23"/>
          <p:cNvSpPr/>
          <p:nvPr/>
        </p:nvSpPr>
        <p:spPr>
          <a:xfrm>
            <a:off x="6231636" y="4526280"/>
            <a:ext cx="5298948" cy="617220"/>
          </a:xfrm>
          <a:prstGeom prst="rect">
            <a:avLst/>
          </a:prstGeom>
          <a:solidFill>
            <a:srgbClr val="E6F4F1"/>
          </a:solidFill>
          <a:ln w="762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377940" y="4562856"/>
            <a:ext cx="5024628" cy="544068"/>
          </a:xfrm>
          <a:prstGeom prst="rect">
            <a:avLst/>
          </a:prstGeom>
          <a:noFill/>
        </p:spPr>
        <p:txBody>
          <a:bodyPr wrap="square" lIns="73152" rIns="73152" tIns="36576" bIns="36576" anchor="ctr">
            <a:spAutoFit/>
          </a:bodyPr>
          <a:lstStyle/>
          <a:p>
            <a:pPr algn="l">
              <a:lnSpc>
                <a:spcPct val="92000"/>
              </a:lnSpc>
              <a:spcAft>
                <a:spcPts val="200"/>
              </a:spcAft>
            </a:pPr>
            <a:r>
              <a:rPr sz="1250" b="0" i="0">
                <a:solidFill>
                  <a:srgbClr val="1F2933"/>
                </a:solidFill>
                <a:latin typeface="Aptos"/>
              </a:rPr>
              <a:t>Risk scales with batch size. A small change has a small blast radius and is trivial to roll back.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§1.8</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The toolchain, drawn as the pipeline you will build</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905701"/>
            <a:ext cx="1659636" cy="425086"/>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1 · SOURCE</a:t>
            </a:r>
          </a:p>
        </p:txBody>
      </p:sp>
      <p:sp>
        <p:nvSpPr>
          <p:cNvPr id="9" name="Rectangle 8"/>
          <p:cNvSpPr/>
          <p:nvPr/>
        </p:nvSpPr>
        <p:spPr>
          <a:xfrm>
            <a:off x="658368" y="2330787"/>
            <a:ext cx="1659636" cy="1880189"/>
          </a:xfrm>
          <a:prstGeom prst="rect">
            <a:avLst/>
          </a:prstGeom>
          <a:solidFill>
            <a:srgbClr val="F3F6F8"/>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731519" y="2453408"/>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git commit</a:t>
            </a:r>
          </a:p>
        </p:txBody>
      </p:sp>
      <p:sp>
        <p:nvSpPr>
          <p:cNvPr id="11" name="TextBox 10"/>
          <p:cNvSpPr txBox="1"/>
          <p:nvPr/>
        </p:nvSpPr>
        <p:spPr>
          <a:xfrm>
            <a:off x="731519" y="2886669"/>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pull request</a:t>
            </a:r>
          </a:p>
        </p:txBody>
      </p:sp>
      <p:sp>
        <p:nvSpPr>
          <p:cNvPr id="12" name="TextBox 11"/>
          <p:cNvSpPr txBox="1"/>
          <p:nvPr/>
        </p:nvSpPr>
        <p:spPr>
          <a:xfrm>
            <a:off x="731519" y="3319930"/>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branch protection</a:t>
            </a:r>
          </a:p>
        </p:txBody>
      </p:sp>
      <p:sp>
        <p:nvSpPr>
          <p:cNvPr id="13" name="TextBox 12"/>
          <p:cNvSpPr txBox="1"/>
          <p:nvPr/>
        </p:nvSpPr>
        <p:spPr>
          <a:xfrm>
            <a:off x="731519" y="3753191"/>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CODEOWNERS</a:t>
            </a:r>
          </a:p>
        </p:txBody>
      </p:sp>
      <p:sp>
        <p:nvSpPr>
          <p:cNvPr id="14" name="TextBox 13"/>
          <p:cNvSpPr txBox="1"/>
          <p:nvPr/>
        </p:nvSpPr>
        <p:spPr>
          <a:xfrm>
            <a:off x="658368" y="4268199"/>
            <a:ext cx="1659636"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117A69"/>
                </a:solidFill>
                <a:latin typeface="Aptos"/>
              </a:rPr>
              <a:t>Labs 02–03</a:t>
            </a:r>
          </a:p>
        </p:txBody>
      </p:sp>
      <p:sp>
        <p:nvSpPr>
          <p:cNvPr id="15" name="Right Arrow 14"/>
          <p:cNvSpPr/>
          <p:nvPr/>
        </p:nvSpPr>
        <p:spPr>
          <a:xfrm>
            <a:off x="2336292" y="1987447"/>
            <a:ext cx="146304"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00884" y="1905701"/>
            <a:ext cx="1659636" cy="425086"/>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2 · CI</a:t>
            </a:r>
          </a:p>
        </p:txBody>
      </p:sp>
      <p:sp>
        <p:nvSpPr>
          <p:cNvPr id="17" name="Rectangle 16"/>
          <p:cNvSpPr/>
          <p:nvPr/>
        </p:nvSpPr>
        <p:spPr>
          <a:xfrm>
            <a:off x="2500884" y="2330787"/>
            <a:ext cx="1659636" cy="1880189"/>
          </a:xfrm>
          <a:prstGeom prst="rect">
            <a:avLst/>
          </a:prstGeom>
          <a:solidFill>
            <a:srgbClr val="F3F6F8"/>
          </a:solidFill>
          <a:ln w="9525">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2574036" y="2453408"/>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lint + unit tests</a:t>
            </a:r>
          </a:p>
        </p:txBody>
      </p:sp>
      <p:sp>
        <p:nvSpPr>
          <p:cNvPr id="19" name="TextBox 18"/>
          <p:cNvSpPr txBox="1"/>
          <p:nvPr/>
        </p:nvSpPr>
        <p:spPr>
          <a:xfrm>
            <a:off x="2574036" y="2886669"/>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gitleaks · bandit · pip-audit</a:t>
            </a:r>
          </a:p>
        </p:txBody>
      </p:sp>
      <p:sp>
        <p:nvSpPr>
          <p:cNvPr id="20" name="TextBox 19"/>
          <p:cNvSpPr txBox="1"/>
          <p:nvPr/>
        </p:nvSpPr>
        <p:spPr>
          <a:xfrm>
            <a:off x="2574036" y="3319930"/>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docker build</a:t>
            </a:r>
          </a:p>
        </p:txBody>
      </p:sp>
      <p:sp>
        <p:nvSpPr>
          <p:cNvPr id="21" name="TextBox 20"/>
          <p:cNvSpPr txBox="1"/>
          <p:nvPr/>
        </p:nvSpPr>
        <p:spPr>
          <a:xfrm>
            <a:off x="2574036" y="3753191"/>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Trivy scan + SBOM</a:t>
            </a:r>
          </a:p>
        </p:txBody>
      </p:sp>
      <p:sp>
        <p:nvSpPr>
          <p:cNvPr id="22" name="TextBox 21"/>
          <p:cNvSpPr txBox="1"/>
          <p:nvPr/>
        </p:nvSpPr>
        <p:spPr>
          <a:xfrm>
            <a:off x="2500884" y="4268199"/>
            <a:ext cx="1659636"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29ABE2"/>
                </a:solidFill>
                <a:latin typeface="Aptos"/>
              </a:rPr>
              <a:t>Labs 04–06 · 17</a:t>
            </a:r>
          </a:p>
        </p:txBody>
      </p:sp>
      <p:sp>
        <p:nvSpPr>
          <p:cNvPr id="23" name="Right Arrow 22"/>
          <p:cNvSpPr/>
          <p:nvPr/>
        </p:nvSpPr>
        <p:spPr>
          <a:xfrm>
            <a:off x="4178808" y="1987447"/>
            <a:ext cx="146304"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1905701"/>
            <a:ext cx="1659636" cy="425086"/>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3 · ARTEFACT</a:t>
            </a:r>
          </a:p>
        </p:txBody>
      </p:sp>
      <p:sp>
        <p:nvSpPr>
          <p:cNvPr id="25" name="Rectangle 24"/>
          <p:cNvSpPr/>
          <p:nvPr/>
        </p:nvSpPr>
        <p:spPr>
          <a:xfrm>
            <a:off x="4343400" y="2330787"/>
            <a:ext cx="1659636" cy="1880189"/>
          </a:xfrm>
          <a:prstGeom prst="rect">
            <a:avLst/>
          </a:prstGeom>
          <a:solidFill>
            <a:srgbClr val="F3F6F8"/>
          </a:solidFill>
          <a:ln w="9525">
            <a:solidFill>
              <a:srgbClr val="1B75B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4416552" y="2453408"/>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GHCR registry</a:t>
            </a:r>
          </a:p>
        </p:txBody>
      </p:sp>
      <p:sp>
        <p:nvSpPr>
          <p:cNvPr id="27" name="TextBox 26"/>
          <p:cNvSpPr txBox="1"/>
          <p:nvPr/>
        </p:nvSpPr>
        <p:spPr>
          <a:xfrm>
            <a:off x="4416552" y="2886669"/>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tagged with the git SHA</a:t>
            </a:r>
          </a:p>
        </p:txBody>
      </p:sp>
      <p:sp>
        <p:nvSpPr>
          <p:cNvPr id="28" name="TextBox 27"/>
          <p:cNvSpPr txBox="1"/>
          <p:nvPr/>
        </p:nvSpPr>
        <p:spPr>
          <a:xfrm>
            <a:off x="4416552" y="3319930"/>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immutable</a:t>
            </a:r>
          </a:p>
        </p:txBody>
      </p:sp>
      <p:sp>
        <p:nvSpPr>
          <p:cNvPr id="29" name="TextBox 28"/>
          <p:cNvSpPr txBox="1"/>
          <p:nvPr/>
        </p:nvSpPr>
        <p:spPr>
          <a:xfrm>
            <a:off x="4416552" y="3753191"/>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promoted, never rebuilt</a:t>
            </a:r>
          </a:p>
        </p:txBody>
      </p:sp>
      <p:sp>
        <p:nvSpPr>
          <p:cNvPr id="30" name="TextBox 29"/>
          <p:cNvSpPr txBox="1"/>
          <p:nvPr/>
        </p:nvSpPr>
        <p:spPr>
          <a:xfrm>
            <a:off x="4343400" y="4268199"/>
            <a:ext cx="1659636"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1B75BB"/>
                </a:solidFill>
                <a:latin typeface="Aptos"/>
              </a:rPr>
              <a:t>Labs 06 · 15</a:t>
            </a:r>
          </a:p>
        </p:txBody>
      </p:sp>
      <p:sp>
        <p:nvSpPr>
          <p:cNvPr id="31" name="Right Arrow 30"/>
          <p:cNvSpPr/>
          <p:nvPr/>
        </p:nvSpPr>
        <p:spPr>
          <a:xfrm>
            <a:off x="6021324" y="1987447"/>
            <a:ext cx="146304"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5916" y="1905701"/>
            <a:ext cx="1659636" cy="425086"/>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4 · DELIVERY</a:t>
            </a:r>
          </a:p>
        </p:txBody>
      </p:sp>
      <p:sp>
        <p:nvSpPr>
          <p:cNvPr id="33" name="Rectangle 32"/>
          <p:cNvSpPr/>
          <p:nvPr/>
        </p:nvSpPr>
        <p:spPr>
          <a:xfrm>
            <a:off x="6185916" y="2330787"/>
            <a:ext cx="1659636" cy="1880189"/>
          </a:xfrm>
          <a:prstGeom prst="rect">
            <a:avLst/>
          </a:prstGeom>
          <a:solidFill>
            <a:srgbClr val="F3F6F8"/>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4" name="TextBox 33"/>
          <p:cNvSpPr txBox="1"/>
          <p:nvPr/>
        </p:nvSpPr>
        <p:spPr>
          <a:xfrm>
            <a:off x="6259068" y="2453408"/>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manifest updated</a:t>
            </a:r>
          </a:p>
        </p:txBody>
      </p:sp>
      <p:sp>
        <p:nvSpPr>
          <p:cNvPr id="35" name="TextBox 34"/>
          <p:cNvSpPr txBox="1"/>
          <p:nvPr/>
        </p:nvSpPr>
        <p:spPr>
          <a:xfrm>
            <a:off x="6259068" y="2886669"/>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GitOps reconciles</a:t>
            </a:r>
          </a:p>
        </p:txBody>
      </p:sp>
      <p:sp>
        <p:nvSpPr>
          <p:cNvPr id="36" name="TextBox 35"/>
          <p:cNvSpPr txBox="1"/>
          <p:nvPr/>
        </p:nvSpPr>
        <p:spPr>
          <a:xfrm>
            <a:off x="6259068" y="3319930"/>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rolling · blue-green</a:t>
            </a:r>
          </a:p>
        </p:txBody>
      </p:sp>
      <p:sp>
        <p:nvSpPr>
          <p:cNvPr id="37" name="TextBox 36"/>
          <p:cNvSpPr txBox="1"/>
          <p:nvPr/>
        </p:nvSpPr>
        <p:spPr>
          <a:xfrm>
            <a:off x="6259068" y="3753191"/>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canary · rollback</a:t>
            </a:r>
          </a:p>
        </p:txBody>
      </p:sp>
      <p:sp>
        <p:nvSpPr>
          <p:cNvPr id="38" name="TextBox 37"/>
          <p:cNvSpPr txBox="1"/>
          <p:nvPr/>
        </p:nvSpPr>
        <p:spPr>
          <a:xfrm>
            <a:off x="6185916" y="4268199"/>
            <a:ext cx="1659636"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D2760D"/>
                </a:solidFill>
                <a:latin typeface="Aptos"/>
              </a:rPr>
              <a:t>Labs 15–16</a:t>
            </a:r>
          </a:p>
        </p:txBody>
      </p:sp>
      <p:sp>
        <p:nvSpPr>
          <p:cNvPr id="39" name="Right Arrow 38"/>
          <p:cNvSpPr/>
          <p:nvPr/>
        </p:nvSpPr>
        <p:spPr>
          <a:xfrm>
            <a:off x="7863840" y="1987447"/>
            <a:ext cx="146304"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28432" y="1905701"/>
            <a:ext cx="1659636" cy="425086"/>
          </a:xfrm>
          <a:prstGeom prst="rect">
            <a:avLst/>
          </a:prstGeom>
          <a:solidFill>
            <a:srgbClr val="3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5 · RUNTIME</a:t>
            </a:r>
          </a:p>
        </p:txBody>
      </p:sp>
      <p:sp>
        <p:nvSpPr>
          <p:cNvPr id="41" name="Rectangle 40"/>
          <p:cNvSpPr/>
          <p:nvPr/>
        </p:nvSpPr>
        <p:spPr>
          <a:xfrm>
            <a:off x="8028432" y="2330787"/>
            <a:ext cx="1659636" cy="1880189"/>
          </a:xfrm>
          <a:prstGeom prst="rect">
            <a:avLst/>
          </a:prstGeom>
          <a:solidFill>
            <a:srgbClr val="F3F6F8"/>
          </a:solidFill>
          <a:ln w="9525">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2" name="TextBox 41"/>
          <p:cNvSpPr txBox="1"/>
          <p:nvPr/>
        </p:nvSpPr>
        <p:spPr>
          <a:xfrm>
            <a:off x="8101584" y="2453408"/>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Kubernetes (k3d)</a:t>
            </a:r>
          </a:p>
        </p:txBody>
      </p:sp>
      <p:sp>
        <p:nvSpPr>
          <p:cNvPr id="43" name="TextBox 42"/>
          <p:cNvSpPr txBox="1"/>
          <p:nvPr/>
        </p:nvSpPr>
        <p:spPr>
          <a:xfrm>
            <a:off x="8101584" y="2886669"/>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provisioned by Terraform</a:t>
            </a:r>
          </a:p>
        </p:txBody>
      </p:sp>
      <p:sp>
        <p:nvSpPr>
          <p:cNvPr id="44" name="TextBox 43"/>
          <p:cNvSpPr txBox="1"/>
          <p:nvPr/>
        </p:nvSpPr>
        <p:spPr>
          <a:xfrm>
            <a:off x="8101584" y="3319930"/>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configured by Ansible</a:t>
            </a:r>
          </a:p>
        </p:txBody>
      </p:sp>
      <p:sp>
        <p:nvSpPr>
          <p:cNvPr id="45" name="TextBox 44"/>
          <p:cNvSpPr txBox="1"/>
          <p:nvPr/>
        </p:nvSpPr>
        <p:spPr>
          <a:xfrm>
            <a:off x="8101584" y="3753191"/>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config + secrets</a:t>
            </a:r>
          </a:p>
        </p:txBody>
      </p:sp>
      <p:sp>
        <p:nvSpPr>
          <p:cNvPr id="46" name="TextBox 45"/>
          <p:cNvSpPr txBox="1"/>
          <p:nvPr/>
        </p:nvSpPr>
        <p:spPr>
          <a:xfrm>
            <a:off x="8028432" y="4268199"/>
            <a:ext cx="1659636"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3E7D32"/>
                </a:solidFill>
                <a:latin typeface="Aptos"/>
              </a:rPr>
              <a:t>Labs 09–14</a:t>
            </a:r>
          </a:p>
        </p:txBody>
      </p:sp>
      <p:sp>
        <p:nvSpPr>
          <p:cNvPr id="47" name="Right Arrow 46"/>
          <p:cNvSpPr/>
          <p:nvPr/>
        </p:nvSpPr>
        <p:spPr>
          <a:xfrm>
            <a:off x="9706356" y="1987447"/>
            <a:ext cx="146304" cy="245242"/>
          </a:xfrm>
          <a:prstGeom prst="righ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870948" y="1905701"/>
            <a:ext cx="1659636" cy="425086"/>
          </a:xfrm>
          <a:prstGeom prst="rect">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92000"/>
              </a:lnSpc>
              <a:spcAft>
                <a:spcPts val="200"/>
              </a:spcAft>
            </a:pPr>
            <a:r>
              <a:rPr sz="1150" b="1" i="0">
                <a:solidFill>
                  <a:srgbClr val="FFFFFF"/>
                </a:solidFill>
                <a:latin typeface="Aptos"/>
              </a:rPr>
              <a:t>6 · FEEDBACK</a:t>
            </a:r>
          </a:p>
        </p:txBody>
      </p:sp>
      <p:sp>
        <p:nvSpPr>
          <p:cNvPr id="49" name="Rectangle 48"/>
          <p:cNvSpPr/>
          <p:nvPr/>
        </p:nvSpPr>
        <p:spPr>
          <a:xfrm>
            <a:off x="9870948" y="2330787"/>
            <a:ext cx="1659636" cy="1880189"/>
          </a:xfrm>
          <a:prstGeom prst="rect">
            <a:avLst/>
          </a:prstGeom>
          <a:solidFill>
            <a:srgbClr val="F3F6F8"/>
          </a:solidFill>
          <a:ln w="9525">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50" name="TextBox 49"/>
          <p:cNvSpPr txBox="1"/>
          <p:nvPr/>
        </p:nvSpPr>
        <p:spPr>
          <a:xfrm>
            <a:off x="9944100" y="2453408"/>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Prometheus /metrics</a:t>
            </a:r>
          </a:p>
        </p:txBody>
      </p:sp>
      <p:sp>
        <p:nvSpPr>
          <p:cNvPr id="51" name="TextBox 50"/>
          <p:cNvSpPr txBox="1"/>
          <p:nvPr/>
        </p:nvSpPr>
        <p:spPr>
          <a:xfrm>
            <a:off x="9944100" y="2886669"/>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Grafana dashboards</a:t>
            </a:r>
          </a:p>
        </p:txBody>
      </p:sp>
      <p:sp>
        <p:nvSpPr>
          <p:cNvPr id="52" name="TextBox 51"/>
          <p:cNvSpPr txBox="1"/>
          <p:nvPr/>
        </p:nvSpPr>
        <p:spPr>
          <a:xfrm>
            <a:off x="9944100" y="3319930"/>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SLO burn-rate alerts</a:t>
            </a:r>
          </a:p>
        </p:txBody>
      </p:sp>
      <p:sp>
        <p:nvSpPr>
          <p:cNvPr id="53" name="TextBox 52"/>
          <p:cNvSpPr txBox="1"/>
          <p:nvPr/>
        </p:nvSpPr>
        <p:spPr>
          <a:xfrm>
            <a:off x="9944100" y="3753191"/>
            <a:ext cx="1531620"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123A5F"/>
                </a:solidFill>
                <a:latin typeface="Aptos"/>
              </a:rPr>
              <a:t>on-call + runbook</a:t>
            </a:r>
          </a:p>
        </p:txBody>
      </p:sp>
      <p:sp>
        <p:nvSpPr>
          <p:cNvPr id="54" name="TextBox 53"/>
          <p:cNvSpPr txBox="1"/>
          <p:nvPr/>
        </p:nvSpPr>
        <p:spPr>
          <a:xfrm>
            <a:off x="9870948" y="4268199"/>
            <a:ext cx="1659636" cy="228892"/>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A0275C"/>
                </a:solidFill>
                <a:latin typeface="Aptos"/>
              </a:rPr>
              <a:t>Lab 18</a:t>
            </a:r>
          </a:p>
        </p:txBody>
      </p:sp>
      <p:cxnSp>
        <p:nvCxnSpPr>
          <p:cNvPr id="55" name="Connector 54"/>
          <p:cNvCxnSpPr/>
          <p:nvPr/>
        </p:nvCxnSpPr>
        <p:spPr>
          <a:xfrm>
            <a:off x="10700766" y="4562490"/>
            <a:ext cx="0" cy="212543"/>
          </a:xfrm>
          <a:prstGeom prst="line">
            <a:avLst/>
          </a:prstGeom>
          <a:ln w="19050">
            <a:solidFill>
              <a:srgbClr val="A0275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488186" y="4775033"/>
            <a:ext cx="9212580" cy="54864"/>
          </a:xfrm>
          <a:prstGeom prst="line">
            <a:avLst/>
          </a:prstGeom>
          <a:ln w="19050">
            <a:solidFill>
              <a:srgbClr val="A0275C"/>
            </a:solidFill>
            <a:prstDash val="dash"/>
          </a:ln>
        </p:spPr>
        <p:style>
          <a:lnRef idx="2">
            <a:schemeClr val="accent1"/>
          </a:lnRef>
          <a:fillRef idx="0">
            <a:schemeClr val="accent1"/>
          </a:fillRef>
          <a:effectRef idx="1">
            <a:schemeClr val="accent1"/>
          </a:effectRef>
          <a:fontRef idx="minor">
            <a:schemeClr val="tx1"/>
          </a:fontRef>
        </p:style>
      </p:cxnSp>
      <p:sp>
        <p:nvSpPr>
          <p:cNvPr id="57" name="Up Arrow 56"/>
          <p:cNvSpPr/>
          <p:nvPr/>
        </p:nvSpPr>
        <p:spPr>
          <a:xfrm>
            <a:off x="1369314" y="4513441"/>
            <a:ext cx="237744" cy="245242"/>
          </a:xfrm>
          <a:prstGeom prst="upArrow">
            <a:avLst/>
          </a:prstGeom>
          <a:solidFill>
            <a:srgbClr val="A027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70048" y="4546140"/>
            <a:ext cx="6848856" cy="212543"/>
          </a:xfrm>
          <a:prstGeom prst="rect">
            <a:avLst/>
          </a:prstGeom>
          <a:noFill/>
        </p:spPr>
        <p:txBody>
          <a:bodyPr wrap="square" lIns="73152" rIns="73152" tIns="36576" bIns="36576" anchor="t">
            <a:spAutoFit/>
          </a:bodyPr>
          <a:lstStyle/>
          <a:p>
            <a:pPr algn="ctr">
              <a:lnSpc>
                <a:spcPct val="92000"/>
              </a:lnSpc>
              <a:spcAft>
                <a:spcPts val="200"/>
              </a:spcAft>
            </a:pPr>
            <a:r>
              <a:rPr sz="1000" b="1" i="0">
                <a:solidFill>
                  <a:srgbClr val="A0275C"/>
                </a:solidFill>
                <a:latin typeface="Aptos"/>
              </a:rPr>
              <a:t>blameless review → the next change</a:t>
            </a:r>
          </a:p>
        </p:txBody>
      </p:sp>
      <p:sp>
        <p:nvSpPr>
          <p:cNvPr id="59" name="Rectangle 58"/>
          <p:cNvSpPr/>
          <p:nvPr/>
        </p:nvSpPr>
        <p:spPr>
          <a:xfrm>
            <a:off x="658368" y="5036624"/>
            <a:ext cx="10872216" cy="719376"/>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60" name="TextBox 59"/>
          <p:cNvSpPr txBox="1"/>
          <p:nvPr/>
        </p:nvSpPr>
        <p:spPr>
          <a:xfrm>
            <a:off x="886968" y="5102022"/>
            <a:ext cx="10415016" cy="588580"/>
          </a:xfrm>
          <a:prstGeom prst="rect">
            <a:avLst/>
          </a:prstGeom>
          <a:noFill/>
        </p:spPr>
        <p:txBody>
          <a:bodyPr wrap="square" lIns="73152" rIns="73152" tIns="36576" bIns="36576" anchor="ctr">
            <a:spAutoFit/>
          </a:bodyPr>
          <a:lstStyle/>
          <a:p>
            <a:pPr algn="ctr">
              <a:lnSpc>
                <a:spcPct val="92000"/>
              </a:lnSpc>
              <a:spcAft>
                <a:spcPts val="200"/>
              </a:spcAft>
            </a:pPr>
            <a:r>
              <a:rPr sz="1400" b="1" i="0">
                <a:solidFill>
                  <a:srgbClr val="FFFFFF"/>
                </a:solidFill>
                <a:latin typeface="Aptos"/>
              </a:rPr>
              <a:t>This picture is the course. Every box is a lab, and by the end of day 6 you will have built all of it, end to end, on your own machine.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1 §1.8</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720" b="1" i="0">
                <a:solidFill>
                  <a:srgbClr val="123A5F"/>
                </a:solidFill>
                <a:latin typeface="Aptos Display"/>
              </a:rPr>
              <a:t>Choosing tools — the four questions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76656" y="1860804"/>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932688" y="1741932"/>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Does it integrate with what we already run?</a:t>
            </a:r>
          </a:p>
        </p:txBody>
      </p:sp>
      <p:sp>
        <p:nvSpPr>
          <p:cNvPr id="10" name="TextBox 9"/>
          <p:cNvSpPr txBox="1"/>
          <p:nvPr/>
        </p:nvSpPr>
        <p:spPr>
          <a:xfrm>
            <a:off x="932688" y="2075688"/>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An orphan tool is a future migration</a:t>
            </a:r>
          </a:p>
        </p:txBody>
      </p:sp>
      <p:sp>
        <p:nvSpPr>
          <p:cNvPr id="11" name="Rectangle 10"/>
          <p:cNvSpPr/>
          <p:nvPr/>
        </p:nvSpPr>
        <p:spPr>
          <a:xfrm>
            <a:off x="676656" y="2743200"/>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32688" y="2624328"/>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Can it be driven from code and an API?</a:t>
            </a:r>
          </a:p>
        </p:txBody>
      </p:sp>
      <p:sp>
        <p:nvSpPr>
          <p:cNvPr id="13" name="TextBox 12"/>
          <p:cNvSpPr txBox="1"/>
          <p:nvPr/>
        </p:nvSpPr>
        <p:spPr>
          <a:xfrm>
            <a:off x="932688" y="2958084"/>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If it needs a human clicking a GUI, it cannot be part of a pipeline</a:t>
            </a:r>
          </a:p>
        </p:txBody>
      </p:sp>
      <p:sp>
        <p:nvSpPr>
          <p:cNvPr id="14" name="Rectangle 13"/>
          <p:cNvSpPr/>
          <p:nvPr/>
        </p:nvSpPr>
        <p:spPr>
          <a:xfrm>
            <a:off x="676656" y="3625596"/>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32688" y="3506724"/>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What is the total cost — licence PLUS the engineers to run it?</a:t>
            </a:r>
          </a:p>
        </p:txBody>
      </p:sp>
      <p:sp>
        <p:nvSpPr>
          <p:cNvPr id="16" name="TextBox 15"/>
          <p:cNvSpPr txBox="1"/>
          <p:nvPr/>
        </p:nvSpPr>
        <p:spPr>
          <a:xfrm>
            <a:off x="932688" y="3840480"/>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Self-hosted is "free" until you cost the two people maintaining it</a:t>
            </a:r>
          </a:p>
        </p:txBody>
      </p:sp>
      <p:sp>
        <p:nvSpPr>
          <p:cNvPr id="17" name="Rectangle 16"/>
          <p:cNvSpPr/>
          <p:nvPr/>
        </p:nvSpPr>
        <p:spPr>
          <a:xfrm>
            <a:off x="676656" y="4507992"/>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32688" y="4389120"/>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Can we leave?</a:t>
            </a:r>
          </a:p>
        </p:txBody>
      </p:sp>
      <p:sp>
        <p:nvSpPr>
          <p:cNvPr id="19" name="TextBox 18"/>
          <p:cNvSpPr txBox="1"/>
          <p:nvPr/>
        </p:nvSpPr>
        <p:spPr>
          <a:xfrm>
            <a:off x="932688" y="4722876"/>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Export formats, open standards, and how much logic is trapped in a vendor's language</a:t>
            </a:r>
          </a:p>
        </p:txBody>
      </p:sp>
      <p:sp>
        <p:nvSpPr>
          <p:cNvPr id="20" name="Rectangle 19"/>
          <p:cNvSpPr/>
          <p:nvPr/>
        </p:nvSpPr>
        <p:spPr>
          <a:xfrm>
            <a:off x="676656" y="5390388"/>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32688" y="5271516"/>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Choose per CATEGORY first, vendor second</a:t>
            </a:r>
          </a:p>
        </p:txBody>
      </p:sp>
      <p:sp>
        <p:nvSpPr>
          <p:cNvPr id="22" name="TextBox 21"/>
          <p:cNvSpPr txBox="1"/>
          <p:nvPr/>
        </p:nvSpPr>
        <p:spPr>
          <a:xfrm>
            <a:off x="932688" y="5605272"/>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Plan · source · CI · registry · orchestration · IaC · security · monitoring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48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LAB 00 + 01  ·  STARTED TOGETHER IN CLASS  ·  FINISH AFTER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380" b="1" i="0">
                <a:solidFill>
                  <a:srgbClr val="123A5F"/>
                </a:solidFill>
                <a:latin typeface="Aptos Display"/>
              </a:rPr>
              <a:t>Workstation Setup · Value Stream Mapping</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658368"/>
          </a:xfrm>
          <a:prstGeom prst="rect">
            <a:avLst/>
          </a:prstGeom>
          <a:solidFill>
            <a:srgbClr val="EDF4EA"/>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841247" y="1837943"/>
            <a:ext cx="1143000" cy="256032"/>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3E7D32"/>
                </a:solidFill>
                <a:latin typeface="Aptos"/>
              </a:rPr>
              <a:t>OBJECTIVE</a:t>
            </a:r>
          </a:p>
        </p:txBody>
      </p:sp>
      <p:sp>
        <p:nvSpPr>
          <p:cNvPr id="10" name="TextBox 9"/>
          <p:cNvSpPr txBox="1"/>
          <p:nvPr/>
        </p:nvSpPr>
        <p:spPr>
          <a:xfrm>
            <a:off x="841247" y="2057400"/>
            <a:ext cx="10506456" cy="347472"/>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Get a verified toolchain, then map how a change really travels through YOUR organisation.</a:t>
            </a:r>
          </a:p>
        </p:txBody>
      </p:sp>
      <p:sp>
        <p:nvSpPr>
          <p:cNvPr id="11" name="TextBox 10"/>
          <p:cNvSpPr txBox="1"/>
          <p:nvPr/>
        </p:nvSpPr>
        <p:spPr>
          <a:xfrm>
            <a:off x="658368" y="2660904"/>
            <a:ext cx="10872216" cy="274320"/>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117A69"/>
                </a:solidFill>
                <a:latin typeface="Aptos"/>
              </a:rPr>
              <a:t>YOU WILL</a:t>
            </a:r>
          </a:p>
        </p:txBody>
      </p:sp>
      <p:sp>
        <p:nvSpPr>
          <p:cNvPr id="12" name="Oval 11"/>
          <p:cNvSpPr/>
          <p:nvPr/>
        </p:nvSpPr>
        <p:spPr>
          <a:xfrm>
            <a:off x="676656" y="298551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76656" y="300380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4" name="TextBox 13"/>
          <p:cNvSpPr txBox="1"/>
          <p:nvPr/>
        </p:nvSpPr>
        <p:spPr>
          <a:xfrm>
            <a:off x="1042415" y="295808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Install and verify the full six-day toolchain on Ubuntu 24.04 (Lab 00)</a:t>
            </a:r>
          </a:p>
        </p:txBody>
      </p:sp>
      <p:sp>
        <p:nvSpPr>
          <p:cNvPr id="15" name="Oval 14"/>
          <p:cNvSpPr/>
          <p:nvPr/>
        </p:nvSpPr>
        <p:spPr>
          <a:xfrm>
            <a:off x="676656" y="340156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76656" y="341985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17" name="TextBox 16"/>
          <p:cNvSpPr txBox="1"/>
          <p:nvPr/>
        </p:nvSpPr>
        <p:spPr>
          <a:xfrm>
            <a:off x="1042415" y="3374136"/>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Choose one real, ordinary change your team shipped recently</a:t>
            </a:r>
          </a:p>
        </p:txBody>
      </p:sp>
      <p:sp>
        <p:nvSpPr>
          <p:cNvPr id="18" name="Oval 17"/>
          <p:cNvSpPr/>
          <p:nvPr/>
        </p:nvSpPr>
        <p:spPr>
          <a:xfrm>
            <a:off x="676656" y="3817620"/>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76656" y="383590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0" name="TextBox 19"/>
          <p:cNvSpPr txBox="1"/>
          <p:nvPr/>
        </p:nvSpPr>
        <p:spPr>
          <a:xfrm>
            <a:off x="1042415" y="3790188"/>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Walk the stream BACKWARDS — from production to the original request</a:t>
            </a:r>
          </a:p>
        </p:txBody>
      </p:sp>
      <p:sp>
        <p:nvSpPr>
          <p:cNvPr id="21" name="Oval 20"/>
          <p:cNvSpPr/>
          <p:nvPr/>
        </p:nvSpPr>
        <p:spPr>
          <a:xfrm>
            <a:off x="676656" y="4233672"/>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676656" y="4251960"/>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3" name="TextBox 22"/>
          <p:cNvSpPr txBox="1"/>
          <p:nvPr/>
        </p:nvSpPr>
        <p:spPr>
          <a:xfrm>
            <a:off x="1042415" y="4206240"/>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Record process time, wait time and %C/A for every step</a:t>
            </a:r>
          </a:p>
        </p:txBody>
      </p:sp>
      <p:sp>
        <p:nvSpPr>
          <p:cNvPr id="24" name="Oval 23"/>
          <p:cNvSpPr/>
          <p:nvPr/>
        </p:nvSpPr>
        <p:spPr>
          <a:xfrm>
            <a:off x="676656" y="4649724"/>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76656" y="466801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26" name="TextBox 25"/>
          <p:cNvSpPr txBox="1"/>
          <p:nvPr/>
        </p:nvSpPr>
        <p:spPr>
          <a:xfrm>
            <a:off x="1042415" y="4622292"/>
            <a:ext cx="10469880" cy="274320"/>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23A5F"/>
                </a:solidFill>
                <a:latin typeface="Aptos"/>
              </a:rPr>
              <a:t>Calculate flow efficiency and rolled %C/A, and name the constraint</a:t>
            </a:r>
          </a:p>
        </p:txBody>
      </p:sp>
      <p:sp>
        <p:nvSpPr>
          <p:cNvPr id="27" name="Rectangle 26"/>
          <p:cNvSpPr/>
          <p:nvPr/>
        </p:nvSpPr>
        <p:spPr>
          <a:xfrm>
            <a:off x="658368" y="5394960"/>
            <a:ext cx="10872216" cy="475488"/>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8" name="TextBox 27"/>
          <p:cNvSpPr txBox="1"/>
          <p:nvPr/>
        </p:nvSpPr>
        <p:spPr>
          <a:xfrm>
            <a:off x="841247" y="5440680"/>
            <a:ext cx="105156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117A69"/>
                </a:solidFill>
                <a:latin typeface="Aptos"/>
              </a:rPr>
              <a:t>OUTCOME</a:t>
            </a:r>
          </a:p>
        </p:txBody>
      </p:sp>
      <p:sp>
        <p:nvSpPr>
          <p:cNvPr id="29" name="TextBox 28"/>
          <p:cNvSpPr txBox="1"/>
          <p:nvPr/>
        </p:nvSpPr>
        <p:spPr>
          <a:xfrm>
            <a:off x="1892808" y="5431536"/>
            <a:ext cx="9454896" cy="384048"/>
          </a:xfrm>
          <a:prstGeom prst="rect">
            <a:avLst/>
          </a:prstGeom>
          <a:noFill/>
        </p:spPr>
        <p:txBody>
          <a:bodyPr wrap="square" lIns="73152" rIns="73152" tIns="36576" bIns="36576" anchor="ctr">
            <a:spAutoFit/>
          </a:bodyPr>
          <a:lstStyle/>
          <a:p>
            <a:pPr algn="l">
              <a:lnSpc>
                <a:spcPct val="92000"/>
              </a:lnSpc>
              <a:spcAft>
                <a:spcPts val="200"/>
              </a:spcAft>
            </a:pPr>
            <a:r>
              <a:rPr sz="1200" b="0" i="0">
                <a:solidFill>
                  <a:srgbClr val="123A5F"/>
                </a:solidFill>
                <a:latin typeface="Aptos"/>
              </a:rPr>
              <a:t>docs/value-stream.md and calms-assessment.md — the baseline you revisit in the day-6 capstone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566928"/>
            <a:ext cx="2843784" cy="896112"/>
          </a:xfrm>
          <a:prstGeom prst="rect">
            <a:avLst/>
          </a:prstGeom>
        </p:spPr>
      </p:pic>
      <p:sp>
        <p:nvSpPr>
          <p:cNvPr id="6" name="TextBox 5"/>
          <p:cNvSpPr txBox="1"/>
          <p:nvPr/>
        </p:nvSpPr>
        <p:spPr>
          <a:xfrm>
            <a:off x="731520" y="2331720"/>
            <a:ext cx="1645920" cy="1371600"/>
          </a:xfrm>
          <a:prstGeom prst="rect">
            <a:avLst/>
          </a:prstGeom>
          <a:noFill/>
        </p:spPr>
        <p:txBody>
          <a:bodyPr wrap="square" lIns="73152" rIns="73152" tIns="36576" bIns="36576" anchor="t">
            <a:spAutoFit/>
          </a:bodyPr>
          <a:lstStyle/>
          <a:p>
            <a:pPr algn="l">
              <a:lnSpc>
                <a:spcPct val="92000"/>
              </a:lnSpc>
              <a:spcAft>
                <a:spcPts val="200"/>
              </a:spcAft>
            </a:pPr>
            <a:r>
              <a:rPr sz="6800" b="1" i="0">
                <a:solidFill>
                  <a:srgbClr val="B9CBDA"/>
                </a:solidFill>
                <a:latin typeface="Aptos Display"/>
              </a:rPr>
              <a:t>6</a:t>
            </a:r>
          </a:p>
        </p:txBody>
      </p:sp>
      <p:sp>
        <p:nvSpPr>
          <p:cNvPr id="7" name="TextBox 6"/>
          <p:cNvSpPr txBox="1"/>
          <p:nvPr/>
        </p:nvSpPr>
        <p:spPr>
          <a:xfrm>
            <a:off x="2240280" y="2395728"/>
            <a:ext cx="8229600" cy="868680"/>
          </a:xfrm>
          <a:prstGeom prst="rect">
            <a:avLst/>
          </a:prstGeom>
          <a:noFill/>
        </p:spPr>
        <p:txBody>
          <a:bodyPr wrap="square" lIns="73152" rIns="73152" tIns="36576" bIns="36576" anchor="ctr">
            <a:spAutoFit/>
          </a:bodyPr>
          <a:lstStyle/>
          <a:p>
            <a:pPr algn="l">
              <a:lnSpc>
                <a:spcPct val="92000"/>
              </a:lnSpc>
              <a:spcAft>
                <a:spcPts val="200"/>
              </a:spcAft>
            </a:pPr>
            <a:r>
              <a:rPr sz="3200" b="1" i="0">
                <a:solidFill>
                  <a:srgbClr val="123A5F"/>
                </a:solidFill>
                <a:latin typeface="Aptos Display"/>
              </a:rPr>
              <a:t>Version Control &amp; Git</a:t>
            </a:r>
          </a:p>
        </p:txBody>
      </p:sp>
      <p:sp>
        <p:nvSpPr>
          <p:cNvPr id="8" name="TextBox 7"/>
          <p:cNvSpPr txBox="1"/>
          <p:nvPr/>
        </p:nvSpPr>
        <p:spPr>
          <a:xfrm>
            <a:off x="2267712" y="3273552"/>
            <a:ext cx="8229600" cy="384048"/>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5A6570"/>
                </a:solidFill>
                <a:latin typeface="Aptos"/>
              </a:rPr>
              <a:t>The object model that makes every command make sense</a:t>
            </a:r>
          </a:p>
        </p:txBody>
      </p:sp>
      <p:sp>
        <p:nvSpPr>
          <p:cNvPr id="9" name="Rectangle 8"/>
          <p:cNvSpPr/>
          <p:nvPr/>
        </p:nvSpPr>
        <p:spPr>
          <a:xfrm>
            <a:off x="2267712" y="3927348"/>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2523744" y="3817620"/>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Why version control comes first</a:t>
            </a:r>
          </a:p>
        </p:txBody>
      </p:sp>
      <p:sp>
        <p:nvSpPr>
          <p:cNvPr id="11" name="Rectangle 10"/>
          <p:cNvSpPr/>
          <p:nvPr/>
        </p:nvSpPr>
        <p:spPr>
          <a:xfrm>
            <a:off x="2267712" y="4256532"/>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2523744" y="4146804"/>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Blobs, trees, commits, tags</a:t>
            </a:r>
          </a:p>
        </p:txBody>
      </p:sp>
      <p:sp>
        <p:nvSpPr>
          <p:cNvPr id="13" name="Rectangle 12"/>
          <p:cNvSpPr/>
          <p:nvPr/>
        </p:nvSpPr>
        <p:spPr>
          <a:xfrm>
            <a:off x="2267712" y="4585716"/>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4" name="TextBox 13"/>
          <p:cNvSpPr txBox="1"/>
          <p:nvPr/>
        </p:nvSpPr>
        <p:spPr>
          <a:xfrm>
            <a:off x="2523744" y="4475988"/>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Branches and HEAD</a:t>
            </a:r>
          </a:p>
        </p:txBody>
      </p:sp>
      <p:sp>
        <p:nvSpPr>
          <p:cNvPr id="15" name="Rectangle 14"/>
          <p:cNvSpPr/>
          <p:nvPr/>
        </p:nvSpPr>
        <p:spPr>
          <a:xfrm>
            <a:off x="2267712" y="4914900"/>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2523744" y="4805172"/>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The four areas</a:t>
            </a:r>
          </a:p>
        </p:txBody>
      </p:sp>
      <p:sp>
        <p:nvSpPr>
          <p:cNvPr id="17" name="Rectangle 16"/>
          <p:cNvSpPr/>
          <p:nvPr/>
        </p:nvSpPr>
        <p:spPr>
          <a:xfrm>
            <a:off x="2267712" y="5244084"/>
            <a:ext cx="109728" cy="10972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2523744" y="5134356"/>
            <a:ext cx="8046720" cy="292608"/>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Undo, safely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§2.1</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Version control is the foundation of everything else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76656" y="1860804"/>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932688" y="1741932"/>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A single source of truth</a:t>
            </a:r>
          </a:p>
        </p:txBody>
      </p:sp>
      <p:sp>
        <p:nvSpPr>
          <p:cNvPr id="10" name="TextBox 9"/>
          <p:cNvSpPr txBox="1"/>
          <p:nvPr/>
        </p:nvSpPr>
        <p:spPr>
          <a:xfrm>
            <a:off x="932688" y="2075688"/>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The answer to "what is running?" is a git SHA</a:t>
            </a:r>
          </a:p>
        </p:txBody>
      </p:sp>
      <p:sp>
        <p:nvSpPr>
          <p:cNvPr id="11" name="Rectangle 10"/>
          <p:cNvSpPr/>
          <p:nvPr/>
        </p:nvSpPr>
        <p:spPr>
          <a:xfrm>
            <a:off x="676656" y="2583180"/>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32688" y="2464308"/>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Auditability</a:t>
            </a:r>
          </a:p>
        </p:txBody>
      </p:sp>
      <p:sp>
        <p:nvSpPr>
          <p:cNvPr id="13" name="TextBox 12"/>
          <p:cNvSpPr txBox="1"/>
          <p:nvPr/>
        </p:nvSpPr>
        <p:spPr>
          <a:xfrm>
            <a:off x="932688" y="2798064"/>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Who changed what, when and why — cryptographically chained</a:t>
            </a:r>
          </a:p>
        </p:txBody>
      </p:sp>
      <p:sp>
        <p:nvSpPr>
          <p:cNvPr id="14" name="Rectangle 13"/>
          <p:cNvSpPr/>
          <p:nvPr/>
        </p:nvSpPr>
        <p:spPr>
          <a:xfrm>
            <a:off x="676656" y="3305556"/>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32688" y="3186684"/>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Reversibility</a:t>
            </a:r>
          </a:p>
        </p:txBody>
      </p:sp>
      <p:sp>
        <p:nvSpPr>
          <p:cNvPr id="16" name="TextBox 15"/>
          <p:cNvSpPr txBox="1"/>
          <p:nvPr/>
        </p:nvSpPr>
        <p:spPr>
          <a:xfrm>
            <a:off x="932688" y="3520440"/>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Any state can be recreated; rollback is git revert plus a redeploy</a:t>
            </a:r>
          </a:p>
        </p:txBody>
      </p:sp>
      <p:sp>
        <p:nvSpPr>
          <p:cNvPr id="17" name="Rectangle 16"/>
          <p:cNvSpPr/>
          <p:nvPr/>
        </p:nvSpPr>
        <p:spPr>
          <a:xfrm>
            <a:off x="676656" y="4027932"/>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32688" y="3909060"/>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A trigger</a:t>
            </a:r>
          </a:p>
        </p:txBody>
      </p:sp>
      <p:sp>
        <p:nvSpPr>
          <p:cNvPr id="19" name="TextBox 18"/>
          <p:cNvSpPr txBox="1"/>
          <p:nvPr/>
        </p:nvSpPr>
        <p:spPr>
          <a:xfrm>
            <a:off x="932688" y="4242816"/>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CI/CD is event-driven off repository events. No VCS, no pipeline</a:t>
            </a:r>
          </a:p>
        </p:txBody>
      </p:sp>
      <p:sp>
        <p:nvSpPr>
          <p:cNvPr id="20" name="Rectangle 19"/>
          <p:cNvSpPr/>
          <p:nvPr/>
        </p:nvSpPr>
        <p:spPr>
          <a:xfrm>
            <a:off x="676656" y="4750308"/>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32688" y="4631436"/>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Everything is a file</a:t>
            </a:r>
          </a:p>
        </p:txBody>
      </p:sp>
      <p:sp>
        <p:nvSpPr>
          <p:cNvPr id="22" name="TextBox 21"/>
          <p:cNvSpPr txBox="1"/>
          <p:nvPr/>
        </p:nvSpPr>
        <p:spPr>
          <a:xfrm>
            <a:off x="932688" y="4965192"/>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Code, pipelines, infrastructure, manifests, dashboards, alert rules, policy</a:t>
            </a:r>
          </a:p>
        </p:txBody>
      </p:sp>
      <p:sp>
        <p:nvSpPr>
          <p:cNvPr id="23" name="Rectangle 22"/>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804672" y="5404104"/>
            <a:ext cx="1314907"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WHY GIT WON</a:t>
            </a:r>
          </a:p>
        </p:txBody>
      </p:sp>
      <p:sp>
        <p:nvSpPr>
          <p:cNvPr id="25" name="TextBox 24"/>
          <p:cNvSpPr txBox="1"/>
          <p:nvPr/>
        </p:nvSpPr>
        <p:spPr>
          <a:xfrm>
            <a:off x="2110435" y="5394959"/>
            <a:ext cx="9255556"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Centralised systems (Subversion, Perforce) keep history on one server; every Git clone is a full repository. Branching is cheap, history is tamper-evident, and almost every operation is local.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§2.2–2.3</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510" b="1" i="0">
                <a:solidFill>
                  <a:srgbClr val="123A5F"/>
                </a:solidFill>
                <a:latin typeface="Aptos Display"/>
              </a:rPr>
              <a:t>Git's four areas and four object types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2028322"/>
            <a:ext cx="2084831" cy="940094"/>
          </a:xfrm>
          <a:prstGeom prst="rect">
            <a:avLst/>
          </a:prstGeom>
          <a:solidFill>
            <a:srgbClr val="F3F6F8"/>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31519" y="2142768"/>
            <a:ext cx="1938527"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117A69"/>
                </a:solidFill>
                <a:latin typeface="Aptos"/>
              </a:rPr>
              <a:t>WORKING TREE</a:t>
            </a:r>
          </a:p>
        </p:txBody>
      </p:sp>
      <p:sp>
        <p:nvSpPr>
          <p:cNvPr id="10" name="TextBox 9"/>
          <p:cNvSpPr txBox="1"/>
          <p:nvPr/>
        </p:nvSpPr>
        <p:spPr>
          <a:xfrm>
            <a:off x="731519" y="2453408"/>
            <a:ext cx="1938527"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5A6570"/>
                </a:solidFill>
                <a:latin typeface="Aptos"/>
              </a:rPr>
              <a:t>the files you edit</a:t>
            </a:r>
          </a:p>
        </p:txBody>
      </p:sp>
      <p:sp>
        <p:nvSpPr>
          <p:cNvPr id="11" name="Rectangle 10"/>
          <p:cNvSpPr/>
          <p:nvPr/>
        </p:nvSpPr>
        <p:spPr>
          <a:xfrm>
            <a:off x="3587496" y="2028322"/>
            <a:ext cx="2084831" cy="940094"/>
          </a:xfrm>
          <a:prstGeom prst="rect">
            <a:avLst/>
          </a:prstGeom>
          <a:solidFill>
            <a:srgbClr val="F3F6F8"/>
          </a:solidFill>
          <a:ln w="12700">
            <a:solidFill>
              <a:srgbClr val="29ABE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3660648" y="2142768"/>
            <a:ext cx="1938527"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29ABE2"/>
                </a:solidFill>
                <a:latin typeface="Aptos"/>
              </a:rPr>
              <a:t>INDEX / STAGING</a:t>
            </a:r>
          </a:p>
        </p:txBody>
      </p:sp>
      <p:sp>
        <p:nvSpPr>
          <p:cNvPr id="13" name="TextBox 12"/>
          <p:cNvSpPr txBox="1"/>
          <p:nvPr/>
        </p:nvSpPr>
        <p:spPr>
          <a:xfrm>
            <a:off x="3660648" y="2453408"/>
            <a:ext cx="1938527"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5A6570"/>
                </a:solidFill>
                <a:latin typeface="Aptos"/>
              </a:rPr>
              <a:t>the proposed next commit</a:t>
            </a:r>
          </a:p>
        </p:txBody>
      </p:sp>
      <p:sp>
        <p:nvSpPr>
          <p:cNvPr id="14" name="Rectangle 13"/>
          <p:cNvSpPr/>
          <p:nvPr/>
        </p:nvSpPr>
        <p:spPr>
          <a:xfrm>
            <a:off x="6516624" y="2028322"/>
            <a:ext cx="2084831" cy="940094"/>
          </a:xfrm>
          <a:prstGeom prst="rect">
            <a:avLst/>
          </a:prstGeom>
          <a:solidFill>
            <a:srgbClr val="F3F6F8"/>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589776" y="2142768"/>
            <a:ext cx="1938527"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3E7D32"/>
                </a:solidFill>
                <a:latin typeface="Aptos"/>
              </a:rPr>
              <a:t>LOCAL REPOSITORY</a:t>
            </a:r>
          </a:p>
        </p:txBody>
      </p:sp>
      <p:sp>
        <p:nvSpPr>
          <p:cNvPr id="16" name="TextBox 15"/>
          <p:cNvSpPr txBox="1"/>
          <p:nvPr/>
        </p:nvSpPr>
        <p:spPr>
          <a:xfrm>
            <a:off x="6589776" y="2453408"/>
            <a:ext cx="1938527"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5A6570"/>
                </a:solidFill>
                <a:latin typeface="Aptos"/>
              </a:rPr>
              <a:t>committed history (.git)</a:t>
            </a:r>
          </a:p>
        </p:txBody>
      </p:sp>
      <p:sp>
        <p:nvSpPr>
          <p:cNvPr id="17" name="Rectangle 16"/>
          <p:cNvSpPr/>
          <p:nvPr/>
        </p:nvSpPr>
        <p:spPr>
          <a:xfrm>
            <a:off x="9445752" y="2028322"/>
            <a:ext cx="2084831" cy="940094"/>
          </a:xfrm>
          <a:prstGeom prst="rect">
            <a:avLst/>
          </a:prstGeom>
          <a:solidFill>
            <a:srgbClr val="F3F6F8"/>
          </a:solidFill>
          <a:ln w="12700">
            <a:solidFill>
              <a:srgbClr val="A0275C"/>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18904" y="2142768"/>
            <a:ext cx="1938527" cy="277941"/>
          </a:xfrm>
          <a:prstGeom prst="rect">
            <a:avLst/>
          </a:prstGeom>
          <a:noFill/>
        </p:spPr>
        <p:txBody>
          <a:bodyPr wrap="square" lIns="73152" rIns="73152" tIns="36576" bIns="36576" anchor="t">
            <a:spAutoFit/>
          </a:bodyPr>
          <a:lstStyle/>
          <a:p>
            <a:pPr algn="ctr">
              <a:lnSpc>
                <a:spcPct val="92000"/>
              </a:lnSpc>
              <a:spcAft>
                <a:spcPts val="200"/>
              </a:spcAft>
            </a:pPr>
            <a:r>
              <a:rPr sz="1150" b="1" i="0">
                <a:solidFill>
                  <a:srgbClr val="A0275C"/>
                </a:solidFill>
                <a:latin typeface="Aptos"/>
              </a:rPr>
              <a:t>REMOTE</a:t>
            </a:r>
          </a:p>
        </p:txBody>
      </p:sp>
      <p:sp>
        <p:nvSpPr>
          <p:cNvPr id="19" name="TextBox 18"/>
          <p:cNvSpPr txBox="1"/>
          <p:nvPr/>
        </p:nvSpPr>
        <p:spPr>
          <a:xfrm>
            <a:off x="9518904" y="2453408"/>
            <a:ext cx="1938527" cy="408736"/>
          </a:xfrm>
          <a:prstGeom prst="rect">
            <a:avLst/>
          </a:prstGeom>
          <a:noFill/>
        </p:spPr>
        <p:txBody>
          <a:bodyPr wrap="square" lIns="73152" rIns="73152" tIns="36576" bIns="36576" anchor="t">
            <a:spAutoFit/>
          </a:bodyPr>
          <a:lstStyle/>
          <a:p>
            <a:pPr algn="ctr">
              <a:lnSpc>
                <a:spcPct val="92000"/>
              </a:lnSpc>
              <a:spcAft>
                <a:spcPts val="200"/>
              </a:spcAft>
            </a:pPr>
            <a:r>
              <a:rPr sz="1050" b="0" i="0">
                <a:solidFill>
                  <a:srgbClr val="5A6570"/>
                </a:solidFill>
                <a:latin typeface="Aptos"/>
              </a:rPr>
              <a:t>origin, on GitHub</a:t>
            </a:r>
          </a:p>
        </p:txBody>
      </p:sp>
      <p:sp>
        <p:nvSpPr>
          <p:cNvPr id="20" name="Right Arrow 19"/>
          <p:cNvSpPr/>
          <p:nvPr/>
        </p:nvSpPr>
        <p:spPr>
          <a:xfrm>
            <a:off x="2779776" y="2240865"/>
            <a:ext cx="771144" cy="212543"/>
          </a:xfrm>
          <a:prstGeom prst="rightArrow">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31720" y="1995623"/>
            <a:ext cx="1667256"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117A69"/>
                </a:solidFill>
                <a:latin typeface="Aptos"/>
              </a:rPr>
              <a:t>git add</a:t>
            </a:r>
          </a:p>
        </p:txBody>
      </p:sp>
      <p:sp>
        <p:nvSpPr>
          <p:cNvPr id="22" name="Left Arrow 21"/>
          <p:cNvSpPr/>
          <p:nvPr/>
        </p:nvSpPr>
        <p:spPr>
          <a:xfrm>
            <a:off x="2779776" y="2682300"/>
            <a:ext cx="771144" cy="212543"/>
          </a:xfrm>
          <a:prstGeom prst="lef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878494"/>
            <a:ext cx="1850136" cy="212543"/>
          </a:xfrm>
          <a:prstGeom prst="rect">
            <a:avLst/>
          </a:prstGeom>
          <a:noFill/>
        </p:spPr>
        <p:txBody>
          <a:bodyPr wrap="square" lIns="73152" rIns="73152" tIns="36576" bIns="36576" anchor="t">
            <a:spAutoFit/>
          </a:bodyPr>
          <a:lstStyle/>
          <a:p>
            <a:pPr algn="ctr">
              <a:lnSpc>
                <a:spcPct val="92000"/>
              </a:lnSpc>
              <a:spcAft>
                <a:spcPts val="200"/>
              </a:spcAft>
            </a:pPr>
            <a:r>
              <a:rPr sz="900" b="0" i="0">
                <a:solidFill>
                  <a:srgbClr val="5A6570"/>
                </a:solidFill>
                <a:latin typeface="Aptos"/>
              </a:rPr>
              <a:t>git restore</a:t>
            </a:r>
          </a:p>
        </p:txBody>
      </p:sp>
      <p:sp>
        <p:nvSpPr>
          <p:cNvPr id="24" name="Right Arrow 23"/>
          <p:cNvSpPr/>
          <p:nvPr/>
        </p:nvSpPr>
        <p:spPr>
          <a:xfrm>
            <a:off x="5708904" y="2240865"/>
            <a:ext cx="771144" cy="212543"/>
          </a:xfrm>
          <a:prstGeom prst="rightArrow">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60848" y="1995623"/>
            <a:ext cx="1667256"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117A69"/>
                </a:solidFill>
                <a:latin typeface="Aptos"/>
              </a:rPr>
              <a:t>git commit</a:t>
            </a:r>
          </a:p>
        </p:txBody>
      </p:sp>
      <p:sp>
        <p:nvSpPr>
          <p:cNvPr id="26" name="Left Arrow 25"/>
          <p:cNvSpPr/>
          <p:nvPr/>
        </p:nvSpPr>
        <p:spPr>
          <a:xfrm>
            <a:off x="5708904" y="2682300"/>
            <a:ext cx="771144" cy="212543"/>
          </a:xfrm>
          <a:prstGeom prst="lef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69408" y="2878494"/>
            <a:ext cx="1850136" cy="212543"/>
          </a:xfrm>
          <a:prstGeom prst="rect">
            <a:avLst/>
          </a:prstGeom>
          <a:noFill/>
        </p:spPr>
        <p:txBody>
          <a:bodyPr wrap="square" lIns="73152" rIns="73152" tIns="36576" bIns="36576" anchor="t">
            <a:spAutoFit/>
          </a:bodyPr>
          <a:lstStyle/>
          <a:p>
            <a:pPr algn="ctr">
              <a:lnSpc>
                <a:spcPct val="92000"/>
              </a:lnSpc>
              <a:spcAft>
                <a:spcPts val="200"/>
              </a:spcAft>
            </a:pPr>
            <a:r>
              <a:rPr sz="900" b="0" i="0">
                <a:solidFill>
                  <a:srgbClr val="5A6570"/>
                </a:solidFill>
                <a:latin typeface="Aptos"/>
              </a:rPr>
              <a:t>git restore --staged</a:t>
            </a:r>
          </a:p>
        </p:txBody>
      </p:sp>
      <p:sp>
        <p:nvSpPr>
          <p:cNvPr id="28" name="Right Arrow 27"/>
          <p:cNvSpPr/>
          <p:nvPr/>
        </p:nvSpPr>
        <p:spPr>
          <a:xfrm>
            <a:off x="8638031" y="2240865"/>
            <a:ext cx="771144" cy="212543"/>
          </a:xfrm>
          <a:prstGeom prst="rightArrow">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9976" y="1995623"/>
            <a:ext cx="1667256" cy="212543"/>
          </a:xfrm>
          <a:prstGeom prst="rect">
            <a:avLst/>
          </a:prstGeom>
          <a:noFill/>
        </p:spPr>
        <p:txBody>
          <a:bodyPr wrap="square" lIns="73152" rIns="73152" tIns="36576" bIns="36576" anchor="t">
            <a:spAutoFit/>
          </a:bodyPr>
          <a:lstStyle/>
          <a:p>
            <a:pPr algn="ctr">
              <a:lnSpc>
                <a:spcPct val="92000"/>
              </a:lnSpc>
              <a:spcAft>
                <a:spcPts val="200"/>
              </a:spcAft>
            </a:pPr>
            <a:r>
              <a:rPr sz="950" b="1" i="0">
                <a:solidFill>
                  <a:srgbClr val="117A69"/>
                </a:solidFill>
                <a:latin typeface="Aptos"/>
              </a:rPr>
              <a:t>git push</a:t>
            </a:r>
          </a:p>
        </p:txBody>
      </p:sp>
      <p:sp>
        <p:nvSpPr>
          <p:cNvPr id="30" name="Left Arrow 29"/>
          <p:cNvSpPr/>
          <p:nvPr/>
        </p:nvSpPr>
        <p:spPr>
          <a:xfrm>
            <a:off x="8638031" y="2682300"/>
            <a:ext cx="771144" cy="212543"/>
          </a:xfrm>
          <a:prstGeom prst="leftArrow">
            <a:avLst/>
          </a:prstGeom>
          <a:solidFill>
            <a:srgbClr val="5A6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8535" y="2878494"/>
            <a:ext cx="1850136" cy="212543"/>
          </a:xfrm>
          <a:prstGeom prst="rect">
            <a:avLst/>
          </a:prstGeom>
          <a:noFill/>
        </p:spPr>
        <p:txBody>
          <a:bodyPr wrap="square" lIns="73152" rIns="73152" tIns="36576" bIns="36576" anchor="t">
            <a:spAutoFit/>
          </a:bodyPr>
          <a:lstStyle/>
          <a:p>
            <a:pPr algn="ctr">
              <a:lnSpc>
                <a:spcPct val="92000"/>
              </a:lnSpc>
              <a:spcAft>
                <a:spcPts val="200"/>
              </a:spcAft>
            </a:pPr>
            <a:r>
              <a:rPr sz="900" b="0" i="0">
                <a:solidFill>
                  <a:srgbClr val="5A6570"/>
                </a:solidFill>
                <a:latin typeface="Aptos"/>
              </a:rPr>
              <a:t>git fetch / pull</a:t>
            </a:r>
          </a:p>
        </p:txBody>
      </p:sp>
      <p:sp>
        <p:nvSpPr>
          <p:cNvPr id="32" name="Rectangle 31"/>
          <p:cNvSpPr/>
          <p:nvPr/>
        </p:nvSpPr>
        <p:spPr>
          <a:xfrm>
            <a:off x="658368" y="3458900"/>
            <a:ext cx="10872216" cy="1103589"/>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859536" y="3540648"/>
            <a:ext cx="10469880" cy="245242"/>
          </a:xfrm>
          <a:prstGeom prst="rect">
            <a:avLst/>
          </a:prstGeom>
          <a:noFill/>
        </p:spPr>
        <p:txBody>
          <a:bodyPr wrap="square" lIns="73152" rIns="73152" tIns="36576" bIns="36576" anchor="t">
            <a:spAutoFit/>
          </a:bodyPr>
          <a:lstStyle/>
          <a:p>
            <a:pPr algn="l">
              <a:lnSpc>
                <a:spcPct val="92000"/>
              </a:lnSpc>
              <a:spcAft>
                <a:spcPts val="200"/>
              </a:spcAft>
            </a:pPr>
            <a:r>
              <a:rPr sz="1050" b="1" i="0">
                <a:solidFill>
                  <a:srgbClr val="117A69"/>
                </a:solidFill>
                <a:latin typeface="Aptos"/>
              </a:rPr>
              <a:t>THE FOUR OBJECT TYPES</a:t>
            </a:r>
          </a:p>
        </p:txBody>
      </p:sp>
      <p:sp>
        <p:nvSpPr>
          <p:cNvPr id="34" name="Rectangle 33"/>
          <p:cNvSpPr/>
          <p:nvPr/>
        </p:nvSpPr>
        <p:spPr>
          <a:xfrm>
            <a:off x="886968" y="3843113"/>
            <a:ext cx="2331720" cy="588580"/>
          </a:xfrm>
          <a:prstGeom prst="rect">
            <a:avLst/>
          </a:prstGeom>
          <a:solidFill>
            <a:srgbClr val="FFFFFF"/>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5" name="TextBox 34"/>
          <p:cNvSpPr txBox="1"/>
          <p:nvPr/>
        </p:nvSpPr>
        <p:spPr>
          <a:xfrm>
            <a:off x="978408" y="3908511"/>
            <a:ext cx="2148840" cy="228892"/>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blob</a:t>
            </a:r>
          </a:p>
        </p:txBody>
      </p:sp>
      <p:sp>
        <p:nvSpPr>
          <p:cNvPr id="36" name="TextBox 35"/>
          <p:cNvSpPr txBox="1"/>
          <p:nvPr/>
        </p:nvSpPr>
        <p:spPr>
          <a:xfrm>
            <a:off x="978408" y="4137403"/>
            <a:ext cx="2148840" cy="245242"/>
          </a:xfrm>
          <a:prstGeom prst="rect">
            <a:avLst/>
          </a:prstGeom>
          <a:noFill/>
        </p:spPr>
        <p:txBody>
          <a:bodyPr wrap="square" lIns="73152" rIns="73152" tIns="36576" bIns="36576" anchor="t">
            <a:spAutoFit/>
          </a:bodyPr>
          <a:lstStyle/>
          <a:p>
            <a:pPr algn="l">
              <a:lnSpc>
                <a:spcPct val="92000"/>
              </a:lnSpc>
              <a:spcAft>
                <a:spcPts val="200"/>
              </a:spcAft>
            </a:pPr>
            <a:r>
              <a:rPr sz="950" b="0" i="0">
                <a:solidFill>
                  <a:srgbClr val="5A6570"/>
                </a:solidFill>
                <a:latin typeface="Aptos"/>
              </a:rPr>
              <a:t>file contents</a:t>
            </a:r>
          </a:p>
        </p:txBody>
      </p:sp>
      <p:sp>
        <p:nvSpPr>
          <p:cNvPr id="37" name="Rectangle 36"/>
          <p:cNvSpPr/>
          <p:nvPr/>
        </p:nvSpPr>
        <p:spPr>
          <a:xfrm>
            <a:off x="3374136" y="3843113"/>
            <a:ext cx="2331720" cy="588580"/>
          </a:xfrm>
          <a:prstGeom prst="rect">
            <a:avLst/>
          </a:prstGeom>
          <a:solidFill>
            <a:srgbClr val="FFFFFF"/>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8" name="TextBox 37"/>
          <p:cNvSpPr txBox="1"/>
          <p:nvPr/>
        </p:nvSpPr>
        <p:spPr>
          <a:xfrm>
            <a:off x="3465576" y="3908511"/>
            <a:ext cx="2148840" cy="228892"/>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tree</a:t>
            </a:r>
          </a:p>
        </p:txBody>
      </p:sp>
      <p:sp>
        <p:nvSpPr>
          <p:cNvPr id="39" name="TextBox 38"/>
          <p:cNvSpPr txBox="1"/>
          <p:nvPr/>
        </p:nvSpPr>
        <p:spPr>
          <a:xfrm>
            <a:off x="3465576" y="4137403"/>
            <a:ext cx="2148840" cy="245242"/>
          </a:xfrm>
          <a:prstGeom prst="rect">
            <a:avLst/>
          </a:prstGeom>
          <a:noFill/>
        </p:spPr>
        <p:txBody>
          <a:bodyPr wrap="square" lIns="73152" rIns="73152" tIns="36576" bIns="36576" anchor="t">
            <a:spAutoFit/>
          </a:bodyPr>
          <a:lstStyle/>
          <a:p>
            <a:pPr algn="l">
              <a:lnSpc>
                <a:spcPct val="92000"/>
              </a:lnSpc>
              <a:spcAft>
                <a:spcPts val="200"/>
              </a:spcAft>
            </a:pPr>
            <a:r>
              <a:rPr sz="950" b="0" i="0">
                <a:solidFill>
                  <a:srgbClr val="5A6570"/>
                </a:solidFill>
                <a:latin typeface="Aptos"/>
              </a:rPr>
              <a:t>a directory listing</a:t>
            </a:r>
          </a:p>
        </p:txBody>
      </p:sp>
      <p:sp>
        <p:nvSpPr>
          <p:cNvPr id="40" name="Rectangle 39"/>
          <p:cNvSpPr/>
          <p:nvPr/>
        </p:nvSpPr>
        <p:spPr>
          <a:xfrm>
            <a:off x="5861304" y="3843113"/>
            <a:ext cx="2331720" cy="588580"/>
          </a:xfrm>
          <a:prstGeom prst="rect">
            <a:avLst/>
          </a:prstGeom>
          <a:solidFill>
            <a:srgbClr val="FFFFFF"/>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5952744" y="3908511"/>
            <a:ext cx="2148840" cy="228892"/>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commit</a:t>
            </a:r>
          </a:p>
        </p:txBody>
      </p:sp>
      <p:sp>
        <p:nvSpPr>
          <p:cNvPr id="42" name="TextBox 41"/>
          <p:cNvSpPr txBox="1"/>
          <p:nvPr/>
        </p:nvSpPr>
        <p:spPr>
          <a:xfrm>
            <a:off x="5952744" y="4137403"/>
            <a:ext cx="2148840" cy="245242"/>
          </a:xfrm>
          <a:prstGeom prst="rect">
            <a:avLst/>
          </a:prstGeom>
          <a:noFill/>
        </p:spPr>
        <p:txBody>
          <a:bodyPr wrap="square" lIns="73152" rIns="73152" tIns="36576" bIns="36576" anchor="t">
            <a:spAutoFit/>
          </a:bodyPr>
          <a:lstStyle/>
          <a:p>
            <a:pPr algn="l">
              <a:lnSpc>
                <a:spcPct val="92000"/>
              </a:lnSpc>
              <a:spcAft>
                <a:spcPts val="200"/>
              </a:spcAft>
            </a:pPr>
            <a:r>
              <a:rPr sz="950" b="0" i="0">
                <a:solidFill>
                  <a:srgbClr val="5A6570"/>
                </a:solidFill>
                <a:latin typeface="Aptos"/>
              </a:rPr>
              <a:t>a tree + parent(s) + author + message</a:t>
            </a:r>
          </a:p>
        </p:txBody>
      </p:sp>
      <p:sp>
        <p:nvSpPr>
          <p:cNvPr id="43" name="Rectangle 42"/>
          <p:cNvSpPr/>
          <p:nvPr/>
        </p:nvSpPr>
        <p:spPr>
          <a:xfrm>
            <a:off x="8348472" y="3843113"/>
            <a:ext cx="2331720" cy="588580"/>
          </a:xfrm>
          <a:prstGeom prst="rect">
            <a:avLst/>
          </a:prstGeom>
          <a:solidFill>
            <a:srgbClr val="FFFFFF"/>
          </a:solidFill>
          <a:ln w="6350">
            <a:solidFill>
              <a:srgbClr val="C9D2D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4" name="TextBox 43"/>
          <p:cNvSpPr txBox="1"/>
          <p:nvPr/>
        </p:nvSpPr>
        <p:spPr>
          <a:xfrm>
            <a:off x="8439912" y="3908511"/>
            <a:ext cx="2148840" cy="228892"/>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123A5F"/>
                </a:solidFill>
                <a:latin typeface="Aptos"/>
              </a:rPr>
              <a:t>tag</a:t>
            </a:r>
          </a:p>
        </p:txBody>
      </p:sp>
      <p:sp>
        <p:nvSpPr>
          <p:cNvPr id="45" name="TextBox 44"/>
          <p:cNvSpPr txBox="1"/>
          <p:nvPr/>
        </p:nvSpPr>
        <p:spPr>
          <a:xfrm>
            <a:off x="8439912" y="4137403"/>
            <a:ext cx="2148840" cy="245242"/>
          </a:xfrm>
          <a:prstGeom prst="rect">
            <a:avLst/>
          </a:prstGeom>
          <a:noFill/>
        </p:spPr>
        <p:txBody>
          <a:bodyPr wrap="square" lIns="73152" rIns="73152" tIns="36576" bIns="36576" anchor="t">
            <a:spAutoFit/>
          </a:bodyPr>
          <a:lstStyle/>
          <a:p>
            <a:pPr algn="l">
              <a:lnSpc>
                <a:spcPct val="92000"/>
              </a:lnSpc>
              <a:spcAft>
                <a:spcPts val="200"/>
              </a:spcAft>
            </a:pPr>
            <a:r>
              <a:rPr sz="950" b="0" i="0">
                <a:solidFill>
                  <a:srgbClr val="5A6570"/>
                </a:solidFill>
                <a:latin typeface="Aptos"/>
              </a:rPr>
              <a:t>a named pointer</a:t>
            </a:r>
          </a:p>
        </p:txBody>
      </p:sp>
      <p:sp>
        <p:nvSpPr>
          <p:cNvPr id="46" name="Rectangle 45"/>
          <p:cNvSpPr/>
          <p:nvPr/>
        </p:nvSpPr>
        <p:spPr>
          <a:xfrm>
            <a:off x="658368" y="4791382"/>
            <a:ext cx="10872216" cy="940094"/>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7" name="TextBox 46"/>
          <p:cNvSpPr txBox="1"/>
          <p:nvPr/>
        </p:nvSpPr>
        <p:spPr>
          <a:xfrm>
            <a:off x="859536" y="4873130"/>
            <a:ext cx="10469880" cy="776599"/>
          </a:xfrm>
          <a:prstGeom prst="rect">
            <a:avLst/>
          </a:prstGeom>
          <a:noFill/>
        </p:spPr>
        <p:txBody>
          <a:bodyPr wrap="square" lIns="73152" rIns="73152" tIns="36576" bIns="36576" anchor="t">
            <a:spAutoFit/>
          </a:bodyPr>
          <a:lstStyle/>
          <a:p>
            <a:pPr algn="l">
              <a:lnSpc>
                <a:spcPct val="112000"/>
              </a:lnSpc>
              <a:spcAft>
                <a:spcPts val="200"/>
              </a:spcAft>
            </a:pPr>
            <a:r>
              <a:rPr sz="1200" b="0" i="0">
                <a:solidFill>
                  <a:srgbClr val="123A5F"/>
                </a:solidFill>
                <a:latin typeface="Aptos"/>
              </a:rPr>
              <a:t>Every object is addressed by the SHA-1/SHA-256 of its contents. Change one byte anywhere and every hash from that point forward changes.</a:t>
            </a:r>
          </a:p>
          <a:p>
            <a:pPr algn="l">
              <a:lnSpc>
                <a:spcPct val="112000"/>
              </a:lnSpc>
              <a:spcAft>
                <a:spcPts val="200"/>
              </a:spcAft>
            </a:pPr>
            <a:r>
              <a:rPr sz="1200" b="0" i="0">
                <a:solidFill>
                  <a:srgbClr val="123A5F"/>
                </a:solidFill>
                <a:latin typeface="Aptos"/>
              </a:rPr>
              <a:t>That is why git history is tamper-evident — and why, in a bank, the commit graph is admissible audit evidence.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Commit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An immutable, content-addressed snapshot: a tree hash, zero or more parent commits, an author and committer with timestamps, and a message. Its identity is the hash of all of that.</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Immutable</a:t>
            </a:r>
          </a:p>
        </p:txBody>
      </p:sp>
      <p:sp>
        <p:nvSpPr>
          <p:cNvPr id="13" name="TextBox 12"/>
          <p:cNvSpPr txBox="1"/>
          <p:nvPr/>
        </p:nvSpPr>
        <p:spPr>
          <a:xfrm>
            <a:off x="950976" y="309067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You never change a commit — you create a new one. "Amending" makes a new object</a:t>
            </a:r>
          </a:p>
        </p:txBody>
      </p:sp>
      <p:sp>
        <p:nvSpPr>
          <p:cNvPr id="14" name="Rectangle 13"/>
          <p:cNvSpPr/>
          <p:nvPr/>
        </p:nvSpPr>
        <p:spPr>
          <a:xfrm>
            <a:off x="676656" y="3678936"/>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69208"/>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Content-addressed</a:t>
            </a:r>
          </a:p>
        </p:txBody>
      </p:sp>
      <p:sp>
        <p:nvSpPr>
          <p:cNvPr id="16" name="TextBox 15"/>
          <p:cNvSpPr txBox="1"/>
          <p:nvPr/>
        </p:nvSpPr>
        <p:spPr>
          <a:xfrm>
            <a:off x="950976" y="3889248"/>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Change one byte and every hash from that point forward changes</a:t>
            </a:r>
          </a:p>
        </p:txBody>
      </p:sp>
      <p:sp>
        <p:nvSpPr>
          <p:cNvPr id="17" name="Rectangle 16"/>
          <p:cNvSpPr/>
          <p:nvPr/>
        </p:nvSpPr>
        <p:spPr>
          <a:xfrm>
            <a:off x="676656" y="4477512"/>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367784"/>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Parents make it a DAG</a:t>
            </a:r>
          </a:p>
        </p:txBody>
      </p:sp>
      <p:sp>
        <p:nvSpPr>
          <p:cNvPr id="19" name="TextBox 18"/>
          <p:cNvSpPr txBox="1"/>
          <p:nvPr/>
        </p:nvSpPr>
        <p:spPr>
          <a:xfrm>
            <a:off x="950976" y="4687824"/>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A merge commit has two parents; that is the whole of branching</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The message is the only record of WHY</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The diff already shows what changed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53</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Branch and HEAD</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786384"/>
          </a:xfrm>
          <a:prstGeom prst="rect">
            <a:avLst/>
          </a:prstGeom>
          <a:solidFill>
            <a:srgbClr val="E6F4F1"/>
          </a:solidFill>
          <a:ln w="12700">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786384"/>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50976" y="1856231"/>
            <a:ext cx="10369296" cy="640080"/>
          </a:xfrm>
          <a:prstGeom prst="rect">
            <a:avLst/>
          </a:prstGeom>
          <a:noFill/>
        </p:spPr>
        <p:txBody>
          <a:bodyPr wrap="square" lIns="73152" rIns="73152" tIns="36576" bIns="36576" anchor="ctr">
            <a:spAutoFit/>
          </a:bodyPr>
          <a:lstStyle/>
          <a:p>
            <a:pPr algn="l">
              <a:lnSpc>
                <a:spcPct val="100000"/>
              </a:lnSpc>
              <a:spcAft>
                <a:spcPts val="200"/>
              </a:spcAft>
            </a:pPr>
            <a:r>
              <a:rPr sz="1500" b="0" i="0">
                <a:solidFill>
                  <a:srgbClr val="123A5F"/>
                </a:solidFill>
                <a:latin typeface="Aptos"/>
              </a:rPr>
              <a:t>A branch is a movable pointer to a commit — a 41-byte file in .git/refs/heads. HEAD is a pointer to the branch you are on. Neither contains any code.</a:t>
            </a:r>
          </a:p>
        </p:txBody>
      </p:sp>
      <p:sp>
        <p:nvSpPr>
          <p:cNvPr id="11" name="Rectangle 10"/>
          <p:cNvSpPr/>
          <p:nvPr/>
        </p:nvSpPr>
        <p:spPr>
          <a:xfrm>
            <a:off x="676656" y="2880360"/>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50976" y="2770632"/>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Creating a branch is instant, whatever the repository size</a:t>
            </a:r>
          </a:p>
        </p:txBody>
      </p:sp>
      <p:sp>
        <p:nvSpPr>
          <p:cNvPr id="13" name="TextBox 12"/>
          <p:cNvSpPr txBox="1"/>
          <p:nvPr/>
        </p:nvSpPr>
        <p:spPr>
          <a:xfrm>
            <a:off x="950976" y="3090672"/>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It writes one small file. "Branching is expensive" is a Subversion-era belief</a:t>
            </a:r>
          </a:p>
        </p:txBody>
      </p:sp>
      <p:sp>
        <p:nvSpPr>
          <p:cNvPr id="14" name="Rectangle 13"/>
          <p:cNvSpPr/>
          <p:nvPr/>
        </p:nvSpPr>
        <p:spPr>
          <a:xfrm>
            <a:off x="676656" y="3621024"/>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50976" y="3511296"/>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History is a graph, not a line</a:t>
            </a:r>
          </a:p>
        </p:txBody>
      </p:sp>
      <p:sp>
        <p:nvSpPr>
          <p:cNvPr id="16" name="TextBox 15"/>
          <p:cNvSpPr txBox="1"/>
          <p:nvPr/>
        </p:nvSpPr>
        <p:spPr>
          <a:xfrm>
            <a:off x="950976" y="3831336"/>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A merge commit simply has two parents</a:t>
            </a:r>
          </a:p>
        </p:txBody>
      </p:sp>
      <p:sp>
        <p:nvSpPr>
          <p:cNvPr id="17" name="Rectangle 16"/>
          <p:cNvSpPr/>
          <p:nvPr/>
        </p:nvSpPr>
        <p:spPr>
          <a:xfrm>
            <a:off x="676656" y="43616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50976" y="42519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Rewriting is replacing</a:t>
            </a:r>
          </a:p>
        </p:txBody>
      </p:sp>
      <p:sp>
        <p:nvSpPr>
          <p:cNvPr id="19" name="TextBox 18"/>
          <p:cNvSpPr txBox="1"/>
          <p:nvPr/>
        </p:nvSpPr>
        <p:spPr>
          <a:xfrm>
            <a:off x="950976" y="4572000"/>
            <a:ext cx="10561320" cy="411480"/>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amend, rebase and cherry-pick create NEW commits — force-pushing a shared branch replaces commits others already have</a:t>
            </a:r>
          </a:p>
        </p:txBody>
      </p:sp>
      <p:sp>
        <p:nvSpPr>
          <p:cNvPr id="20" name="Rectangle 19"/>
          <p:cNvSpPr/>
          <p:nvPr/>
        </p:nvSpPr>
        <p:spPr>
          <a:xfrm>
            <a:off x="676656" y="5276088"/>
            <a:ext cx="118872" cy="118872"/>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50976" y="5166359"/>
            <a:ext cx="10561320" cy="274320"/>
          </a:xfrm>
          <a:prstGeom prst="rect">
            <a:avLst/>
          </a:prstGeom>
          <a:noFill/>
        </p:spPr>
        <p:txBody>
          <a:bodyPr wrap="square" lIns="73152" rIns="73152" tIns="36576" bIns="36576" anchor="t">
            <a:spAutoFit/>
          </a:bodyPr>
          <a:lstStyle/>
          <a:p>
            <a:pPr algn="l">
              <a:lnSpc>
                <a:spcPct val="92000"/>
              </a:lnSpc>
              <a:spcAft>
                <a:spcPts val="200"/>
              </a:spcAft>
            </a:pPr>
            <a:r>
              <a:rPr sz="1300" b="1" i="0">
                <a:solidFill>
                  <a:srgbClr val="123A5F"/>
                </a:solidFill>
                <a:latin typeface="Aptos"/>
              </a:rPr>
              <a:t>Detached HEAD</a:t>
            </a:r>
          </a:p>
        </p:txBody>
      </p:sp>
      <p:sp>
        <p:nvSpPr>
          <p:cNvPr id="22" name="TextBox 21"/>
          <p:cNvSpPr txBox="1"/>
          <p:nvPr/>
        </p:nvSpPr>
        <p:spPr>
          <a:xfrm>
            <a:off x="950976" y="5486400"/>
            <a:ext cx="10561320" cy="237744"/>
          </a:xfrm>
          <a:prstGeom prst="rect">
            <a:avLst/>
          </a:prstGeom>
          <a:noFill/>
        </p:spPr>
        <p:txBody>
          <a:bodyPr wrap="square" lIns="73152" rIns="73152" tIns="36576" bIns="36576" anchor="t">
            <a:spAutoFit/>
          </a:bodyPr>
          <a:lstStyle/>
          <a:p>
            <a:pPr algn="l">
              <a:lnSpc>
                <a:spcPct val="92000"/>
              </a:lnSpc>
              <a:spcAft>
                <a:spcPts val="200"/>
              </a:spcAft>
            </a:pPr>
            <a:r>
              <a:rPr sz="1130" b="0" i="0">
                <a:solidFill>
                  <a:srgbClr val="5A6570"/>
                </a:solidFill>
                <a:latin typeface="Aptos"/>
              </a:rPr>
              <a:t>HEAD points at a commit instead of a branch; new commits belong to no branch. Fix: git switch -c &lt;name&gt;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54</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LIVE DEMO  ·  6 MIN</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Look inside .git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523329" cy="391972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523329"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608929"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TERMINAL</a:t>
            </a:r>
          </a:p>
        </p:txBody>
      </p:sp>
      <p:sp>
        <p:nvSpPr>
          <p:cNvPr id="14" name="TextBox 13"/>
          <p:cNvSpPr txBox="1"/>
          <p:nvPr/>
        </p:nvSpPr>
        <p:spPr>
          <a:xfrm>
            <a:off x="768096" y="2185416"/>
            <a:ext cx="6322161" cy="3279648"/>
          </a:xfrm>
          <a:prstGeom prst="rect">
            <a:avLst/>
          </a:prstGeom>
          <a:noFill/>
        </p:spPr>
        <p:txBody>
          <a:bodyPr wrap="square" lIns="73152" rIns="73152" tIns="18288" bIns="18288">
            <a:spAutoFit/>
          </a:bodyPr>
          <a:lstStyle/>
          <a:p>
            <a:pPr>
              <a:lnSpc>
                <a:spcPct val="100000"/>
              </a:lnSpc>
              <a:spcAft>
                <a:spcPts val="0"/>
              </a:spcAft>
            </a:pPr>
            <a:r>
              <a:rPr sz="1300" b="1">
                <a:solidFill>
                  <a:srgbClr val="7CC8EE"/>
                </a:solidFill>
                <a:latin typeface="Consolas"/>
              </a:rPr>
              <a:t>$ </a:t>
            </a:r>
            <a:r>
              <a:rPr sz="1300" b="0">
                <a:solidFill>
                  <a:srgbClr val="E8EEF4"/>
                </a:solidFill>
                <a:latin typeface="Consolas"/>
              </a:rPr>
              <a:t>git init -q demo &amp;&amp; cd demo</a:t>
            </a:r>
          </a:p>
          <a:p>
            <a:pPr>
              <a:lnSpc>
                <a:spcPct val="100000"/>
              </a:lnSpc>
              <a:spcAft>
                <a:spcPts val="0"/>
              </a:spcAft>
            </a:pPr>
            <a:r>
              <a:rPr sz="1300" b="1">
                <a:solidFill>
                  <a:srgbClr val="7CC8EE"/>
                </a:solidFill>
                <a:latin typeface="Consolas"/>
              </a:rPr>
              <a:t>$ </a:t>
            </a:r>
            <a:r>
              <a:rPr sz="1300" b="0">
                <a:solidFill>
                  <a:srgbClr val="E8EEF4"/>
                </a:solidFill>
                <a:latin typeface="Consolas"/>
              </a:rPr>
              <a:t>echo "PayTrack" &gt; README.md &amp;&amp; git add README.md</a:t>
            </a:r>
          </a:p>
          <a:p>
            <a:pPr>
              <a:lnSpc>
                <a:spcPct val="100000"/>
              </a:lnSpc>
              <a:spcAft>
                <a:spcPts val="0"/>
              </a:spcAft>
            </a:pPr>
            <a:r>
              <a:rPr sz="1300" b="1">
                <a:solidFill>
                  <a:srgbClr val="7CC8EE"/>
                </a:solidFill>
                <a:latin typeface="Consolas"/>
              </a:rPr>
              <a:t>$ </a:t>
            </a:r>
            <a:r>
              <a:rPr sz="1300" b="0">
                <a:solidFill>
                  <a:srgbClr val="E8EEF4"/>
                </a:solidFill>
                <a:latin typeface="Consolas"/>
              </a:rPr>
              <a:t>find .git/objects -type f</a:t>
            </a:r>
          </a:p>
          <a:p>
            <a:pPr>
              <a:lnSpc>
                <a:spcPct val="100000"/>
              </a:lnSpc>
              <a:spcAft>
                <a:spcPts val="0"/>
              </a:spcAft>
            </a:pPr>
            <a:r>
              <a:rPr sz="1300" b="0">
                <a:solidFill>
                  <a:srgbClr val="E8EEF4"/>
                </a:solidFill>
                <a:latin typeface="Consolas"/>
              </a:rPr>
              <a:t>.git/objects/97/82e7e6e0e7bc940b7fcebae75dbeb9ab5a02eb</a:t>
            </a:r>
          </a:p>
          <a:p>
            <a:pPr>
              <a:lnSpc>
                <a:spcPct val="100000"/>
              </a:lnSpc>
              <a:spcAft>
                <a:spcPts val="0"/>
              </a:spcAft>
            </a:pPr>
            <a:r>
              <a:rPr sz="1300" b="1">
                <a:solidFill>
                  <a:srgbClr val="7CC8EE"/>
                </a:solidFill>
                <a:latin typeface="Consolas"/>
              </a:rPr>
              <a:t>$ </a:t>
            </a:r>
            <a:r>
              <a:rPr sz="1300" b="0">
                <a:solidFill>
                  <a:srgbClr val="E8EEF4"/>
                </a:solidFill>
                <a:latin typeface="Consolas"/>
              </a:rPr>
              <a:t>git cat-file -t 9782e7e</a:t>
            </a:r>
          </a:p>
          <a:p>
            <a:pPr>
              <a:lnSpc>
                <a:spcPct val="100000"/>
              </a:lnSpc>
              <a:spcAft>
                <a:spcPts val="0"/>
              </a:spcAft>
            </a:pPr>
            <a:r>
              <a:rPr sz="1300" b="0">
                <a:solidFill>
                  <a:srgbClr val="E8EEF4"/>
                </a:solidFill>
                <a:latin typeface="Consolas"/>
              </a:rPr>
              <a:t>blob</a:t>
            </a:r>
          </a:p>
          <a:p>
            <a:pPr>
              <a:lnSpc>
                <a:spcPct val="100000"/>
              </a:lnSpc>
              <a:spcAft>
                <a:spcPts val="0"/>
              </a:spcAft>
            </a:pPr>
            <a:r>
              <a:rPr sz="1300" b="1">
                <a:solidFill>
                  <a:srgbClr val="7CC8EE"/>
                </a:solidFill>
                <a:latin typeface="Consolas"/>
              </a:rPr>
              <a:t>$ </a:t>
            </a:r>
            <a:r>
              <a:rPr sz="1300" b="0">
                <a:solidFill>
                  <a:srgbClr val="E8EEF4"/>
                </a:solidFill>
                <a:latin typeface="Consolas"/>
              </a:rPr>
              <a:t>git commit -qm "docs: add readme"</a:t>
            </a:r>
          </a:p>
          <a:p>
            <a:pPr>
              <a:lnSpc>
                <a:spcPct val="100000"/>
              </a:lnSpc>
              <a:spcAft>
                <a:spcPts val="0"/>
              </a:spcAft>
            </a:pPr>
            <a:r>
              <a:rPr sz="1300" b="1">
                <a:solidFill>
                  <a:srgbClr val="7CC8EE"/>
                </a:solidFill>
                <a:latin typeface="Consolas"/>
              </a:rPr>
              <a:t>$ </a:t>
            </a:r>
            <a:r>
              <a:rPr sz="1300" b="0">
                <a:solidFill>
                  <a:srgbClr val="E8EEF4"/>
                </a:solidFill>
                <a:latin typeface="Consolas"/>
              </a:rPr>
              <a:t>git cat-file -p HEAD</a:t>
            </a:r>
          </a:p>
          <a:p>
            <a:pPr>
              <a:lnSpc>
                <a:spcPct val="100000"/>
              </a:lnSpc>
              <a:spcAft>
                <a:spcPts val="0"/>
              </a:spcAft>
            </a:pPr>
            <a:r>
              <a:rPr sz="1300" b="0">
                <a:solidFill>
                  <a:srgbClr val="E8EEF4"/>
                </a:solidFill>
                <a:latin typeface="Consolas"/>
              </a:rPr>
              <a:t>tree 3020aa2a9fead3fb23de9e11225eff5d0894ffd6</a:t>
            </a:r>
          </a:p>
          <a:p>
            <a:pPr>
              <a:lnSpc>
                <a:spcPct val="100000"/>
              </a:lnSpc>
              <a:spcAft>
                <a:spcPts val="0"/>
              </a:spcAft>
            </a:pPr>
            <a:r>
              <a:rPr sz="1300" b="0">
                <a:solidFill>
                  <a:srgbClr val="E8EEF4"/>
                </a:solidFill>
                <a:latin typeface="Consolas"/>
              </a:rPr>
              <a:t>author Demo &lt;demo@example.com&gt; 1789491961 +0200</a:t>
            </a:r>
          </a:p>
          <a:p>
            <a:pPr>
              <a:lnSpc>
                <a:spcPct val="100000"/>
              </a:lnSpc>
              <a:spcAft>
                <a:spcPts val="0"/>
              </a:spcAft>
            </a:pPr>
            <a:r>
              <a:rPr sz="1300" b="0">
                <a:solidFill>
                  <a:srgbClr val="E8EEF4"/>
                </a:solidFill>
                <a:latin typeface="Consolas"/>
              </a:rPr>
              <a:t> </a:t>
            </a:r>
          </a:p>
          <a:p>
            <a:pPr>
              <a:lnSpc>
                <a:spcPct val="100000"/>
              </a:lnSpc>
              <a:spcAft>
                <a:spcPts val="0"/>
              </a:spcAft>
            </a:pPr>
            <a:r>
              <a:rPr sz="1300" b="0">
                <a:solidFill>
                  <a:srgbClr val="E8EEF4"/>
                </a:solidFill>
                <a:latin typeface="Consolas"/>
              </a:rPr>
              <a:t>docs: add readme</a:t>
            </a:r>
          </a:p>
          <a:p>
            <a:pPr>
              <a:lnSpc>
                <a:spcPct val="100000"/>
              </a:lnSpc>
              <a:spcAft>
                <a:spcPts val="0"/>
              </a:spcAft>
            </a:pPr>
            <a:r>
              <a:rPr sz="1300" b="1">
                <a:solidFill>
                  <a:srgbClr val="7CC8EE"/>
                </a:solidFill>
                <a:latin typeface="Consolas"/>
              </a:rPr>
              <a:t>$ </a:t>
            </a:r>
            <a:r>
              <a:rPr sz="1300" b="0">
                <a:solidFill>
                  <a:srgbClr val="E8EEF4"/>
                </a:solidFill>
                <a:latin typeface="Consolas"/>
              </a:rPr>
              <a:t>cat .git/HEAD</a:t>
            </a:r>
          </a:p>
          <a:p>
            <a:pPr>
              <a:lnSpc>
                <a:spcPct val="100000"/>
              </a:lnSpc>
              <a:spcAft>
                <a:spcPts val="0"/>
              </a:spcAft>
            </a:pPr>
            <a:r>
              <a:rPr sz="1300" b="0">
                <a:solidFill>
                  <a:srgbClr val="E8EEF4"/>
                </a:solidFill>
                <a:latin typeface="Consolas"/>
              </a:rPr>
              <a:t>ref: refs/heads/main</a:t>
            </a:r>
          </a:p>
          <a:p>
            <a:pPr>
              <a:lnSpc>
                <a:spcPct val="100000"/>
              </a:lnSpc>
              <a:spcAft>
                <a:spcPts val="0"/>
              </a:spcAft>
            </a:pPr>
            <a:r>
              <a:rPr sz="1300" b="1">
                <a:solidFill>
                  <a:srgbClr val="7CC8EE"/>
                </a:solidFill>
                <a:latin typeface="Consolas"/>
              </a:rPr>
              <a:t>$ </a:t>
            </a:r>
            <a:r>
              <a:rPr sz="1300" b="0">
                <a:solidFill>
                  <a:srgbClr val="E8EEF4"/>
                </a:solidFill>
                <a:latin typeface="Consolas"/>
              </a:rPr>
              <a:t>wc -c .git/refs/heads/main</a:t>
            </a:r>
          </a:p>
          <a:p>
            <a:pPr>
              <a:lnSpc>
                <a:spcPct val="100000"/>
              </a:lnSpc>
              <a:spcAft>
                <a:spcPts val="0"/>
              </a:spcAft>
            </a:pPr>
            <a:r>
              <a:rPr sz="1300" b="0">
                <a:solidFill>
                  <a:srgbClr val="E8EEF4"/>
                </a:solidFill>
                <a:latin typeface="Consolas"/>
              </a:rPr>
              <a:t>41 .git/refs/heads/main</a:t>
            </a:r>
          </a:p>
        </p:txBody>
      </p:sp>
      <p:sp>
        <p:nvSpPr>
          <p:cNvPr id="15" name="TextBox 14"/>
          <p:cNvSpPr txBox="1"/>
          <p:nvPr/>
        </p:nvSpPr>
        <p:spPr>
          <a:xfrm>
            <a:off x="7456017" y="1764792"/>
            <a:ext cx="407456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D2760D"/>
                </a:solidFill>
                <a:latin typeface="Aptos"/>
              </a:rPr>
              <a:t>WATCH FOR</a:t>
            </a:r>
          </a:p>
        </p:txBody>
      </p:sp>
      <p:sp>
        <p:nvSpPr>
          <p:cNvPr id="16" name="Oval 15"/>
          <p:cNvSpPr/>
          <p:nvPr/>
        </p:nvSpPr>
        <p:spPr>
          <a:xfrm>
            <a:off x="7456017" y="2121408"/>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56017"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785201" y="2075688"/>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git add already wrote an object</a:t>
            </a:r>
          </a:p>
          <a:p>
            <a:pPr>
              <a:lnSpc>
                <a:spcPct val="95000"/>
              </a:lnSpc>
              <a:spcBef>
                <a:spcPts val="200"/>
              </a:spcBef>
              <a:spcAft>
                <a:spcPts val="100"/>
              </a:spcAft>
            </a:pPr>
            <a:r>
              <a:rPr sz="1090" b="0">
                <a:solidFill>
                  <a:srgbClr val="5A6570"/>
                </a:solidFill>
                <a:latin typeface="Aptos"/>
              </a:rPr>
              <a:t>The blob exists before any commit — named by the hash of its content</a:t>
            </a:r>
          </a:p>
        </p:txBody>
      </p:sp>
      <p:sp>
        <p:nvSpPr>
          <p:cNvPr id="19" name="Oval 18"/>
          <p:cNvSpPr/>
          <p:nvPr/>
        </p:nvSpPr>
        <p:spPr>
          <a:xfrm>
            <a:off x="7456017" y="3133343"/>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456017" y="3151631"/>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785201" y="3087624"/>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A blob has no filename</a:t>
            </a:r>
          </a:p>
          <a:p>
            <a:pPr>
              <a:lnSpc>
                <a:spcPct val="95000"/>
              </a:lnSpc>
              <a:spcBef>
                <a:spcPts val="200"/>
              </a:spcBef>
              <a:spcAft>
                <a:spcPts val="100"/>
              </a:spcAft>
            </a:pPr>
            <a:r>
              <a:rPr sz="1090" b="0">
                <a:solidFill>
                  <a:srgbClr val="5A6570"/>
                </a:solidFill>
                <a:latin typeface="Aptos"/>
              </a:rPr>
              <a:t>The name lives in the TREE that the commit points at</a:t>
            </a:r>
          </a:p>
        </p:txBody>
      </p:sp>
      <p:sp>
        <p:nvSpPr>
          <p:cNvPr id="22" name="Oval 21"/>
          <p:cNvSpPr/>
          <p:nvPr/>
        </p:nvSpPr>
        <p:spPr>
          <a:xfrm>
            <a:off x="7456017" y="4145280"/>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456017" y="416356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785201" y="4099560"/>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HEAD names a branch</a:t>
            </a:r>
          </a:p>
          <a:p>
            <a:pPr>
              <a:lnSpc>
                <a:spcPct val="95000"/>
              </a:lnSpc>
              <a:spcBef>
                <a:spcPts val="200"/>
              </a:spcBef>
              <a:spcAft>
                <a:spcPts val="100"/>
              </a:spcAft>
            </a:pPr>
            <a:r>
              <a:rPr sz="1090" b="0">
                <a:solidFill>
                  <a:srgbClr val="5A6570"/>
                </a:solidFill>
                <a:latin typeface="Aptos"/>
              </a:rPr>
              <a:t>And the branch is a 41-byte file holding one commit hash</a:t>
            </a:r>
          </a:p>
        </p:txBody>
      </p:sp>
      <p:sp>
        <p:nvSpPr>
          <p:cNvPr id="25" name="Oval 24"/>
          <p:cNvSpPr/>
          <p:nvPr/>
        </p:nvSpPr>
        <p:spPr>
          <a:xfrm>
            <a:off x="7456017" y="5157216"/>
            <a:ext cx="237744" cy="237744"/>
          </a:xfrm>
          <a:prstGeom prst="ellipse">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456017" y="517550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785201" y="5111496"/>
            <a:ext cx="372709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Run it yourself</a:t>
            </a:r>
          </a:p>
          <a:p>
            <a:pPr>
              <a:lnSpc>
                <a:spcPct val="95000"/>
              </a:lnSpc>
              <a:spcBef>
                <a:spcPts val="200"/>
              </a:spcBef>
              <a:spcAft>
                <a:spcPts val="100"/>
              </a:spcAft>
            </a:pPr>
            <a:r>
              <a:rPr sz="1090" b="0">
                <a:solidFill>
                  <a:srgbClr val="5A6570"/>
                </a:solidFill>
                <a:latin typeface="Aptos"/>
              </a:rPr>
              <a:t>The same content gives the same blob hash on every machine in the room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55</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270" b="1" i="0">
                <a:solidFill>
                  <a:srgbClr val="123A5F"/>
                </a:solidFill>
                <a:latin typeface="Aptos Display"/>
              </a:rPr>
              <a:t>Undo — choose by what has already happened</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4243063"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Situation</a:t>
            </a:r>
          </a:p>
        </p:txBody>
      </p:sp>
      <p:sp>
        <p:nvSpPr>
          <p:cNvPr id="10" name="TextBox 9"/>
          <p:cNvSpPr txBox="1"/>
          <p:nvPr/>
        </p:nvSpPr>
        <p:spPr>
          <a:xfrm>
            <a:off x="5157463" y="1828800"/>
            <a:ext cx="3655375"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Command</a:t>
            </a:r>
          </a:p>
        </p:txBody>
      </p:sp>
      <p:sp>
        <p:nvSpPr>
          <p:cNvPr id="11" name="TextBox 10"/>
          <p:cNvSpPr txBox="1"/>
          <p:nvPr/>
        </p:nvSpPr>
        <p:spPr>
          <a:xfrm>
            <a:off x="8977430" y="1828800"/>
            <a:ext cx="2480001"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Destructive?</a:t>
            </a:r>
          </a:p>
        </p:txBody>
      </p:sp>
      <p:sp>
        <p:nvSpPr>
          <p:cNvPr id="12" name="Rectangle 11"/>
          <p:cNvSpPr/>
          <p:nvPr/>
        </p:nvSpPr>
        <p:spPr>
          <a:xfrm>
            <a:off x="658368" y="2167128"/>
            <a:ext cx="10872216" cy="373924"/>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749808" y="2185416"/>
            <a:ext cx="4243063" cy="33734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Discard unstaged edits to a file</a:t>
            </a:r>
          </a:p>
        </p:txBody>
      </p:sp>
      <p:sp>
        <p:nvSpPr>
          <p:cNvPr id="14" name="TextBox 13"/>
          <p:cNvSpPr txBox="1"/>
          <p:nvPr/>
        </p:nvSpPr>
        <p:spPr>
          <a:xfrm>
            <a:off x="5157463" y="2185416"/>
            <a:ext cx="3655375"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restore &lt;file&gt;</a:t>
            </a:r>
          </a:p>
        </p:txBody>
      </p:sp>
      <p:sp>
        <p:nvSpPr>
          <p:cNvPr id="15" name="TextBox 14"/>
          <p:cNvSpPr txBox="1"/>
          <p:nvPr/>
        </p:nvSpPr>
        <p:spPr>
          <a:xfrm>
            <a:off x="8977430" y="2185416"/>
            <a:ext cx="2480001"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B3261E"/>
                </a:solidFill>
                <a:latin typeface="Aptos"/>
              </a:rPr>
              <a:t>✗ Yes — unrecoverable</a:t>
            </a:r>
          </a:p>
        </p:txBody>
      </p:sp>
      <p:sp>
        <p:nvSpPr>
          <p:cNvPr id="16" name="Rectangle 15"/>
          <p:cNvSpPr/>
          <p:nvPr/>
        </p:nvSpPr>
        <p:spPr>
          <a:xfrm>
            <a:off x="658368" y="2541052"/>
            <a:ext cx="10872216" cy="373924"/>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49808" y="2559340"/>
            <a:ext cx="4243063" cy="33734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Unstage a file, keep the edits</a:t>
            </a:r>
          </a:p>
        </p:txBody>
      </p:sp>
      <p:sp>
        <p:nvSpPr>
          <p:cNvPr id="18" name="TextBox 17"/>
          <p:cNvSpPr txBox="1"/>
          <p:nvPr/>
        </p:nvSpPr>
        <p:spPr>
          <a:xfrm>
            <a:off x="5157463" y="2559340"/>
            <a:ext cx="3655375"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restore --staged &lt;file&gt;</a:t>
            </a:r>
          </a:p>
        </p:txBody>
      </p:sp>
      <p:sp>
        <p:nvSpPr>
          <p:cNvPr id="19" name="TextBox 18"/>
          <p:cNvSpPr txBox="1"/>
          <p:nvPr/>
        </p:nvSpPr>
        <p:spPr>
          <a:xfrm>
            <a:off x="8977430" y="2559340"/>
            <a:ext cx="2480001"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No</a:t>
            </a:r>
          </a:p>
        </p:txBody>
      </p:sp>
      <p:sp>
        <p:nvSpPr>
          <p:cNvPr id="20" name="Rectangle 19"/>
          <p:cNvSpPr/>
          <p:nvPr/>
        </p:nvSpPr>
        <p:spPr>
          <a:xfrm>
            <a:off x="658368" y="2914976"/>
            <a:ext cx="10872216" cy="373924"/>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2933264"/>
            <a:ext cx="4243063" cy="33734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Fix the last commit (UNPUSHED only)</a:t>
            </a:r>
          </a:p>
        </p:txBody>
      </p:sp>
      <p:sp>
        <p:nvSpPr>
          <p:cNvPr id="22" name="TextBox 21"/>
          <p:cNvSpPr txBox="1"/>
          <p:nvPr/>
        </p:nvSpPr>
        <p:spPr>
          <a:xfrm>
            <a:off x="5157463" y="2933264"/>
            <a:ext cx="3655375"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commit --amend</a:t>
            </a:r>
          </a:p>
        </p:txBody>
      </p:sp>
      <p:sp>
        <p:nvSpPr>
          <p:cNvPr id="23" name="TextBox 22"/>
          <p:cNvSpPr txBox="1"/>
          <p:nvPr/>
        </p:nvSpPr>
        <p:spPr>
          <a:xfrm>
            <a:off x="8977430" y="2933264"/>
            <a:ext cx="2480001"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Rewrites history</a:t>
            </a:r>
          </a:p>
        </p:txBody>
      </p:sp>
      <p:sp>
        <p:nvSpPr>
          <p:cNvPr id="24" name="Rectangle 23"/>
          <p:cNvSpPr/>
          <p:nvPr/>
        </p:nvSpPr>
        <p:spPr>
          <a:xfrm>
            <a:off x="658368" y="3288900"/>
            <a:ext cx="10872216" cy="581950"/>
          </a:xfrm>
          <a:prstGeom prst="rect">
            <a:avLst/>
          </a:prstGeom>
          <a:solidFill>
            <a:srgbClr val="FDF1E2"/>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749808" y="3307188"/>
            <a:ext cx="4243063" cy="54537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Undo a commit that is already PUSHED</a:t>
            </a:r>
          </a:p>
        </p:txBody>
      </p:sp>
      <p:sp>
        <p:nvSpPr>
          <p:cNvPr id="26" name="TextBox 25"/>
          <p:cNvSpPr txBox="1"/>
          <p:nvPr/>
        </p:nvSpPr>
        <p:spPr>
          <a:xfrm>
            <a:off x="5157463" y="3307188"/>
            <a:ext cx="3655375" cy="54537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revert &lt;sha&gt;</a:t>
            </a:r>
          </a:p>
        </p:txBody>
      </p:sp>
      <p:sp>
        <p:nvSpPr>
          <p:cNvPr id="27" name="TextBox 26"/>
          <p:cNvSpPr txBox="1"/>
          <p:nvPr/>
        </p:nvSpPr>
        <p:spPr>
          <a:xfrm>
            <a:off x="8977430" y="3307188"/>
            <a:ext cx="2480001" cy="54537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3E7D32"/>
                </a:solidFill>
                <a:latin typeface="Aptos"/>
              </a:rPr>
              <a:t>✔ No — safe on shared branches</a:t>
            </a:r>
          </a:p>
        </p:txBody>
      </p:sp>
      <p:sp>
        <p:nvSpPr>
          <p:cNvPr id="28" name="Rectangle 27"/>
          <p:cNvSpPr/>
          <p:nvPr/>
        </p:nvSpPr>
        <p:spPr>
          <a:xfrm>
            <a:off x="658368" y="3870851"/>
            <a:ext cx="10872216" cy="373924"/>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9" name="TextBox 28"/>
          <p:cNvSpPr txBox="1"/>
          <p:nvPr/>
        </p:nvSpPr>
        <p:spPr>
          <a:xfrm>
            <a:off x="749808" y="3889139"/>
            <a:ext cx="4243063" cy="33734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Move the branch back (UNPUSHED only)</a:t>
            </a:r>
          </a:p>
        </p:txBody>
      </p:sp>
      <p:sp>
        <p:nvSpPr>
          <p:cNvPr id="30" name="TextBox 29"/>
          <p:cNvSpPr txBox="1"/>
          <p:nvPr/>
        </p:nvSpPr>
        <p:spPr>
          <a:xfrm>
            <a:off x="5157463" y="3889139"/>
            <a:ext cx="3655375"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reset --hard &lt;sha&gt;</a:t>
            </a:r>
          </a:p>
        </p:txBody>
      </p:sp>
      <p:sp>
        <p:nvSpPr>
          <p:cNvPr id="31" name="TextBox 30"/>
          <p:cNvSpPr txBox="1"/>
          <p:nvPr/>
        </p:nvSpPr>
        <p:spPr>
          <a:xfrm>
            <a:off x="8977430" y="3889139"/>
            <a:ext cx="2480001"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B3261E"/>
                </a:solidFill>
                <a:latin typeface="Aptos"/>
              </a:rPr>
              <a:t>✗ Yes</a:t>
            </a:r>
          </a:p>
        </p:txBody>
      </p:sp>
      <p:sp>
        <p:nvSpPr>
          <p:cNvPr id="32" name="Rectangle 31"/>
          <p:cNvSpPr/>
          <p:nvPr/>
        </p:nvSpPr>
        <p:spPr>
          <a:xfrm>
            <a:off x="658368" y="4244775"/>
            <a:ext cx="10872216" cy="373924"/>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263063"/>
            <a:ext cx="4243063" cy="33734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Park work temporarily</a:t>
            </a:r>
          </a:p>
        </p:txBody>
      </p:sp>
      <p:sp>
        <p:nvSpPr>
          <p:cNvPr id="34" name="TextBox 33"/>
          <p:cNvSpPr txBox="1"/>
          <p:nvPr/>
        </p:nvSpPr>
        <p:spPr>
          <a:xfrm>
            <a:off x="5157463" y="4263063"/>
            <a:ext cx="3655375"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stash push / pop</a:t>
            </a:r>
          </a:p>
        </p:txBody>
      </p:sp>
      <p:sp>
        <p:nvSpPr>
          <p:cNvPr id="35" name="TextBox 34"/>
          <p:cNvSpPr txBox="1"/>
          <p:nvPr/>
        </p:nvSpPr>
        <p:spPr>
          <a:xfrm>
            <a:off x="8977430" y="4263063"/>
            <a:ext cx="2480001"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No</a:t>
            </a:r>
          </a:p>
        </p:txBody>
      </p:sp>
      <p:sp>
        <p:nvSpPr>
          <p:cNvPr id="36" name="Rectangle 35"/>
          <p:cNvSpPr/>
          <p:nvPr/>
        </p:nvSpPr>
        <p:spPr>
          <a:xfrm>
            <a:off x="658368" y="4618699"/>
            <a:ext cx="10872216" cy="373924"/>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7" name="TextBox 36"/>
          <p:cNvSpPr txBox="1"/>
          <p:nvPr/>
        </p:nvSpPr>
        <p:spPr>
          <a:xfrm>
            <a:off x="749808" y="4636987"/>
            <a:ext cx="4243063" cy="337348"/>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Recover a "lost" commit</a:t>
            </a:r>
          </a:p>
        </p:txBody>
      </p:sp>
      <p:sp>
        <p:nvSpPr>
          <p:cNvPr id="38" name="TextBox 37"/>
          <p:cNvSpPr txBox="1"/>
          <p:nvPr/>
        </p:nvSpPr>
        <p:spPr>
          <a:xfrm>
            <a:off x="5157463" y="4636987"/>
            <a:ext cx="3655375"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git reflog → git checkout &lt;sha&gt;</a:t>
            </a:r>
          </a:p>
        </p:txBody>
      </p:sp>
      <p:sp>
        <p:nvSpPr>
          <p:cNvPr id="39" name="TextBox 38"/>
          <p:cNvSpPr txBox="1"/>
          <p:nvPr/>
        </p:nvSpPr>
        <p:spPr>
          <a:xfrm>
            <a:off x="8977430" y="4636987"/>
            <a:ext cx="2480001" cy="337348"/>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No — your safety net</a:t>
            </a:r>
          </a:p>
        </p:txBody>
      </p:sp>
      <p:sp>
        <p:nvSpPr>
          <p:cNvPr id="40" name="Rectangle 39"/>
          <p:cNvSpPr/>
          <p:nvPr/>
        </p:nvSpPr>
        <p:spPr>
          <a:xfrm>
            <a:off x="658368" y="5157216"/>
            <a:ext cx="10872216" cy="76809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1" name="TextBox 40"/>
          <p:cNvSpPr txBox="1"/>
          <p:nvPr/>
        </p:nvSpPr>
        <p:spPr>
          <a:xfrm>
            <a:off x="804672" y="5221224"/>
            <a:ext cx="2748686"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THE RULE THAT SAVES CAREERS</a:t>
            </a:r>
          </a:p>
        </p:txBody>
      </p:sp>
      <p:sp>
        <p:nvSpPr>
          <p:cNvPr id="42" name="TextBox 41"/>
          <p:cNvSpPr txBox="1"/>
          <p:nvPr/>
        </p:nvSpPr>
        <p:spPr>
          <a:xfrm>
            <a:off x="3544214" y="5212079"/>
            <a:ext cx="7821777" cy="65836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revert ADDS a commit that undoes a change — history is preserved and every clone stays consistent. reset MOVES the branch pointer, discarding commits — it rewrites history and needs a force-push. Never reset a branch other people have.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56</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380" b="1" i="0">
                <a:solidFill>
                  <a:srgbClr val="123A5F"/>
                </a:solidFill>
                <a:latin typeface="Aptos Display"/>
              </a:rPr>
              <a:t>Commit messages are a professional skill</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76656" y="1860804"/>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932688" y="1741932"/>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Conventional Commits: type: subject</a:t>
            </a:r>
          </a:p>
        </p:txBody>
      </p:sp>
      <p:sp>
        <p:nvSpPr>
          <p:cNvPr id="10" name="TextBox 9"/>
          <p:cNvSpPr txBox="1"/>
          <p:nvPr/>
        </p:nvSpPr>
        <p:spPr>
          <a:xfrm>
            <a:off x="932688" y="2075688"/>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feat · fix · docs · test · refactor · chore · ci · build · perf</a:t>
            </a:r>
          </a:p>
        </p:txBody>
      </p:sp>
      <p:sp>
        <p:nvSpPr>
          <p:cNvPr id="11" name="Rectangle 10"/>
          <p:cNvSpPr/>
          <p:nvPr/>
        </p:nvSpPr>
        <p:spPr>
          <a:xfrm>
            <a:off x="676656" y="2557576"/>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32688" y="2438704"/>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Subject: imperative, ≤ 50 characters, no full stop</a:t>
            </a:r>
          </a:p>
        </p:txBody>
      </p:sp>
      <p:sp>
        <p:nvSpPr>
          <p:cNvPr id="13" name="TextBox 12"/>
          <p:cNvSpPr txBox="1"/>
          <p:nvPr/>
        </p:nvSpPr>
        <p:spPr>
          <a:xfrm>
            <a:off x="932688" y="2772460"/>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"add readiness probe", not "added readiness probe."</a:t>
            </a:r>
          </a:p>
        </p:txBody>
      </p:sp>
      <p:sp>
        <p:nvSpPr>
          <p:cNvPr id="14" name="Rectangle 13"/>
          <p:cNvSpPr/>
          <p:nvPr/>
        </p:nvSpPr>
        <p:spPr>
          <a:xfrm>
            <a:off x="676656" y="3254349"/>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32688" y="3135477"/>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Blank line, then a body explaining WHY</a:t>
            </a:r>
          </a:p>
        </p:txBody>
      </p:sp>
      <p:sp>
        <p:nvSpPr>
          <p:cNvPr id="16" name="TextBox 15"/>
          <p:cNvSpPr txBox="1"/>
          <p:nvPr/>
        </p:nvSpPr>
        <p:spPr>
          <a:xfrm>
            <a:off x="932688" y="3469233"/>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The diff shows what; only you can record why</a:t>
            </a:r>
          </a:p>
        </p:txBody>
      </p:sp>
      <p:sp>
        <p:nvSpPr>
          <p:cNvPr id="17" name="Rectangle 16"/>
          <p:cNvSpPr/>
          <p:nvPr/>
        </p:nvSpPr>
        <p:spPr>
          <a:xfrm>
            <a:off x="676656" y="3951122"/>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32688" y="3832250"/>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1" i="0">
                <a:solidFill>
                  <a:srgbClr val="123A5F"/>
                </a:solidFill>
                <a:latin typeface="Aptos"/>
              </a:rPr>
              <a:t>Reference the ticket</a:t>
            </a:r>
          </a:p>
        </p:txBody>
      </p:sp>
      <p:sp>
        <p:nvSpPr>
          <p:cNvPr id="19" name="TextBox 18"/>
          <p:cNvSpPr txBox="1"/>
          <p:nvPr/>
        </p:nvSpPr>
        <p:spPr>
          <a:xfrm>
            <a:off x="932688" y="4166006"/>
            <a:ext cx="10579608" cy="237744"/>
          </a:xfrm>
          <a:prstGeom prst="rect">
            <a:avLst/>
          </a:prstGeom>
          <a:noFill/>
        </p:spPr>
        <p:txBody>
          <a:bodyPr wrap="square" lIns="73152" rIns="73152" tIns="36576" bIns="36576" anchor="t">
            <a:spAutoFit/>
          </a:bodyPr>
          <a:lstStyle/>
          <a:p>
            <a:pPr algn="l">
              <a:lnSpc>
                <a:spcPct val="92000"/>
              </a:lnSpc>
              <a:spcAft>
                <a:spcPts val="200"/>
              </a:spcAft>
            </a:pPr>
            <a:r>
              <a:rPr sz="1220" b="0" i="0">
                <a:solidFill>
                  <a:srgbClr val="5A6570"/>
                </a:solidFill>
                <a:latin typeface="Aptos"/>
              </a:rPr>
              <a:t>PAY-142 — this is how a change links to its authorisation</a:t>
            </a:r>
          </a:p>
        </p:txBody>
      </p:sp>
      <p:sp>
        <p:nvSpPr>
          <p:cNvPr id="20" name="Rectangle 19"/>
          <p:cNvSpPr/>
          <p:nvPr/>
        </p:nvSpPr>
        <p:spPr>
          <a:xfrm>
            <a:off x="676656" y="4647895"/>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32688" y="4529023"/>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123A5F"/>
                </a:solidFill>
                <a:latin typeface="Aptos"/>
              </a:rPr>
              <a:t>feat! or BREAKING CHANGE: marks an incompatible change</a:t>
            </a:r>
          </a:p>
        </p:txBody>
      </p:sp>
      <p:sp>
        <p:nvSpPr>
          <p:cNvPr id="22" name="Rectangle 21"/>
          <p:cNvSpPr/>
          <p:nvPr/>
        </p:nvSpPr>
        <p:spPr>
          <a:xfrm>
            <a:off x="676656" y="5052060"/>
            <a:ext cx="118872" cy="118872"/>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932688" y="4933188"/>
            <a:ext cx="10579608" cy="274320"/>
          </a:xfrm>
          <a:prstGeom prst="rect">
            <a:avLst/>
          </a:prstGeom>
          <a:noFill/>
        </p:spPr>
        <p:txBody>
          <a:bodyPr wrap="square" lIns="73152" rIns="73152" tIns="36576" bIns="36576" anchor="t">
            <a:spAutoFit/>
          </a:bodyPr>
          <a:lstStyle/>
          <a:p>
            <a:pPr algn="l">
              <a:lnSpc>
                <a:spcPct val="92000"/>
              </a:lnSpc>
              <a:spcAft>
                <a:spcPts val="200"/>
              </a:spcAft>
            </a:pPr>
            <a:r>
              <a:rPr sz="1400" b="0" i="0">
                <a:solidFill>
                  <a:srgbClr val="123A5F"/>
                </a:solidFill>
                <a:latin typeface="Aptos"/>
              </a:rPr>
              <a:t>The payoff is automatic release notes — and a readable git log</a:t>
            </a:r>
          </a:p>
        </p:txBody>
      </p:sp>
      <p:sp>
        <p:nvSpPr>
          <p:cNvPr id="24" name="Rectangle 23"/>
          <p:cNvSpPr/>
          <p:nvPr/>
        </p:nvSpPr>
        <p:spPr>
          <a:xfrm>
            <a:off x="658368" y="5340096"/>
            <a:ext cx="10872216" cy="585216"/>
          </a:xfrm>
          <a:prstGeom prst="rect">
            <a:avLst/>
          </a:prstGeom>
          <a:solidFill>
            <a:srgbClr val="FDF1E2"/>
          </a:solidFill>
          <a:ln w="9525">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804672" y="5404104"/>
            <a:ext cx="1135684"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D2760D"/>
                </a:solidFill>
                <a:latin typeface="Aptos"/>
              </a:rPr>
              <a:t>IN A BANK</a:t>
            </a:r>
          </a:p>
        </p:txBody>
      </p:sp>
      <p:sp>
        <p:nvSpPr>
          <p:cNvPr id="26" name="TextBox 25"/>
          <p:cNvSpPr txBox="1"/>
          <p:nvPr/>
        </p:nvSpPr>
        <p:spPr>
          <a:xfrm>
            <a:off x="1931212" y="5394959"/>
            <a:ext cx="9434779" cy="475488"/>
          </a:xfrm>
          <a:prstGeom prst="rect">
            <a:avLst/>
          </a:prstGeom>
          <a:noFill/>
        </p:spPr>
        <p:txBody>
          <a:bodyPr wrap="square" lIns="73152" rIns="73152" tIns="36576" bIns="36576" anchor="t">
            <a:spAutoFit/>
          </a:bodyPr>
          <a:lstStyle/>
          <a:p>
            <a:pPr algn="l">
              <a:lnSpc>
                <a:spcPct val="92000"/>
              </a:lnSpc>
              <a:spcAft>
                <a:spcPts val="200"/>
              </a:spcAft>
            </a:pPr>
            <a:r>
              <a:rPr sz="1150" b="0" i="0">
                <a:solidFill>
                  <a:srgbClr val="123A5F"/>
                </a:solidFill>
                <a:latin typeface="Aptos"/>
              </a:rPr>
              <a:t>The commit message plus the PR approval IS your change record. Generated, timestamped and immutable — no ticket typed by hand after the fact.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57</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MODULE 2 §2.2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210" b="1" i="0">
                <a:solidFill>
                  <a:srgbClr val="123A5F"/>
                </a:solidFill>
                <a:latin typeface="Aptos Display"/>
              </a:rPr>
              <a:t>A commit message worth reading in two years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6088440" cy="2377440"/>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088440"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517404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GIT COMMIT MESSAGE</a:t>
            </a:r>
          </a:p>
        </p:txBody>
      </p:sp>
      <p:sp>
        <p:nvSpPr>
          <p:cNvPr id="14" name="TextBox 13"/>
          <p:cNvSpPr txBox="1"/>
          <p:nvPr/>
        </p:nvSpPr>
        <p:spPr>
          <a:xfrm>
            <a:off x="768096" y="2185416"/>
            <a:ext cx="5887272" cy="1694688"/>
          </a:xfrm>
          <a:prstGeom prst="rect">
            <a:avLst/>
          </a:prstGeom>
          <a:noFill/>
        </p:spPr>
        <p:txBody>
          <a:bodyPr wrap="square" lIns="73152" rIns="73152" tIns="18288" bIns="18288">
            <a:spAutoFit/>
          </a:bodyPr>
          <a:lstStyle/>
          <a:p>
            <a:pPr>
              <a:lnSpc>
                <a:spcPct val="100000"/>
              </a:lnSpc>
              <a:spcAft>
                <a:spcPts val="0"/>
              </a:spcAft>
            </a:pPr>
            <a:r>
              <a:rPr sz="1300" b="0">
                <a:solidFill>
                  <a:srgbClr val="E8EEF4"/>
                </a:solidFill>
                <a:latin typeface="Consolas"/>
              </a:rPr>
              <a:t>feat(api): add readiness endpoint for the ledger</a:t>
            </a:r>
          </a:p>
          <a:p>
            <a:pPr>
              <a:lnSpc>
                <a:spcPct val="100000"/>
              </a:lnSpc>
              <a:spcAft>
                <a:spcPts val="0"/>
              </a:spcAft>
            </a:pPr>
            <a:r>
              <a:rPr sz="1300" b="0">
                <a:solidFill>
                  <a:srgbClr val="E8EEF4"/>
                </a:solidFill>
                <a:latin typeface="Consolas"/>
              </a:rPr>
              <a:t> </a:t>
            </a:r>
          </a:p>
          <a:p>
            <a:pPr>
              <a:lnSpc>
                <a:spcPct val="100000"/>
              </a:lnSpc>
              <a:spcAft>
                <a:spcPts val="0"/>
              </a:spcAft>
            </a:pPr>
            <a:r>
              <a:rPr sz="1300" b="0">
                <a:solidFill>
                  <a:srgbClr val="E8EEF4"/>
                </a:solidFill>
                <a:latin typeface="Consolas"/>
              </a:rPr>
              <a:t>/ready returns 503 until the database answers, so</a:t>
            </a:r>
          </a:p>
          <a:p>
            <a:pPr>
              <a:lnSpc>
                <a:spcPct val="100000"/>
              </a:lnSpc>
              <a:spcAft>
                <a:spcPts val="0"/>
              </a:spcAft>
            </a:pPr>
            <a:r>
              <a:rPr sz="1300" b="0">
                <a:solidFill>
                  <a:srgbClr val="E8EEF4"/>
                </a:solidFill>
                <a:latin typeface="Consolas"/>
              </a:rPr>
              <a:t>Kubernetes stops sending traffic to a pod that cannot</a:t>
            </a:r>
          </a:p>
          <a:p>
            <a:pPr>
              <a:lnSpc>
                <a:spcPct val="100000"/>
              </a:lnSpc>
              <a:spcAft>
                <a:spcPts val="0"/>
              </a:spcAft>
            </a:pPr>
            <a:r>
              <a:rPr sz="1300" b="0">
                <a:solidFill>
                  <a:srgbClr val="E8EEF4"/>
                </a:solidFill>
                <a:latin typeface="Consolas"/>
              </a:rPr>
              <a:t>serve it. /health stays dependency-free, so a database</a:t>
            </a:r>
          </a:p>
          <a:p>
            <a:pPr>
              <a:lnSpc>
                <a:spcPct val="100000"/>
              </a:lnSpc>
              <a:spcAft>
                <a:spcPts val="0"/>
              </a:spcAft>
            </a:pPr>
            <a:r>
              <a:rPr sz="1300" b="0">
                <a:solidFill>
                  <a:srgbClr val="E8EEF4"/>
                </a:solidFill>
                <a:latin typeface="Consolas"/>
              </a:rPr>
              <a:t>blip never restarts the pod.</a:t>
            </a:r>
          </a:p>
          <a:p>
            <a:pPr>
              <a:lnSpc>
                <a:spcPct val="100000"/>
              </a:lnSpc>
              <a:spcAft>
                <a:spcPts val="0"/>
              </a:spcAft>
            </a:pPr>
            <a:r>
              <a:rPr sz="1300" b="0">
                <a:solidFill>
                  <a:srgbClr val="E8EEF4"/>
                </a:solidFill>
                <a:latin typeface="Consolas"/>
              </a:rPr>
              <a:t> </a:t>
            </a:r>
          </a:p>
          <a:p>
            <a:pPr>
              <a:lnSpc>
                <a:spcPct val="100000"/>
              </a:lnSpc>
              <a:spcAft>
                <a:spcPts val="0"/>
              </a:spcAft>
            </a:pPr>
            <a:r>
              <a:rPr sz="1300" b="0">
                <a:solidFill>
                  <a:srgbClr val="E8EEF4"/>
                </a:solidFill>
                <a:latin typeface="Consolas"/>
              </a:rPr>
              <a:t>Refs: PAY-142</a:t>
            </a:r>
          </a:p>
        </p:txBody>
      </p:sp>
      <p:sp>
        <p:nvSpPr>
          <p:cNvPr id="15" name="TextBox 14"/>
          <p:cNvSpPr txBox="1"/>
          <p:nvPr/>
        </p:nvSpPr>
        <p:spPr>
          <a:xfrm>
            <a:off x="7021128" y="1764792"/>
            <a:ext cx="4509455"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7021128"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7021128"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7350312" y="2075688"/>
            <a:ext cx="4161983"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type(scope): subject</a:t>
            </a:r>
          </a:p>
          <a:p>
            <a:pPr>
              <a:lnSpc>
                <a:spcPct val="95000"/>
              </a:lnSpc>
              <a:spcBef>
                <a:spcPts val="200"/>
              </a:spcBef>
              <a:spcAft>
                <a:spcPts val="100"/>
              </a:spcAft>
            </a:pPr>
            <a:r>
              <a:rPr sz="1090" b="0">
                <a:solidFill>
                  <a:srgbClr val="5A6570"/>
                </a:solidFill>
                <a:latin typeface="Aptos"/>
              </a:rPr>
              <a:t>feat, in the api — imperative, under 50 characters</a:t>
            </a:r>
          </a:p>
        </p:txBody>
      </p:sp>
      <p:sp>
        <p:nvSpPr>
          <p:cNvPr id="19" name="Oval 18"/>
          <p:cNvSpPr/>
          <p:nvPr/>
        </p:nvSpPr>
        <p:spPr>
          <a:xfrm>
            <a:off x="7021128" y="2971800"/>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7021128" y="299008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7350312" y="2926080"/>
            <a:ext cx="4161983"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A blank line</a:t>
            </a:r>
          </a:p>
          <a:p>
            <a:pPr>
              <a:lnSpc>
                <a:spcPct val="95000"/>
              </a:lnSpc>
              <a:spcBef>
                <a:spcPts val="200"/>
              </a:spcBef>
              <a:spcAft>
                <a:spcPts val="100"/>
              </a:spcAft>
            </a:pPr>
            <a:r>
              <a:rPr sz="1090" b="0">
                <a:solidFill>
                  <a:srgbClr val="5A6570"/>
                </a:solidFill>
                <a:latin typeface="Aptos"/>
              </a:rPr>
              <a:t>Tools treat line 1 as the title and the rest as the body</a:t>
            </a:r>
          </a:p>
        </p:txBody>
      </p:sp>
      <p:sp>
        <p:nvSpPr>
          <p:cNvPr id="22" name="Oval 21"/>
          <p:cNvSpPr/>
          <p:nvPr/>
        </p:nvSpPr>
        <p:spPr>
          <a:xfrm>
            <a:off x="7021128" y="3986783"/>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7021128" y="400507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7350312" y="3941063"/>
            <a:ext cx="4161983"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The body explains WHY</a:t>
            </a:r>
          </a:p>
          <a:p>
            <a:pPr>
              <a:lnSpc>
                <a:spcPct val="95000"/>
              </a:lnSpc>
              <a:spcBef>
                <a:spcPts val="200"/>
              </a:spcBef>
              <a:spcAft>
                <a:spcPts val="100"/>
              </a:spcAft>
            </a:pPr>
            <a:r>
              <a:rPr sz="1090" b="0">
                <a:solidFill>
                  <a:srgbClr val="5A6570"/>
                </a:solidFill>
                <a:latin typeface="Aptos"/>
              </a:rPr>
              <a:t>Wrapped at 72 characters; the diff already says what</a:t>
            </a:r>
          </a:p>
        </p:txBody>
      </p:sp>
      <p:sp>
        <p:nvSpPr>
          <p:cNvPr id="25" name="Oval 24"/>
          <p:cNvSpPr/>
          <p:nvPr/>
        </p:nvSpPr>
        <p:spPr>
          <a:xfrm>
            <a:off x="7021128" y="5001767"/>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7021128" y="5020055"/>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7350312" y="4956047"/>
            <a:ext cx="4161983"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A footer links the authorisation</a:t>
            </a:r>
          </a:p>
          <a:p>
            <a:pPr>
              <a:lnSpc>
                <a:spcPct val="95000"/>
              </a:lnSpc>
              <a:spcBef>
                <a:spcPts val="200"/>
              </a:spcBef>
              <a:spcAft>
                <a:spcPts val="100"/>
              </a:spcAft>
            </a:pPr>
            <a:r>
              <a:rPr sz="1090" b="0">
                <a:solidFill>
                  <a:srgbClr val="5A6570"/>
                </a:solidFill>
                <a:latin typeface="Aptos"/>
              </a:rPr>
              <a:t>Refs: PAY-142 — or BREAKING CHANGE: for incompatible changes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58</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LAB 02</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160" b="1" i="0">
                <a:solidFill>
                  <a:srgbClr val="123A5F"/>
                </a:solidFill>
                <a:latin typeface="Aptos Display"/>
              </a:rPr>
              <a:t>.gitignore — written BEFORE the first commit</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5001219" cy="4087368"/>
          </a:xfrm>
          <a:prstGeom prst="rect">
            <a:avLst/>
          </a:prstGeom>
          <a:solidFill>
            <a:srgbClr val="0F24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5001219" cy="310896"/>
          </a:xfrm>
          <a:prstGeom prst="rect">
            <a:avLst/>
          </a:prstGeom>
          <a:solidFill>
            <a:srgbClr val="1C3A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Oval 9"/>
          <p:cNvSpPr/>
          <p:nvPr/>
        </p:nvSpPr>
        <p:spPr>
          <a:xfrm>
            <a:off x="804672" y="1888236"/>
            <a:ext cx="100584" cy="100584"/>
          </a:xfrm>
          <a:prstGeom prst="ellipse">
            <a:avLst/>
          </a:prstGeom>
          <a:solidFill>
            <a:srgbClr val="E553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Oval 10"/>
          <p:cNvSpPr/>
          <p:nvPr/>
        </p:nvSpPr>
        <p:spPr>
          <a:xfrm>
            <a:off x="987552" y="1888236"/>
            <a:ext cx="100584" cy="100584"/>
          </a:xfrm>
          <a:prstGeom prst="ellipse">
            <a:avLst/>
          </a:prstGeom>
          <a:solidFill>
            <a:srgbClr val="E3A2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Oval 11"/>
          <p:cNvSpPr/>
          <p:nvPr/>
        </p:nvSpPr>
        <p:spPr>
          <a:xfrm>
            <a:off x="1170432" y="1888236"/>
            <a:ext cx="100584" cy="100584"/>
          </a:xfrm>
          <a:prstGeom prst="ellipse">
            <a:avLst/>
          </a:prstGeom>
          <a:solidFill>
            <a:srgbClr val="4FB36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1435607" y="1819656"/>
            <a:ext cx="4086819"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9FC0D8"/>
                </a:solidFill>
                <a:latin typeface="Aptos"/>
              </a:rPr>
              <a:t>.GITIGNORE</a:t>
            </a:r>
          </a:p>
        </p:txBody>
      </p:sp>
      <p:sp>
        <p:nvSpPr>
          <p:cNvPr id="14" name="TextBox 13"/>
          <p:cNvSpPr txBox="1"/>
          <p:nvPr/>
        </p:nvSpPr>
        <p:spPr>
          <a:xfrm>
            <a:off x="768096" y="2185416"/>
            <a:ext cx="4800051" cy="3538728"/>
          </a:xfrm>
          <a:prstGeom prst="rect">
            <a:avLst/>
          </a:prstGeom>
          <a:noFill/>
        </p:spPr>
        <p:txBody>
          <a:bodyPr wrap="square" lIns="73152" rIns="73152" tIns="18288" bIns="18288">
            <a:spAutoFit/>
          </a:bodyPr>
          <a:lstStyle/>
          <a:p>
            <a:pPr>
              <a:lnSpc>
                <a:spcPct val="100000"/>
              </a:lnSpc>
              <a:spcAft>
                <a:spcPts val="0"/>
              </a:spcAft>
            </a:pPr>
            <a:r>
              <a:rPr sz="1250" b="0">
                <a:solidFill>
                  <a:srgbClr val="8FBFA8"/>
                </a:solidFill>
                <a:latin typeface="Consolas"/>
              </a:rPr>
              <a:t># Python</a:t>
            </a:r>
          </a:p>
          <a:p>
            <a:pPr>
              <a:lnSpc>
                <a:spcPct val="100000"/>
              </a:lnSpc>
              <a:spcAft>
                <a:spcPts val="0"/>
              </a:spcAft>
            </a:pPr>
            <a:r>
              <a:rPr sz="1250" b="0">
                <a:solidFill>
                  <a:srgbClr val="E8EEF4"/>
                </a:solidFill>
                <a:latin typeface="Consolas"/>
              </a:rPr>
              <a:t>__pycache__/</a:t>
            </a:r>
          </a:p>
          <a:p>
            <a:pPr>
              <a:lnSpc>
                <a:spcPct val="100000"/>
              </a:lnSpc>
              <a:spcAft>
                <a:spcPts val="0"/>
              </a:spcAft>
            </a:pPr>
            <a:r>
              <a:rPr sz="1250" b="0">
                <a:solidFill>
                  <a:srgbClr val="E8EEF4"/>
                </a:solidFill>
                <a:latin typeface="Consolas"/>
              </a:rPr>
              <a:t>.venv/</a:t>
            </a:r>
          </a:p>
          <a:p>
            <a:pPr>
              <a:lnSpc>
                <a:spcPct val="100000"/>
              </a:lnSpc>
              <a:spcAft>
                <a:spcPts val="0"/>
              </a:spcAft>
            </a:pPr>
            <a:r>
              <a:rPr sz="1250" b="0">
                <a:solidFill>
                  <a:srgbClr val="E8EEF4"/>
                </a:solidFill>
                <a:latin typeface="Consolas"/>
              </a:rPr>
              <a:t>.pytest_cache/</a:t>
            </a:r>
          </a:p>
          <a:p>
            <a:pPr>
              <a:lnSpc>
                <a:spcPct val="100000"/>
              </a:lnSpc>
              <a:spcAft>
                <a:spcPts val="0"/>
              </a:spcAft>
            </a:pPr>
            <a:r>
              <a:rPr sz="1250" b="0">
                <a:solidFill>
                  <a:srgbClr val="E8EEF4"/>
                </a:solidFill>
                <a:latin typeface="Consolas"/>
              </a:rPr>
              <a:t> </a:t>
            </a:r>
          </a:p>
          <a:p>
            <a:pPr>
              <a:lnSpc>
                <a:spcPct val="100000"/>
              </a:lnSpc>
              <a:spcAft>
                <a:spcPts val="0"/>
              </a:spcAft>
            </a:pPr>
            <a:r>
              <a:rPr sz="1250" b="0">
                <a:solidFill>
                  <a:srgbClr val="8FBFA8"/>
                </a:solidFill>
                <a:latin typeface="Consolas"/>
              </a:rPr>
              <a:t># Secrets - never commit</a:t>
            </a:r>
          </a:p>
          <a:p>
            <a:pPr>
              <a:lnSpc>
                <a:spcPct val="100000"/>
              </a:lnSpc>
              <a:spcAft>
                <a:spcPts val="0"/>
              </a:spcAft>
            </a:pPr>
            <a:r>
              <a:rPr sz="1250" b="0">
                <a:solidFill>
                  <a:srgbClr val="E8EEF4"/>
                </a:solidFill>
                <a:latin typeface="Consolas"/>
              </a:rPr>
              <a:t>.env</a:t>
            </a:r>
          </a:p>
          <a:p>
            <a:pPr>
              <a:lnSpc>
                <a:spcPct val="100000"/>
              </a:lnSpc>
              <a:spcAft>
                <a:spcPts val="0"/>
              </a:spcAft>
            </a:pPr>
            <a:r>
              <a:rPr sz="1250" b="0">
                <a:solidFill>
                  <a:srgbClr val="E8EEF4"/>
                </a:solidFill>
                <a:latin typeface="Consolas"/>
              </a:rPr>
              <a:t>*.pem</a:t>
            </a:r>
          </a:p>
          <a:p>
            <a:pPr>
              <a:lnSpc>
                <a:spcPct val="100000"/>
              </a:lnSpc>
              <a:spcAft>
                <a:spcPts val="0"/>
              </a:spcAft>
            </a:pPr>
            <a:r>
              <a:rPr sz="1250" b="0">
                <a:solidFill>
                  <a:srgbClr val="E8EEF4"/>
                </a:solidFill>
                <a:latin typeface="Consolas"/>
              </a:rPr>
              <a:t>*.key</a:t>
            </a:r>
          </a:p>
          <a:p>
            <a:pPr>
              <a:lnSpc>
                <a:spcPct val="100000"/>
              </a:lnSpc>
              <a:spcAft>
                <a:spcPts val="0"/>
              </a:spcAft>
            </a:pPr>
            <a:r>
              <a:rPr sz="1250" b="0">
                <a:solidFill>
                  <a:srgbClr val="E8EEF4"/>
                </a:solidFill>
                <a:latin typeface="Consolas"/>
              </a:rPr>
              <a:t> </a:t>
            </a:r>
          </a:p>
          <a:p>
            <a:pPr>
              <a:lnSpc>
                <a:spcPct val="100000"/>
              </a:lnSpc>
              <a:spcAft>
                <a:spcPts val="0"/>
              </a:spcAft>
            </a:pPr>
            <a:r>
              <a:rPr sz="1250" b="0">
                <a:solidFill>
                  <a:srgbClr val="8FBFA8"/>
                </a:solidFill>
                <a:latin typeface="Consolas"/>
              </a:rPr>
              <a:t># Terraform</a:t>
            </a:r>
          </a:p>
          <a:p>
            <a:pPr>
              <a:lnSpc>
                <a:spcPct val="100000"/>
              </a:lnSpc>
              <a:spcAft>
                <a:spcPts val="0"/>
              </a:spcAft>
            </a:pPr>
            <a:r>
              <a:rPr sz="1250" b="0">
                <a:solidFill>
                  <a:srgbClr val="E8EEF4"/>
                </a:solidFill>
                <a:latin typeface="Consolas"/>
              </a:rPr>
              <a:t>.terraform/</a:t>
            </a:r>
          </a:p>
          <a:p>
            <a:pPr>
              <a:lnSpc>
                <a:spcPct val="100000"/>
              </a:lnSpc>
              <a:spcAft>
                <a:spcPts val="0"/>
              </a:spcAft>
            </a:pPr>
            <a:r>
              <a:rPr sz="1250" b="0">
                <a:solidFill>
                  <a:srgbClr val="E8EEF4"/>
                </a:solidFill>
                <a:latin typeface="Consolas"/>
              </a:rPr>
              <a:t>*.tfstate</a:t>
            </a:r>
          </a:p>
          <a:p>
            <a:pPr>
              <a:lnSpc>
                <a:spcPct val="100000"/>
              </a:lnSpc>
              <a:spcAft>
                <a:spcPts val="0"/>
              </a:spcAft>
            </a:pPr>
            <a:r>
              <a:rPr sz="1250" b="0">
                <a:solidFill>
                  <a:srgbClr val="E8EEF4"/>
                </a:solidFill>
                <a:latin typeface="Consolas"/>
              </a:rPr>
              <a:t>*.tfstate.*</a:t>
            </a:r>
          </a:p>
          <a:p>
            <a:pPr>
              <a:lnSpc>
                <a:spcPct val="100000"/>
              </a:lnSpc>
              <a:spcAft>
                <a:spcPts val="0"/>
              </a:spcAft>
            </a:pPr>
            <a:r>
              <a:rPr sz="1250" b="0">
                <a:solidFill>
                  <a:srgbClr val="E8EEF4"/>
                </a:solidFill>
                <a:latin typeface="Consolas"/>
              </a:rPr>
              <a:t> </a:t>
            </a:r>
          </a:p>
          <a:p>
            <a:pPr>
              <a:lnSpc>
                <a:spcPct val="100000"/>
              </a:lnSpc>
              <a:spcAft>
                <a:spcPts val="0"/>
              </a:spcAft>
            </a:pPr>
            <a:r>
              <a:rPr sz="1250" b="0">
                <a:solidFill>
                  <a:srgbClr val="8FBFA8"/>
                </a:solidFill>
                <a:latin typeface="Consolas"/>
              </a:rPr>
              <a:t># OS and editors</a:t>
            </a:r>
          </a:p>
          <a:p>
            <a:pPr>
              <a:lnSpc>
                <a:spcPct val="100000"/>
              </a:lnSpc>
              <a:spcAft>
                <a:spcPts val="0"/>
              </a:spcAft>
            </a:pPr>
            <a:r>
              <a:rPr sz="1250" b="0">
                <a:solidFill>
                  <a:srgbClr val="E8EEF4"/>
                </a:solidFill>
                <a:latin typeface="Consolas"/>
              </a:rPr>
              <a:t>.DS_Store</a:t>
            </a:r>
          </a:p>
          <a:p>
            <a:pPr>
              <a:lnSpc>
                <a:spcPct val="100000"/>
              </a:lnSpc>
              <a:spcAft>
                <a:spcPts val="0"/>
              </a:spcAft>
            </a:pPr>
            <a:r>
              <a:rPr sz="1250" b="0">
                <a:solidFill>
                  <a:srgbClr val="E8EEF4"/>
                </a:solidFill>
                <a:latin typeface="Consolas"/>
              </a:rPr>
              <a:t>.vscode/</a:t>
            </a:r>
          </a:p>
        </p:txBody>
      </p:sp>
      <p:sp>
        <p:nvSpPr>
          <p:cNvPr id="15" name="TextBox 14"/>
          <p:cNvSpPr txBox="1"/>
          <p:nvPr/>
        </p:nvSpPr>
        <p:spPr>
          <a:xfrm>
            <a:off x="5933907" y="1764792"/>
            <a:ext cx="559667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TO NOTICE</a:t>
            </a:r>
          </a:p>
        </p:txBody>
      </p:sp>
      <p:sp>
        <p:nvSpPr>
          <p:cNvPr id="16" name="Oval 15"/>
          <p:cNvSpPr/>
          <p:nvPr/>
        </p:nvSpPr>
        <p:spPr>
          <a:xfrm>
            <a:off x="5933907" y="2121408"/>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5933907" y="2139696"/>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8" name="TextBox 17"/>
          <p:cNvSpPr txBox="1"/>
          <p:nvPr/>
        </p:nvSpPr>
        <p:spPr>
          <a:xfrm>
            <a:off x="6263091" y="2075688"/>
            <a:ext cx="5249204" cy="685800"/>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Secrets first</a:t>
            </a:r>
          </a:p>
          <a:p>
            <a:pPr>
              <a:lnSpc>
                <a:spcPct val="95000"/>
              </a:lnSpc>
              <a:spcBef>
                <a:spcPts val="200"/>
              </a:spcBef>
              <a:spcAft>
                <a:spcPts val="100"/>
              </a:spcAft>
            </a:pPr>
            <a:r>
              <a:rPr sz="1090" b="0">
                <a:solidFill>
                  <a:srgbClr val="5A6570"/>
                </a:solidFill>
                <a:latin typeface="Aptos"/>
              </a:rPr>
              <a:t>A secret committed once is in history forever — deleting it later does not remove it</a:t>
            </a:r>
          </a:p>
        </p:txBody>
      </p:sp>
      <p:sp>
        <p:nvSpPr>
          <p:cNvPr id="19" name="Oval 18"/>
          <p:cNvSpPr/>
          <p:nvPr/>
        </p:nvSpPr>
        <p:spPr>
          <a:xfrm>
            <a:off x="5933907" y="3136391"/>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0" name="TextBox 19"/>
          <p:cNvSpPr txBox="1"/>
          <p:nvPr/>
        </p:nvSpPr>
        <p:spPr>
          <a:xfrm>
            <a:off x="5933907" y="3154679"/>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21" name="TextBox 20"/>
          <p:cNvSpPr txBox="1"/>
          <p:nvPr/>
        </p:nvSpPr>
        <p:spPr>
          <a:xfrm>
            <a:off x="6263091" y="3090672"/>
            <a:ext cx="524920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Terraform state holds secrets in plain text</a:t>
            </a:r>
          </a:p>
          <a:p>
            <a:pPr>
              <a:lnSpc>
                <a:spcPct val="95000"/>
              </a:lnSpc>
              <a:spcBef>
                <a:spcPts val="200"/>
              </a:spcBef>
              <a:spcAft>
                <a:spcPts val="100"/>
              </a:spcAft>
            </a:pPr>
            <a:r>
              <a:rPr sz="1090" b="0">
                <a:solidFill>
                  <a:srgbClr val="5A6570"/>
                </a:solidFill>
                <a:latin typeface="Aptos"/>
              </a:rPr>
              <a:t>It never belongs in git; it belongs in a locked remote backend</a:t>
            </a:r>
          </a:p>
        </p:txBody>
      </p:sp>
      <p:sp>
        <p:nvSpPr>
          <p:cNvPr id="22" name="Oval 21"/>
          <p:cNvSpPr/>
          <p:nvPr/>
        </p:nvSpPr>
        <p:spPr>
          <a:xfrm>
            <a:off x="5933907" y="3986783"/>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3" name="TextBox 22"/>
          <p:cNvSpPr txBox="1"/>
          <p:nvPr/>
        </p:nvSpPr>
        <p:spPr>
          <a:xfrm>
            <a:off x="5933907" y="4005072"/>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4" name="TextBox 23"/>
          <p:cNvSpPr txBox="1"/>
          <p:nvPr/>
        </p:nvSpPr>
        <p:spPr>
          <a:xfrm>
            <a:off x="6263091" y="3941063"/>
            <a:ext cx="524920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Too late? Ignoring is not untracking</a:t>
            </a:r>
          </a:p>
          <a:p>
            <a:pPr>
              <a:lnSpc>
                <a:spcPct val="95000"/>
              </a:lnSpc>
              <a:spcBef>
                <a:spcPts val="200"/>
              </a:spcBef>
              <a:spcAft>
                <a:spcPts val="100"/>
              </a:spcAft>
            </a:pPr>
            <a:r>
              <a:rPr sz="1090" b="0">
                <a:solidFill>
                  <a:srgbClr val="5A6570"/>
                </a:solidFill>
                <a:latin typeface="Aptos"/>
              </a:rPr>
              <a:t>git rm --cached &lt;file&gt; stops tracking a file already committed</a:t>
            </a:r>
          </a:p>
        </p:txBody>
      </p:sp>
      <p:sp>
        <p:nvSpPr>
          <p:cNvPr id="25" name="Oval 24"/>
          <p:cNvSpPr/>
          <p:nvPr/>
        </p:nvSpPr>
        <p:spPr>
          <a:xfrm>
            <a:off x="5933907" y="4837175"/>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6" name="TextBox 25"/>
          <p:cNvSpPr txBox="1"/>
          <p:nvPr/>
        </p:nvSpPr>
        <p:spPr>
          <a:xfrm>
            <a:off x="5933907" y="485546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7" name="TextBox 26"/>
          <p:cNvSpPr txBox="1"/>
          <p:nvPr/>
        </p:nvSpPr>
        <p:spPr>
          <a:xfrm>
            <a:off x="6263091" y="4791455"/>
            <a:ext cx="5249204" cy="521208"/>
          </a:xfrm>
          <a:prstGeom prst="rect">
            <a:avLst/>
          </a:prstGeom>
          <a:noFill/>
        </p:spPr>
        <p:txBody>
          <a:bodyPr wrap="square" lIns="73152" rIns="73152" tIns="36576" bIns="36576">
            <a:spAutoFit/>
          </a:bodyPr>
          <a:lstStyle/>
          <a:p>
            <a:pPr>
              <a:lnSpc>
                <a:spcPct val="95000"/>
              </a:lnSpc>
              <a:spcAft>
                <a:spcPts val="100"/>
              </a:spcAft>
            </a:pPr>
            <a:r>
              <a:rPr sz="1250" b="1">
                <a:solidFill>
                  <a:srgbClr val="123A5F"/>
                </a:solidFill>
                <a:latin typeface="Aptos"/>
              </a:rPr>
              <a:t>And rotate anything that leaked</a:t>
            </a:r>
          </a:p>
          <a:p>
            <a:pPr>
              <a:lnSpc>
                <a:spcPct val="95000"/>
              </a:lnSpc>
              <a:spcBef>
                <a:spcPts val="200"/>
              </a:spcBef>
              <a:spcAft>
                <a:spcPts val="100"/>
              </a:spcAft>
            </a:pPr>
            <a:r>
              <a:rPr sz="1090" b="0">
                <a:solidFill>
                  <a:srgbClr val="5A6570"/>
                </a:solidFill>
                <a:latin typeface="Aptos"/>
              </a:rPr>
              <a:t>Day 6 covers why rotating comes before cleaning history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59</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IN A REGULATED BANK</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1900" b="1" i="0">
                <a:solidFill>
                  <a:srgbClr val="123A5F"/>
                </a:solidFill>
                <a:latin typeface="Aptos Display"/>
              </a:rPr>
              <a:t>What PayTrack API teaches before you write a line of code</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475488"/>
          </a:xfrm>
          <a:prstGeom prst="rect">
            <a:avLst/>
          </a:prstGeom>
          <a:solidFill>
            <a:srgbClr val="FDF1E2"/>
          </a:solidFill>
          <a:ln w="12700">
            <a:solidFill>
              <a:srgbClr val="D2760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Rectangle 8"/>
          <p:cNvSpPr/>
          <p:nvPr/>
        </p:nvSpPr>
        <p:spPr>
          <a:xfrm>
            <a:off x="658368" y="1783080"/>
            <a:ext cx="68580" cy="475488"/>
          </a:xfrm>
          <a:prstGeom prst="rect">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0" name="TextBox 9"/>
          <p:cNvSpPr txBox="1"/>
          <p:nvPr/>
        </p:nvSpPr>
        <p:spPr>
          <a:xfrm>
            <a:off x="932688" y="1837943"/>
            <a:ext cx="10415016" cy="365760"/>
          </a:xfrm>
          <a:prstGeom prst="rect">
            <a:avLst/>
          </a:prstGeom>
          <a:noFill/>
        </p:spPr>
        <p:txBody>
          <a:bodyPr wrap="square" lIns="73152" rIns="73152" tIns="36576" bIns="36576" anchor="ctr">
            <a:spAutoFit/>
          </a:bodyPr>
          <a:lstStyle/>
          <a:p>
            <a:pPr algn="l">
              <a:lnSpc>
                <a:spcPct val="100000"/>
              </a:lnSpc>
              <a:spcAft>
                <a:spcPts val="200"/>
              </a:spcAft>
            </a:pPr>
            <a:r>
              <a:rPr sz="1400" b="0" i="0">
                <a:solidFill>
                  <a:srgbClr val="123A5F"/>
                </a:solidFill>
                <a:latin typeface="Aptos"/>
              </a:rPr>
              <a:t>Scope is something you design OUT at the API boundary — not something you secure afterwards.</a:t>
            </a:r>
          </a:p>
        </p:txBody>
      </p:sp>
      <p:sp>
        <p:nvSpPr>
          <p:cNvPr id="11" name="Diamond 10"/>
          <p:cNvSpPr/>
          <p:nvPr/>
        </p:nvSpPr>
        <p:spPr>
          <a:xfrm>
            <a:off x="676656" y="2555748"/>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969264" y="2441448"/>
            <a:ext cx="10543032" cy="232116"/>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Money is an integer in MINOR units</a:t>
            </a:r>
          </a:p>
        </p:txBody>
      </p:sp>
      <p:sp>
        <p:nvSpPr>
          <p:cNvPr id="13" name="TextBox 12"/>
          <p:cNvSpPr txBox="1"/>
          <p:nvPr/>
        </p:nvSpPr>
        <p:spPr>
          <a:xfrm>
            <a:off x="969264" y="2719284"/>
            <a:ext cx="10543032" cy="201167"/>
          </a:xfrm>
          <a:prstGeom prst="rect">
            <a:avLst/>
          </a:prstGeom>
          <a:noFill/>
        </p:spPr>
        <p:txBody>
          <a:bodyPr wrap="square" lIns="73152" rIns="73152" tIns="36576" bIns="36576" anchor="t">
            <a:spAutoFit/>
          </a:bodyPr>
          <a:lstStyle/>
          <a:p>
            <a:pPr algn="l">
              <a:lnSpc>
                <a:spcPct val="92000"/>
              </a:lnSpc>
              <a:spcAft>
                <a:spcPts val="200"/>
              </a:spcAft>
            </a:pPr>
            <a:r>
              <a:rPr sz="930" b="0" i="0">
                <a:solidFill>
                  <a:srgbClr val="5A6570"/>
                </a:solidFill>
                <a:latin typeface="Aptos"/>
              </a:rPr>
              <a:t>amount_minor: 4599 is £45.99. 0.1 + 0.2 ≠ 0.3 in binary floating point</a:t>
            </a:r>
          </a:p>
        </p:txBody>
      </p:sp>
      <p:sp>
        <p:nvSpPr>
          <p:cNvPr id="14" name="Diamond 13"/>
          <p:cNvSpPr/>
          <p:nvPr/>
        </p:nvSpPr>
        <p:spPr>
          <a:xfrm>
            <a:off x="676656" y="3169802"/>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69264" y="3055502"/>
            <a:ext cx="10543032" cy="232116"/>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A full card number is REFUSED at the API edge</a:t>
            </a:r>
          </a:p>
        </p:txBody>
      </p:sp>
      <p:sp>
        <p:nvSpPr>
          <p:cNvPr id="16" name="TextBox 15"/>
          <p:cNvSpPr txBox="1"/>
          <p:nvPr/>
        </p:nvSpPr>
        <p:spPr>
          <a:xfrm>
            <a:off x="969264" y="3333339"/>
            <a:ext cx="10543032" cy="201167"/>
          </a:xfrm>
          <a:prstGeom prst="rect">
            <a:avLst/>
          </a:prstGeom>
          <a:noFill/>
        </p:spPr>
        <p:txBody>
          <a:bodyPr wrap="square" lIns="73152" rIns="73152" tIns="36576" bIns="36576" anchor="t">
            <a:spAutoFit/>
          </a:bodyPr>
          <a:lstStyle/>
          <a:p>
            <a:pPr algn="l">
              <a:lnSpc>
                <a:spcPct val="92000"/>
              </a:lnSpc>
              <a:spcAft>
                <a:spcPts val="200"/>
              </a:spcAft>
            </a:pPr>
            <a:r>
              <a:rPr sz="930" b="0" i="0">
                <a:solidFill>
                  <a:srgbClr val="5A6570"/>
                </a:solidFill>
                <a:latin typeface="Aptos"/>
              </a:rPr>
              <a:t>Accepting it would pull the service, its logs, replicas and backups into PCI-DSS scope</a:t>
            </a:r>
          </a:p>
        </p:txBody>
      </p:sp>
      <p:sp>
        <p:nvSpPr>
          <p:cNvPr id="17" name="Diamond 16"/>
          <p:cNvSpPr/>
          <p:nvPr/>
        </p:nvSpPr>
        <p:spPr>
          <a:xfrm>
            <a:off x="676656" y="3783857"/>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969264" y="3669557"/>
            <a:ext cx="10543032" cy="232116"/>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Only the last four digits are stored</a:t>
            </a:r>
          </a:p>
        </p:txBody>
      </p:sp>
      <p:sp>
        <p:nvSpPr>
          <p:cNvPr id="19" name="TextBox 18"/>
          <p:cNvSpPr txBox="1"/>
          <p:nvPr/>
        </p:nvSpPr>
        <p:spPr>
          <a:xfrm>
            <a:off x="969264" y="3947394"/>
            <a:ext cx="10543032" cy="201167"/>
          </a:xfrm>
          <a:prstGeom prst="rect">
            <a:avLst/>
          </a:prstGeom>
          <a:noFill/>
        </p:spPr>
        <p:txBody>
          <a:bodyPr wrap="square" lIns="73152" rIns="73152" tIns="36576" bIns="36576" anchor="t">
            <a:spAutoFit/>
          </a:bodyPr>
          <a:lstStyle/>
          <a:p>
            <a:pPr algn="l">
              <a:lnSpc>
                <a:spcPct val="92000"/>
              </a:lnSpc>
              <a:spcAft>
                <a:spcPts val="200"/>
              </a:spcAft>
            </a:pPr>
            <a:r>
              <a:rPr sz="930" b="0" i="0">
                <a:solidFill>
                  <a:srgbClr val="5A6570"/>
                </a:solidFill>
                <a:latin typeface="Aptos"/>
              </a:rPr>
              <a:t>Not sensitive on their own</a:t>
            </a:r>
          </a:p>
        </p:txBody>
      </p:sp>
      <p:sp>
        <p:nvSpPr>
          <p:cNvPr id="20" name="Diamond 19"/>
          <p:cNvSpPr/>
          <p:nvPr/>
        </p:nvSpPr>
        <p:spPr>
          <a:xfrm>
            <a:off x="676656" y="4397912"/>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969264" y="4283612"/>
            <a:ext cx="10543032" cy="232116"/>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No customer identifier reaches the logs</a:t>
            </a:r>
          </a:p>
        </p:txBody>
      </p:sp>
      <p:sp>
        <p:nvSpPr>
          <p:cNvPr id="22" name="TextBox 21"/>
          <p:cNvSpPr txBox="1"/>
          <p:nvPr/>
        </p:nvSpPr>
        <p:spPr>
          <a:xfrm>
            <a:off x="969264" y="4561449"/>
            <a:ext cx="10543032" cy="201167"/>
          </a:xfrm>
          <a:prstGeom prst="rect">
            <a:avLst/>
          </a:prstGeom>
          <a:noFill/>
        </p:spPr>
        <p:txBody>
          <a:bodyPr wrap="square" lIns="73152" rIns="73152" tIns="36576" bIns="36576" anchor="t">
            <a:spAutoFit/>
          </a:bodyPr>
          <a:lstStyle/>
          <a:p>
            <a:pPr algn="l">
              <a:lnSpc>
                <a:spcPct val="92000"/>
              </a:lnSpc>
              <a:spcAft>
                <a:spcPts val="200"/>
              </a:spcAft>
            </a:pPr>
            <a:r>
              <a:rPr sz="930" b="0" i="0">
                <a:solidFill>
                  <a:srgbClr val="5A6570"/>
                </a:solidFill>
                <a:latin typeface="Aptos"/>
              </a:rPr>
              <a:t>Logs are widely readable and long-retained</a:t>
            </a:r>
          </a:p>
        </p:txBody>
      </p:sp>
      <p:sp>
        <p:nvSpPr>
          <p:cNvPr id="23" name="Diamond 22"/>
          <p:cNvSpPr/>
          <p:nvPr/>
        </p:nvSpPr>
        <p:spPr>
          <a:xfrm>
            <a:off x="676656" y="5011967"/>
            <a:ext cx="128016" cy="128016"/>
          </a:xfrm>
          <a:prstGeom prst="diamond">
            <a:avLst/>
          </a:prstGeom>
          <a:solidFill>
            <a:srgbClr val="D2760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969264" y="4897667"/>
            <a:ext cx="10543032" cy="232116"/>
          </a:xfrm>
          <a:prstGeom prst="rect">
            <a:avLst/>
          </a:prstGeom>
          <a:noFill/>
        </p:spPr>
        <p:txBody>
          <a:bodyPr wrap="square" lIns="73152" rIns="73152" tIns="36576" bIns="36576" anchor="t">
            <a:spAutoFit/>
          </a:bodyPr>
          <a:lstStyle/>
          <a:p>
            <a:pPr algn="l">
              <a:lnSpc>
                <a:spcPct val="92000"/>
              </a:lnSpc>
              <a:spcAft>
                <a:spcPts val="200"/>
              </a:spcAft>
            </a:pPr>
            <a:r>
              <a:rPr sz="1100" b="1" i="0">
                <a:solidFill>
                  <a:srgbClr val="123A5F"/>
                </a:solidFill>
                <a:latin typeface="Aptos"/>
              </a:rPr>
              <a:t>The referral limit is configuration, not code</a:t>
            </a:r>
          </a:p>
        </p:txBody>
      </p:sp>
      <p:sp>
        <p:nvSpPr>
          <p:cNvPr id="25" name="TextBox 24"/>
          <p:cNvSpPr txBox="1"/>
          <p:nvPr/>
        </p:nvSpPr>
        <p:spPr>
          <a:xfrm>
            <a:off x="969264" y="5175504"/>
            <a:ext cx="10543032" cy="201167"/>
          </a:xfrm>
          <a:prstGeom prst="rect">
            <a:avLst/>
          </a:prstGeom>
          <a:noFill/>
        </p:spPr>
        <p:txBody>
          <a:bodyPr wrap="square" lIns="73152" rIns="73152" tIns="36576" bIns="36576" anchor="t">
            <a:spAutoFit/>
          </a:bodyPr>
          <a:lstStyle/>
          <a:p>
            <a:pPr algn="l">
              <a:lnSpc>
                <a:spcPct val="92000"/>
              </a:lnSpc>
              <a:spcAft>
                <a:spcPts val="200"/>
              </a:spcAft>
            </a:pPr>
            <a:r>
              <a:rPr sz="930" b="0" i="0">
                <a:solidFill>
                  <a:srgbClr val="5A6570"/>
                </a:solidFill>
                <a:latin typeface="Aptos"/>
              </a:rPr>
              <a:t>Risk can change a threshold without a release</a:t>
            </a:r>
          </a:p>
        </p:txBody>
      </p:sp>
      <p:sp>
        <p:nvSpPr>
          <p:cNvPr id="26" name="TextBox 25"/>
          <p:cNvSpPr txBox="1"/>
          <p:nvPr/>
        </p:nvSpPr>
        <p:spPr>
          <a:xfrm>
            <a:off x="658368" y="5596128"/>
            <a:ext cx="10872216" cy="256032"/>
          </a:xfrm>
          <a:prstGeom prst="rect">
            <a:avLst/>
          </a:prstGeom>
          <a:noFill/>
        </p:spPr>
        <p:txBody>
          <a:bodyPr wrap="square" lIns="73152" rIns="73152" tIns="36576" bIns="36576" anchor="t">
            <a:spAutoFit/>
          </a:bodyPr>
          <a:lstStyle/>
          <a:p>
            <a:pPr algn="l">
              <a:lnSpc>
                <a:spcPct val="92000"/>
              </a:lnSpc>
              <a:spcAft>
                <a:spcPts val="200"/>
              </a:spcAft>
            </a:pPr>
            <a:r>
              <a:rPr sz="950" b="1" i="1">
                <a:solidFill>
                  <a:srgbClr val="D2760D"/>
                </a:solidFill>
                <a:latin typeface="Aptos"/>
              </a:rPr>
              <a:t>Appendix A §A.6 · app/src/app.py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60</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LAB 02  ·  STARTED TOGETHER IN CLASS  ·  FINISH AFTER</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Git Fundamentals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658368"/>
          </a:xfrm>
          <a:prstGeom prst="rect">
            <a:avLst/>
          </a:prstGeom>
          <a:solidFill>
            <a:srgbClr val="EDF4EA"/>
          </a:solidFill>
          <a:ln w="12700">
            <a:solidFill>
              <a:srgbClr val="3E7D3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841247" y="1837943"/>
            <a:ext cx="1143000" cy="256032"/>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3E7D32"/>
                </a:solidFill>
                <a:latin typeface="Aptos"/>
              </a:rPr>
              <a:t>OBJECTIVE</a:t>
            </a:r>
          </a:p>
        </p:txBody>
      </p:sp>
      <p:sp>
        <p:nvSpPr>
          <p:cNvPr id="10" name="TextBox 9"/>
          <p:cNvSpPr txBox="1"/>
          <p:nvPr/>
        </p:nvSpPr>
        <p:spPr>
          <a:xfrm>
            <a:off x="841247" y="2057400"/>
            <a:ext cx="10506456" cy="347472"/>
          </a:xfrm>
          <a:prstGeom prst="rect">
            <a:avLst/>
          </a:prstGeom>
          <a:noFill/>
        </p:spPr>
        <p:txBody>
          <a:bodyPr wrap="square" lIns="73152" rIns="73152" tIns="36576" bIns="36576" anchor="t">
            <a:spAutoFit/>
          </a:bodyPr>
          <a:lstStyle/>
          <a:p>
            <a:pPr algn="l">
              <a:lnSpc>
                <a:spcPct val="92000"/>
              </a:lnSpc>
              <a:spcAft>
                <a:spcPts val="200"/>
              </a:spcAft>
            </a:pPr>
            <a:r>
              <a:rPr sz="1350" b="0" i="0">
                <a:solidFill>
                  <a:srgbClr val="123A5F"/>
                </a:solidFill>
                <a:latin typeface="Aptos"/>
              </a:rPr>
              <a:t>Turn a directory into a repository containing PayTrack API, with a clean, meaningful history.</a:t>
            </a:r>
          </a:p>
        </p:txBody>
      </p:sp>
      <p:sp>
        <p:nvSpPr>
          <p:cNvPr id="11" name="TextBox 10"/>
          <p:cNvSpPr txBox="1"/>
          <p:nvPr/>
        </p:nvSpPr>
        <p:spPr>
          <a:xfrm>
            <a:off x="658368" y="2660904"/>
            <a:ext cx="10872216" cy="274320"/>
          </a:xfrm>
          <a:prstGeom prst="rect">
            <a:avLst/>
          </a:prstGeom>
          <a:noFill/>
        </p:spPr>
        <p:txBody>
          <a:bodyPr wrap="square" lIns="73152" rIns="73152" tIns="36576" bIns="36576" anchor="t">
            <a:spAutoFit/>
          </a:bodyPr>
          <a:lstStyle/>
          <a:p>
            <a:pPr algn="l">
              <a:lnSpc>
                <a:spcPct val="92000"/>
              </a:lnSpc>
              <a:spcAft>
                <a:spcPts val="200"/>
              </a:spcAft>
            </a:pPr>
            <a:r>
              <a:rPr sz="950" b="1" i="0">
                <a:solidFill>
                  <a:srgbClr val="117A69"/>
                </a:solidFill>
                <a:latin typeface="Aptos"/>
              </a:rPr>
              <a:t>YOU WILL</a:t>
            </a:r>
          </a:p>
        </p:txBody>
      </p:sp>
      <p:sp>
        <p:nvSpPr>
          <p:cNvPr id="12" name="Oval 11"/>
          <p:cNvSpPr/>
          <p:nvPr/>
        </p:nvSpPr>
        <p:spPr>
          <a:xfrm>
            <a:off x="676656" y="298551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676656" y="300380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1</a:t>
            </a:r>
          </a:p>
        </p:txBody>
      </p:sp>
      <p:sp>
        <p:nvSpPr>
          <p:cNvPr id="14" name="TextBox 13"/>
          <p:cNvSpPr txBox="1"/>
          <p:nvPr/>
        </p:nvSpPr>
        <p:spPr>
          <a:xfrm>
            <a:off x="1042415" y="2958084"/>
            <a:ext cx="10469880" cy="274320"/>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git init, and look inside .git to see the object database</a:t>
            </a:r>
          </a:p>
        </p:txBody>
      </p:sp>
      <p:sp>
        <p:nvSpPr>
          <p:cNvPr id="15" name="Oval 14"/>
          <p:cNvSpPr/>
          <p:nvPr/>
        </p:nvSpPr>
        <p:spPr>
          <a:xfrm>
            <a:off x="676656" y="3351276"/>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6" name="TextBox 15"/>
          <p:cNvSpPr txBox="1"/>
          <p:nvPr/>
        </p:nvSpPr>
        <p:spPr>
          <a:xfrm>
            <a:off x="676656" y="3369564"/>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2</a:t>
            </a:r>
          </a:p>
        </p:txBody>
      </p:sp>
      <p:sp>
        <p:nvSpPr>
          <p:cNvPr id="17" name="TextBox 16"/>
          <p:cNvSpPr txBox="1"/>
          <p:nvPr/>
        </p:nvSpPr>
        <p:spPr>
          <a:xfrm>
            <a:off x="1042415" y="3323844"/>
            <a:ext cx="10469880" cy="466344"/>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Bring in the PayTrack API source and RUN IT before committing it — never commit code you have not run</a:t>
            </a:r>
          </a:p>
        </p:txBody>
      </p:sp>
      <p:sp>
        <p:nvSpPr>
          <p:cNvPr id="18" name="Oval 17"/>
          <p:cNvSpPr/>
          <p:nvPr/>
        </p:nvSpPr>
        <p:spPr>
          <a:xfrm>
            <a:off x="676656" y="3909059"/>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676656" y="392734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3</a:t>
            </a:r>
          </a:p>
        </p:txBody>
      </p:sp>
      <p:sp>
        <p:nvSpPr>
          <p:cNvPr id="20" name="TextBox 19"/>
          <p:cNvSpPr txBox="1"/>
          <p:nvPr/>
        </p:nvSpPr>
        <p:spPr>
          <a:xfrm>
            <a:off x="1042415" y="3881628"/>
            <a:ext cx="10469880" cy="274320"/>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Write .gitignore BEFORE the first commit (secrets, .venv, tfstate)</a:t>
            </a:r>
          </a:p>
        </p:txBody>
      </p:sp>
      <p:sp>
        <p:nvSpPr>
          <p:cNvPr id="21" name="Oval 20"/>
          <p:cNvSpPr/>
          <p:nvPr/>
        </p:nvSpPr>
        <p:spPr>
          <a:xfrm>
            <a:off x="676656" y="4274820"/>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676656" y="429310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4</a:t>
            </a:r>
          </a:p>
        </p:txBody>
      </p:sp>
      <p:sp>
        <p:nvSpPr>
          <p:cNvPr id="23" name="TextBox 22"/>
          <p:cNvSpPr txBox="1"/>
          <p:nvPr/>
        </p:nvSpPr>
        <p:spPr>
          <a:xfrm>
            <a:off x="1042415" y="4247388"/>
            <a:ext cx="10469880" cy="274320"/>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Stage selectively, review git diff --staged, and write two properly-scoped commits</a:t>
            </a:r>
          </a:p>
        </p:txBody>
      </p:sp>
      <p:sp>
        <p:nvSpPr>
          <p:cNvPr id="24" name="Oval 23"/>
          <p:cNvSpPr/>
          <p:nvPr/>
        </p:nvSpPr>
        <p:spPr>
          <a:xfrm>
            <a:off x="676656" y="4640580"/>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5" name="TextBox 24"/>
          <p:cNvSpPr txBox="1"/>
          <p:nvPr/>
        </p:nvSpPr>
        <p:spPr>
          <a:xfrm>
            <a:off x="676656" y="465886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5</a:t>
            </a:r>
          </a:p>
        </p:txBody>
      </p:sp>
      <p:sp>
        <p:nvSpPr>
          <p:cNvPr id="26" name="TextBox 25"/>
          <p:cNvSpPr txBox="1"/>
          <p:nvPr/>
        </p:nvSpPr>
        <p:spPr>
          <a:xfrm>
            <a:off x="1042415" y="4613148"/>
            <a:ext cx="10469880" cy="274320"/>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Practise all three undos: restore, restore --staged, and revert</a:t>
            </a:r>
          </a:p>
        </p:txBody>
      </p:sp>
      <p:sp>
        <p:nvSpPr>
          <p:cNvPr id="27" name="Oval 26"/>
          <p:cNvSpPr/>
          <p:nvPr/>
        </p:nvSpPr>
        <p:spPr>
          <a:xfrm>
            <a:off x="676656" y="5006340"/>
            <a:ext cx="237744" cy="237744"/>
          </a:xfrm>
          <a:prstGeom prst="ellipse">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8" name="TextBox 27"/>
          <p:cNvSpPr txBox="1"/>
          <p:nvPr/>
        </p:nvSpPr>
        <p:spPr>
          <a:xfrm>
            <a:off x="676656" y="5024628"/>
            <a:ext cx="237744" cy="201168"/>
          </a:xfrm>
          <a:prstGeom prst="rect">
            <a:avLst/>
          </a:prstGeom>
          <a:noFill/>
        </p:spPr>
        <p:txBody>
          <a:bodyPr wrap="square" lIns="73152" rIns="73152" tIns="36576" bIns="36576" anchor="t">
            <a:spAutoFit/>
          </a:bodyPr>
          <a:lstStyle/>
          <a:p>
            <a:pPr algn="ctr">
              <a:lnSpc>
                <a:spcPct val="92000"/>
              </a:lnSpc>
              <a:spcAft>
                <a:spcPts val="200"/>
              </a:spcAft>
            </a:pPr>
            <a:r>
              <a:rPr sz="900" b="1" i="0">
                <a:solidFill>
                  <a:srgbClr val="FFFFFF"/>
                </a:solidFill>
                <a:latin typeface="Aptos"/>
              </a:rPr>
              <a:t>6</a:t>
            </a:r>
          </a:p>
        </p:txBody>
      </p:sp>
      <p:sp>
        <p:nvSpPr>
          <p:cNvPr id="29" name="TextBox 28"/>
          <p:cNvSpPr txBox="1"/>
          <p:nvPr/>
        </p:nvSpPr>
        <p:spPr>
          <a:xfrm>
            <a:off x="1042415" y="4978908"/>
            <a:ext cx="10469880" cy="274320"/>
          </a:xfrm>
          <a:prstGeom prst="rect">
            <a:avLst/>
          </a:prstGeom>
          <a:noFill/>
        </p:spPr>
        <p:txBody>
          <a:bodyPr wrap="square" lIns="73152" rIns="73152" tIns="36576" bIns="36576" anchor="t">
            <a:spAutoFit/>
          </a:bodyPr>
          <a:lstStyle/>
          <a:p>
            <a:pPr algn="l">
              <a:lnSpc>
                <a:spcPct val="92000"/>
              </a:lnSpc>
              <a:spcAft>
                <a:spcPts val="200"/>
              </a:spcAft>
            </a:pPr>
            <a:r>
              <a:rPr sz="1200" b="0" i="0">
                <a:solidFill>
                  <a:srgbClr val="123A5F"/>
                </a:solidFill>
                <a:latin typeface="Aptos"/>
              </a:rPr>
              <a:t>Tag an annotated release</a:t>
            </a:r>
          </a:p>
        </p:txBody>
      </p:sp>
      <p:sp>
        <p:nvSpPr>
          <p:cNvPr id="30" name="Rectangle 29"/>
          <p:cNvSpPr/>
          <p:nvPr/>
        </p:nvSpPr>
        <p:spPr>
          <a:xfrm>
            <a:off x="658368" y="5394960"/>
            <a:ext cx="10872216" cy="475488"/>
          </a:xfrm>
          <a:prstGeom prst="rect">
            <a:avLst/>
          </a:prstGeom>
          <a:solidFill>
            <a:srgbClr val="ECF1F6"/>
          </a:solidFill>
          <a:ln w="9525">
            <a:solidFill>
              <a:srgbClr val="117A6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1" name="TextBox 30"/>
          <p:cNvSpPr txBox="1"/>
          <p:nvPr/>
        </p:nvSpPr>
        <p:spPr>
          <a:xfrm>
            <a:off x="841247" y="5440680"/>
            <a:ext cx="1051560" cy="237744"/>
          </a:xfrm>
          <a:prstGeom prst="rect">
            <a:avLst/>
          </a:prstGeom>
          <a:noFill/>
        </p:spPr>
        <p:txBody>
          <a:bodyPr wrap="square" lIns="73152" rIns="73152" tIns="36576" bIns="36576" anchor="t">
            <a:spAutoFit/>
          </a:bodyPr>
          <a:lstStyle/>
          <a:p>
            <a:pPr algn="l">
              <a:lnSpc>
                <a:spcPct val="92000"/>
              </a:lnSpc>
              <a:spcAft>
                <a:spcPts val="200"/>
              </a:spcAft>
            </a:pPr>
            <a:r>
              <a:rPr sz="900" b="1" i="0">
                <a:solidFill>
                  <a:srgbClr val="117A69"/>
                </a:solidFill>
                <a:latin typeface="Aptos"/>
              </a:rPr>
              <a:t>OUTCOME</a:t>
            </a:r>
          </a:p>
        </p:txBody>
      </p:sp>
      <p:sp>
        <p:nvSpPr>
          <p:cNvPr id="32" name="TextBox 31"/>
          <p:cNvSpPr txBox="1"/>
          <p:nvPr/>
        </p:nvSpPr>
        <p:spPr>
          <a:xfrm>
            <a:off x="1892808" y="5431536"/>
            <a:ext cx="9454896" cy="384048"/>
          </a:xfrm>
          <a:prstGeom prst="rect">
            <a:avLst/>
          </a:prstGeom>
          <a:noFill/>
        </p:spPr>
        <p:txBody>
          <a:bodyPr wrap="square" lIns="73152" rIns="73152" tIns="36576" bIns="36576" anchor="ctr">
            <a:spAutoFit/>
          </a:bodyPr>
          <a:lstStyle/>
          <a:p>
            <a:pPr algn="l">
              <a:lnSpc>
                <a:spcPct val="92000"/>
              </a:lnSpc>
              <a:spcAft>
                <a:spcPts val="200"/>
              </a:spcAft>
            </a:pPr>
            <a:r>
              <a:rPr sz="1200" b="0" i="0">
                <a:solidFill>
                  <a:srgbClr val="123A5F"/>
                </a:solidFill>
                <a:latin typeface="Aptos"/>
              </a:rPr>
              <a:t>A local repository with four commits, an annotated tag, and a tested Flask application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61</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REFERENCE</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Day 1 key terms</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10872216" cy="38404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749808" y="1828800"/>
            <a:ext cx="2662184"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Term</a:t>
            </a:r>
          </a:p>
        </p:txBody>
      </p:sp>
      <p:sp>
        <p:nvSpPr>
          <p:cNvPr id="10" name="TextBox 9"/>
          <p:cNvSpPr txBox="1"/>
          <p:nvPr/>
        </p:nvSpPr>
        <p:spPr>
          <a:xfrm>
            <a:off x="3576584" y="1828800"/>
            <a:ext cx="7880847" cy="292608"/>
          </a:xfrm>
          <a:prstGeom prst="rect">
            <a:avLst/>
          </a:prstGeom>
          <a:noFill/>
        </p:spPr>
        <p:txBody>
          <a:bodyPr wrap="square" lIns="73152" rIns="73152" tIns="36576" bIns="36576" anchor="t">
            <a:spAutoFit/>
          </a:bodyPr>
          <a:lstStyle/>
          <a:p>
            <a:pPr algn="l">
              <a:lnSpc>
                <a:spcPct val="92000"/>
              </a:lnSpc>
              <a:spcAft>
                <a:spcPts val="200"/>
              </a:spcAft>
            </a:pPr>
            <a:r>
              <a:rPr sz="1150" b="1" i="0">
                <a:solidFill>
                  <a:srgbClr val="FFFFFF"/>
                </a:solidFill>
                <a:latin typeface="Aptos"/>
              </a:rPr>
              <a:t>Definition</a:t>
            </a:r>
          </a:p>
        </p:txBody>
      </p:sp>
      <p:sp>
        <p:nvSpPr>
          <p:cNvPr id="11" name="Rectangle 10"/>
          <p:cNvSpPr/>
          <p:nvPr/>
        </p:nvSpPr>
        <p:spPr>
          <a:xfrm>
            <a:off x="658368" y="2167128"/>
            <a:ext cx="10872216" cy="555726"/>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749808" y="2185416"/>
            <a:ext cx="2662184" cy="519150"/>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DevOps</a:t>
            </a:r>
          </a:p>
        </p:txBody>
      </p:sp>
      <p:sp>
        <p:nvSpPr>
          <p:cNvPr id="13" name="TextBox 12"/>
          <p:cNvSpPr txBox="1"/>
          <p:nvPr/>
        </p:nvSpPr>
        <p:spPr>
          <a:xfrm>
            <a:off x="3576584" y="2185416"/>
            <a:ext cx="7880847" cy="519150"/>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Cultural + engineering practices that shorten commit-to-production time at high quality</a:t>
            </a:r>
          </a:p>
        </p:txBody>
      </p:sp>
      <p:sp>
        <p:nvSpPr>
          <p:cNvPr id="14" name="Rectangle 13"/>
          <p:cNvSpPr/>
          <p:nvPr/>
        </p:nvSpPr>
        <p:spPr>
          <a:xfrm>
            <a:off x="658368" y="2722854"/>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749808" y="2741142"/>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The Three Ways</a:t>
            </a:r>
          </a:p>
        </p:txBody>
      </p:sp>
      <p:sp>
        <p:nvSpPr>
          <p:cNvPr id="16" name="TextBox 15"/>
          <p:cNvSpPr txBox="1"/>
          <p:nvPr/>
        </p:nvSpPr>
        <p:spPr>
          <a:xfrm>
            <a:off x="3576584" y="2741142"/>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Flow, Feedback, Continual learning and experimentation</a:t>
            </a:r>
          </a:p>
        </p:txBody>
      </p:sp>
      <p:sp>
        <p:nvSpPr>
          <p:cNvPr id="17" name="Rectangle 16"/>
          <p:cNvSpPr/>
          <p:nvPr/>
        </p:nvSpPr>
        <p:spPr>
          <a:xfrm>
            <a:off x="658368" y="3070555"/>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749808" y="3088843"/>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CALMS</a:t>
            </a:r>
          </a:p>
        </p:txBody>
      </p:sp>
      <p:sp>
        <p:nvSpPr>
          <p:cNvPr id="19" name="TextBox 18"/>
          <p:cNvSpPr txBox="1"/>
          <p:nvPr/>
        </p:nvSpPr>
        <p:spPr>
          <a:xfrm>
            <a:off x="3576584" y="3088843"/>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Culture, Automation, Lean, Measurement, Sharing — a diagnostic</a:t>
            </a:r>
          </a:p>
        </p:txBody>
      </p:sp>
      <p:sp>
        <p:nvSpPr>
          <p:cNvPr id="20" name="Rectangle 19"/>
          <p:cNvSpPr/>
          <p:nvPr/>
        </p:nvSpPr>
        <p:spPr>
          <a:xfrm>
            <a:off x="658368" y="3418255"/>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749808" y="3436543"/>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Value stream</a:t>
            </a:r>
          </a:p>
        </p:txBody>
      </p:sp>
      <p:sp>
        <p:nvSpPr>
          <p:cNvPr id="22" name="TextBox 21"/>
          <p:cNvSpPr txBox="1"/>
          <p:nvPr/>
        </p:nvSpPr>
        <p:spPr>
          <a:xfrm>
            <a:off x="3576584" y="3436543"/>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Every activity AND every queue from request to delivered value</a:t>
            </a:r>
          </a:p>
        </p:txBody>
      </p:sp>
      <p:sp>
        <p:nvSpPr>
          <p:cNvPr id="23" name="Rectangle 22"/>
          <p:cNvSpPr/>
          <p:nvPr/>
        </p:nvSpPr>
        <p:spPr>
          <a:xfrm>
            <a:off x="658368" y="3765956"/>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4" name="TextBox 23"/>
          <p:cNvSpPr txBox="1"/>
          <p:nvPr/>
        </p:nvSpPr>
        <p:spPr>
          <a:xfrm>
            <a:off x="749808" y="3784244"/>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Flow efficiency</a:t>
            </a:r>
          </a:p>
        </p:txBody>
      </p:sp>
      <p:sp>
        <p:nvSpPr>
          <p:cNvPr id="25" name="TextBox 24"/>
          <p:cNvSpPr txBox="1"/>
          <p:nvPr/>
        </p:nvSpPr>
        <p:spPr>
          <a:xfrm>
            <a:off x="3576584" y="3784244"/>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Process time ÷ lead time</a:t>
            </a:r>
          </a:p>
        </p:txBody>
      </p:sp>
      <p:sp>
        <p:nvSpPr>
          <p:cNvPr id="26" name="Rectangle 25"/>
          <p:cNvSpPr/>
          <p:nvPr/>
        </p:nvSpPr>
        <p:spPr>
          <a:xfrm>
            <a:off x="658368" y="4113657"/>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7" name="TextBox 26"/>
          <p:cNvSpPr txBox="1"/>
          <p:nvPr/>
        </p:nvSpPr>
        <p:spPr>
          <a:xfrm>
            <a:off x="749808" y="4131945"/>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Little's Law</a:t>
            </a:r>
          </a:p>
        </p:txBody>
      </p:sp>
      <p:sp>
        <p:nvSpPr>
          <p:cNvPr id="28" name="TextBox 27"/>
          <p:cNvSpPr txBox="1"/>
          <p:nvPr/>
        </p:nvSpPr>
        <p:spPr>
          <a:xfrm>
            <a:off x="3576584" y="4131945"/>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Lead time = WIP ÷ throughput</a:t>
            </a:r>
          </a:p>
        </p:txBody>
      </p:sp>
      <p:sp>
        <p:nvSpPr>
          <p:cNvPr id="29" name="Rectangle 28"/>
          <p:cNvSpPr/>
          <p:nvPr/>
        </p:nvSpPr>
        <p:spPr>
          <a:xfrm>
            <a:off x="658368" y="4461357"/>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0" name="TextBox 29"/>
          <p:cNvSpPr txBox="1"/>
          <p:nvPr/>
        </p:nvSpPr>
        <p:spPr>
          <a:xfrm>
            <a:off x="749808" y="4479645"/>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Constraint</a:t>
            </a:r>
          </a:p>
        </p:txBody>
      </p:sp>
      <p:sp>
        <p:nvSpPr>
          <p:cNvPr id="31" name="TextBox 30"/>
          <p:cNvSpPr txBox="1"/>
          <p:nvPr/>
        </p:nvSpPr>
        <p:spPr>
          <a:xfrm>
            <a:off x="3576584" y="4479645"/>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The step that limits the throughput of the whole stream</a:t>
            </a:r>
          </a:p>
        </p:txBody>
      </p:sp>
      <p:sp>
        <p:nvSpPr>
          <p:cNvPr id="32" name="Rectangle 31"/>
          <p:cNvSpPr/>
          <p:nvPr/>
        </p:nvSpPr>
        <p:spPr>
          <a:xfrm>
            <a:off x="658368" y="4809058"/>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3" name="TextBox 32"/>
          <p:cNvSpPr txBox="1"/>
          <p:nvPr/>
        </p:nvSpPr>
        <p:spPr>
          <a:xfrm>
            <a:off x="749808" y="4827346"/>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Deploy / release</a:t>
            </a:r>
          </a:p>
        </p:txBody>
      </p:sp>
      <p:sp>
        <p:nvSpPr>
          <p:cNvPr id="34" name="TextBox 33"/>
          <p:cNvSpPr txBox="1"/>
          <p:nvPr/>
        </p:nvSpPr>
        <p:spPr>
          <a:xfrm>
            <a:off x="3576584" y="4827346"/>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 technical event / a business decision</a:t>
            </a:r>
          </a:p>
        </p:txBody>
      </p:sp>
      <p:sp>
        <p:nvSpPr>
          <p:cNvPr id="35" name="Rectangle 34"/>
          <p:cNvSpPr/>
          <p:nvPr/>
        </p:nvSpPr>
        <p:spPr>
          <a:xfrm>
            <a:off x="658368" y="5156758"/>
            <a:ext cx="10872216" cy="347700"/>
          </a:xfrm>
          <a:prstGeom prst="rect">
            <a:avLst/>
          </a:prstGeom>
          <a:solidFill>
            <a:srgbClr val="FFFFFF"/>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6" name="TextBox 35"/>
          <p:cNvSpPr txBox="1"/>
          <p:nvPr/>
        </p:nvSpPr>
        <p:spPr>
          <a:xfrm>
            <a:off x="749808" y="5175046"/>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Lead time for change</a:t>
            </a:r>
          </a:p>
        </p:txBody>
      </p:sp>
      <p:sp>
        <p:nvSpPr>
          <p:cNvPr id="37" name="TextBox 36"/>
          <p:cNvSpPr txBox="1"/>
          <p:nvPr/>
        </p:nvSpPr>
        <p:spPr>
          <a:xfrm>
            <a:off x="3576584" y="5175046"/>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Commit → running in production</a:t>
            </a:r>
          </a:p>
        </p:txBody>
      </p:sp>
      <p:sp>
        <p:nvSpPr>
          <p:cNvPr id="38" name="Rectangle 37"/>
          <p:cNvSpPr/>
          <p:nvPr/>
        </p:nvSpPr>
        <p:spPr>
          <a:xfrm>
            <a:off x="658368" y="5504459"/>
            <a:ext cx="10872216" cy="347700"/>
          </a:xfrm>
          <a:prstGeom prst="rect">
            <a:avLst/>
          </a:prstGeom>
          <a:solidFill>
            <a:srgbClr val="F3F6F8"/>
          </a:solidFill>
          <a:ln w="635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9" name="TextBox 38"/>
          <p:cNvSpPr txBox="1"/>
          <p:nvPr/>
        </p:nvSpPr>
        <p:spPr>
          <a:xfrm>
            <a:off x="749808" y="5522747"/>
            <a:ext cx="2662184" cy="311124"/>
          </a:xfrm>
          <a:prstGeom prst="rect">
            <a:avLst/>
          </a:prstGeom>
          <a:noFill/>
        </p:spPr>
        <p:txBody>
          <a:bodyPr wrap="square" lIns="73152" rIns="73152" tIns="36576" bIns="36576" anchor="ctr">
            <a:spAutoFit/>
          </a:bodyPr>
          <a:lstStyle/>
          <a:p>
            <a:pPr algn="l">
              <a:lnSpc>
                <a:spcPct val="92000"/>
              </a:lnSpc>
              <a:spcAft>
                <a:spcPts val="200"/>
              </a:spcAft>
            </a:pPr>
            <a:r>
              <a:rPr sz="1400" b="1" i="0">
                <a:solidFill>
                  <a:srgbClr val="123A5F"/>
                </a:solidFill>
                <a:latin typeface="Aptos"/>
              </a:rPr>
              <a:t>Commit / branch / HEAD</a:t>
            </a:r>
          </a:p>
        </p:txBody>
      </p:sp>
      <p:sp>
        <p:nvSpPr>
          <p:cNvPr id="40" name="TextBox 39"/>
          <p:cNvSpPr txBox="1"/>
          <p:nvPr/>
        </p:nvSpPr>
        <p:spPr>
          <a:xfrm>
            <a:off x="3576584" y="5522747"/>
            <a:ext cx="7880847" cy="311124"/>
          </a:xfrm>
          <a:prstGeom prst="rect">
            <a:avLst/>
          </a:prstGeom>
          <a:noFill/>
        </p:spPr>
        <p:txBody>
          <a:bodyPr wrap="square" lIns="73152" rIns="73152" tIns="36576" bIns="36576" anchor="ctr">
            <a:spAutoFit/>
          </a:bodyPr>
          <a:lstStyle/>
          <a:p>
            <a:pPr algn="l">
              <a:lnSpc>
                <a:spcPct val="92000"/>
              </a:lnSpc>
              <a:spcAft>
                <a:spcPts val="200"/>
              </a:spcAft>
            </a:pPr>
            <a:r>
              <a:rPr sz="1400" b="0" i="0">
                <a:solidFill>
                  <a:srgbClr val="123A5F"/>
                </a:solidFill>
                <a:latin typeface="Aptos"/>
              </a:rPr>
              <a:t>An immutable snapshot / a movable pointer / the pointer to where you are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bleprog_logo.png"/>
          <p:cNvPicPr>
            <a:picLocks noChangeAspect="1"/>
          </p:cNvPicPr>
          <p:nvPr/>
        </p:nvPicPr>
        <p:blipFill>
          <a:blip r:embed="rId2"/>
          <a:stretch>
            <a:fillRect/>
          </a:stretch>
        </p:blipFill>
        <p:spPr>
          <a:xfrm>
            <a:off x="9134856" y="219456"/>
            <a:ext cx="2843784" cy="896112"/>
          </a:xfrm>
          <a:prstGeom prst="rect">
            <a:avLst/>
          </a:prstGeom>
        </p:spPr>
      </p:pic>
      <p:pic>
        <p:nvPicPr>
          <p:cNvPr id="3" name="Picture 2" descr="footer_swirl.png"/>
          <p:cNvPicPr>
            <a:picLocks noChangeAspect="1"/>
          </p:cNvPicPr>
          <p:nvPr/>
        </p:nvPicPr>
        <p:blipFill>
          <a:blip r:embed="rId3"/>
          <a:stretch>
            <a:fillRect/>
          </a:stretch>
        </p:blipFill>
        <p:spPr>
          <a:xfrm>
            <a:off x="1143000" y="6025896"/>
            <a:ext cx="9747504" cy="749808"/>
          </a:xfrm>
          <a:prstGeom prst="rect">
            <a:avLst/>
          </a:prstGeom>
        </p:spPr>
      </p:pic>
      <p:sp>
        <p:nvSpPr>
          <p:cNvPr id="4" name="TextBox 3"/>
          <p:cNvSpPr txBox="1"/>
          <p:nvPr/>
        </p:nvSpPr>
        <p:spPr>
          <a:xfrm>
            <a:off x="11064240" y="6272784"/>
            <a:ext cx="822960" cy="274320"/>
          </a:xfrm>
          <a:prstGeom prst="rect">
            <a:avLst/>
          </a:prstGeom>
          <a:noFill/>
        </p:spPr>
        <p:txBody>
          <a:bodyPr wrap="square" lIns="73152" rIns="73152" tIns="36576" bIns="36576" anchor="t">
            <a:spAutoFit/>
          </a:bodyPr>
          <a:lstStyle/>
          <a:p>
            <a:pPr algn="r">
              <a:lnSpc>
                <a:spcPct val="92000"/>
              </a:lnSpc>
              <a:spcAft>
                <a:spcPts val="200"/>
              </a:spcAft>
            </a:pPr>
            <a:r>
              <a:rPr sz="1000" b="0" i="0">
                <a:solidFill>
                  <a:srgbClr val="5A6570"/>
                </a:solidFill>
                <a:latin typeface="Aptos"/>
              </a:rPr>
              <a:t>62</a:t>
            </a:r>
          </a:p>
        </p:txBody>
      </p:sp>
      <p:sp>
        <p:nvSpPr>
          <p:cNvPr id="5" name="TextBox 4"/>
          <p:cNvSpPr txBox="1"/>
          <p:nvPr/>
        </p:nvSpPr>
        <p:spPr>
          <a:xfrm>
            <a:off x="658368" y="329184"/>
            <a:ext cx="8275320" cy="237744"/>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CHECK YOUR UNDERSTANDING</a:t>
            </a:r>
          </a:p>
        </p:txBody>
      </p:sp>
      <p:sp>
        <p:nvSpPr>
          <p:cNvPr id="6" name="TextBox 5"/>
          <p:cNvSpPr txBox="1"/>
          <p:nvPr/>
        </p:nvSpPr>
        <p:spPr>
          <a:xfrm>
            <a:off x="658368" y="603504"/>
            <a:ext cx="8275320" cy="868680"/>
          </a:xfrm>
          <a:prstGeom prst="rect">
            <a:avLst/>
          </a:prstGeom>
          <a:noFill/>
        </p:spPr>
        <p:txBody>
          <a:bodyPr wrap="square" lIns="73152" rIns="73152" tIns="36576" bIns="36576" anchor="ctr">
            <a:spAutoFit/>
          </a:bodyPr>
          <a:lstStyle/>
          <a:p>
            <a:pPr algn="l">
              <a:lnSpc>
                <a:spcPct val="98000"/>
              </a:lnSpc>
              <a:spcAft>
                <a:spcPts val="200"/>
              </a:spcAft>
            </a:pPr>
            <a:r>
              <a:rPr sz="2800" b="1" i="0">
                <a:solidFill>
                  <a:srgbClr val="123A5F"/>
                </a:solidFill>
                <a:latin typeface="Aptos Display"/>
              </a:rPr>
              <a:t>Day 1 — check your understanding</a:t>
            </a:r>
          </a:p>
        </p:txBody>
      </p:sp>
      <p:cxnSp>
        <p:nvCxnSpPr>
          <p:cNvPr id="7" name="Connector 6"/>
          <p:cNvCxnSpPr/>
          <p:nvPr/>
        </p:nvCxnSpPr>
        <p:spPr>
          <a:xfrm>
            <a:off x="658368" y="144475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58368" y="1783080"/>
            <a:ext cx="310896" cy="50749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9" name="TextBox 8"/>
          <p:cNvSpPr txBox="1"/>
          <p:nvPr/>
        </p:nvSpPr>
        <p:spPr>
          <a:xfrm>
            <a:off x="658368" y="1801368"/>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1</a:t>
            </a:r>
          </a:p>
        </p:txBody>
      </p:sp>
      <p:sp>
        <p:nvSpPr>
          <p:cNvPr id="10" name="TextBox 9"/>
          <p:cNvSpPr txBox="1"/>
          <p:nvPr/>
        </p:nvSpPr>
        <p:spPr>
          <a:xfrm>
            <a:off x="1115568" y="1787651"/>
            <a:ext cx="10369296" cy="507492"/>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Your organisation has Jenkins, Docker and Kubernetes, yet a one-line change takes six weeks. Which CALMS dimension is your constraint, and how would you prove it?</a:t>
            </a:r>
          </a:p>
        </p:txBody>
      </p:sp>
      <p:sp>
        <p:nvSpPr>
          <p:cNvPr id="11" name="Rectangle 10"/>
          <p:cNvSpPr/>
          <p:nvPr/>
        </p:nvSpPr>
        <p:spPr>
          <a:xfrm>
            <a:off x="658368" y="2711196"/>
            <a:ext cx="310896" cy="50749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2" name="TextBox 11"/>
          <p:cNvSpPr txBox="1"/>
          <p:nvPr/>
        </p:nvSpPr>
        <p:spPr>
          <a:xfrm>
            <a:off x="658368" y="2729484"/>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2</a:t>
            </a:r>
          </a:p>
        </p:txBody>
      </p:sp>
      <p:sp>
        <p:nvSpPr>
          <p:cNvPr id="13" name="TextBox 12"/>
          <p:cNvSpPr txBox="1"/>
          <p:nvPr/>
        </p:nvSpPr>
        <p:spPr>
          <a:xfrm>
            <a:off x="1115568" y="2715768"/>
            <a:ext cx="10369296" cy="507492"/>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Team A deploys 40× a day with a 30 % change failure rate. Team B deploys weekly with 2 %. Who is better — and what else do you need to know?</a:t>
            </a:r>
          </a:p>
        </p:txBody>
      </p:sp>
      <p:sp>
        <p:nvSpPr>
          <p:cNvPr id="14" name="Rectangle 13"/>
          <p:cNvSpPr/>
          <p:nvPr/>
        </p:nvSpPr>
        <p:spPr>
          <a:xfrm>
            <a:off x="658368" y="3639312"/>
            <a:ext cx="310896" cy="50749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658368" y="3657600"/>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3</a:t>
            </a:r>
          </a:p>
        </p:txBody>
      </p:sp>
      <p:sp>
        <p:nvSpPr>
          <p:cNvPr id="16" name="TextBox 15"/>
          <p:cNvSpPr txBox="1"/>
          <p:nvPr/>
        </p:nvSpPr>
        <p:spPr>
          <a:xfrm>
            <a:off x="1115568" y="3643884"/>
            <a:ext cx="10369296" cy="507492"/>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A team has 30 items in progress and finishes 3 a week. What is the lead time, and what happens if WIP drops to 10?</a:t>
            </a:r>
          </a:p>
        </p:txBody>
      </p:sp>
      <p:sp>
        <p:nvSpPr>
          <p:cNvPr id="17" name="Rectangle 16"/>
          <p:cNvSpPr/>
          <p:nvPr/>
        </p:nvSpPr>
        <p:spPr>
          <a:xfrm>
            <a:off x="658368" y="4567428"/>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8" name="TextBox 17"/>
          <p:cNvSpPr txBox="1"/>
          <p:nvPr/>
        </p:nvSpPr>
        <p:spPr>
          <a:xfrm>
            <a:off x="658368" y="4585716"/>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4</a:t>
            </a:r>
          </a:p>
        </p:txBody>
      </p:sp>
      <p:sp>
        <p:nvSpPr>
          <p:cNvPr id="19" name="TextBox 18"/>
          <p:cNvSpPr txBox="1"/>
          <p:nvPr/>
        </p:nvSpPr>
        <p:spPr>
          <a:xfrm>
            <a:off x="1115568" y="4572000"/>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Explain the difference between deploy and release, and name three techniques that separate them.</a:t>
            </a:r>
          </a:p>
        </p:txBody>
      </p:sp>
      <p:sp>
        <p:nvSpPr>
          <p:cNvPr id="20" name="Rectangle 19"/>
          <p:cNvSpPr/>
          <p:nvPr/>
        </p:nvSpPr>
        <p:spPr>
          <a:xfrm>
            <a:off x="658368" y="5298948"/>
            <a:ext cx="310896" cy="310896"/>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TextBox 20"/>
          <p:cNvSpPr txBox="1"/>
          <p:nvPr/>
        </p:nvSpPr>
        <p:spPr>
          <a:xfrm>
            <a:off x="658368" y="5317236"/>
            <a:ext cx="310896" cy="274320"/>
          </a:xfrm>
          <a:prstGeom prst="rect">
            <a:avLst/>
          </a:prstGeom>
          <a:noFill/>
        </p:spPr>
        <p:txBody>
          <a:bodyPr wrap="square" lIns="73152" rIns="73152" tIns="36576" bIns="36576" anchor="t">
            <a:spAutoFit/>
          </a:bodyPr>
          <a:lstStyle/>
          <a:p>
            <a:pPr algn="ctr">
              <a:lnSpc>
                <a:spcPct val="92000"/>
              </a:lnSpc>
              <a:spcAft>
                <a:spcPts val="200"/>
              </a:spcAft>
            </a:pPr>
            <a:r>
              <a:rPr sz="1100" b="1" i="0">
                <a:solidFill>
                  <a:srgbClr val="117A69"/>
                </a:solidFill>
                <a:latin typeface="Aptos"/>
              </a:rPr>
              <a:t>5</a:t>
            </a:r>
          </a:p>
        </p:txBody>
      </p:sp>
      <p:sp>
        <p:nvSpPr>
          <p:cNvPr id="22" name="TextBox 21"/>
          <p:cNvSpPr txBox="1"/>
          <p:nvPr/>
        </p:nvSpPr>
        <p:spPr>
          <a:xfrm>
            <a:off x="1115568" y="5303520"/>
            <a:ext cx="10369296" cy="310896"/>
          </a:xfrm>
          <a:prstGeom prst="rect">
            <a:avLst/>
          </a:prstGeom>
          <a:noFill/>
        </p:spPr>
        <p:txBody>
          <a:bodyPr wrap="square" lIns="73152" rIns="73152" tIns="36576" bIns="36576" anchor="t">
            <a:spAutoFit/>
          </a:bodyPr>
          <a:lstStyle/>
          <a:p>
            <a:pPr algn="l">
              <a:lnSpc>
                <a:spcPct val="92000"/>
              </a:lnSpc>
              <a:spcAft>
                <a:spcPts val="200"/>
              </a:spcAft>
            </a:pPr>
            <a:r>
              <a:rPr sz="1300" b="0" i="0">
                <a:solidFill>
                  <a:srgbClr val="123A5F"/>
                </a:solidFill>
                <a:latin typeface="Aptos"/>
              </a:rPr>
              <a:t>Your teammate says they will "just reset main back to yesterday". What do you say?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3" name="Rectangle 2"/>
          <p:cNvSpPr/>
          <p:nvPr/>
        </p:nvSpPr>
        <p:spPr>
          <a:xfrm>
            <a:off x="0" y="0"/>
            <a:ext cx="12191695" cy="2743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4" name="Rectangle 3"/>
          <p:cNvSpPr/>
          <p:nvPr/>
        </p:nvSpPr>
        <p:spPr>
          <a:xfrm>
            <a:off x="0" y="6583680"/>
            <a:ext cx="12191695" cy="274320"/>
          </a:xfrm>
          <a:prstGeom prst="rect">
            <a:avLst/>
          </a:prstGeom>
          <a:solidFill>
            <a:srgbClr val="1B75B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pic>
        <p:nvPicPr>
          <p:cNvPr id="5" name="Picture 4" descr="nobleprog_logo.png"/>
          <p:cNvPicPr>
            <a:picLocks noChangeAspect="1"/>
          </p:cNvPicPr>
          <p:nvPr/>
        </p:nvPicPr>
        <p:blipFill>
          <a:blip r:embed="rId2"/>
          <a:stretch>
            <a:fillRect/>
          </a:stretch>
        </p:blipFill>
        <p:spPr>
          <a:xfrm>
            <a:off x="9134856" y="475488"/>
            <a:ext cx="2843784" cy="896112"/>
          </a:xfrm>
          <a:prstGeom prst="rect">
            <a:avLst/>
          </a:prstGeom>
        </p:spPr>
      </p:pic>
      <p:sp>
        <p:nvSpPr>
          <p:cNvPr id="6" name="TextBox 5"/>
          <p:cNvSpPr txBox="1"/>
          <p:nvPr/>
        </p:nvSpPr>
        <p:spPr>
          <a:xfrm>
            <a:off x="658368" y="640080"/>
            <a:ext cx="8046720"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5A6570"/>
                </a:solidFill>
                <a:latin typeface="Aptos"/>
              </a:rPr>
              <a:t>DAY 1 · WRAP-UP</a:t>
            </a:r>
          </a:p>
        </p:txBody>
      </p:sp>
      <p:sp>
        <p:nvSpPr>
          <p:cNvPr id="7" name="TextBox 6"/>
          <p:cNvSpPr txBox="1"/>
          <p:nvPr/>
        </p:nvSpPr>
        <p:spPr>
          <a:xfrm>
            <a:off x="658368" y="914400"/>
            <a:ext cx="8046720" cy="566928"/>
          </a:xfrm>
          <a:prstGeom prst="rect">
            <a:avLst/>
          </a:prstGeom>
          <a:noFill/>
        </p:spPr>
        <p:txBody>
          <a:bodyPr wrap="square" lIns="73152" rIns="73152" tIns="36576" bIns="36576" anchor="t">
            <a:spAutoFit/>
          </a:bodyPr>
          <a:lstStyle/>
          <a:p>
            <a:pPr algn="l">
              <a:lnSpc>
                <a:spcPct val="92000"/>
              </a:lnSpc>
              <a:spcAft>
                <a:spcPts val="200"/>
              </a:spcAft>
            </a:pPr>
            <a:r>
              <a:rPr sz="2800" b="1" i="0">
                <a:solidFill>
                  <a:srgbClr val="123A5F"/>
                </a:solidFill>
                <a:latin typeface="Aptos Display"/>
              </a:rPr>
              <a:t>Day 1 complete</a:t>
            </a:r>
          </a:p>
        </p:txBody>
      </p:sp>
      <p:cxnSp>
        <p:nvCxnSpPr>
          <p:cNvPr id="8" name="Connector 7"/>
          <p:cNvCxnSpPr/>
          <p:nvPr/>
        </p:nvCxnSpPr>
        <p:spPr>
          <a:xfrm>
            <a:off x="658368" y="1627632"/>
            <a:ext cx="2377440" cy="0"/>
          </a:xfrm>
          <a:prstGeom prst="line">
            <a:avLst/>
          </a:prstGeom>
          <a:ln w="25400">
            <a:solidFill>
              <a:srgbClr val="29AB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1920240"/>
            <a:ext cx="1087221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17A69"/>
                </a:solidFill>
                <a:latin typeface="Aptos"/>
              </a:rPr>
              <a:t>WHAT YOU BUILT TODAY</a:t>
            </a:r>
          </a:p>
        </p:txBody>
      </p:sp>
      <p:sp>
        <p:nvSpPr>
          <p:cNvPr id="10" name="Rectangle 9"/>
          <p:cNvSpPr/>
          <p:nvPr/>
        </p:nvSpPr>
        <p:spPr>
          <a:xfrm>
            <a:off x="676656" y="2313432"/>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1" name="TextBox 10"/>
          <p:cNvSpPr txBox="1"/>
          <p:nvPr/>
        </p:nvSpPr>
        <p:spPr>
          <a:xfrm>
            <a:off x="932688" y="2203704"/>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 definition of DevOps you can defend, and the Three Ways behind it</a:t>
            </a:r>
          </a:p>
        </p:txBody>
      </p:sp>
      <p:sp>
        <p:nvSpPr>
          <p:cNvPr id="12" name="Rectangle 11"/>
          <p:cNvSpPr/>
          <p:nvPr/>
        </p:nvSpPr>
        <p:spPr>
          <a:xfrm>
            <a:off x="676656" y="2660903"/>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3" name="TextBox 12"/>
          <p:cNvSpPr txBox="1"/>
          <p:nvPr/>
        </p:nvSpPr>
        <p:spPr>
          <a:xfrm>
            <a:off x="932688" y="2551176"/>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CALMS scores for your own organisation, and a feel for Westrum's three cultures</a:t>
            </a:r>
          </a:p>
        </p:txBody>
      </p:sp>
      <p:sp>
        <p:nvSpPr>
          <p:cNvPr id="14" name="Rectangle 13"/>
          <p:cNvSpPr/>
          <p:nvPr/>
        </p:nvSpPr>
        <p:spPr>
          <a:xfrm>
            <a:off x="676656" y="3008375"/>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5" name="TextBox 14"/>
          <p:cNvSpPr txBox="1"/>
          <p:nvPr/>
        </p:nvSpPr>
        <p:spPr>
          <a:xfrm>
            <a:off x="932688" y="2898648"/>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Value streams, flow efficiency, Little's Law and the constraint</a:t>
            </a:r>
          </a:p>
        </p:txBody>
      </p:sp>
      <p:sp>
        <p:nvSpPr>
          <p:cNvPr id="16" name="Rectangle 15"/>
          <p:cNvSpPr/>
          <p:nvPr/>
        </p:nvSpPr>
        <p:spPr>
          <a:xfrm>
            <a:off x="676656" y="3355847"/>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7" name="TextBox 16"/>
          <p:cNvSpPr txBox="1"/>
          <p:nvPr/>
        </p:nvSpPr>
        <p:spPr>
          <a:xfrm>
            <a:off x="932688" y="3246120"/>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Git's object model — and the difference between revert and reset</a:t>
            </a:r>
          </a:p>
        </p:txBody>
      </p:sp>
      <p:sp>
        <p:nvSpPr>
          <p:cNvPr id="18" name="Rectangle 17"/>
          <p:cNvSpPr/>
          <p:nvPr/>
        </p:nvSpPr>
        <p:spPr>
          <a:xfrm>
            <a:off x="676656" y="3703320"/>
            <a:ext cx="109728" cy="109728"/>
          </a:xfrm>
          <a:prstGeom prst="rect">
            <a:avLst/>
          </a:prstGeom>
          <a:solidFill>
            <a:srgbClr val="117A6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19" name="TextBox 18"/>
          <p:cNvSpPr txBox="1"/>
          <p:nvPr/>
        </p:nvSpPr>
        <p:spPr>
          <a:xfrm>
            <a:off x="932688" y="3593591"/>
            <a:ext cx="10561320" cy="310896"/>
          </a:xfrm>
          <a:prstGeom prst="rect">
            <a:avLst/>
          </a:prstGeom>
          <a:noFill/>
        </p:spPr>
        <p:txBody>
          <a:bodyPr wrap="square" lIns="73152" rIns="73152" tIns="36576" bIns="36576" anchor="t">
            <a:spAutoFit/>
          </a:bodyPr>
          <a:lstStyle/>
          <a:p>
            <a:pPr algn="l">
              <a:lnSpc>
                <a:spcPct val="92000"/>
              </a:lnSpc>
              <a:spcAft>
                <a:spcPts val="200"/>
              </a:spcAft>
            </a:pPr>
            <a:r>
              <a:rPr sz="1250" b="0" i="0">
                <a:solidFill>
                  <a:srgbClr val="1F2933"/>
                </a:solidFill>
                <a:latin typeface="Aptos"/>
              </a:rPr>
              <a:t>AFTER CLASS: finish Labs 00–02 — the toolchain, your value stream map, your first repository</a:t>
            </a:r>
          </a:p>
        </p:txBody>
      </p:sp>
      <p:sp>
        <p:nvSpPr>
          <p:cNvPr id="20" name="Rectangle 19"/>
          <p:cNvSpPr/>
          <p:nvPr/>
        </p:nvSpPr>
        <p:spPr>
          <a:xfrm>
            <a:off x="658368" y="4133087"/>
            <a:ext cx="10872216" cy="1627632"/>
          </a:xfrm>
          <a:prstGeom prst="rect">
            <a:avLst/>
          </a:prstGeom>
          <a:solidFill>
            <a:srgbClr val="ECF1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1" name="Rectangle 20"/>
          <p:cNvSpPr/>
          <p:nvPr/>
        </p:nvSpPr>
        <p:spPr>
          <a:xfrm>
            <a:off x="658368" y="4133087"/>
            <a:ext cx="64008" cy="1627632"/>
          </a:xfrm>
          <a:prstGeom prst="rect">
            <a:avLst/>
          </a:prstGeom>
          <a:solidFill>
            <a:srgbClr val="123A5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lnSpc>
                <a:spcPct val="92000"/>
              </a:lnSpc>
              <a:spcAft>
                <a:spcPts val="200"/>
              </a:spcAft>
            </a:pPr>
            <a:r>
              <a:rPr sz="1100" b="0" i="0">
                <a:solidFill>
                  <a:srgbClr val="123A5F"/>
                </a:solidFill>
                <a:latin typeface="Aptos"/>
              </a:rPr>
              <a:t/>
            </a:r>
          </a:p>
        </p:txBody>
      </p:sp>
      <p:sp>
        <p:nvSpPr>
          <p:cNvPr id="22" name="TextBox 21"/>
          <p:cNvSpPr txBox="1"/>
          <p:nvPr/>
        </p:nvSpPr>
        <p:spPr>
          <a:xfrm>
            <a:off x="932688" y="4224527"/>
            <a:ext cx="10415016" cy="256032"/>
          </a:xfrm>
          <a:prstGeom prst="rect">
            <a:avLst/>
          </a:prstGeom>
          <a:noFill/>
        </p:spPr>
        <p:txBody>
          <a:bodyPr wrap="square" lIns="73152" rIns="73152" tIns="36576" bIns="36576" anchor="t">
            <a:spAutoFit/>
          </a:bodyPr>
          <a:lstStyle/>
          <a:p>
            <a:pPr algn="l">
              <a:lnSpc>
                <a:spcPct val="92000"/>
              </a:lnSpc>
              <a:spcAft>
                <a:spcPts val="200"/>
              </a:spcAft>
            </a:pPr>
            <a:r>
              <a:rPr sz="1000" b="1" i="0">
                <a:solidFill>
                  <a:srgbClr val="123A5F"/>
                </a:solidFill>
                <a:latin typeface="Aptos"/>
              </a:rPr>
              <a:t>TOMORROW</a:t>
            </a:r>
          </a:p>
        </p:txBody>
      </p:sp>
      <p:sp>
        <p:nvSpPr>
          <p:cNvPr id="23" name="TextBox 22"/>
          <p:cNvSpPr txBox="1"/>
          <p:nvPr/>
        </p:nvSpPr>
        <p:spPr>
          <a:xfrm>
            <a:off x="932688" y="4517136"/>
            <a:ext cx="10323576" cy="1152144"/>
          </a:xfrm>
          <a:prstGeom prst="rect">
            <a:avLst/>
          </a:prstGeom>
          <a:noFill/>
        </p:spPr>
        <p:txBody>
          <a:bodyPr wrap="square" lIns="73152" rIns="73152" tIns="36576" bIns="36576" anchor="t">
            <a:spAutoFit/>
          </a:bodyPr>
          <a:lstStyle/>
          <a:p>
            <a:pPr algn="l">
              <a:lnSpc>
                <a:spcPct val="112000"/>
              </a:lnSpc>
              <a:spcAft>
                <a:spcPts val="200"/>
              </a:spcAft>
            </a:pPr>
            <a:r>
              <a:rPr sz="1300" b="0" i="0">
                <a:solidFill>
                  <a:srgbClr val="1F2933"/>
                </a:solidFill>
                <a:latin typeface="Aptos"/>
              </a:rPr>
              <a:t>Day 2 takes that repository to GitHub and makes it a TEAM artefact: branching strategies, the four merge strategies, pull requests as a segregation-of-duties control — and then Continuous Integration, so that a broken change can no longer be merged at 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0</Words>
  <Application>Microsoft Office PowerPoint</Application>
  <PresentationFormat>Widescreen</PresentationFormat>
  <Paragraphs>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Domenico Tarsitani</dc:creator>
  <cp:lastModifiedBy>Domenico Tarsitani</cp:lastModifiedBy>
  <cp:revision>1</cp:revision>
  <dcterms:created xsi:type="dcterms:W3CDTF">2025-02-28T08:21:36Z</dcterms:created>
  <dcterms:modified xsi:type="dcterms:W3CDTF">2025-02-28T08:27:52Z</dcterms:modified>
</cp:coreProperties>
</file>