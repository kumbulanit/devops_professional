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5"/>
    <p:sldId id="271" r:id="rId4"/>
    <p:sldId id="272" r:id="rId3"/>
    <p:sldId id="273" r:id="rId2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8.xml"/><Relationship Id="rId3" Type="http://schemas.openxmlformats.org/officeDocument/2006/relationships/slide" Target="slides/slide17.xml"/><Relationship Id="rId4" Type="http://schemas.openxmlformats.org/officeDocument/2006/relationships/slide" Target="slides/slide16.xml"/><Relationship Id="rId5" Type="http://schemas.openxmlformats.org/officeDocument/2006/relationships/slide" Target="slides/slide15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first, then the five points in the same order every time: what it does, how, when, what to be careful of, and one thing good to know. Say the plain-English word before the Git word. The full example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first, then the five points in the same order every time: what it does, how, when, what to be careful of, and one thing good to know. Say the plain-English word before the Git word. The full example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first, then the five points in the same order every time: what it does, how, when, what to be careful of, and one thing good to know. Say the plain-English word before the Git word. The full example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first, then the five points in the same order every time: what it does, how, when, what to be careful of, and one thing good to know. Say the plain-English word before the Git word. The full example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first, then the five points in the same order every time: what it does, how, when, what to be careful of, and one thing good to know. Say the plain-English word before the Git word. The full example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first, then the five points in the same order every time: what it does, how, when, what to be careful of, and one thing good to know. Say the plain-English word before the Git word. The full example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first, then the five points in the same order every time: what it does, how, when, what to be careful of, and one thing good to know. Say the plain-English word before the Git word. The full example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first, then the five points in the same order every time: what it does, how, when, what to be careful of, and one thing good to know. Say the plain-English word before the Git word. The full example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top to bottom first, then the five points in order: what it means, how, when to use it, when not to, what to watch for. The same example, with more options,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top to bottom first, then the five points in order: what it means, how, when to use it, when not to, what to watch for. The same example, with more options,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top to bottom first, then the five points in order: what it means, how, when to use it, when not to, what to watch for. The same example, with more options,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top to bottom first, then the five points in order: what it means, how, when to use it, when not to, what to watch for. The same example, with more options,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top to bottom first, then the five points in order: what it means, how, when to use it, when not to, what to watch for. The same example, with more options,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output, captured from a scripted PayTrack repository. Read the terminal top to bottom first, then the five points in order: what it means, how, when to use it, when not to, what to watch for. The same example, with more options, is in docs/theory/git-command-guide.md.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 inversion catches almost everyone: in a merge HEAD is your branch, in a rebase HEAD is the branch you are rebasing ONTO. Read the label after &gt;&gt;&gt;&gt;&gt;&gt;&gt; — it names your own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that the editor list runs oldest-first, the opposite of git log — the most common source of "I squashed the wrong commit". If that happens, the next-but-one slide undoes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confidence slide: nothing a local rebase does is permanent. Ask the room to read the reflog bottom-up — the line below "rebase (start)" is the branch as it was.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guide: labs/lab-03a-git-going-further/README.md. Optional and self-paced; about 80 minutes in eight parts. setup-gym.sh builds the practice repository and rebuilds it in two seconds, so delegates can break it freely. Demo Part 5 (bisect) or Part 8 (the stale-info rejection) if you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test: checks one small piece, like the fee calculation. Integration test: checks pieces working together, like the app and its database. End-to-end: clicks through the whole system like a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05 the pipeline runs on the controller, because a laptop has only one node. Say so explicitly: that shortcut is for the classroom only — never in a real installation.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guide: labs/lab-04a-act-and-pipeline-security/README.md. Optional; about 90 minutes; needs Lab 04, Docker and about 6 GB of disk. Ask delegates to pre-pull catthehacker/ubuntu:act-24.04. Part 5 (script injection) is the one to demo from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guide: labs/lab-04b-gitlab-ci/README.md. Optional; about 60 minutes plus account set-up. GitLab.com may ask new accounts for phone or card verification before pipelines run, so point delegates at Lab 00 Step 8.3 before the course. Debrief on the side-by-side table, especially required review on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divider. Use it to re-set attention and to say explicitly which lab this block leads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divider. Use it to re-set attention and to say explicitly which lab this block leads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divider. Use it to re-set attention and to say explicitly which lab this block leads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code top to bottom. The numbered points on the right are the talk track; the full, runnable version is in the matching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divider. Use it to re-set attention and to say explicitly which lab this block leads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code top to bottom. The numbered points on the right are the talk track; the full, runnable version is in the matching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Banking slide. Source: docs/theory/appendix-a-devops-in-a-regulated-bank.md. Expect push-back here - that is the point. The three arguments this cohort will raise are segregation of duties (A.3), the CAB (A.4) and change freezes (A.7).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code top to bottom. The numbered points on the right are the talk track; the full, runnable version is in the matching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F7E0-7ABE-D3C0-63A5-FAA693B61D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14142F-0237-05B2-12F3-217F91D031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18A94-B989-CE86-B473-001B31E23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9B2774-C8F6-CF95-9EEC-50ABE8A35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AA3A74-908A-732B-B876-4A95EB69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114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A9EEE-04B9-E120-0146-94957BE6C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82CE4-A695-0D69-31DF-5D96CE24A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F0B88-1188-3BE8-45E5-6424E0D63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BDF9EE-6D0A-5161-4106-EF2D5ADDB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E32E08-9004-DAD6-5C7B-6D677285C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550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B8CB9-93FE-3C78-C2CD-1EAF2C671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F54DC-F855-6F7E-3197-E1D0866BD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A7E3C-9379-5904-C0DD-DF4340576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AB7A92-7A9B-0521-8C38-040F3347A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6CE150-1846-E660-2129-F1A4DEFC7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56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E0278-2BD0-EE70-D44C-6C4661905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A3346-3192-E072-CC3E-594CEE99BE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887559-F73A-9048-366D-0C385522D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06ABC6-8E5B-8A84-4C69-32CE6CD87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7050D9-E01B-49C8-9460-6F5A8638E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786C11-4C6B-15AA-2285-B7A416C46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244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9EE91-BF0E-5883-9C29-741B4A2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54D85-7DCC-A7CD-D472-98D2C5588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3AC918-4E7F-A372-4BAA-391F29E379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DAB873-2718-31C9-3728-8C87F4F315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8531A2-BAA5-F9A5-BE21-3C7B39D883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3DEFDB-230D-CE83-B402-D2E11A1F5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D2F011-F841-554C-13E9-CD1FCA6C7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0BB38A-8241-5AF1-E1D8-D19FD9877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266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E7733-ACD7-FD4A-6592-369DAA248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A21B1D-288F-C977-8ACF-C5536E294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C56CD-B343-2A8C-0C73-50F9ADEDE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7336C9-F557-5456-3AA5-964F4B9E8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316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7399D9-FB45-3C28-D9F9-9C2725691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AC3ECF-8999-FA85-C90B-2EE07154D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A8C02-1511-50FF-115C-345812D04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5144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F0612-ADB5-2D26-0CFA-9616872E0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00C5A-4FD8-1C37-6CF8-01CFBFF56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EB4FA-791A-85B3-AEE0-260478B8B3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02BD70-87E6-A3B1-3F07-88B099649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25A4BD-D824-8817-C6B5-9A3AE2F18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D40EBA-26F7-09FF-10D2-A5DBCB5D8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60162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1C236-44C3-E4F7-5253-3F4FE2B49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B885B9-5B38-77E5-3171-5B21176932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82C77A-7C07-D6B2-361D-E984CF278E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B7184F-61F1-B3AD-5D10-037759E0B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CE672-B4D7-103D-F0A3-2F98747AA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0EF296-811A-3D4E-CE6F-294B4D34D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582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77C23-E6A1-546F-D81C-5B81F4AF3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7B1F0D-033A-B11C-34AC-3C12064422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06513-31F3-E91A-B68C-E18421CF5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0E42-B8F4-72F7-D446-03A8BBD63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B6E9D-B2F3-54B8-EA91-BA14A3FAC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6881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9DD19F-0754-F30B-2555-3250849E5F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E993B2-FFC8-443E-A6C0-EB1FE69F8B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3358A-B713-776E-F05D-A7D18C5F5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EF52E-2DC3-DFFE-7F6E-86F48AD35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E148C-58C3-9F59-3903-AE7BB21D0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282730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8F3D80-4FC1-2E34-4473-3B6DE3F73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0B5773-305D-BCAD-DEE5-7EEB3AF51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406ED-6FC1-5B03-CC19-B56196C8B0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FD9C38-4F67-4302-B36F-804A48A2F5E9}" type="datetimeFigureOut">
              <a:rPr lang="en-GB" smtClean="0"/>
              <a:t>28/02/2025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58EFC-0030-A53F-DA9B-FB6DB3493B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56021-E9A4-7227-FB69-1C6041DEC0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B1F475-EBA2-46F5-80FD-483EF9506C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0681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pic>
        <p:nvPicPr>
          <p:cNvPr id="5" name="Picture 4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41248"/>
            <a:ext cx="2798064" cy="9326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21284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1" i="0">
                <a:solidFill>
                  <a:srgbClr val="29ABE2"/>
                </a:solidFill>
                <a:latin typeface="Aptos"/>
              </a:rPr>
              <a:t>NOBLEPROG · DEVOPS PROFESSIONAL · UNICREDIT · DAY 2 OF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15184"/>
            <a:ext cx="10424160" cy="10972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123A5F"/>
                </a:solidFill>
                <a:latin typeface="Aptos Display"/>
              </a:rPr>
              <a:t>Day 2 — Going Further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959352"/>
            <a:ext cx="2926080" cy="0"/>
          </a:xfrm>
          <a:prstGeom prst="line">
            <a:avLst/>
          </a:prstGeom>
          <a:ln w="3175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4114800"/>
            <a:ext cx="10424160" cy="4023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500" b="0" i="0">
                <a:solidFill>
                  <a:srgbClr val="5A6570"/>
                </a:solidFill>
                <a:latin typeface="Aptos"/>
              </a:rPr>
              <a:t>Optional reading, for after class — once the everyday commands feel comfortable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713732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604004"/>
            <a:ext cx="996696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00" b="0" i="0">
                <a:solidFill>
                  <a:srgbClr val="1F2933"/>
                </a:solidFill>
                <a:latin typeface="Aptos"/>
              </a:rPr>
              <a:t>A: more everyday Git — history in depth, stash, one command per slide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042916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933188"/>
            <a:ext cx="996696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00" b="0" i="0">
                <a:solidFill>
                  <a:srgbClr val="1F2933"/>
                </a:solidFill>
                <a:latin typeface="Aptos"/>
              </a:rPr>
              <a:t>B: more Git commands — reset, reflog, cherry-pick, tag, bisect, clean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72100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262372"/>
            <a:ext cx="996696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00" b="0" i="0">
                <a:solidFill>
                  <a:srgbClr val="1F2933"/>
                </a:solidFill>
                <a:latin typeface="Aptos"/>
              </a:rPr>
              <a:t>C: more on branches and rebasing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701284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5591556"/>
            <a:ext cx="996696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00" b="0" i="0">
                <a:solidFill>
                  <a:srgbClr val="1F2933"/>
                </a:solidFill>
                <a:latin typeface="Aptos"/>
              </a:rPr>
              <a:t>D: more on pull requests, CI and the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424160" cy="3108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50" b="0" i="1">
                <a:solidFill>
                  <a:srgbClr val="5A6570"/>
                </a:solidFill>
                <a:latin typeface="Aptos"/>
              </a:rPr>
              <a:t>Not taught in the 3-hour session — read it, then practise it in Labs 03A, 04A and 04B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pic>
        <p:nvPicPr>
          <p:cNvPr id="5" name="Picture 4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566928"/>
            <a:ext cx="2843784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331720"/>
            <a:ext cx="164592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6800" b="1" i="0">
                <a:solidFill>
                  <a:srgbClr val="B9CBDA"/>
                </a:solidFill>
                <a:latin typeface="Aptos Display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395728"/>
            <a:ext cx="822960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3200" b="1" i="0">
                <a:solidFill>
                  <a:srgbClr val="123A5F"/>
                </a:solidFill>
                <a:latin typeface="Aptos Display"/>
              </a:rPr>
              <a:t>More Everyday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7712" y="3273552"/>
            <a:ext cx="8229600" cy="38404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5A6570"/>
                </a:solidFill>
                <a:latin typeface="Aptos"/>
              </a:rPr>
              <a:t>The single-command versions of today's slides, and two more commands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2267712" y="3927348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3817620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git log · git show · git blame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4256532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3744" y="4146804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git add and git commit in detail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67712" y="4585716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447598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git fetch · git pull · git push in detail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67712" y="4914900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4805172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git stash · git restore · git revert in detail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5244084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23744" y="5134356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Words recap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1900" b="1" i="0">
                <a:solidFill>
                  <a:srgbClr val="123A5F"/>
                </a:solidFill>
                <a:latin typeface="Aptos Display"/>
              </a:rPr>
              <a:t>git log · git show · git blame — look at the history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305885" cy="37292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305885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391485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104717" cy="308914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7CC8EE"/>
                </a:solidFill>
                <a:latin typeface="Consolas"/>
              </a:rPr>
              <a:t>$ </a:t>
            </a:r>
            <a:r>
              <a:rPr sz="850" b="0">
                <a:solidFill>
                  <a:srgbClr val="E8EEF4"/>
                </a:solidFill>
                <a:latin typeface="Consolas"/>
              </a:rPr>
              <a:t>git log --oneline --graph --decorate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* 8159e94 (HEAD -&gt; main, origin/main) feat: default region eu-west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* cf09014 fix: raise settlement timeout to 45s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* e901672 feat: add PayTrack API service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7CC8EE"/>
                </a:solidFill>
                <a:latin typeface="Consolas"/>
              </a:rPr>
              <a:t>$ </a:t>
            </a:r>
            <a:r>
              <a:rPr sz="850" b="0">
                <a:solidFill>
                  <a:srgbClr val="E8EEF4"/>
                </a:solidFill>
                <a:latin typeface="Consolas"/>
              </a:rPr>
              <a:t>git log --oneline -- app/src/config.py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8159e94 feat: default region eu-west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cf09014 fix: raise settlement timeout to 45s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e901672 feat: add PayTrack API service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7CC8EE"/>
                </a:solidFill>
                <a:latin typeface="Consolas"/>
              </a:rPr>
              <a:t>$ </a:t>
            </a:r>
            <a:r>
              <a:rPr sz="850" b="0">
                <a:solidFill>
                  <a:srgbClr val="E8EEF4"/>
                </a:solidFill>
                <a:latin typeface="Consolas"/>
              </a:rPr>
              <a:t>git log --oneline --grep=timeout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cf09014 fix: raise settlement timeout to 45s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7CC8EE"/>
                </a:solidFill>
                <a:latin typeface="Consolas"/>
              </a:rPr>
              <a:t>$ </a:t>
            </a:r>
            <a:r>
              <a:rPr sz="850" b="0">
                <a:solidFill>
                  <a:srgbClr val="E8EEF4"/>
                </a:solidFill>
                <a:latin typeface="Consolas"/>
              </a:rPr>
              <a:t>git show --stat HEAD~1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commit cf09014a132e3fb76f3d590efa68c14b0f04556a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Author: Your Name &lt;you@example.com&gt;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Date:   Thu Sep 17 08:25:01 2026 +0200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    fix: raise settlement timeout to 45s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 app/src/config.py | 2 +-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 1 file changed, 1 insertion(+), 1 deletion(-)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7CC8EE"/>
                </a:solidFill>
                <a:latin typeface="Consolas"/>
              </a:rPr>
              <a:t>$ </a:t>
            </a:r>
            <a:r>
              <a:rPr sz="850" b="0">
                <a:solidFill>
                  <a:srgbClr val="E8EEF4"/>
                </a:solidFill>
                <a:latin typeface="Consolas"/>
              </a:rPr>
              <a:t>git blame --date=short -L 5,7 app/src/config.py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^e901672 (Your Name 2026-09-17 5)     VERSION = os.getenv("APP_VERSION", "1.0.0")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cf09014a (Your Name 2026-09-17 6)     TIMEOUT = int(os.getenv("SETTLEMENT_TIMEOUT", "45"))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8EEF4"/>
                </a:solidFill>
                <a:latin typeface="Consolas"/>
              </a:rPr>
              <a:t>8159e940 (Your Name 2026-09-17 7)     REGION = os.getenv("APP_REGION", "eu-west")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573" y="1764792"/>
            <a:ext cx="429201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238573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573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7757" y="2075688"/>
            <a:ext cx="3944538" cy="61981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What — log lists past saves · show opens one of them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Newest first: the ID, and the note that was written</a:t>
            </a:r>
          </a:p>
        </p:txBody>
      </p:sp>
      <p:sp>
        <p:nvSpPr>
          <p:cNvPr id="19" name="Oval 18"/>
          <p:cNvSpPr/>
          <p:nvPr/>
        </p:nvSpPr>
        <p:spPr>
          <a:xfrm>
            <a:off x="7238573" y="2949269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8573" y="2967557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7757" y="2903549"/>
            <a:ext cx="3944538" cy="60386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How — git log --oneline · git show &lt;ID&gt;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git log -- &lt;file&gt; shows only the saves that touched that file</a:t>
            </a:r>
          </a:p>
        </p:txBody>
      </p:sp>
      <p:sp>
        <p:nvSpPr>
          <p:cNvPr id="22" name="Oval 21"/>
          <p:cNvSpPr/>
          <p:nvPr/>
        </p:nvSpPr>
        <p:spPr>
          <a:xfrm>
            <a:off x="7238573" y="3761183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8573" y="3779471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7757" y="3715463"/>
            <a:ext cx="3944538" cy="46034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How — git blame &lt;file&gt;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Shows, line by line, which save last changed each line</a:t>
            </a:r>
          </a:p>
        </p:txBody>
      </p:sp>
      <p:sp>
        <p:nvSpPr>
          <p:cNvPr id="25" name="Oval 24"/>
          <p:cNvSpPr/>
          <p:nvPr/>
        </p:nvSpPr>
        <p:spPr>
          <a:xfrm>
            <a:off x="7238573" y="4429573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8573" y="4447861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7757" y="4383853"/>
            <a:ext cx="3944538" cy="76334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When — you need to know what changed, when, and why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Tracking down a bug, reviewing a release, answering an auditor</a:t>
            </a:r>
          </a:p>
        </p:txBody>
      </p:sp>
      <p:sp>
        <p:nvSpPr>
          <p:cNvPr id="28" name="Oval 27"/>
          <p:cNvSpPr/>
          <p:nvPr/>
        </p:nvSpPr>
        <p:spPr>
          <a:xfrm>
            <a:off x="7238573" y="540095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8573" y="541924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7757" y="5355238"/>
            <a:ext cx="3944538" cy="46034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Good to know — good notes make the history useful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A log full of "fix" and "update" answers nothing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git add — choose what to save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305885" cy="288340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305885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391485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104717" cy="224332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 M app/src/config.py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?? app/src/probes.py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git add app/src/config.py app/src/probes.py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M  app/src/config.py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A  app/src/probes.py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git commit -qm "feat: add readiness probe; raise settlement timeout to 45s"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git add 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A  config/local.env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git rm --cached config/local.env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rm 'config/local.env'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echo 'config/local.env' &gt;&gt; .gitignore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573" y="1764792"/>
            <a:ext cx="429201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238573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573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7757" y="2075688"/>
            <a:ext cx="3944538" cy="76334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What — add picks changes to go into your next save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Think of a basket: add puts things in, commit pays for them</a:t>
            </a:r>
          </a:p>
        </p:txBody>
      </p:sp>
      <p:sp>
        <p:nvSpPr>
          <p:cNvPr id="19" name="Oval 18"/>
          <p:cNvSpPr/>
          <p:nvPr/>
        </p:nvSpPr>
        <p:spPr>
          <a:xfrm>
            <a:off x="7238573" y="3052925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8573" y="3071213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7757" y="3007205"/>
            <a:ext cx="3944538" cy="46034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How — git add &lt;file&gt; · git add . picks everything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git add -p lets you pick part of a file, piece by piece</a:t>
            </a:r>
          </a:p>
        </p:txBody>
      </p:sp>
      <p:sp>
        <p:nvSpPr>
          <p:cNvPr id="22" name="Oval 21"/>
          <p:cNvSpPr/>
          <p:nvPr/>
        </p:nvSpPr>
        <p:spPr>
          <a:xfrm>
            <a:off x="7238573" y="3681447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8573" y="3699735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7757" y="3635727"/>
            <a:ext cx="3944538" cy="46034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When — a piece of work is ready to be saved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Pick only related changes, so each save does one job</a:t>
            </a:r>
          </a:p>
        </p:txBody>
      </p:sp>
      <p:sp>
        <p:nvSpPr>
          <p:cNvPr id="25" name="Oval 24"/>
          <p:cNvSpPr/>
          <p:nvPr/>
        </p:nvSpPr>
        <p:spPr>
          <a:xfrm>
            <a:off x="7238573" y="4309969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8573" y="4328257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7757" y="4264249"/>
            <a:ext cx="3944538" cy="61981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Careful — git add . also picks files you didn't mean to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Here a file containing a password was picked by mistake</a:t>
            </a:r>
          </a:p>
        </p:txBody>
      </p:sp>
      <p:sp>
        <p:nvSpPr>
          <p:cNvPr id="28" name="Oval 27"/>
          <p:cNvSpPr/>
          <p:nvPr/>
        </p:nvSpPr>
        <p:spPr>
          <a:xfrm>
            <a:off x="7238573" y="5097962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8573" y="5116250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7757" y="5052242"/>
            <a:ext cx="3944538" cy="76334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Fix — git rm --cached &lt;file&gt;, then list it in .gitignore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Git un-picks it but leaves it on your disk; .gitignore stops it being picked again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git commit — save a snapshot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305885" cy="2377440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305885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391485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104717" cy="129844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switch -c feature/PAY-160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 M app/src/probes.py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commit -am "feat: report the store in /ready"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[feature/PAY-160 b8c506c] feat: report the store in /ready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 1 file changed, 1 insertion(+), 1 deletion(-)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573" y="1764792"/>
            <a:ext cx="429201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238573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573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7757" y="2075688"/>
            <a:ext cx="3944538" cy="76334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What — commit saves the picked changes as a snapshot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Each snapshot gets a unique ID — here b8c506c — and your note</a:t>
            </a:r>
          </a:p>
        </p:txBody>
      </p:sp>
      <p:sp>
        <p:nvSpPr>
          <p:cNvPr id="19" name="Oval 18"/>
          <p:cNvSpPr/>
          <p:nvPr/>
        </p:nvSpPr>
        <p:spPr>
          <a:xfrm>
            <a:off x="7238573" y="3021031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8573" y="3039319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7757" y="2975311"/>
            <a:ext cx="3944538" cy="60386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How — git commit -m "type: what changed"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-a also picks every file Git already knows about (but not new files)</a:t>
            </a:r>
          </a:p>
        </p:txBody>
      </p:sp>
      <p:sp>
        <p:nvSpPr>
          <p:cNvPr id="22" name="Oval 21"/>
          <p:cNvSpPr/>
          <p:nvPr/>
        </p:nvSpPr>
        <p:spPr>
          <a:xfrm>
            <a:off x="7238573" y="3761183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8573" y="3779471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7757" y="3715463"/>
            <a:ext cx="3944538" cy="76334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When — a small piece of work is done and the tests pass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Many small saves are easier to review and to undo than one big one</a:t>
            </a:r>
          </a:p>
        </p:txBody>
      </p:sp>
      <p:sp>
        <p:nvSpPr>
          <p:cNvPr id="25" name="Oval 24"/>
          <p:cNvSpPr/>
          <p:nvPr/>
        </p:nvSpPr>
        <p:spPr>
          <a:xfrm>
            <a:off x="7238573" y="466080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8573" y="467909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7757" y="4615086"/>
            <a:ext cx="3944538" cy="60386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Write a note someone else will understand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"fix: raise settlement timeout to 45s" — not "changes" or "stuff"</a:t>
            </a:r>
          </a:p>
        </p:txBody>
      </p:sp>
      <p:sp>
        <p:nvSpPr>
          <p:cNvPr id="28" name="Oval 27"/>
          <p:cNvSpPr/>
          <p:nvPr/>
        </p:nvSpPr>
        <p:spPr>
          <a:xfrm>
            <a:off x="7238573" y="540095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8573" y="541924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7757" y="5355238"/>
            <a:ext cx="3944538" cy="46034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Good to know — a commit is only on YOUR computer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Nobody else has it until you git push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210" b="1" i="0">
                <a:solidFill>
                  <a:srgbClr val="123A5F"/>
                </a:solidFill>
                <a:latin typeface="Aptos Display"/>
              </a:rPr>
              <a:t>git fetch · git pull — get your team's work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305885" cy="343204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305885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391485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104717" cy="279196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remote -v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origin    https://github.com/&lt;your-username&gt;/paytrack-api.git (fetch)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origin    https://github.com/&lt;your-username&gt;/paytrack-api.git (push)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fetch origin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From https://github.com/&lt;your-username&gt;/paytrack-api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   1ecd14b..4949c99  main       -&gt; origin/main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status -sb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FBFA8"/>
                </a:solidFill>
                <a:latin typeface="Consolas"/>
              </a:rPr>
              <a:t>## main...origin/main [behind 1]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log --oneline main..origin/main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4949c99 docs: add contributing guide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pull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Updating 1ecd14b..4949c99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Fast-forward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 docs/CONTRIBUTING.md | 1 +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 1 file changed, 1 insertion(+)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 create mode 100644 docs/CONTRIBUTING.md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573" y="1764792"/>
            <a:ext cx="429201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238573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573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7757" y="2075688"/>
            <a:ext cx="3944538" cy="76334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What — pull downloads new work and adds it to your branch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fetch only downloads it, so you can look before you combine</a:t>
            </a:r>
          </a:p>
        </p:txBody>
      </p:sp>
      <p:sp>
        <p:nvSpPr>
          <p:cNvPr id="19" name="Oval 18"/>
          <p:cNvSpPr/>
          <p:nvPr/>
        </p:nvSpPr>
        <p:spPr>
          <a:xfrm>
            <a:off x="7238573" y="3017044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8573" y="3035332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7757" y="2971324"/>
            <a:ext cx="3944538" cy="60386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How — git pull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Or git fetch, then git log main..origin/main to see what is new</a:t>
            </a:r>
          </a:p>
        </p:txBody>
      </p:sp>
      <p:sp>
        <p:nvSpPr>
          <p:cNvPr id="22" name="Oval 21"/>
          <p:cNvSpPr/>
          <p:nvPr/>
        </p:nvSpPr>
        <p:spPr>
          <a:xfrm>
            <a:off x="7238573" y="3753209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8573" y="3771497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7757" y="3707489"/>
            <a:ext cx="3944538" cy="61981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When — before you start work, and before you share yours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So you always build on the latest version</a:t>
            </a:r>
          </a:p>
        </p:txBody>
      </p:sp>
      <p:sp>
        <p:nvSpPr>
          <p:cNvPr id="25" name="Oval 24"/>
          <p:cNvSpPr/>
          <p:nvPr/>
        </p:nvSpPr>
        <p:spPr>
          <a:xfrm>
            <a:off x="7238573" y="4505321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8573" y="4523609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7757" y="4459601"/>
            <a:ext cx="3944538" cy="61981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Good to know — "origin" is the name of the GitHub copy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git remote -v shows its address</a:t>
            </a:r>
          </a:p>
        </p:txBody>
      </p:sp>
      <p:sp>
        <p:nvSpPr>
          <p:cNvPr id="28" name="Oval 27"/>
          <p:cNvSpPr/>
          <p:nvPr/>
        </p:nvSpPr>
        <p:spPr>
          <a:xfrm>
            <a:off x="7238573" y="5257434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8573" y="5275722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7757" y="5211714"/>
            <a:ext cx="3944538" cy="60386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Careful — save or set aside your own edits first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Git won't pull over unsaved edits to the same files (see git stash)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git push — share your work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305885" cy="37292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305885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391485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104717" cy="308914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switch -c feature/PAY-170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commit -qm "feat: supported currency list"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push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fatal: The current branch feature/PAY-170 has no upstream branch.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To push the current branch and set the remote as upstream, use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    git push --set-upstream origin feature/PAY-170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push -u origin HEAD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To https://github.com/&lt;your-username&gt;/paytrack-api.git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 * [new branch]      HEAD -&gt; feature/PAY-170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branch 'feature/PAY-170' set up to track 'origin/feature/PAY-170'.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status -sb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8FBFA8"/>
                </a:solidFill>
                <a:latin typeface="Consolas"/>
              </a:rPr>
              <a:t>## feature/PAY-170...origin/feature/PAY-170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push origin --delete feature/PAY-170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To https://github.com/&lt;your-username&gt;/paytrack-api.git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 - [deleted]         feature/PAY-170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573" y="1764792"/>
            <a:ext cx="429201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238573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573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7757" y="2075688"/>
            <a:ext cx="3944538" cy="46034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What — push uploads your saved commits to GitHub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Only committed work goes — not edits you haven't saved</a:t>
            </a:r>
          </a:p>
        </p:txBody>
      </p:sp>
      <p:sp>
        <p:nvSpPr>
          <p:cNvPr id="19" name="Oval 18"/>
          <p:cNvSpPr/>
          <p:nvPr/>
        </p:nvSpPr>
        <p:spPr>
          <a:xfrm>
            <a:off x="7238573" y="2793784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8573" y="2812072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7757" y="2748064"/>
            <a:ext cx="3944538" cy="60386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How — the first time: git push -u origin HEAD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After that just git push. HEAD means "the branch I am on"</a:t>
            </a:r>
          </a:p>
        </p:txBody>
      </p:sp>
      <p:sp>
        <p:nvSpPr>
          <p:cNvPr id="22" name="Oval 21"/>
          <p:cNvSpPr/>
          <p:nvPr/>
        </p:nvSpPr>
        <p:spPr>
          <a:xfrm>
            <a:off x="7238573" y="3609685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8573" y="3627973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7757" y="3563965"/>
            <a:ext cx="3944538" cy="60386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When — as soon as you want a review, or a backup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Push early: work that only exists on a laptop is easy to lose</a:t>
            </a:r>
          </a:p>
        </p:txBody>
      </p:sp>
      <p:sp>
        <p:nvSpPr>
          <p:cNvPr id="25" name="Oval 24"/>
          <p:cNvSpPr/>
          <p:nvPr/>
        </p:nvSpPr>
        <p:spPr>
          <a:xfrm>
            <a:off x="7238573" y="442558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8573" y="444387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7757" y="4379866"/>
            <a:ext cx="3944538" cy="61981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If the push is rejected — someone pushed before you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Run git pull first, then push again</a:t>
            </a:r>
          </a:p>
        </p:txBody>
      </p:sp>
      <p:sp>
        <p:nvSpPr>
          <p:cNvPr id="28" name="Oval 27"/>
          <p:cNvSpPr/>
          <p:nvPr/>
        </p:nvSpPr>
        <p:spPr>
          <a:xfrm>
            <a:off x="7238573" y="5257434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8573" y="5275722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7757" y="5211714"/>
            <a:ext cx="3944538" cy="60386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90" b="1">
                <a:solidFill>
                  <a:srgbClr val="123A5F"/>
                </a:solidFill>
                <a:latin typeface="Aptos"/>
              </a:rPr>
              <a:t>Careful — never force-push to main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30" b="0">
                <a:solidFill>
                  <a:srgbClr val="5A6570"/>
                </a:solidFill>
                <a:latin typeface="Aptos"/>
              </a:rPr>
              <a:t>It overwrites other people's work. GitHub can block it (Lab 03)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440" b="1" i="0">
                <a:solidFill>
                  <a:srgbClr val="123A5F"/>
                </a:solidFill>
                <a:latin typeface="Aptos Display"/>
              </a:rPr>
              <a:t>git stash — put work aside for a moment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305885" cy="3904487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305885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391485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104717" cy="326440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 M app/src/app.py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stash push -m "wip: retry budget"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Saved working directory and index state On main: wip: retry budget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stash list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stash@{0}: On main: wip: retry budget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switch -c hotfix/PAY-160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Switched to a new branch 'hotfix/PAY-160'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8FBFA8"/>
                </a:solidFill>
                <a:latin typeface="Consolas"/>
              </a:rPr>
              <a:t># ...fix, commit and push the hotfix...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switch main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Switched to branch 'main'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Your branch is up to date with 'origin/main'.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stash pop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On branch main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Changes not staged for commit: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    modified:   app/src/app.py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Dropped refs/stash@{0} (fe5910451df5361b311fb3370d6ef5808673fc5c)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573" y="1764792"/>
            <a:ext cx="429201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238573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573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7757" y="2075688"/>
            <a:ext cx="3944538" cy="6619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70" b="1">
                <a:solidFill>
                  <a:srgbClr val="123A5F"/>
                </a:solidFill>
                <a:latin typeface="Aptos"/>
              </a:rPr>
              <a:t>What — stash puts unsaved changes aside and clears your folder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10" b="0">
                <a:solidFill>
                  <a:srgbClr val="5A6570"/>
                </a:solidFill>
                <a:latin typeface="Aptos"/>
              </a:rPr>
              <a:t>Like sweeping your desk into a drawer</a:t>
            </a:r>
          </a:p>
        </p:txBody>
      </p:sp>
      <p:sp>
        <p:nvSpPr>
          <p:cNvPr id="19" name="Oval 18"/>
          <p:cNvSpPr/>
          <p:nvPr/>
        </p:nvSpPr>
        <p:spPr>
          <a:xfrm>
            <a:off x="7238573" y="2899452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8573" y="2917740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7757" y="2853732"/>
            <a:ext cx="3944538" cy="6619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70" b="1">
                <a:solidFill>
                  <a:srgbClr val="123A5F"/>
                </a:solidFill>
                <a:latin typeface="Aptos"/>
              </a:rPr>
              <a:t>How — git stash push -m "note" · git stash pop brings it back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10" b="0">
                <a:solidFill>
                  <a:srgbClr val="5A6570"/>
                </a:solidFill>
                <a:latin typeface="Aptos"/>
              </a:rPr>
              <a:t>git stash list shows what is in the drawer</a:t>
            </a:r>
          </a:p>
        </p:txBody>
      </p:sp>
      <p:sp>
        <p:nvSpPr>
          <p:cNvPr id="22" name="Oval 21"/>
          <p:cNvSpPr/>
          <p:nvPr/>
        </p:nvSpPr>
        <p:spPr>
          <a:xfrm>
            <a:off x="7238573" y="3677497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8573" y="3695785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7757" y="3631777"/>
            <a:ext cx="3944538" cy="64483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70" b="1">
                <a:solidFill>
                  <a:srgbClr val="123A5F"/>
                </a:solidFill>
                <a:latin typeface="Aptos"/>
              </a:rPr>
              <a:t>When — something urgent interrupts your work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10" b="0">
                <a:solidFill>
                  <a:srgbClr val="5A6570"/>
                </a:solidFill>
                <a:latin typeface="Aptos"/>
              </a:rPr>
              <a:t>For example: switch branch to fix a bug, then come back</a:t>
            </a:r>
          </a:p>
        </p:txBody>
      </p:sp>
      <p:sp>
        <p:nvSpPr>
          <p:cNvPr id="25" name="Oval 24"/>
          <p:cNvSpPr/>
          <p:nvPr/>
        </p:nvSpPr>
        <p:spPr>
          <a:xfrm>
            <a:off x="7238573" y="4438424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8573" y="4456712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7757" y="4392704"/>
            <a:ext cx="3944538" cy="6619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70" b="1">
                <a:solidFill>
                  <a:srgbClr val="123A5F"/>
                </a:solidFill>
                <a:latin typeface="Aptos"/>
              </a:rPr>
              <a:t>Careful — brand-new files stay behind unless you add -u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10" b="0">
                <a:solidFill>
                  <a:srgbClr val="5A6570"/>
                </a:solidFill>
                <a:latin typeface="Aptos"/>
              </a:rPr>
              <a:t>git stash push -u -m "note"</a:t>
            </a:r>
          </a:p>
        </p:txBody>
      </p:sp>
      <p:sp>
        <p:nvSpPr>
          <p:cNvPr id="28" name="Oval 27"/>
          <p:cNvSpPr/>
          <p:nvPr/>
        </p:nvSpPr>
        <p:spPr>
          <a:xfrm>
            <a:off x="7238573" y="5216469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8573" y="5234757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7757" y="5170749"/>
            <a:ext cx="3944538" cy="64483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70" b="1">
                <a:solidFill>
                  <a:srgbClr val="123A5F"/>
                </a:solidFill>
                <a:latin typeface="Aptos"/>
              </a:rPr>
              <a:t>Careful — don't leave things in the stash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10" b="0">
                <a:solidFill>
                  <a:srgbClr val="5A6570"/>
                </a:solidFill>
                <a:latin typeface="Aptos"/>
              </a:rPr>
              <a:t>It is easy to forget and never uploaded — commit to a branch instead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270" b="1" i="0">
                <a:solidFill>
                  <a:srgbClr val="123A5F"/>
                </a:solidFill>
                <a:latin typeface="Aptos Display"/>
              </a:rPr>
              <a:t>git restore — throw away changes to a file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305885" cy="273100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305885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391485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104717" cy="209092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 M app/src/app.py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 M app/src/config.py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restore app/src/config.py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add app/src/app.py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M  app/src/app.py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restore --staged app/src/app.py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 M app/src/app.py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573" y="1764792"/>
            <a:ext cx="429201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238573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573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7757" y="2075688"/>
            <a:ext cx="3944538" cy="7040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What — restore puts a file back as it was at the last save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Unsaved edits to that file are thrown away</a:t>
            </a:r>
          </a:p>
        </p:txBody>
      </p:sp>
      <p:sp>
        <p:nvSpPr>
          <p:cNvPr id="19" name="Oval 18"/>
          <p:cNvSpPr/>
          <p:nvPr/>
        </p:nvSpPr>
        <p:spPr>
          <a:xfrm>
            <a:off x="7238573" y="293979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8573" y="295808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7757" y="2894076"/>
            <a:ext cx="3944538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How — git restore &lt;file&gt;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git restore --staged &lt;file&gt; only un-picks it — your edits stay</a:t>
            </a:r>
          </a:p>
        </p:txBody>
      </p:sp>
      <p:sp>
        <p:nvSpPr>
          <p:cNvPr id="22" name="Oval 21"/>
          <p:cNvSpPr/>
          <p:nvPr/>
        </p:nvSpPr>
        <p:spPr>
          <a:xfrm>
            <a:off x="7238573" y="373989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8573" y="375818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7757" y="3694176"/>
            <a:ext cx="3944538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When — an experiment didn't work out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Or you picked (git add) the wrong file by mistake</a:t>
            </a:r>
          </a:p>
        </p:txBody>
      </p:sp>
      <p:sp>
        <p:nvSpPr>
          <p:cNvPr id="25" name="Oval 24"/>
          <p:cNvSpPr/>
          <p:nvPr/>
        </p:nvSpPr>
        <p:spPr>
          <a:xfrm>
            <a:off x="7238573" y="453999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8573" y="455828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7757" y="4494276"/>
            <a:ext cx="3944538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Careful — there is no undo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Edits that were never committed cannot be brought back</a:t>
            </a:r>
          </a:p>
        </p:txBody>
      </p:sp>
      <p:sp>
        <p:nvSpPr>
          <p:cNvPr id="28" name="Oval 27"/>
          <p:cNvSpPr/>
          <p:nvPr/>
        </p:nvSpPr>
        <p:spPr>
          <a:xfrm>
            <a:off x="7238573" y="534009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8573" y="535838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7757" y="5294376"/>
            <a:ext cx="3944538" cy="5212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Not sure? Use git stash instead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Then the changes are put aside, not lost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1900" b="1" i="0">
                <a:solidFill>
                  <a:srgbClr val="123A5F"/>
                </a:solidFill>
                <a:latin typeface="Aptos Display"/>
              </a:rPr>
              <a:t>git revert — safely undo a change that is already shared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305885" cy="408736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305885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391485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104717" cy="361492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git log --oneline -3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6862196 perf: cut settlement timeout to 5s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c479b91 feat: report the store in /ready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b3b21c8 docs: move README under docs/; ignore local env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FBFA8"/>
                </a:solidFill>
                <a:latin typeface="Consolas"/>
              </a:rPr>
              <a:t># ...pushed an hour ago — and settlements start timing out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git revert HEAD --no-edit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[main b4a1a93] Revert "perf: cut settlement timeout to 5s"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 Date: Thu Sep 17 08:22:25 2026 +0200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 1 file changed, 1 insertion(+), 1 deletion(-)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git log --oneline -3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b4a1a93 Revert "perf: cut settlement timeout to 5s"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6862196 perf: cut settlement timeout to 5s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c479b91 feat: report the store in /ready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CC8EE"/>
                </a:solidFill>
                <a:latin typeface="Consolas"/>
              </a:rPr>
              <a:t>$ </a:t>
            </a:r>
            <a:r>
              <a:rPr sz="1000" b="0">
                <a:solidFill>
                  <a:srgbClr val="E8EEF4"/>
                </a:solidFill>
                <a:latin typeface="Consolas"/>
              </a:rPr>
              <a:t>git show --stat HEAD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commit b4a1a930a94acfbe4b8aaa8f8ab61251c2e1f1b0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Author: Your Name &lt;you@example.com&gt;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Date:   Thu Sep 17 08:22:25 2026 +0200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    Revert "perf: cut settlement timeout to 5s"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    This reverts commit 68621963449596b4f6056a595649c7ca2a33690e.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8EEF4"/>
                </a:solidFill>
                <a:latin typeface="Consolas"/>
              </a:rPr>
              <a:t> app/src/config.py | 2 +-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573" y="1764792"/>
            <a:ext cx="429201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238573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573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7757" y="2075688"/>
            <a:ext cx="3944538" cy="6830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What — revert makes a NEW commit that cancels an old one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The history keeps both: the mistake, and the fix</a:t>
            </a:r>
          </a:p>
        </p:txBody>
      </p:sp>
      <p:sp>
        <p:nvSpPr>
          <p:cNvPr id="19" name="Oval 18"/>
          <p:cNvSpPr/>
          <p:nvPr/>
        </p:nvSpPr>
        <p:spPr>
          <a:xfrm>
            <a:off x="7238573" y="2938735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8573" y="2957023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7757" y="2893015"/>
            <a:ext cx="3944538" cy="665317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How — git revert &lt;ID&gt;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git log --oneline shows the ID of the commit to cancel</a:t>
            </a:r>
          </a:p>
        </p:txBody>
      </p:sp>
      <p:sp>
        <p:nvSpPr>
          <p:cNvPr id="22" name="Oval 21"/>
          <p:cNvSpPr/>
          <p:nvPr/>
        </p:nvSpPr>
        <p:spPr>
          <a:xfrm>
            <a:off x="7238573" y="3738359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8573" y="3756647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7757" y="3692639"/>
            <a:ext cx="3944538" cy="84234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When — the change is already pushed, or already in main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Everyone else simply pulls one more commit — nothing breaks for them</a:t>
            </a:r>
          </a:p>
        </p:txBody>
      </p:sp>
      <p:sp>
        <p:nvSpPr>
          <p:cNvPr id="25" name="Oval 24"/>
          <p:cNvSpPr/>
          <p:nvPr/>
        </p:nvSpPr>
        <p:spPr>
          <a:xfrm>
            <a:off x="7238573" y="4715012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8573" y="4733300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7757" y="4669292"/>
            <a:ext cx="3944538" cy="5059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In a bank — the record stays complete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You can see what was undone, by whom, and why</a:t>
            </a:r>
          </a:p>
        </p:txBody>
      </p:sp>
      <p:sp>
        <p:nvSpPr>
          <p:cNvPr id="28" name="Oval 27"/>
          <p:cNvSpPr/>
          <p:nvPr/>
        </p:nvSpPr>
        <p:spPr>
          <a:xfrm>
            <a:off x="7238573" y="5355311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8573" y="5373599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7757" y="5309591"/>
            <a:ext cx="3944538" cy="5059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Careful — later changes may depend on it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Run the tests after reverting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Day 2 words — a recap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384048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28800"/>
            <a:ext cx="3097072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1472" y="1828800"/>
            <a:ext cx="7445959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72216" cy="30708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85416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Repository ·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11472" y="2185416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A project with its history · one saved snapshot, with a note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474214"/>
            <a:ext cx="10872216" cy="307086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492502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Branch · 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1472" y="2492502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A separate line of work · the official version everyone builds 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81300"/>
            <a:ext cx="10872216" cy="30708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99588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Stage (git add)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1472" y="2799588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Pick the changes that will go into your next commit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088386"/>
            <a:ext cx="10872216" cy="307086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06674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Push · pull · fetch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11472" y="3106674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Upload your commits · download and combine · download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395472"/>
            <a:ext cx="10872216" cy="30708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3413760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Merge · merge conflict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1472" y="3413760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Combine two branches · the same line was changed on both — a person decides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702558"/>
            <a:ext cx="10872216" cy="307086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720846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Rebase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1472" y="3720846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Move your own branch on top of the latest main (new commit IDs)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009644"/>
            <a:ext cx="10872216" cy="30708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027932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Revert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11472" y="4027932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Undo a shared change with a new commit that cancels 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4316730"/>
            <a:ext cx="10872216" cy="307086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335018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Pull request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1472" y="4335018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A request to merge, reviewed and tested before it is accepted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623816"/>
            <a:ext cx="10872216" cy="30708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642104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Branch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1472" y="4642104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GitHub rules: no direct pushes, an approval required, tests must pass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930902"/>
            <a:ext cx="10872216" cy="307086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4949190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CODEOWNERS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11472" y="4949190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A file that decides who must review which files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237988"/>
            <a:ext cx="10872216" cy="30708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256276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Continuous Integration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1472" y="5256276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Small changes added daily, each one tested automatically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5545074"/>
            <a:ext cx="10872216" cy="307086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563362"/>
            <a:ext cx="3097072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1" i="0">
                <a:solidFill>
                  <a:srgbClr val="123A5F"/>
                </a:solidFill>
                <a:latin typeface="Aptos"/>
              </a:rPr>
              <a:t>Workflow · job · step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1472" y="5563362"/>
            <a:ext cx="7445959" cy="27051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The checks file · a group of steps on one computer · one command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pic>
        <p:nvPicPr>
          <p:cNvPr id="5" name="Picture 4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566928"/>
            <a:ext cx="2843784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331720"/>
            <a:ext cx="164592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6800" b="1" i="0">
                <a:solidFill>
                  <a:srgbClr val="B9CBDA"/>
                </a:solidFill>
                <a:latin typeface="Aptos Display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395728"/>
            <a:ext cx="822960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3200" b="1" i="0">
                <a:solidFill>
                  <a:srgbClr val="123A5F"/>
                </a:solidFill>
                <a:latin typeface="Aptos Display"/>
              </a:rPr>
              <a:t>More Git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7712" y="3273552"/>
            <a:ext cx="8229600" cy="38404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5A6570"/>
                </a:solidFill>
                <a:latin typeface="Aptos"/>
              </a:rPr>
              <a:t>Powerful — and some of them can lose work, so read the warnings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2267712" y="3927348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3817620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git reset · git reflog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4256532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3744" y="4146804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git cherry-pick · git tag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67712" y="4585716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447598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git bisect · git clean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1900" b="1" i="0">
                <a:solidFill>
                  <a:srgbClr val="123A5F"/>
                </a:solidFill>
                <a:latin typeface="Aptos Display"/>
              </a:rPr>
              <a:t>git reset — move the branch back (soft · mixed · hard)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523329" cy="408736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523329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608929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322161" cy="353872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7CC8EE"/>
                </a:solidFill>
                <a:latin typeface="Consolas"/>
              </a:rPr>
              <a:t>$ </a:t>
            </a:r>
            <a:r>
              <a:rPr sz="1250" b="0">
                <a:solidFill>
                  <a:srgbClr val="E8EEF4"/>
                </a:solidFill>
                <a:latin typeface="Consolas"/>
              </a:rPr>
              <a:t>git log --oneline -2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c26a67d chore: note the retry budget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8159e94 feat: default region eu-west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7CC8EE"/>
                </a:solidFill>
                <a:latin typeface="Consolas"/>
              </a:rPr>
              <a:t>$ </a:t>
            </a:r>
            <a:r>
              <a:rPr sz="1250" b="0">
                <a:solidFill>
                  <a:srgbClr val="E8EEF4"/>
                </a:solidFill>
                <a:latin typeface="Consolas"/>
              </a:rPr>
              <a:t>git reset --soft HEAD~1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7CC8EE"/>
                </a:solidFill>
                <a:latin typeface="Consolas"/>
              </a:rPr>
              <a:t>$ </a:t>
            </a:r>
            <a:r>
              <a:rPr sz="125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M  app/src/app.py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7CC8EE"/>
                </a:solidFill>
                <a:latin typeface="Consolas"/>
              </a:rPr>
              <a:t>$ </a:t>
            </a:r>
            <a:r>
              <a:rPr sz="1250" b="0">
                <a:solidFill>
                  <a:srgbClr val="E8EEF4"/>
                </a:solidFill>
                <a:latin typeface="Consolas"/>
              </a:rPr>
              <a:t>git commit -qm "chore: note the retry budget"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7CC8EE"/>
                </a:solidFill>
                <a:latin typeface="Consolas"/>
              </a:rPr>
              <a:t>$ </a:t>
            </a:r>
            <a:r>
              <a:rPr sz="1250" b="0">
                <a:solidFill>
                  <a:srgbClr val="E8EEF4"/>
                </a:solidFill>
                <a:latin typeface="Consolas"/>
              </a:rPr>
              <a:t>git reset HEAD~1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Unstaged changes after reset: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M    app/src/app.py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7CC8EE"/>
                </a:solidFill>
                <a:latin typeface="Consolas"/>
              </a:rPr>
              <a:t>$ </a:t>
            </a:r>
            <a:r>
              <a:rPr sz="125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 M app/src/app.py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7CC8EE"/>
                </a:solidFill>
                <a:latin typeface="Consolas"/>
              </a:rPr>
              <a:t>$ </a:t>
            </a:r>
            <a:r>
              <a:rPr sz="1250" b="0">
                <a:solidFill>
                  <a:srgbClr val="E8EEF4"/>
                </a:solidFill>
                <a:latin typeface="Consolas"/>
              </a:rPr>
              <a:t>git commit -qam "chore: note the retry budget"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7CC8EE"/>
                </a:solidFill>
                <a:latin typeface="Consolas"/>
              </a:rPr>
              <a:t>$ </a:t>
            </a:r>
            <a:r>
              <a:rPr sz="1250" b="0">
                <a:solidFill>
                  <a:srgbClr val="E8EEF4"/>
                </a:solidFill>
                <a:latin typeface="Consolas"/>
              </a:rPr>
              <a:t>git reset --hard HEAD~1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HEAD is now at 8159e94 feat: default region eu-west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7CC8EE"/>
                </a:solidFill>
                <a:latin typeface="Consolas"/>
              </a:rPr>
              <a:t>$ </a:t>
            </a:r>
            <a:r>
              <a:rPr sz="125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7CC8EE"/>
                </a:solidFill>
                <a:latin typeface="Consolas"/>
              </a:rPr>
              <a:t>$ </a:t>
            </a:r>
            <a:r>
              <a:rPr sz="1250" b="0">
                <a:solidFill>
                  <a:srgbClr val="E8EEF4"/>
                </a:solidFill>
                <a:latin typeface="Consolas"/>
              </a:rPr>
              <a:t>git log --oneline -1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8159e94 feat: default region eu-west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6017" y="1764792"/>
            <a:ext cx="407456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456017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6017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5201" y="2075688"/>
            <a:ext cx="3727094" cy="78967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30" b="1">
                <a:solidFill>
                  <a:srgbClr val="123A5F"/>
                </a:solidFill>
                <a:latin typeface="Aptos"/>
              </a:rPr>
              <a:t>Means: reset moves the branch pointer to another commit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70" b="0">
                <a:solidFill>
                  <a:srgbClr val="5A6570"/>
                </a:solidFill>
                <a:latin typeface="Aptos"/>
              </a:rPr>
              <a:t>Later commits fall off the branch; the mode decides what happens to their changes</a:t>
            </a:r>
          </a:p>
        </p:txBody>
      </p:sp>
      <p:sp>
        <p:nvSpPr>
          <p:cNvPr id="19" name="Oval 18"/>
          <p:cNvSpPr/>
          <p:nvPr/>
        </p:nvSpPr>
        <p:spPr>
          <a:xfrm>
            <a:off x="7456017" y="302428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6017" y="304257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5201" y="2978566"/>
            <a:ext cx="3727094" cy="6243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30" b="1">
                <a:solidFill>
                  <a:srgbClr val="123A5F"/>
                </a:solidFill>
                <a:latin typeface="Aptos"/>
              </a:rPr>
              <a:t>--soft keeps the changes STAGED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70" b="0">
                <a:solidFill>
                  <a:srgbClr val="5A6570"/>
                </a:solidFill>
                <a:latin typeface="Aptos"/>
              </a:rPr>
              <a:t>Redo the last commit: split it, or change what goes into it</a:t>
            </a:r>
          </a:p>
        </p:txBody>
      </p:sp>
      <p:sp>
        <p:nvSpPr>
          <p:cNvPr id="22" name="Oval 21"/>
          <p:cNvSpPr/>
          <p:nvPr/>
        </p:nvSpPr>
        <p:spPr>
          <a:xfrm>
            <a:off x="7456017" y="3761841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6017" y="3780129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5201" y="3716121"/>
            <a:ext cx="3727094" cy="6243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30" b="1">
                <a:solidFill>
                  <a:srgbClr val="123A5F"/>
                </a:solidFill>
                <a:latin typeface="Aptos"/>
              </a:rPr>
              <a:t>--mixed (the default) keeps them UNSTAGED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70" b="0">
                <a:solidFill>
                  <a:srgbClr val="5A6570"/>
                </a:solidFill>
                <a:latin typeface="Aptos"/>
              </a:rPr>
              <a:t>Start the staging again, for example with git add -p</a:t>
            </a:r>
          </a:p>
        </p:txBody>
      </p:sp>
      <p:sp>
        <p:nvSpPr>
          <p:cNvPr id="25" name="Oval 24"/>
          <p:cNvSpPr/>
          <p:nvPr/>
        </p:nvSpPr>
        <p:spPr>
          <a:xfrm>
            <a:off x="7456017" y="449939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6017" y="451768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85201" y="4453676"/>
            <a:ext cx="3727094" cy="6243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30" b="1">
                <a:solidFill>
                  <a:srgbClr val="123A5F"/>
                </a:solidFill>
                <a:latin typeface="Aptos"/>
              </a:rPr>
              <a:t>--hard DISCARDS the commit AND the edits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70" b="0">
                <a:solidFill>
                  <a:srgbClr val="5A6570"/>
                </a:solidFill>
                <a:latin typeface="Aptos"/>
              </a:rPr>
              <a:t>Committed work is recoverable through the reflog; uncommitted edits are not</a:t>
            </a:r>
          </a:p>
        </p:txBody>
      </p:sp>
      <p:sp>
        <p:nvSpPr>
          <p:cNvPr id="28" name="Oval 27"/>
          <p:cNvSpPr/>
          <p:nvPr/>
        </p:nvSpPr>
        <p:spPr>
          <a:xfrm>
            <a:off x="7456017" y="5236951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6017" y="5255239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5201" y="5191231"/>
            <a:ext cx="3727094" cy="6243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30" b="1">
                <a:solidFill>
                  <a:srgbClr val="123A5F"/>
                </a:solidFill>
                <a:latin typeface="Aptos"/>
              </a:rPr>
              <a:t>Avoid: reset on anything already pushed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70" b="0">
                <a:solidFill>
                  <a:srgbClr val="5A6570"/>
                </a:solidFill>
                <a:latin typeface="Aptos"/>
              </a:rPr>
              <a:t>It rewrites shared history — use git revert instead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1900" b="1" i="0">
                <a:solidFill>
                  <a:srgbClr val="123A5F"/>
                </a:solidFill>
                <a:latin typeface="Aptos Display"/>
              </a:rPr>
              <a:t>git reflog — find a commit you thought you had lost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523329" cy="332536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523329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608929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322161" cy="268528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reset --hard HEAD~1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HEAD is now at 8159e94 feat: default region eu-west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FBFA8"/>
                </a:solidFill>
                <a:latin typeface="Consolas"/>
              </a:rPr>
              <a:t># ..."wait — I needed that commit"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reflog -4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8159e94 HEAD@{0}: reset: moving to HEAD~1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c26a67d HEAD@{1}: commit: chore: note the retry budget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8159e94 HEAD@{2}: reset: moving to HEAD~1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c26a67d HEAD@{3}: commit: chore: note the retry budget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reset --hard HEAD@{1}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HEAD is now at c26a67d chore: note the retry budget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log --oneline -2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c26a67d chore: note the retry budget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8159e94 feat: default region eu-west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6017" y="1764792"/>
            <a:ext cx="407456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456017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6017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5201" y="2075688"/>
            <a:ext cx="3727094" cy="84234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Means: the reflog is a diary of every place HEAD has been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Commits, resets, switches and rebases — including commits no branch points at</a:t>
            </a:r>
          </a:p>
        </p:txBody>
      </p:sp>
      <p:sp>
        <p:nvSpPr>
          <p:cNvPr id="19" name="Oval 18"/>
          <p:cNvSpPr/>
          <p:nvPr/>
        </p:nvSpPr>
        <p:spPr>
          <a:xfrm>
            <a:off x="7456017" y="3087063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6017" y="3105351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5201" y="3041343"/>
            <a:ext cx="3727094" cy="84234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How: git reflog, then reset or switch to HEAD@{n}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Or keep it on a new branch: git switch -c rescue HEAD@{1}</a:t>
            </a:r>
          </a:p>
        </p:txBody>
      </p:sp>
      <p:sp>
        <p:nvSpPr>
          <p:cNvPr id="22" name="Oval 21"/>
          <p:cNvSpPr/>
          <p:nvPr/>
        </p:nvSpPr>
        <p:spPr>
          <a:xfrm>
            <a:off x="7456017" y="405271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6017" y="407100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5201" y="4006998"/>
            <a:ext cx="3727094" cy="84234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Use when: a reset, amend, rebase or branch -D went wrong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Anything that was once COMMITTED can be found again</a:t>
            </a:r>
          </a:p>
        </p:txBody>
      </p:sp>
      <p:sp>
        <p:nvSpPr>
          <p:cNvPr id="25" name="Oval 24"/>
          <p:cNvSpPr/>
          <p:nvPr/>
        </p:nvSpPr>
        <p:spPr>
          <a:xfrm>
            <a:off x="7456017" y="5018373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6017" y="5036661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85201" y="4972653"/>
            <a:ext cx="3727094" cy="82464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Watch out: it is local, and it expires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Only your clone has it, entries age out after about 90 days, and uncommitted edits were never in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1900" b="1" i="0">
                <a:solidFill>
                  <a:srgbClr val="123A5F"/>
                </a:solidFill>
                <a:latin typeface="Aptos Display"/>
              </a:rPr>
              <a:t>git cherry-pick — copy one commit to another branch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523329" cy="355396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523329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608929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322161" cy="291388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log --oneline -1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1ecd14b fix: default currency to EUR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switch release/2026.10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Switched to branch 'release/2026.10'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Your branch is up to date with 'origin/release/2026.10'.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cherry-pick -x 1ecd14b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[release/2026.10 3d690ff] fix: default currency to EUR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 Date: Thu Sep 17 08:22:26 2026 +0200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 1 file changed, 1 insertion(+)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log --oneline -2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3d690ff fix: default currency to EUR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c479b91 feat: report the store in /ready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CC8EE"/>
                </a:solidFill>
                <a:latin typeface="Consolas"/>
              </a:rPr>
              <a:t>$ </a:t>
            </a:r>
            <a:r>
              <a:rPr sz="1150" b="0">
                <a:solidFill>
                  <a:srgbClr val="E8EEF4"/>
                </a:solidFill>
                <a:latin typeface="Consolas"/>
              </a:rPr>
              <a:t>git log -1 --format=%B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fix: default currency to EUR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Consolas"/>
              </a:rPr>
              <a:t>(cherry picked from commit 1ecd14bd10ed4f148fec87bd9e69e0a7fe973d8d)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6017" y="1764792"/>
            <a:ext cx="407456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456017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6017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5201" y="2075688"/>
            <a:ext cx="3727094" cy="71067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10" b="1">
                <a:solidFill>
                  <a:srgbClr val="123A5F"/>
                </a:solidFill>
                <a:latin typeface="Aptos"/>
              </a:rPr>
              <a:t>Means: cherry-pick copies ONE commit onto the current branch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5A6570"/>
                </a:solidFill>
                <a:latin typeface="Aptos"/>
              </a:rPr>
              <a:t>Same change, new SHA: 1ecd14b on main becomes 3d690ff on the release</a:t>
            </a:r>
          </a:p>
        </p:txBody>
      </p:sp>
      <p:sp>
        <p:nvSpPr>
          <p:cNvPr id="19" name="Oval 18"/>
          <p:cNvSpPr/>
          <p:nvPr/>
        </p:nvSpPr>
        <p:spPr>
          <a:xfrm>
            <a:off x="7456017" y="2948903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6017" y="2967191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5201" y="2903183"/>
            <a:ext cx="3727094" cy="71067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10" b="1">
                <a:solidFill>
                  <a:srgbClr val="123A5F"/>
                </a:solidFill>
                <a:latin typeface="Aptos"/>
              </a:rPr>
              <a:t>How: switch to the target branch, then cherry-pick &lt;sha&gt;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5A6570"/>
                </a:solidFill>
                <a:latin typeface="Aptos"/>
              </a:rPr>
              <a:t>-x records where it came from — the audit trail for a back-port</a:t>
            </a:r>
          </a:p>
        </p:txBody>
      </p:sp>
      <p:sp>
        <p:nvSpPr>
          <p:cNvPr id="22" name="Oval 21"/>
          <p:cNvSpPr/>
          <p:nvPr/>
        </p:nvSpPr>
        <p:spPr>
          <a:xfrm>
            <a:off x="7456017" y="377639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6017" y="379468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5201" y="3730678"/>
            <a:ext cx="3727094" cy="57768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10" b="1">
                <a:solidFill>
                  <a:srgbClr val="123A5F"/>
                </a:solidFill>
                <a:latin typeface="Aptos"/>
              </a:rPr>
              <a:t>Use when: a fix must reach a release branch without the rest of main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5A6570"/>
                </a:solidFill>
                <a:latin typeface="Aptos"/>
              </a:rPr>
              <a:t>The classic hotfix back-port</a:t>
            </a:r>
          </a:p>
        </p:txBody>
      </p:sp>
      <p:sp>
        <p:nvSpPr>
          <p:cNvPr id="25" name="Oval 24"/>
          <p:cNvSpPr/>
          <p:nvPr/>
        </p:nvSpPr>
        <p:spPr>
          <a:xfrm>
            <a:off x="7456017" y="4470903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6017" y="4489191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85201" y="4425183"/>
            <a:ext cx="3727094" cy="71067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10" b="1">
                <a:solidFill>
                  <a:srgbClr val="123A5F"/>
                </a:solidFill>
                <a:latin typeface="Aptos"/>
              </a:rPr>
              <a:t>Avoid: moving whole features between branches this way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5A6570"/>
                </a:solidFill>
                <a:latin typeface="Aptos"/>
              </a:rPr>
              <a:t>You get duplicate commits with different SHAs — merge instead</a:t>
            </a:r>
          </a:p>
        </p:txBody>
      </p:sp>
      <p:sp>
        <p:nvSpPr>
          <p:cNvPr id="28" name="Oval 27"/>
          <p:cNvSpPr/>
          <p:nvPr/>
        </p:nvSpPr>
        <p:spPr>
          <a:xfrm>
            <a:off x="7456017" y="5298399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6017" y="5316687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5201" y="5252679"/>
            <a:ext cx="3727094" cy="56290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10" b="1">
                <a:solidFill>
                  <a:srgbClr val="123A5F"/>
                </a:solidFill>
                <a:latin typeface="Aptos"/>
              </a:rPr>
              <a:t>Watch out: it can conflict like a merge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5A6570"/>
                </a:solidFill>
                <a:latin typeface="Aptos"/>
              </a:rPr>
              <a:t>Fix the file, git add, git cherry-pick --continue — or --abort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440" b="1" i="0">
                <a:solidFill>
                  <a:srgbClr val="123A5F"/>
                </a:solidFill>
                <a:latin typeface="Aptos Display"/>
              </a:rPr>
              <a:t>git tag · git describe — name a release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523329" cy="408736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523329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608929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322161" cy="363016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tag -a v1.1.0 -m "PayTrack API 1.1.0"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tag -n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v1.1.0          PayTrack API 1.1.0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push origin v1.1.0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To https://github.com/&lt;your-username&gt;/paytrack-api.git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 * [new tag]         v1.1.0 -&gt; v1.1.0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8FBFA8"/>
                </a:solidFill>
                <a:latin typeface="Consolas"/>
              </a:rPr>
              <a:t># ...one more commit lands on main...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describe --tags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v1.1.0-1-g32fc9b7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show v1.1.0 --no-patch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tag v1.1.0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Tagger: Your Name &lt;you@example.com&gt;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Date:   Thu Sep 17 08:22:26 2026 +0200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PayTrack API 1.1.0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commit 4949c99cf69f1aa1c760ce18063c92880f2f1581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Author: Your Name &lt;you@example.com&gt;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Date:   Thu Sep 17 08:22:26 2026 +0200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    docs: add contributing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6017" y="1764792"/>
            <a:ext cx="407456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456017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6017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5201" y="2075688"/>
            <a:ext cx="3727094" cy="583387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50" b="1">
                <a:solidFill>
                  <a:srgbClr val="123A5F"/>
                </a:solidFill>
                <a:latin typeface="Aptos"/>
              </a:rPr>
              <a:t>Means: a tag is a permanent name for one commit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90" b="0">
                <a:solidFill>
                  <a:srgbClr val="5A6570"/>
                </a:solidFill>
                <a:latin typeface="Aptos"/>
              </a:rPr>
              <a:t>Unlike a branch it never moves — v1.1.0 always means exactly this code</a:t>
            </a:r>
          </a:p>
        </p:txBody>
      </p:sp>
      <p:sp>
        <p:nvSpPr>
          <p:cNvPr id="19" name="Oval 18"/>
          <p:cNvSpPr/>
          <p:nvPr/>
        </p:nvSpPr>
        <p:spPr>
          <a:xfrm>
            <a:off x="7456017" y="2868289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6017" y="2886577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5201" y="2822569"/>
            <a:ext cx="3727094" cy="73700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50" b="1">
                <a:solidFill>
                  <a:srgbClr val="123A5F"/>
                </a:solidFill>
                <a:latin typeface="Aptos"/>
              </a:rPr>
              <a:t>How: tag -a &lt;name&gt; -m "message" — annotated: tagger, date, message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90" b="0">
                <a:solidFill>
                  <a:srgbClr val="5A6570"/>
                </a:solidFill>
                <a:latin typeface="Aptos"/>
              </a:rPr>
              <a:t>A lightweight tag (no -a) is a bare pointer with no audit data</a:t>
            </a:r>
          </a:p>
        </p:txBody>
      </p:sp>
      <p:sp>
        <p:nvSpPr>
          <p:cNvPr id="22" name="Oval 21"/>
          <p:cNvSpPr/>
          <p:nvPr/>
        </p:nvSpPr>
        <p:spPr>
          <a:xfrm>
            <a:off x="7456017" y="3768791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6017" y="3787079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5201" y="3723071"/>
            <a:ext cx="3727094" cy="44512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50" b="1">
                <a:solidFill>
                  <a:srgbClr val="123A5F"/>
                </a:solidFill>
                <a:latin typeface="Aptos"/>
              </a:rPr>
              <a:t>Tags are NOT pushed with your commits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90" b="0">
                <a:solidFill>
                  <a:srgbClr val="5A6570"/>
                </a:solidFill>
                <a:latin typeface="Aptos"/>
              </a:rPr>
              <a:t>git push origin v1.1.0 — or git push origin --tags</a:t>
            </a:r>
          </a:p>
        </p:txBody>
      </p:sp>
      <p:sp>
        <p:nvSpPr>
          <p:cNvPr id="25" name="Oval 24"/>
          <p:cNvSpPr/>
          <p:nvPr/>
        </p:nvSpPr>
        <p:spPr>
          <a:xfrm>
            <a:off x="7456017" y="4377415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6017" y="4395703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85201" y="4331695"/>
            <a:ext cx="3727094" cy="73700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50" b="1">
                <a:solidFill>
                  <a:srgbClr val="123A5F"/>
                </a:solidFill>
                <a:latin typeface="Aptos"/>
              </a:rPr>
              <a:t>describe --tags names any commit from its nearest tag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90" b="0">
                <a:solidFill>
                  <a:srgbClr val="5A6570"/>
                </a:solidFill>
                <a:latin typeface="Aptos"/>
              </a:rPr>
              <a:t>v1.1.0-1-g32fc9b7 = one commit after v1.1.0, at commit 32fc9b7</a:t>
            </a:r>
          </a:p>
        </p:txBody>
      </p:sp>
      <p:sp>
        <p:nvSpPr>
          <p:cNvPr id="28" name="Oval 27"/>
          <p:cNvSpPr/>
          <p:nvPr/>
        </p:nvSpPr>
        <p:spPr>
          <a:xfrm>
            <a:off x="7456017" y="527791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6017" y="529620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5201" y="5232196"/>
            <a:ext cx="3727094" cy="583387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50" b="1">
                <a:solidFill>
                  <a:srgbClr val="123A5F"/>
                </a:solidFill>
                <a:latin typeface="Aptos"/>
              </a:rPr>
              <a:t>Avoid: moving or re-using a published tag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90" b="0">
                <a:solidFill>
                  <a:srgbClr val="5A6570"/>
                </a:solidFill>
                <a:latin typeface="Aptos"/>
              </a:rPr>
              <a:t>Someone has already built and deployed from it — cut v1.1.1 instead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270" b="1" i="0">
                <a:solidFill>
                  <a:srgbClr val="123A5F"/>
                </a:solidFill>
                <a:latin typeface="Aptos Display"/>
              </a:rPr>
              <a:t>git bisect — find the commit that broke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523329" cy="408736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523329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608929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322161" cy="3470147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bisect start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status: waiting for both good and bad commits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bisect bad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status: waiting for good commit(s), bad commit known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bisect good v1.0.0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Bisecting: 3 revisions left to test after this (roughly 2 steps)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[7bfd8d959e5f653ae56caa21fabb5f72a8b3af37] chore: bump flask to 3.0.3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bisect run python3 test_fee.py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running 'python3' 'test_fee.py'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ok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Bisecting: 1 revision left to test after this (roughly 1 step)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[ca37b9aca84d73133b3e4630d9f7c508762a2969] feat: fee for GBP cards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running 'python3' 'test_fee.py'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AssertionError: 46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Bisecting: 0 revisions left to test after this (roughly 0 steps)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[4f79a0c204e4d74a1ed2417bc369756c88713493] refactor: simplify fee rounding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running 'python3' 'test_fee.py'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AssertionError: 46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4f79a0c204e4d74a1ed2417bc369756c88713493 is the first bad commit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bisect found first bad commit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bisect reset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6017" y="1764792"/>
            <a:ext cx="407456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456017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6017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5201" y="2075688"/>
            <a:ext cx="3727094" cy="73700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50" b="1">
                <a:solidFill>
                  <a:srgbClr val="123A5F"/>
                </a:solidFill>
                <a:latin typeface="Aptos"/>
              </a:rPr>
              <a:t>Means: bisect binary-searches history for the breaking commit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90" b="0">
                <a:solidFill>
                  <a:srgbClr val="5A6570"/>
                </a:solidFill>
                <a:latin typeface="Aptos"/>
              </a:rPr>
              <a:t>Seven suspect commits took three tests; a thousand would take about ten</a:t>
            </a:r>
          </a:p>
        </p:txBody>
      </p:sp>
      <p:sp>
        <p:nvSpPr>
          <p:cNvPr id="19" name="Oval 18"/>
          <p:cNvSpPr/>
          <p:nvPr/>
        </p:nvSpPr>
        <p:spPr>
          <a:xfrm>
            <a:off x="7456017" y="2983504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6017" y="3001792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5201" y="2937784"/>
            <a:ext cx="3727094" cy="73700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50" b="1">
                <a:solidFill>
                  <a:srgbClr val="123A5F"/>
                </a:solidFill>
                <a:latin typeface="Aptos"/>
              </a:rPr>
              <a:t>How: start · bad (it is broken now) · good &lt;last good version&gt;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90" b="0">
                <a:solidFill>
                  <a:srgbClr val="5A6570"/>
                </a:solidFill>
                <a:latin typeface="Aptos"/>
              </a:rPr>
              <a:t>Git checks out a commit in the middle; you say good or bad; repeat</a:t>
            </a:r>
          </a:p>
        </p:txBody>
      </p:sp>
      <p:sp>
        <p:nvSpPr>
          <p:cNvPr id="22" name="Oval 21"/>
          <p:cNvSpPr/>
          <p:nvPr/>
        </p:nvSpPr>
        <p:spPr>
          <a:xfrm>
            <a:off x="7456017" y="3845600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6017" y="3863888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5201" y="3799880"/>
            <a:ext cx="3727094" cy="44512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50" b="1">
                <a:solidFill>
                  <a:srgbClr val="123A5F"/>
                </a:solidFill>
                <a:latin typeface="Aptos"/>
              </a:rPr>
              <a:t>bisect run &lt;test&gt; does the answering for you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90" b="0">
                <a:solidFill>
                  <a:srgbClr val="5A6570"/>
                </a:solidFill>
                <a:latin typeface="Aptos"/>
              </a:rPr>
              <a:t>Exit 0 = good · 1–127 = bad · 125 = skip this commit</a:t>
            </a:r>
          </a:p>
        </p:txBody>
      </p:sp>
      <p:sp>
        <p:nvSpPr>
          <p:cNvPr id="25" name="Oval 24"/>
          <p:cNvSpPr/>
          <p:nvPr/>
        </p:nvSpPr>
        <p:spPr>
          <a:xfrm>
            <a:off x="7456017" y="4415820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6017" y="4434108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85201" y="4370100"/>
            <a:ext cx="3727094" cy="73700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50" b="1">
                <a:solidFill>
                  <a:srgbClr val="123A5F"/>
                </a:solidFill>
                <a:latin typeface="Aptos"/>
              </a:rPr>
              <a:t>Use when: "it worked in 1.0.0" and nobody knows what changed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90" b="0">
                <a:solidFill>
                  <a:srgbClr val="5A6570"/>
                </a:solidFill>
                <a:latin typeface="Aptos"/>
              </a:rPr>
              <a:t>Here a harmless-looking refactor changed how the card fee is rounded</a:t>
            </a:r>
          </a:p>
        </p:txBody>
      </p:sp>
      <p:sp>
        <p:nvSpPr>
          <p:cNvPr id="28" name="Oval 27"/>
          <p:cNvSpPr/>
          <p:nvPr/>
        </p:nvSpPr>
        <p:spPr>
          <a:xfrm>
            <a:off x="7456017" y="527791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6017" y="529620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5201" y="5232196"/>
            <a:ext cx="3727094" cy="583387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50" b="1">
                <a:solidFill>
                  <a:srgbClr val="123A5F"/>
                </a:solidFill>
                <a:latin typeface="Aptos"/>
              </a:rPr>
              <a:t>Always finish with git bisect reset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90" b="0">
                <a:solidFill>
                  <a:srgbClr val="5A6570"/>
                </a:solidFill>
                <a:latin typeface="Aptos"/>
              </a:rPr>
              <a:t>Otherwise you are left on a detached HEAD somewhere in the past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160" b="1" i="0">
                <a:solidFill>
                  <a:srgbClr val="123A5F"/>
                </a:solidFill>
                <a:latin typeface="Aptos Display"/>
              </a:rPr>
              <a:t>git clean — delete files Git is not tracking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523329" cy="312724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523329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608929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322161" cy="248716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status -s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?? build/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?? scratch.txt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clean -n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Would remove scratch.txt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clean -nd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Would remove build/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Would remove scratch.txt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clean -fd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Removing build/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8EEF4"/>
                </a:solidFill>
                <a:latin typeface="Consolas"/>
              </a:rPr>
              <a:t>Removing scratch.txt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7CC8EE"/>
                </a:solidFill>
                <a:latin typeface="Consolas"/>
              </a:rPr>
              <a:t>$ </a:t>
            </a:r>
            <a:r>
              <a:rPr sz="1300" b="0">
                <a:solidFill>
                  <a:srgbClr val="E8EEF4"/>
                </a:solidFill>
                <a:latin typeface="Consolas"/>
              </a:rPr>
              <a:t>git status -s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6017" y="1764792"/>
            <a:ext cx="407456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456017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6017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5201" y="2075688"/>
            <a:ext cx="3727094" cy="71067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10" b="1">
                <a:solidFill>
                  <a:srgbClr val="123A5F"/>
                </a:solidFill>
                <a:latin typeface="Aptos"/>
              </a:rPr>
              <a:t>Means: clean deletes untracked files from the disk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5A6570"/>
                </a:solidFill>
                <a:latin typeface="Aptos"/>
              </a:rPr>
              <a:t>The opposite of git add — they are removed, not merely ignored</a:t>
            </a:r>
          </a:p>
        </p:txBody>
      </p:sp>
      <p:sp>
        <p:nvSpPr>
          <p:cNvPr id="19" name="Oval 18"/>
          <p:cNvSpPr/>
          <p:nvPr/>
        </p:nvSpPr>
        <p:spPr>
          <a:xfrm>
            <a:off x="7456017" y="2982151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6017" y="3000439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5201" y="2936431"/>
            <a:ext cx="3727094" cy="57768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10" b="1">
                <a:solidFill>
                  <a:srgbClr val="123A5F"/>
                </a:solidFill>
                <a:latin typeface="Aptos"/>
              </a:rPr>
              <a:t>How: ALWAYS -n first (dry run), then -f to really delete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5A6570"/>
                </a:solidFill>
                <a:latin typeface="Aptos"/>
              </a:rPr>
              <a:t>-d includes directories · -x also deletes ignored files</a:t>
            </a:r>
          </a:p>
        </p:txBody>
      </p:sp>
      <p:sp>
        <p:nvSpPr>
          <p:cNvPr id="22" name="Oval 21"/>
          <p:cNvSpPr/>
          <p:nvPr/>
        </p:nvSpPr>
        <p:spPr>
          <a:xfrm>
            <a:off x="7456017" y="3709903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6017" y="3728191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5201" y="3664183"/>
            <a:ext cx="3727094" cy="57768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10" b="1">
                <a:solidFill>
                  <a:srgbClr val="123A5F"/>
                </a:solidFill>
                <a:latin typeface="Aptos"/>
              </a:rPr>
              <a:t>Use when: build output or scratch files clutter the tree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5A6570"/>
                </a:solidFill>
                <a:latin typeface="Aptos"/>
              </a:rPr>
              <a:t>Getting back to exactly what is in the repository</a:t>
            </a:r>
          </a:p>
        </p:txBody>
      </p:sp>
      <p:sp>
        <p:nvSpPr>
          <p:cNvPr id="25" name="Oval 24"/>
          <p:cNvSpPr/>
          <p:nvPr/>
        </p:nvSpPr>
        <p:spPr>
          <a:xfrm>
            <a:off x="7456017" y="443765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6017" y="445594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85201" y="4391936"/>
            <a:ext cx="3727094" cy="71067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10" b="1">
                <a:solidFill>
                  <a:srgbClr val="123A5F"/>
                </a:solidFill>
                <a:latin typeface="Aptos"/>
              </a:rPr>
              <a:t>Avoid: git clean -fdx in a project you are working in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5A6570"/>
                </a:solidFill>
                <a:latin typeface="Aptos"/>
              </a:rPr>
              <a:t>-x also deletes .venv and .env — ignored does not mean unimportant</a:t>
            </a:r>
          </a:p>
        </p:txBody>
      </p:sp>
      <p:sp>
        <p:nvSpPr>
          <p:cNvPr id="28" name="Oval 27"/>
          <p:cNvSpPr/>
          <p:nvPr/>
        </p:nvSpPr>
        <p:spPr>
          <a:xfrm>
            <a:off x="7456017" y="5298399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6017" y="5316687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5201" y="5252679"/>
            <a:ext cx="3727094" cy="56290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010" b="1">
                <a:solidFill>
                  <a:srgbClr val="123A5F"/>
                </a:solidFill>
                <a:latin typeface="Aptos"/>
              </a:rPr>
              <a:t>Watch out: there is no undo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5A6570"/>
                </a:solidFill>
                <a:latin typeface="Aptos"/>
              </a:rPr>
              <a:t>Untracked files were never in Git, so even the reflog cannot bring them back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pic>
        <p:nvPicPr>
          <p:cNvPr id="5" name="Picture 4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566928"/>
            <a:ext cx="2843784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331720"/>
            <a:ext cx="164592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6800" b="1" i="0">
                <a:solidFill>
                  <a:srgbClr val="B9CBDA"/>
                </a:solidFill>
                <a:latin typeface="Aptos Display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395728"/>
            <a:ext cx="822960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3200" b="1" i="0">
                <a:solidFill>
                  <a:srgbClr val="123A5F"/>
                </a:solidFill>
                <a:latin typeface="Aptos Display"/>
              </a:rPr>
              <a:t>More on Branches and Rebasing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7712" y="3273552"/>
            <a:ext cx="8229600" cy="38404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5A6570"/>
                </a:solidFill>
                <a:latin typeface="Aptos"/>
              </a:rPr>
              <a:t>The detail behind today's simple 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267712" y="3927348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3817620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Choosing a branching 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4256532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3744" y="4146804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Merging in detail · the golden rule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67712" y="4585716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447598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Rebase conflicts, tidying commits, undoing a rebase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Which approach fits which team?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384048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28800"/>
            <a:ext cx="451046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4860" y="1828800"/>
            <a:ext cx="1901129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GitFlow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0581" y="1828800"/>
            <a:ext cx="1901129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GitHub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6302" y="1828800"/>
            <a:ext cx="1901129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Trunk-based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167128"/>
            <a:ext cx="10872216" cy="73609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4510460" cy="69951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Do you look after several versions at once (say 2.0 and 3.0)?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4860" y="2185416"/>
            <a:ext cx="1901129" cy="69951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3E7D32"/>
                </a:solidFill>
                <a:latin typeface="Aptos"/>
              </a:rPr>
              <a:t>✔ Suits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0581" y="2185416"/>
            <a:ext cx="1901129" cy="69951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B3261E"/>
                </a:solidFill>
                <a:latin typeface="Aptos"/>
              </a:rPr>
              <a:t>✗ Not really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6302" y="2185416"/>
            <a:ext cx="1901129" cy="69951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B3261E"/>
                </a:solidFill>
                <a:latin typeface="Aptos"/>
              </a:rPr>
              <a:t>✗ Not really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903220"/>
            <a:ext cx="10872216" cy="528066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921508"/>
            <a:ext cx="4510460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Do you release small changes often?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24860" y="2921508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B3261E"/>
                </a:solidFill>
                <a:latin typeface="Aptos"/>
              </a:rPr>
              <a:t>✗ Slow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0581" y="2921508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3E7D32"/>
                </a:solidFill>
                <a:latin typeface="Aptos"/>
              </a:rPr>
              <a:t>✔ 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6302" y="2921508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3E7D32"/>
                </a:solidFill>
                <a:latin typeface="Aptos"/>
              </a:rPr>
              <a:t>✔ 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431286"/>
            <a:ext cx="10872216" cy="52806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3449574"/>
            <a:ext cx="4510460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Do you have good automatic tests?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24860" y="3449574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Helpful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0581" y="3449574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Needed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6302" y="3449574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Essential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3959352"/>
            <a:ext cx="10872216" cy="528066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977639"/>
            <a:ext cx="4510460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How long does a branch usually live?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24860" y="3977639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Weeks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0581" y="3977639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Hours to days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6302" y="3977639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Under a day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487418"/>
            <a:ext cx="10872216" cy="52806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4505705"/>
            <a:ext cx="4510460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How hard is combining everyone's work?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24860" y="4505705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Often painful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0581" y="4505705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Usually easy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6302" y="4505705"/>
            <a:ext cx="1901129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Very easy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522975"/>
            <a:ext cx="10872216" cy="402336"/>
          </a:xfrm>
          <a:prstGeom prst="rect">
            <a:avLst/>
          </a:prstGeom>
          <a:solidFill>
            <a:srgbClr val="FDF1E2"/>
          </a:solidFill>
          <a:ln w="9525">
            <a:solidFill>
              <a:srgbClr val="D276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5586983"/>
            <a:ext cx="1762963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D2760D"/>
                </a:solidFill>
                <a:latin typeface="Aptos"/>
              </a:rPr>
              <a:t>THIS COURSE USES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58491" y="5577839"/>
            <a:ext cx="880750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0" i="0">
                <a:solidFill>
                  <a:srgbClr val="123A5F"/>
                </a:solidFill>
                <a:latin typeface="Aptos"/>
              </a:rPr>
              <a:t>GitHub Flow: one short-lived branch per change, reviewed in a pull request, then merged into main.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Four strategies in detail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384048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28800"/>
            <a:ext cx="1892313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6713" y="1828800"/>
            <a:ext cx="3067688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Branches and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8994" y="1828800"/>
            <a:ext cx="2871792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Use when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75378" y="1828800"/>
            <a:ext cx="2382053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The 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167128"/>
            <a:ext cx="10872216" cy="75209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892313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GitFlow (Driessen, 2010)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6713" y="2185416"/>
            <a:ext cx="3067688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main, develop, feature/*, release/*, hotfix/*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8994" y="2185416"/>
            <a:ext cx="2871792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Versioned releases; several versions supported at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5378" y="2185416"/>
            <a:ext cx="2382053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Long-lived branches, merge hell, slowest feedback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919222"/>
            <a:ext cx="10872216" cy="752094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937510"/>
            <a:ext cx="1892313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GitHub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06713" y="2937510"/>
            <a:ext cx="3067688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main + short-lived branches; PR, CI green, review, deploy on merge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8994" y="2937510"/>
            <a:ext cx="2871792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Web services, one production version, continuous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5378" y="2937510"/>
            <a:ext cx="2382053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Needs genuinely good automated tests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671316"/>
            <a:ext cx="10872216" cy="75209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3689604"/>
            <a:ext cx="1892313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GitLab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06713" y="3689604"/>
            <a:ext cx="3067688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GitHub Flow + environment branches: main → staging → production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8994" y="3689604"/>
            <a:ext cx="2871792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Regulated teams that want CD AND a promotion trail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5378" y="3689604"/>
            <a:ext cx="2382053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Environment branches can drift if misused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423410"/>
            <a:ext cx="10872216" cy="752094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41698"/>
            <a:ext cx="1892313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Trunk-based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6713" y="4441698"/>
            <a:ext cx="3067688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Commit to trunk daily; branches under 24 h; flags hide unfinished 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994" y="4441698"/>
            <a:ext cx="2871792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The highest delivery performance, with the automation to match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378" y="4441698"/>
            <a:ext cx="2382053" cy="71551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Demands strong CI, flags and discipline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340096"/>
            <a:ext cx="10872216" cy="585216"/>
          </a:xfrm>
          <a:prstGeom prst="rect">
            <a:avLst/>
          </a:prstGeom>
          <a:solidFill>
            <a:srgbClr val="FDF1E2"/>
          </a:solidFill>
          <a:ln w="9525">
            <a:solidFill>
              <a:srgbClr val="D276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5404104"/>
            <a:ext cx="1673352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D2760D"/>
                </a:solidFill>
                <a:latin typeface="Aptos"/>
              </a:rPr>
              <a:t>THE COURSE USES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79" y="5394959"/>
            <a:ext cx="8897112" cy="47548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0" i="0">
                <a:solidFill>
                  <a:srgbClr val="123A5F"/>
                </a:solidFill>
                <a:latin typeface="Aptos"/>
              </a:rPr>
              <a:t>GitHub Flow — because it is the one that fits CI/CD. Driessen himself later added a note: if you deliver continuously to a web app, use something simpler than GitFlow.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COMPARE  ·  3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Two teams, two habits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960120" cy="310896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24228"/>
            <a:ext cx="9601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COMPARE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3936" y="1815084"/>
            <a:ext cx="968349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50" b="1" i="0">
                <a:solidFill>
                  <a:srgbClr val="117A69"/>
                </a:solidFill>
                <a:latin typeface="Aptos"/>
              </a:rPr>
              <a:t>Two minutes in pairs. Be ready to defend your choice.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258568"/>
            <a:ext cx="10872216" cy="987552"/>
          </a:xfrm>
          <a:prstGeom prst="rect">
            <a:avLst/>
          </a:prstGeom>
          <a:solidFill>
            <a:srgbClr val="E6F4F1"/>
          </a:solidFill>
          <a:ln w="12700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258568"/>
            <a:ext cx="68580" cy="98755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313432"/>
            <a:ext cx="10396728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i="0">
                <a:solidFill>
                  <a:srgbClr val="123A5F"/>
                </a:solidFill>
                <a:latin typeface="Aptos"/>
              </a:rPr>
              <a:t>Team A adds its work to main twice a day. Team B works separately for three weeks, then combines everything at once. Same people, same product. Which team has the harder time — and when does the trouble start?</a:t>
            </a:r>
          </a:p>
        </p:txBody>
      </p:sp>
      <p:sp>
        <p:nvSpPr>
          <p:cNvPr id="14" name="Oval 13"/>
          <p:cNvSpPr/>
          <p:nvPr/>
        </p:nvSpPr>
        <p:spPr>
          <a:xfrm>
            <a:off x="676656" y="3502151"/>
            <a:ext cx="256032" cy="256032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3520439"/>
            <a:ext cx="256032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474720"/>
            <a:ext cx="10415016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0" i="0">
                <a:solidFill>
                  <a:srgbClr val="1F2933"/>
                </a:solidFill>
                <a:latin typeface="Aptos"/>
              </a:rPr>
              <a:t>Two minutes with your neighbour: when exactly does Team B feel the pain?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" y="4142231"/>
            <a:ext cx="256032" cy="256032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4160520"/>
            <a:ext cx="256032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114800"/>
            <a:ext cx="10415016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0" i="0">
                <a:solidFill>
                  <a:srgbClr val="1F2933"/>
                </a:solidFill>
                <a:latin typeface="Aptos"/>
              </a:rPr>
              <a:t>What would Team B need before it could safely work like Team 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559552"/>
            <a:ext cx="10872216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1" i="1">
                <a:solidFill>
                  <a:srgbClr val="117A69"/>
                </a:solidFill>
                <a:latin typeface="Aptos"/>
              </a:rPr>
              <a:t>Answers on the next slide — commit to yours first.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COMPARE  ·  THE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Two teams, two habits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694944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4864" cy="694944"/>
          </a:xfrm>
          <a:prstGeom prst="rect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415016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1">
                <a:solidFill>
                  <a:srgbClr val="5A6570"/>
                </a:solidFill>
                <a:latin typeface="Aptos"/>
              </a:rPr>
              <a:t>Team A adds its work to main twice a day. Team B works separately for three weeks, then combines everything at once. Same people, same product. Which team has the harder time — and when does the trouble start?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752344"/>
            <a:ext cx="10872216" cy="3118104"/>
          </a:xfrm>
          <a:prstGeom prst="rect">
            <a:avLst/>
          </a:prstGeom>
          <a:solidFill>
            <a:srgbClr val="12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752344"/>
            <a:ext cx="73152" cy="3118104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916936"/>
            <a:ext cx="10323576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29ABE2"/>
                </a:solidFill>
                <a:latin typeface="Aptos"/>
              </a:rPr>
              <a:t>THE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282696"/>
            <a:ext cx="9774936" cy="240487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2100" b="0" i="0">
                <a:solidFill>
                  <a:srgbClr val="FFFFFF"/>
                </a:solidFill>
                <a:latin typeface="Aptos"/>
              </a:rPr>
              <a:t>Team B feels it on the day it combines three weeks of work: lots of conflicts at once, usually just before a release. To work like Team A it needs good automatic tests and a way to hide unfinished features. Small, frequent changes are easier to combine than big, rare ones.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Merge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786384"/>
          </a:xfrm>
          <a:prstGeom prst="rect">
            <a:avLst/>
          </a:prstGeom>
          <a:solidFill>
            <a:srgbClr val="E6F4F1"/>
          </a:solidFill>
          <a:ln w="12700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8580" cy="786384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1856231"/>
            <a:ext cx="10369296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 i="0">
                <a:solidFill>
                  <a:srgbClr val="123A5F"/>
                </a:solidFill>
                <a:latin typeface="Aptos"/>
              </a:rPr>
              <a:t>Bringing the changes from one branch into another — usually your finished branch into main — so both sets of work end up together.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2880360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70632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Git does most merges on its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090672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If people changed different lines or files, there is nothing to decide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3678936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569208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On GitHub you merge with a button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889248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At the end of a reviewed pull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4477512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4367784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If two people changed the same line, Git stops and 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687824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That is a merge conflict — you will resolve one today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" y="5276088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166359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This course uses "squash and merge"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5486400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All your branch's saves go into main as ONE tidy commit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070" b="1" i="0">
                <a:solidFill>
                  <a:srgbClr val="123A5F"/>
                </a:solidFill>
                <a:latin typeface="Aptos Display"/>
              </a:rPr>
              <a:t>Merge or rebase — the same branch, two results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088440" cy="363016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088440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17404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GIT LOG --ONELINE --GRAPH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5887272" cy="299008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8FBFA8"/>
                </a:solidFill>
                <a:latin typeface="Consolas"/>
              </a:rPr>
              <a:t># before: the branch and main have diverged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* f1c7cab (HEAD -&gt; feature/PAY-142, origin/feature/PAY-142) docs: explain readiness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* f7c4490 feat: add readiness probe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| * 6fcdcba (origin/main, origin/HEAD) fix: raise settlement timeout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|/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* 039ad72 (main) feat: add PayTrack API service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8FBFA8"/>
                </a:solidFill>
                <a:latin typeface="Consolas"/>
              </a:rPr>
              <a:t># option 1:  git merge origin/main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*   a15f32e Merge remote-tracking branch 'origin/main' into feature/PAY-142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|\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| * 6fcdcba fix: raise settlement timeout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* | f1c7cab docs: explain readiness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* | f7c4490 feat: add readiness probe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|/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* 039ad72 feat: add PayTrack API service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8FBFA8"/>
                </a:solidFill>
                <a:latin typeface="Consolas"/>
              </a:rPr>
              <a:t># option 2:  git rebase origin/main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* a39d691 docs: explain readiness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* 0b25573 feat: add readiness probe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* 6fcdcba fix: raise settlement timeout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8EEF4"/>
                </a:solidFill>
                <a:latin typeface="Consolas"/>
              </a:rPr>
              <a:t>* 039ad72 feat: add PayTrack API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1128" y="1764792"/>
            <a:ext cx="4509455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021128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1128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0312" y="2075688"/>
            <a:ext cx="4161983" cy="8686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Before — main has a commit your branch doesn't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A colleague fixed the settlement timeout while you worked</a:t>
            </a:r>
          </a:p>
        </p:txBody>
      </p:sp>
      <p:sp>
        <p:nvSpPr>
          <p:cNvPr id="19" name="Oval 18"/>
          <p:cNvSpPr/>
          <p:nvPr/>
        </p:nvSpPr>
        <p:spPr>
          <a:xfrm>
            <a:off x="7021128" y="3310127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21128" y="3328415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0312" y="3264408"/>
            <a:ext cx="4161983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Option 1, merge — adds a joining commit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a15f32e ties the two lines together; your saves keep their IDs</a:t>
            </a:r>
          </a:p>
        </p:txBody>
      </p:sp>
      <p:sp>
        <p:nvSpPr>
          <p:cNvPr id="22" name="Oval 21"/>
          <p:cNvSpPr/>
          <p:nvPr/>
        </p:nvSpPr>
        <p:spPr>
          <a:xfrm>
            <a:off x="7021128" y="431596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1128" y="433425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50312" y="4270248"/>
            <a:ext cx="4161983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Option 2, rebase — moves your saves on top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Same changes, new IDs (0b25573, a39d691) — one straight line</a:t>
            </a:r>
          </a:p>
        </p:txBody>
      </p:sp>
      <p:sp>
        <p:nvSpPr>
          <p:cNvPr id="25" name="Oval 24"/>
          <p:cNvSpPr/>
          <p:nvPr/>
        </p:nvSpPr>
        <p:spPr>
          <a:xfrm>
            <a:off x="7021128" y="5321807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1128" y="53400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0312" y="5276088"/>
            <a:ext cx="4161983" cy="5212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The files end up exactly the same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Only the shape of the history is different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The golden rule of rebasing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566928"/>
          </a:xfrm>
          <a:prstGeom prst="rect">
            <a:avLst/>
          </a:prstGeom>
          <a:solidFill>
            <a:srgbClr val="E6F4F1"/>
          </a:solidFill>
          <a:ln w="12700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8580" cy="566928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1856231"/>
            <a:ext cx="10369296" cy="420623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 i="0">
                <a:solidFill>
                  <a:srgbClr val="123A5F"/>
                </a:solidFill>
                <a:latin typeface="Aptos"/>
              </a:rPr>
              <a:t>Never rebase commits that other people already have.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2660904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551176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Why — rebase replaces commits with new copies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871216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Anyone who downloaded the old ones now has a different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3532632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422904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What they 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742944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Duplicate commits and confusing conflicts the next time they pull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4404360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4294632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Safe — your own branch that nobody else uses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614672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Even if you have already pushed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" y="5276088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166359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Protection — GitHub can block force-pushes to 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5486400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You switch this on in Lab 03, so the mistake becomes impossible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When a rebase stops for a conflict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523329" cy="3790187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523329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608929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322161" cy="315010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rebase origin/main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Rebasing (1/4)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CONFLICT (content): Merge conflict in app/src/config.py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error: could not apply d92986f... feat: raise settlement timeout to 60s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status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interactive rebase in progress; onto 02cf66b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  (fix conflicts and then run "git rebase --continue")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  (use "git rebase --skip" to skip this patch)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  (use "git rebase --abort" to check out the original branch)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cat app/src/config.py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&lt;&lt;&lt;&lt;&lt;&lt;&lt; HEAD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TIMEOUT = 45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=======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TIMEOUT = 60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&gt;&gt;&gt;&gt;&gt;&gt;&gt; d92986f (feat: raise settlement timeout to 60s)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nano app/src/config.py     </a:t>
            </a:r>
            <a:r>
              <a:rPr sz="1050" b="0">
                <a:solidFill>
                  <a:srgbClr val="8FBFA8"/>
                </a:solidFill>
                <a:latin typeface="Consolas"/>
              </a:rPr>
              <a:t>  # make it correct, delete the markers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add app/src/config.py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rebase --continue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Successfully rebased and updated refs/heads/feature/PAY-150-raise-timeout.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6017" y="1764792"/>
            <a:ext cx="407456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456017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6017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5201" y="2075688"/>
            <a:ext cx="3727094" cy="64483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70" b="1">
                <a:solidFill>
                  <a:srgbClr val="123A5F"/>
                </a:solidFill>
                <a:latin typeface="Aptos"/>
              </a:rPr>
              <a:t>Conflicts arrive one commit at a time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10" b="0">
                <a:solidFill>
                  <a:srgbClr val="5A6570"/>
                </a:solidFill>
                <a:latin typeface="Aptos"/>
              </a:rPr>
              <a:t>"Rebasing (1/4)": you may resolve the same area more than once</a:t>
            </a:r>
          </a:p>
        </p:txBody>
      </p:sp>
      <p:sp>
        <p:nvSpPr>
          <p:cNvPr id="19" name="Oval 18"/>
          <p:cNvSpPr/>
          <p:nvPr/>
        </p:nvSpPr>
        <p:spPr>
          <a:xfrm>
            <a:off x="7456017" y="2972202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6017" y="2990490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5201" y="2926482"/>
            <a:ext cx="3727094" cy="64483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70" b="1">
                <a:solidFill>
                  <a:srgbClr val="123A5F"/>
                </a:solidFill>
                <a:latin typeface="Aptos"/>
              </a:rPr>
              <a:t>HEAD is the OTHER side during a rebase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10" b="0">
                <a:solidFill>
                  <a:srgbClr val="5A6570"/>
                </a:solidFill>
                <a:latin typeface="Aptos"/>
              </a:rPr>
              <a:t>HEAD = main plus what has been replayed so far; the lower half is YOUR commit</a:t>
            </a:r>
          </a:p>
        </p:txBody>
      </p:sp>
      <p:sp>
        <p:nvSpPr>
          <p:cNvPr id="22" name="Oval 21"/>
          <p:cNvSpPr/>
          <p:nvPr/>
        </p:nvSpPr>
        <p:spPr>
          <a:xfrm>
            <a:off x="7456017" y="382299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6017" y="384128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5201" y="3777276"/>
            <a:ext cx="3727094" cy="490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70" b="1">
                <a:solidFill>
                  <a:srgbClr val="123A5F"/>
                </a:solidFill>
                <a:latin typeface="Aptos"/>
              </a:rPr>
              <a:t>git add marks it resolved, then --continue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10" b="0">
                <a:solidFill>
                  <a:srgbClr val="5A6570"/>
                </a:solidFill>
                <a:latin typeface="Aptos"/>
              </a:rPr>
              <a:t>Do not run git commit in the middle of a rebase</a:t>
            </a:r>
          </a:p>
        </p:txBody>
      </p:sp>
      <p:sp>
        <p:nvSpPr>
          <p:cNvPr id="25" name="Oval 24"/>
          <p:cNvSpPr/>
          <p:nvPr/>
        </p:nvSpPr>
        <p:spPr>
          <a:xfrm>
            <a:off x="7456017" y="4519732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6017" y="4538020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85201" y="4474012"/>
            <a:ext cx="3727094" cy="490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70" b="1">
                <a:solidFill>
                  <a:srgbClr val="123A5F"/>
                </a:solidFill>
                <a:latin typeface="Aptos"/>
              </a:rPr>
              <a:t>--skip drops this one commit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10" b="0">
                <a:solidFill>
                  <a:srgbClr val="5A6570"/>
                </a:solidFill>
                <a:latin typeface="Aptos"/>
              </a:rPr>
              <a:t>Only when main already contains the same change</a:t>
            </a:r>
          </a:p>
        </p:txBody>
      </p:sp>
      <p:sp>
        <p:nvSpPr>
          <p:cNvPr id="28" name="Oval 27"/>
          <p:cNvSpPr/>
          <p:nvPr/>
        </p:nvSpPr>
        <p:spPr>
          <a:xfrm>
            <a:off x="7456017" y="5216469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6017" y="5234757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5201" y="5170749"/>
            <a:ext cx="3727094" cy="64483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70" b="1">
                <a:solidFill>
                  <a:srgbClr val="123A5F"/>
                </a:solidFill>
                <a:latin typeface="Aptos"/>
              </a:rPr>
              <a:t>--abort puts everything back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10" b="0">
                <a:solidFill>
                  <a:srgbClr val="5A6570"/>
                </a:solidFill>
                <a:latin typeface="Aptos"/>
              </a:rPr>
              <a:t>The branch returns exactly to where it was before the rebase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1900" b="1" i="0">
                <a:solidFill>
                  <a:srgbClr val="123A5F"/>
                </a:solidFill>
                <a:latin typeface="Aptos Display"/>
              </a:rPr>
              <a:t>Interactive rebase — tidy the branch before review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523329" cy="395020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523329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608929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322161" cy="331012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log --oneline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eb5906b fix typo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0f428b6 wip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15d34da feat: add readiness probe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080168c feat: raise settlement timeout to 60s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rebase -i main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8FBFA8"/>
                </a:solidFill>
                <a:latin typeface="Consolas"/>
              </a:rPr>
              <a:t># the editor opens with the plan, OLDEST first: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pick 080168c feat: raise settlement timeout to 60s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pick 15d34da feat: add readiness probe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pick 0f428b6 wip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pick eb5906b fix typo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8FBFA8"/>
                </a:solidFill>
                <a:latin typeface="Consolas"/>
              </a:rPr>
              <a:t># you edit it, save and close: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pick  080168c feat: raise settlement timeout to 60s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fixup 0f428b6 wip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fixup eb5906b fix typo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pick  15d34da feat: add readiness probe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Successfully rebased and updated refs/heads/feature/PAY-150-raise-timeout.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7CC8EE"/>
                </a:solidFill>
                <a:latin typeface="Consolas"/>
              </a:rPr>
              <a:t>$ </a:t>
            </a:r>
            <a:r>
              <a:rPr sz="1050" b="0">
                <a:solidFill>
                  <a:srgbClr val="E8EEF4"/>
                </a:solidFill>
                <a:latin typeface="Consolas"/>
              </a:rPr>
              <a:t>git log --oneline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3dafa34 feat: add readiness probe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Consolas"/>
              </a:rPr>
              <a:t>51d5488 feat: raise settlement timeout to 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6017" y="1764792"/>
            <a:ext cx="407456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456017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6017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5201" y="2075688"/>
            <a:ext cx="3727094" cy="47556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30" b="1">
                <a:solidFill>
                  <a:srgbClr val="123A5F"/>
                </a:solidFill>
                <a:latin typeface="Aptos"/>
              </a:rPr>
              <a:t>-i turns the replay into a plan you can edit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70" b="0">
                <a:solidFill>
                  <a:srgbClr val="5A6570"/>
                </a:solidFill>
                <a:latin typeface="Aptos"/>
              </a:rPr>
              <a:t>The list is oldest-first — the reverse of git log</a:t>
            </a:r>
          </a:p>
        </p:txBody>
      </p:sp>
      <p:sp>
        <p:nvSpPr>
          <p:cNvPr id="19" name="Oval 18"/>
          <p:cNvSpPr/>
          <p:nvPr/>
        </p:nvSpPr>
        <p:spPr>
          <a:xfrm>
            <a:off x="7456017" y="2788700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6017" y="2806988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5201" y="2742980"/>
            <a:ext cx="3727094" cy="6243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30" b="1">
                <a:solidFill>
                  <a:srgbClr val="123A5F"/>
                </a:solidFill>
                <a:latin typeface="Aptos"/>
              </a:rPr>
              <a:t>pick keeps · reword renames · drop deletes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70" b="0">
                <a:solidFill>
                  <a:srgbClr val="5A6570"/>
                </a:solidFill>
                <a:latin typeface="Aptos"/>
              </a:rPr>
              <a:t>squash melds into the line above and combines the messages</a:t>
            </a:r>
          </a:p>
        </p:txBody>
      </p:sp>
      <p:sp>
        <p:nvSpPr>
          <p:cNvPr id="22" name="Oval 21"/>
          <p:cNvSpPr/>
          <p:nvPr/>
        </p:nvSpPr>
        <p:spPr>
          <a:xfrm>
            <a:off x="7456017" y="3604784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6017" y="3623072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5201" y="3559064"/>
            <a:ext cx="3727094" cy="6243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30" b="1">
                <a:solidFill>
                  <a:srgbClr val="123A5F"/>
                </a:solidFill>
                <a:latin typeface="Aptos"/>
              </a:rPr>
              <a:t>fixup melds in and discards the message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70" b="0">
                <a:solidFill>
                  <a:srgbClr val="5A6570"/>
                </a:solidFill>
                <a:latin typeface="Aptos"/>
              </a:rPr>
              <a:t>Here "wip" and "fix typo" join the commit they belong to</a:t>
            </a:r>
          </a:p>
        </p:txBody>
      </p:sp>
      <p:sp>
        <p:nvSpPr>
          <p:cNvPr id="25" name="Oval 24"/>
          <p:cNvSpPr/>
          <p:nvPr/>
        </p:nvSpPr>
        <p:spPr>
          <a:xfrm>
            <a:off x="7456017" y="4420867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6017" y="4439155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85201" y="4375147"/>
            <a:ext cx="3727094" cy="6243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30" b="1">
                <a:solidFill>
                  <a:srgbClr val="123A5F"/>
                </a:solidFill>
                <a:latin typeface="Aptos"/>
              </a:rPr>
              <a:t>Move a line to reorder commits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70" b="0">
                <a:solidFill>
                  <a:srgbClr val="5A6570"/>
                </a:solidFill>
                <a:latin typeface="Aptos"/>
              </a:rPr>
              <a:t>Four noisy commits become two that each tell one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7456017" y="5236951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6017" y="5255239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5201" y="5191231"/>
            <a:ext cx="3727094" cy="6243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130" b="1">
                <a:solidFill>
                  <a:srgbClr val="123A5F"/>
                </a:solidFill>
                <a:latin typeface="Aptos"/>
              </a:rPr>
              <a:t>Shortcut: git commit --fixup &lt;sha&gt;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970" b="0">
                <a:solidFill>
                  <a:srgbClr val="5A6570"/>
                </a:solidFill>
                <a:latin typeface="Aptos"/>
              </a:rPr>
              <a:t>Later, git rebase -i --autosquash main lines the fixups up for you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380" b="1" i="0">
                <a:solidFill>
                  <a:srgbClr val="123A5F"/>
                </a:solidFill>
                <a:latin typeface="Aptos Display"/>
              </a:rPr>
              <a:t>Undo a rebase — ORIG_HEAD and the reflog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740773" cy="242620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740773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826373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BASH  · 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539605" cy="1786127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rebase origin/main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Successfully rebased and updated refs/heads/feature/PAY-142.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reflog -5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a39d691 HEAD@{0}: rebase (finish): returning to refs/heads/feature/PAY-142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a39d691 HEAD@{1}: rebase (pick): docs: explain readiness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0b25573 HEAD@{2}: rebase (pick): feat: add readiness probe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6fcdcba HEAD@{3}: rebase (start): checkout origin/main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f1c7cab HEAD@{4}: commit: docs: explain readiness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7CC8EE"/>
                </a:solidFill>
                <a:latin typeface="Consolas"/>
              </a:rPr>
              <a:t>$ </a:t>
            </a:r>
            <a:r>
              <a:rPr sz="1100" b="0">
                <a:solidFill>
                  <a:srgbClr val="E8EEF4"/>
                </a:solidFill>
                <a:latin typeface="Consolas"/>
              </a:rPr>
              <a:t>git reset --hard ORIG_HEAD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Consolas"/>
              </a:rPr>
              <a:t>HEAD is now at f1c7cab docs: explain readiness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73461" y="1764792"/>
            <a:ext cx="3857122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673461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3461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2645" y="2075688"/>
            <a:ext cx="3509650" cy="842345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ORIG_HEAD = where the branch was before the rebase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git reset --hard ORIG_HEAD undoes the whole rebase in one step</a:t>
            </a:r>
          </a:p>
        </p:txBody>
      </p:sp>
      <p:sp>
        <p:nvSpPr>
          <p:cNvPr id="19" name="Oval 18"/>
          <p:cNvSpPr/>
          <p:nvPr/>
        </p:nvSpPr>
        <p:spPr>
          <a:xfrm>
            <a:off x="7673461" y="310248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73461" y="312077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2645" y="3056766"/>
            <a:ext cx="3509650" cy="665317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The reflog records every move of HEAD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The line just below "rebase (start)" is your old branch tip</a:t>
            </a:r>
          </a:p>
        </p:txBody>
      </p:sp>
      <p:sp>
        <p:nvSpPr>
          <p:cNvPr id="22" name="Oval 21"/>
          <p:cNvSpPr/>
          <p:nvPr/>
        </p:nvSpPr>
        <p:spPr>
          <a:xfrm>
            <a:off x="7673461" y="390653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73461" y="392482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2645" y="3860816"/>
            <a:ext cx="3509650" cy="5059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git reset --hard HEAD@{4} does the same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Use the reflog once ORIG_HEAD has moved on</a:t>
            </a:r>
          </a:p>
        </p:txBody>
      </p:sp>
      <p:sp>
        <p:nvSpPr>
          <p:cNvPr id="25" name="Oval 24"/>
          <p:cNvSpPr/>
          <p:nvPr/>
        </p:nvSpPr>
        <p:spPr>
          <a:xfrm>
            <a:off x="7673461" y="4551261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3461" y="4569549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2645" y="4505541"/>
            <a:ext cx="3509650" cy="5059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--hard discards uncommitted edits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Commit or stash first</a:t>
            </a:r>
          </a:p>
        </p:txBody>
      </p:sp>
      <p:sp>
        <p:nvSpPr>
          <p:cNvPr id="28" name="Oval 27"/>
          <p:cNvSpPr/>
          <p:nvPr/>
        </p:nvSpPr>
        <p:spPr>
          <a:xfrm>
            <a:off x="7673461" y="519598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3461" y="521427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2645" y="5150266"/>
            <a:ext cx="3509650" cy="665317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10" b="1">
                <a:solidFill>
                  <a:srgbClr val="123A5F"/>
                </a:solidFill>
                <a:latin typeface="Aptos"/>
              </a:rPr>
              <a:t>Local only, and not for ever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50" b="0">
                <a:solidFill>
                  <a:srgbClr val="5A6570"/>
                </a:solidFill>
                <a:latin typeface="Aptos"/>
              </a:rPr>
              <a:t>The reflog lives in your clone and expires after about 90 days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PREDICT  ·  3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320" b="1" i="0">
                <a:solidFill>
                  <a:srgbClr val="123A5F"/>
                </a:solidFill>
                <a:latin typeface="Aptos Display"/>
              </a:rPr>
              <a:t>A colleague rebased and force-pushed main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960120" cy="310896"/>
          </a:xfrm>
          <a:prstGeom prst="rect">
            <a:avLst/>
          </a:prstGeom>
          <a:solidFill>
            <a:srgbClr val="12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24228"/>
            <a:ext cx="9601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3936" y="1815084"/>
            <a:ext cx="968349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50" b="1" i="0">
                <a:solidFill>
                  <a:srgbClr val="123A5F"/>
                </a:solidFill>
                <a:latin typeface="Aptos"/>
              </a:rPr>
              <a:t>Write your answer down BEFORE the reveal.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258568"/>
            <a:ext cx="10872216" cy="987552"/>
          </a:xfrm>
          <a:prstGeom prst="rect">
            <a:avLst/>
          </a:prstGeom>
          <a:solidFill>
            <a:srgbClr val="ECF1F6"/>
          </a:solidFill>
          <a:ln w="12700">
            <a:solidFill>
              <a:srgbClr val="12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258568"/>
            <a:ext cx="68580" cy="987552"/>
          </a:xfrm>
          <a:prstGeom prst="rect">
            <a:avLst/>
          </a:prstGeom>
          <a:solidFill>
            <a:srgbClr val="12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313432"/>
            <a:ext cx="10396728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i="0">
                <a:solidFill>
                  <a:srgbClr val="123A5F"/>
                </a:solidFill>
                <a:latin typeface="Aptos"/>
              </a:rPr>
              <a:t>At 11:00 a colleague rebased main to "tidy the history" and force-pushed it. Six people had already pulled main that morning and have work in progress on top of it. What happens next for them — and what do you do?</a:t>
            </a:r>
          </a:p>
        </p:txBody>
      </p:sp>
      <p:sp>
        <p:nvSpPr>
          <p:cNvPr id="14" name="Oval 13"/>
          <p:cNvSpPr/>
          <p:nvPr/>
        </p:nvSpPr>
        <p:spPr>
          <a:xfrm>
            <a:off x="676656" y="3502151"/>
            <a:ext cx="256032" cy="256032"/>
          </a:xfrm>
          <a:prstGeom prst="ellipse">
            <a:avLst/>
          </a:prstGeom>
          <a:solidFill>
            <a:srgbClr val="12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3520439"/>
            <a:ext cx="256032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474720"/>
            <a:ext cx="10415016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0" i="0">
                <a:solidFill>
                  <a:srgbClr val="1F2933"/>
                </a:solidFill>
                <a:latin typeface="Aptos"/>
              </a:rPr>
              <a:t>Predict what each of the six sees on their next git pull.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" y="4142231"/>
            <a:ext cx="256032" cy="256032"/>
          </a:xfrm>
          <a:prstGeom prst="ellipse">
            <a:avLst/>
          </a:prstGeom>
          <a:solidFill>
            <a:srgbClr val="12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4160520"/>
            <a:ext cx="256032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114800"/>
            <a:ext cx="10415016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0" i="0">
                <a:solidFill>
                  <a:srgbClr val="1F2933"/>
                </a:solidFill>
                <a:latin typeface="Aptos"/>
              </a:rPr>
              <a:t>Then: how do you get main back, and what stops it happening again?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559552"/>
            <a:ext cx="10872216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1" i="1">
                <a:solidFill>
                  <a:srgbClr val="123A5F"/>
                </a:solidFill>
                <a:latin typeface="Aptos"/>
              </a:rPr>
              <a:t>Answers on the next slide — commit to yours first.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PREDICT  ·  THE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320" b="1" i="0">
                <a:solidFill>
                  <a:srgbClr val="123A5F"/>
                </a:solidFill>
                <a:latin typeface="Aptos Display"/>
              </a:rPr>
              <a:t>A colleague rebased and force-pushed main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694944"/>
          </a:xfrm>
          <a:prstGeom prst="rect">
            <a:avLst/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4864" cy="694944"/>
          </a:xfrm>
          <a:prstGeom prst="rect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415016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1">
                <a:solidFill>
                  <a:srgbClr val="5A6570"/>
                </a:solidFill>
                <a:latin typeface="Aptos"/>
              </a:rPr>
              <a:t>At 11:00 a colleague rebased main to "tidy the history" and force-pushed it. Six people had already pulled main that morning and have work in progress on top of it. What happens next for them — and what do you do?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752344"/>
            <a:ext cx="10872216" cy="3118104"/>
          </a:xfrm>
          <a:prstGeom prst="rect">
            <a:avLst/>
          </a:prstGeom>
          <a:solidFill>
            <a:srgbClr val="12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752344"/>
            <a:ext cx="73152" cy="3118104"/>
          </a:xfrm>
          <a:prstGeom prst="rect">
            <a:avLst/>
          </a:prstGeom>
          <a:solidFill>
            <a:srgbClr val="12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916936"/>
            <a:ext cx="10323576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29ABE2"/>
                </a:solidFill>
                <a:latin typeface="Aptos"/>
              </a:rPr>
              <a:t>THE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282696"/>
            <a:ext cx="9774936" cy="240487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2100" b="0" i="0">
                <a:solidFill>
                  <a:srgbClr val="FFFFFF"/>
                </a:solidFill>
                <a:latin typeface="Aptos"/>
              </a:rPr>
              <a:t>Their next pull tries to combine the old commits with the rewritten ones: duplicated commits and conflicts on code nobody changed. Recover by finding the pre-rebase tip in any clone's reflog and restoring it with --force-with-lease. Prevent it with branch protection that blocks force-push — then it cannot recur.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LAB 03A  ·  GOING FURTHER  ·  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120" b="1" i="0">
                <a:solidFill>
                  <a:srgbClr val="123A5F"/>
                </a:solidFill>
                <a:latin typeface="Aptos Display"/>
              </a:rPr>
              <a:t>Git, Going Further — on a practice repository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658368"/>
          </a:xfrm>
          <a:prstGeom prst="rect">
            <a:avLst/>
          </a:prstGeom>
          <a:solidFill>
            <a:srgbClr val="EDF4EA"/>
          </a:solidFill>
          <a:ln w="12700">
            <a:solidFill>
              <a:srgbClr val="3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837943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3E7D32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057400"/>
            <a:ext cx="10506456" cy="34747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20" b="0" i="0">
                <a:solidFill>
                  <a:srgbClr val="123A5F"/>
                </a:solidFill>
                <a:latin typeface="Aptos"/>
              </a:rPr>
              <a:t>Run every command from sections B and C on a copy of PayTrack API built to be broken — no GitHub, no Docker, no network.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60904"/>
            <a:ext cx="10872216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50" b="1" i="0">
                <a:solidFill>
                  <a:srgbClr val="117A69"/>
                </a:solidFill>
                <a:latin typeface="Aptos"/>
              </a:rPr>
              <a:t>YOU WILL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" y="298551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00380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" y="295808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Read the history: log, show, blame, and the pickaxe (log -S)</a:t>
            </a:r>
          </a:p>
        </p:txBody>
      </p:sp>
      <p:sp>
        <p:nvSpPr>
          <p:cNvPr id="15" name="Oval 14"/>
          <p:cNvSpPr/>
          <p:nvPr/>
        </p:nvSpPr>
        <p:spPr>
          <a:xfrm>
            <a:off x="676656" y="335127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336956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332384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Stash an interruption, commit part of a file with add -p, then amend</a:t>
            </a:r>
          </a:p>
        </p:txBody>
      </p:sp>
      <p:sp>
        <p:nvSpPr>
          <p:cNvPr id="18" name="Oval 17"/>
          <p:cNvSpPr/>
          <p:nvPr/>
        </p:nvSpPr>
        <p:spPr>
          <a:xfrm>
            <a:off x="676656" y="3717035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73532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5" y="368960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Reset three ways — then rescue the "deleted" commit from the reflog</a:t>
            </a:r>
          </a:p>
        </p:txBody>
      </p:sp>
      <p:sp>
        <p:nvSpPr>
          <p:cNvPr id="21" name="Oval 20"/>
          <p:cNvSpPr/>
          <p:nvPr/>
        </p:nvSpPr>
        <p:spPr>
          <a:xfrm>
            <a:off x="676656" y="408279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10108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405536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Let git bisect find a hidden bug in three steps, then revert it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" y="444855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" y="446684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5" y="442112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Tag a release and cherry-pick a hot-fix onto release/1.0</a:t>
            </a:r>
          </a:p>
        </p:txBody>
      </p:sp>
      <p:sp>
        <p:nvSpPr>
          <p:cNvPr id="27" name="Oval 26"/>
          <p:cNvSpPr/>
          <p:nvPr/>
        </p:nvSpPr>
        <p:spPr>
          <a:xfrm>
            <a:off x="676656" y="481431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" y="483260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5" y="478688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Merge vs rebase, a rebase conflict, autosquash, undo — and a lease that saves a colleague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394960"/>
            <a:ext cx="10872216" cy="475488"/>
          </a:xfrm>
          <a:prstGeom prst="rect">
            <a:avLst/>
          </a:prstGeom>
          <a:solidFill>
            <a:srgbClr val="ECF1F6"/>
          </a:solidFill>
          <a:ln w="9525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5440680"/>
            <a:ext cx="105156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117A69"/>
                </a:solidFill>
                <a:latin typeface="Aptos"/>
              </a:rPr>
              <a:t>OUTCOME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92808" y="5431536"/>
            <a:ext cx="9454896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00" b="0" i="0">
                <a:solidFill>
                  <a:srgbClr val="123A5F"/>
                </a:solidFill>
                <a:latin typeface="Aptos"/>
              </a:rPr>
              <a:t>You have watched every advanced Git command work, and fail, where a mistake costs nothing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B7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pic>
        <p:nvPicPr>
          <p:cNvPr id="5" name="Picture 4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566928"/>
            <a:ext cx="2843784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331720"/>
            <a:ext cx="164592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6800" b="1" i="0">
                <a:solidFill>
                  <a:srgbClr val="B9CBDA"/>
                </a:solidFill>
                <a:latin typeface="Aptos Display"/>
              </a:rPr>
              <a:t>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395728"/>
            <a:ext cx="822960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3200" b="1" i="0">
                <a:solidFill>
                  <a:srgbClr val="123A5F"/>
                </a:solidFill>
                <a:latin typeface="Aptos Display"/>
              </a:rPr>
              <a:t>More on Pull Requests, CI and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7712" y="3273552"/>
            <a:ext cx="8229600" cy="38404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5A6570"/>
                </a:solidFill>
                <a:latin typeface="Aptos"/>
              </a:rPr>
              <a:t>Reviews, CODEOWNERS, testing, Jenkins and security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267712" y="3927348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3817620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Good reviews · CODEOWNERS · the bank angle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4256532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3744" y="4146804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Kinds of tests · build automation · version numbers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67712" y="4585716"/>
            <a:ext cx="109728" cy="109728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447598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GitHub Actions in depth · Jenkins · securing the pipeline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070" b="1" i="0">
                <a:solidFill>
                  <a:srgbClr val="123A5F"/>
                </a:solidFill>
                <a:latin typeface="Aptos Display"/>
              </a:rPr>
              <a:t>Good reviews — and reviews that only look good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384048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28800"/>
            <a:ext cx="5706404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804" y="1828800"/>
            <a:ext cx="4836627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Don't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72216" cy="52806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85416"/>
            <a:ext cx="5706404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Keep pull requests small — under about 400 changed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804" y="2185416"/>
            <a:ext cx="4836627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Send a huge change nobody can really read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695194"/>
            <a:ext cx="10872216" cy="528066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713482"/>
            <a:ext cx="5706404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Review within a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804" y="2713482"/>
            <a:ext cx="4836627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Leave a colleague waiting for a 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223260"/>
            <a:ext cx="10872216" cy="73609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241548"/>
            <a:ext cx="5706404" cy="69951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Let tools check the formatting, so people check the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804" y="3241548"/>
            <a:ext cx="4836627" cy="69951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Argue about spaces and brackets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959352"/>
            <a:ext cx="10872216" cy="528066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977639"/>
            <a:ext cx="5706404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Ask questions: "What happens if the amount is zero?"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804" y="3977639"/>
            <a:ext cx="4836627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Write "this is wrong."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487418"/>
            <a:ext cx="10872216" cy="52806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505705"/>
            <a:ext cx="5706404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Actually read the change before approving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804" y="4505705"/>
            <a:ext cx="4836627" cy="49149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Click Approve thirty seconds after it opens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070" b="1" i="0">
                <a:solidFill>
                  <a:srgbClr val="123A5F"/>
                </a:solidFill>
                <a:latin typeface="Aptos Display"/>
              </a:rPr>
              <a:t>CODEOWNERS — the right reviewer, automatically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088440" cy="360730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088440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17404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.GITHUB/CODEOWNERS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5887272" cy="296722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8FBFA8"/>
                </a:solidFill>
                <a:latin typeface="Consolas"/>
              </a:rPr>
              <a:t># The LAST matching rule wins, so order matters.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8FBFA8"/>
                </a:solidFill>
                <a:latin typeface="Consolas"/>
              </a:rPr>
              <a:t># Default owners for everything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*                     @paytrack/developers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8FBFA8"/>
                </a:solidFill>
                <a:latin typeface="Consolas"/>
              </a:rPr>
              <a:t># The application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/app/                 @paytrack/developers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8FBFA8"/>
                </a:solidFill>
                <a:latin typeface="Consolas"/>
              </a:rPr>
              <a:t># Anything that changes how code reaches production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/.github/workflows/   @paytrack/platform @paytrack/security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/k8s/                 @paytrack/platform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/terraform/           @paytrack/platform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8FBFA8"/>
                </a:solidFill>
                <a:latin typeface="Consolas"/>
              </a:rPr>
              <a:t># Protect the protection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8EEF4"/>
                </a:solidFill>
                <a:latin typeface="Consolas"/>
              </a:rPr>
              <a:t>/.github/CODEOWNERS   @paytrack/platform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1128" y="1764792"/>
            <a:ext cx="4509455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021128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1128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0312" y="2075688"/>
            <a:ext cx="4161983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A simple list: which files → which people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GitHub asks those people to review any change to those files</a:t>
            </a:r>
          </a:p>
        </p:txBody>
      </p:sp>
      <p:sp>
        <p:nvSpPr>
          <p:cNvPr id="19" name="Oval 18"/>
          <p:cNvSpPr/>
          <p:nvPr/>
        </p:nvSpPr>
        <p:spPr>
          <a:xfrm>
            <a:off x="7021128" y="3127247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21128" y="3145535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0312" y="3081527"/>
            <a:ext cx="4161983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The last matching line wins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Put the general rule first and the specific ones after it</a:t>
            </a:r>
          </a:p>
        </p:txBody>
      </p:sp>
      <p:sp>
        <p:nvSpPr>
          <p:cNvPr id="22" name="Oval 21"/>
          <p:cNvSpPr/>
          <p:nvPr/>
        </p:nvSpPr>
        <p:spPr>
          <a:xfrm>
            <a:off x="7021128" y="4133087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1128" y="415137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50312" y="4087368"/>
            <a:ext cx="4161983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Protect the pipeline files most carefully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They control how every change is tested and released</a:t>
            </a:r>
          </a:p>
        </p:txBody>
      </p:sp>
      <p:sp>
        <p:nvSpPr>
          <p:cNvPr id="25" name="Oval 24"/>
          <p:cNvSpPr/>
          <p:nvPr/>
        </p:nvSpPr>
        <p:spPr>
          <a:xfrm>
            <a:off x="7021128" y="5138927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1128" y="515721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0312" y="5093207"/>
            <a:ext cx="4161983" cy="7040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Switch it on in the branch protection settings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Tick "Require review from Code Owners"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IN A REGULATED BANK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440" b="1" i="0">
                <a:solidFill>
                  <a:srgbClr val="123A5F"/>
                </a:solidFill>
                <a:latin typeface="Aptos Display"/>
              </a:rPr>
              <a:t>The pull request IS your change control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676656"/>
          </a:xfrm>
          <a:prstGeom prst="rect">
            <a:avLst/>
          </a:prstGeom>
          <a:solidFill>
            <a:srgbClr val="FDF1E2"/>
          </a:solidFill>
          <a:ln w="12700">
            <a:solidFill>
              <a:srgbClr val="D276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8580" cy="676656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837943"/>
            <a:ext cx="10415016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A regulator does not require a meeting. It requires a check that works, happens every time and leaves evidence. A protected pull request does all three.</a:t>
            </a:r>
          </a:p>
        </p:txBody>
      </p:sp>
      <p:sp>
        <p:nvSpPr>
          <p:cNvPr id="11" name="Diamond 10"/>
          <p:cNvSpPr/>
          <p:nvPr/>
        </p:nvSpPr>
        <p:spPr>
          <a:xfrm>
            <a:off x="676656" y="2756915"/>
            <a:ext cx="128016" cy="128016"/>
          </a:xfrm>
          <a:prstGeom prst="diamond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42615"/>
            <a:ext cx="10543032" cy="21523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19" b="1" i="0">
                <a:solidFill>
                  <a:srgbClr val="123A5F"/>
                </a:solidFill>
                <a:latin typeface="Aptos"/>
              </a:rPr>
              <a:t>"Prove the author did not approve their own change"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903571"/>
            <a:ext cx="10543032" cy="186537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850" b="0" i="0">
                <a:solidFill>
                  <a:srgbClr val="5A6570"/>
                </a:solidFill>
                <a:latin typeface="Aptos"/>
              </a:rPr>
              <a:t>The protection settings plus the pull request record — for every change, in seconds</a:t>
            </a:r>
          </a:p>
        </p:txBody>
      </p:sp>
      <p:sp>
        <p:nvSpPr>
          <p:cNvPr id="14" name="Diamond 13"/>
          <p:cNvSpPr/>
          <p:nvPr/>
        </p:nvSpPr>
        <p:spPr>
          <a:xfrm>
            <a:off x="676656" y="3328556"/>
            <a:ext cx="128016" cy="128016"/>
          </a:xfrm>
          <a:prstGeom prst="diamond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3214256"/>
            <a:ext cx="10543032" cy="21523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19" b="1" i="0">
                <a:solidFill>
                  <a:srgbClr val="123A5F"/>
                </a:solidFill>
                <a:latin typeface="Aptos"/>
              </a:rPr>
              <a:t>"Prove it was tested"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475212"/>
            <a:ext cx="10543032" cy="186537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850" b="0" i="0">
                <a:solidFill>
                  <a:srgbClr val="5A6570"/>
                </a:solidFill>
                <a:latin typeface="Aptos"/>
              </a:rPr>
              <a:t>The test results are attached to the pull request</a:t>
            </a:r>
          </a:p>
        </p:txBody>
      </p:sp>
      <p:sp>
        <p:nvSpPr>
          <p:cNvPr id="17" name="Diamond 16"/>
          <p:cNvSpPr/>
          <p:nvPr/>
        </p:nvSpPr>
        <p:spPr>
          <a:xfrm>
            <a:off x="676656" y="3900197"/>
            <a:ext cx="128016" cy="128016"/>
          </a:xfrm>
          <a:prstGeom prst="diamond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3785897"/>
            <a:ext cx="10543032" cy="21523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19" b="1" i="0">
                <a:solidFill>
                  <a:srgbClr val="123A5F"/>
                </a:solidFill>
                <a:latin typeface="Aptos"/>
              </a:rPr>
              <a:t>"Prove what went live"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046853"/>
            <a:ext cx="10543032" cy="186537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850" b="0" i="0">
                <a:solidFill>
                  <a:srgbClr val="5A6570"/>
                </a:solidFill>
                <a:latin typeface="Aptos"/>
              </a:rPr>
              <a:t>Each release links back to the exact change that was approved</a:t>
            </a:r>
          </a:p>
        </p:txBody>
      </p:sp>
      <p:sp>
        <p:nvSpPr>
          <p:cNvPr id="20" name="Diamond 19"/>
          <p:cNvSpPr/>
          <p:nvPr/>
        </p:nvSpPr>
        <p:spPr>
          <a:xfrm>
            <a:off x="676656" y="4471838"/>
            <a:ext cx="128016" cy="128016"/>
          </a:xfrm>
          <a:prstGeom prst="diamond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4357538"/>
            <a:ext cx="10543032" cy="21523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19" b="1" i="0">
                <a:solidFill>
                  <a:srgbClr val="123A5F"/>
                </a:solidFill>
                <a:latin typeface="Aptos"/>
              </a:rPr>
              <a:t>Ask for "standard change"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618493"/>
            <a:ext cx="10543032" cy="186537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850" b="0" i="0">
                <a:solidFill>
                  <a:srgbClr val="5A6570"/>
                </a:solidFill>
                <a:latin typeface="Aptos"/>
              </a:rPr>
              <a:t>Change-management rules already allow automated, repeatable changes without a meeting</a:t>
            </a:r>
          </a:p>
        </p:txBody>
      </p:sp>
      <p:sp>
        <p:nvSpPr>
          <p:cNvPr id="23" name="Diamond 22"/>
          <p:cNvSpPr/>
          <p:nvPr/>
        </p:nvSpPr>
        <p:spPr>
          <a:xfrm>
            <a:off x="676656" y="5043478"/>
            <a:ext cx="128016" cy="128016"/>
          </a:xfrm>
          <a:prstGeom prst="diamond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4929178"/>
            <a:ext cx="10543032" cy="21523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19" b="1" i="0">
                <a:solidFill>
                  <a:srgbClr val="123A5F"/>
                </a:solidFill>
                <a:latin typeface="Aptos"/>
              </a:rPr>
              <a:t>Keep the records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5190134"/>
            <a:ext cx="10543032" cy="186537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850" b="0" i="0">
                <a:solidFill>
                  <a:srgbClr val="5A6570"/>
                </a:solidFill>
                <a:latin typeface="Aptos"/>
              </a:rPr>
              <a:t>The pipeline's logs are audit evidence — keep them as long as your rules require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596128"/>
            <a:ext cx="1087221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50" b="1" i="1">
                <a:solidFill>
                  <a:srgbClr val="D2760D"/>
                </a:solidFill>
                <a:latin typeface="Aptos"/>
              </a:rPr>
              <a:t>Appendix A §A.3–A.5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440" b="1" i="0">
                <a:solidFill>
                  <a:srgbClr val="123A5F"/>
                </a:solidFill>
                <a:latin typeface="Aptos Display"/>
              </a:rPr>
              <a:t>Are we really doing CI? Three questions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76656" y="1860804"/>
            <a:ext cx="118872" cy="11887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741932"/>
            <a:ext cx="105796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1 · Does everyone add their work to main at least once a 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" y="2500884"/>
            <a:ext cx="118872" cy="11887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82012"/>
            <a:ext cx="105796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2 · Does every change run the tests automatically?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3140963"/>
            <a:ext cx="118872" cy="11887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022091"/>
            <a:ext cx="105796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3 · When the tests fail, is fixing them the team's first job?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3781044"/>
            <a:ext cx="118872" cy="11887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62172"/>
            <a:ext cx="105796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Three yeses = Continuous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3995928"/>
            <a:ext cx="10579608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20" b="0" i="0">
                <a:solidFill>
                  <a:srgbClr val="5A6570"/>
                </a:solidFill>
                <a:latin typeface="Aptos"/>
              </a:rPr>
              <a:t>Anything less is "we have a build server"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4713732"/>
            <a:ext cx="118872" cy="11887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594860"/>
            <a:ext cx="105796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Example: a build server, three-week branches, tests once a night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4928616"/>
            <a:ext cx="10579608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20" b="0" i="0">
                <a:solidFill>
                  <a:srgbClr val="5A6570"/>
                </a:solidFill>
                <a:latin typeface="Aptos"/>
              </a:rPr>
              <a:t>That fails questions 1 and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Different kinds of tests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212847" y="1946574"/>
            <a:ext cx="1554480" cy="703027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847" y="2028322"/>
            <a:ext cx="1554480" cy="27794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END-TO-END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7" y="2306263"/>
            <a:ext cx="1554480" cy="26159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~5 %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407" y="2126418"/>
            <a:ext cx="5934456" cy="4087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00" b="0" i="0">
                <a:solidFill>
                  <a:srgbClr val="123A5F"/>
                </a:solidFill>
                <a:latin typeface="Aptos"/>
              </a:rPr>
              <a:t>Few · slow (minutes) · break easily · use the whole system the way a user would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40479" y="2298088"/>
            <a:ext cx="1618489" cy="54864"/>
          </a:xfrm>
          <a:prstGeom prst="line">
            <a:avLst/>
          </a:prstGeom>
          <a:ln w="12700">
            <a:solidFill>
              <a:srgbClr val="C9D2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527047" y="2731349"/>
            <a:ext cx="2926080" cy="703027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7" y="2813096"/>
            <a:ext cx="2926080" cy="27794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7" y="3091037"/>
            <a:ext cx="2926080" cy="26159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~15 %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7" y="2911193"/>
            <a:ext cx="5934456" cy="4087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00" b="0" i="0">
                <a:solidFill>
                  <a:srgbClr val="123A5F"/>
                </a:solidFill>
                <a:latin typeface="Aptos"/>
              </a:rPr>
              <a:t>Some · seconds · check parts working together, such as the app and its database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26279" y="3082863"/>
            <a:ext cx="932689" cy="54864"/>
          </a:xfrm>
          <a:prstGeom prst="line">
            <a:avLst/>
          </a:prstGeom>
          <a:ln w="12700">
            <a:solidFill>
              <a:srgbClr val="C9D2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41247" y="3516124"/>
            <a:ext cx="4297680" cy="703027"/>
          </a:xfrm>
          <a:prstGeom prst="rect">
            <a:avLst/>
          </a:prstGeom>
          <a:solidFill>
            <a:srgbClr val="3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3597870"/>
            <a:ext cx="4297680" cy="27794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3875812"/>
            <a:ext cx="4297680" cy="26159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~80 %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3695967"/>
            <a:ext cx="5934456" cy="4087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00" b="0" i="0">
                <a:solidFill>
                  <a:srgbClr val="123A5F"/>
                </a:solidFill>
                <a:latin typeface="Aptos"/>
              </a:rPr>
              <a:t>Many · milliseconds · check one small piece on its own · cheap — the base of it all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12079" y="3867636"/>
            <a:ext cx="246889" cy="54864"/>
          </a:xfrm>
          <a:prstGeom prst="line">
            <a:avLst/>
          </a:prstGeom>
          <a:ln w="12700">
            <a:solidFill>
              <a:srgbClr val="C9D2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58368" y="4415344"/>
            <a:ext cx="10872216" cy="637629"/>
          </a:xfrm>
          <a:prstGeom prst="rect">
            <a:avLst/>
          </a:prstGeom>
          <a:solidFill>
            <a:srgbClr val="FBEBEA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464393"/>
            <a:ext cx="10469880" cy="5395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0" i="0">
                <a:solidFill>
                  <a:srgbClr val="123A5F"/>
                </a:solidFill>
                <a:latin typeface="Aptos"/>
              </a:rPr>
              <a:t>THE UPSIDE-DOWN PYRAMID: mostly slow tests that click through the screens, a 30-minute wait nobody trusts, and "just run it again" whenever something fails.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151071"/>
            <a:ext cx="10872216" cy="604930"/>
          </a:xfrm>
          <a:prstGeom prst="rect">
            <a:avLst/>
          </a:prstGeom>
          <a:solidFill>
            <a:srgbClr val="EDF4EA"/>
          </a:solidFill>
          <a:ln w="9525">
            <a:solidFill>
              <a:srgbClr val="3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5200119"/>
            <a:ext cx="10469880" cy="506833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0" i="0">
                <a:solidFill>
                  <a:srgbClr val="123A5F"/>
                </a:solidFill>
                <a:latin typeface="Aptos"/>
              </a:rPr>
              <a:t>PayTrack API's tests sit at the base: no database needed, under a second. That is what keeps the whole set of checks under 10 minutes.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Build automation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786384"/>
          </a:xfrm>
          <a:prstGeom prst="rect">
            <a:avLst/>
          </a:prstGeom>
          <a:solidFill>
            <a:srgbClr val="E6F4F1"/>
          </a:solidFill>
          <a:ln w="12700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8580" cy="786384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1856231"/>
            <a:ext cx="10369296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 i="0">
                <a:solidFill>
                  <a:srgbClr val="123A5F"/>
                </a:solidFill>
                <a:latin typeface="Aptos"/>
              </a:rPr>
              <a:t>Scripting the transformation of source code into a deployable artefact, so that any person or machine can run it identically, from a clean checkout, with a single command.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2880360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70632"/>
            <a:ext cx="10561320" cy="240557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40" b="1" i="0">
                <a:solidFill>
                  <a:srgbClr val="123A5F"/>
                </a:solidFill>
                <a:latin typeface="Aptos"/>
              </a:rPr>
              <a:t>REPRODUCIBLE — same source, same artefact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056909"/>
            <a:ext cx="10561320" cy="208483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70" b="0" i="0">
                <a:solidFill>
                  <a:srgbClr val="5A6570"/>
                </a:solidFill>
                <a:latin typeface="Aptos"/>
              </a:rPr>
              <a:t>Pinned dependency versions; pinned base-image digests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3495047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385319"/>
            <a:ext cx="10561320" cy="240557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40" b="1" i="0">
                <a:solidFill>
                  <a:srgbClr val="123A5F"/>
                </a:solidFill>
                <a:latin typeface="Aptos"/>
              </a:rPr>
              <a:t>HERMETIC — depends only on declared inputs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671597"/>
            <a:ext cx="10561320" cy="208483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70" b="0" i="0">
                <a:solidFill>
                  <a:srgbClr val="5A6570"/>
                </a:solidFill>
                <a:latin typeface="Aptos"/>
              </a:rPr>
              <a:t>Build inside a container, not on whatever is installed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4109735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4000007"/>
            <a:ext cx="10561320" cy="240557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40" b="1" i="0">
                <a:solidFill>
                  <a:srgbClr val="123A5F"/>
                </a:solidFill>
                <a:latin typeface="Aptos"/>
              </a:rPr>
              <a:t>FAST — under 10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286285"/>
            <a:ext cx="10561320" cy="208483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70" b="0" i="0">
                <a:solidFill>
                  <a:srgbClr val="5A6570"/>
                </a:solidFill>
                <a:latin typeface="Aptos"/>
              </a:rPr>
              <a:t>Layer caching, dependency caching, parallel jobs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" y="4724423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614695"/>
            <a:ext cx="10561320" cy="240557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40" b="1" i="0">
                <a:solidFill>
                  <a:srgbClr val="123A5F"/>
                </a:solidFill>
                <a:latin typeface="Aptos"/>
              </a:rPr>
              <a:t>SELF-TESTING — fails on a defect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4900972"/>
            <a:ext cx="10561320" cy="208483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70" b="0" i="0">
                <a:solidFill>
                  <a:srgbClr val="5A6570"/>
                </a:solidFill>
                <a:latin typeface="Aptos"/>
              </a:rPr>
              <a:t>pytest runs in the same command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" y="5339111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5229383"/>
            <a:ext cx="10561320" cy="240557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40" b="1" i="0">
                <a:solidFill>
                  <a:srgbClr val="123A5F"/>
                </a:solidFill>
                <a:latin typeface="Aptos"/>
              </a:rPr>
              <a:t>VERSIONED — every artefact uniquely identified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" y="5515660"/>
            <a:ext cx="10561320" cy="208483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70" b="0" i="0">
                <a:solidFill>
                  <a:srgbClr val="5A6570"/>
                </a:solidFill>
                <a:latin typeface="Aptos"/>
              </a:rPr>
              <a:t>Tag images with the git SHA, never only latest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1900" b="1" i="0">
                <a:solidFill>
                  <a:srgbClr val="123A5F"/>
                </a:solidFill>
                <a:latin typeface="Aptos Display"/>
              </a:rPr>
              <a:t>Versioning: SemVer for humans, the SHA for deployments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384048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28800"/>
            <a:ext cx="3097072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Tag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1472" y="1828800"/>
            <a:ext cx="3423239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Meaning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99304" y="1828800"/>
            <a:ext cx="3858127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Use it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167128"/>
            <a:ext cx="10872216" cy="43205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185416"/>
            <a:ext cx="3097072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MAJOR (2.0.0)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1472" y="2185416"/>
            <a:ext cx="3423239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A breaking change for consumers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99304" y="2185416"/>
            <a:ext cx="3858127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Libraries and APIs others depend 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599182"/>
            <a:ext cx="10872216" cy="432054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617470"/>
            <a:ext cx="3097072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MINOR (1.5.0)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1472" y="2617470"/>
            <a:ext cx="3423239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A backwards-compatible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99304" y="2617470"/>
            <a:ext cx="3858127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Libraries and APIs others depend 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031236"/>
            <a:ext cx="10872216" cy="43205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049524"/>
            <a:ext cx="3097072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PATCH (1.4.3)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11472" y="3049524"/>
            <a:ext cx="3423239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A backwards-compatible fix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99304" y="3049524"/>
            <a:ext cx="3858127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Libraries and APIs others depend 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3463290"/>
            <a:ext cx="10872216" cy="640080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481578"/>
            <a:ext cx="3097072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paytrack-api:9f3e2a1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1472" y="3481578"/>
            <a:ext cx="3423239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The immutable commit SHA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9304" y="3481578"/>
            <a:ext cx="3858127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3E7D32"/>
                </a:solidFill>
                <a:latin typeface="Aptos"/>
              </a:rPr>
              <a:t>✔ What a deployment manifest references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103370"/>
            <a:ext cx="10872216" cy="43205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121658"/>
            <a:ext cx="3097072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paytrack-api:1.4.2 · :main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11472" y="4121658"/>
            <a:ext cx="3423239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Moving aliases for humans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99304" y="4121658"/>
            <a:ext cx="3858127" cy="39547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Finding a build; never for deploying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4535424"/>
            <a:ext cx="10872216" cy="640080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553712"/>
            <a:ext cx="3097072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paytrack-api:latest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1472" y="4553712"/>
            <a:ext cx="3423239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Whatever was pushed last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99304" y="4553712"/>
            <a:ext cx="3858127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B3261E"/>
                </a:solidFill>
                <a:latin typeface="Aptos"/>
              </a:rPr>
              <a:t>✗ Never in a manifest: unpinned, unreproducible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5340096"/>
            <a:ext cx="10872216" cy="585216"/>
          </a:xfrm>
          <a:prstGeom prst="rect">
            <a:avLst/>
          </a:prstGeom>
          <a:solidFill>
            <a:srgbClr val="FDF1E2"/>
          </a:solidFill>
          <a:ln w="9525">
            <a:solidFill>
              <a:srgbClr val="D276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5404104"/>
            <a:ext cx="1762963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D2760D"/>
                </a:solidFill>
                <a:latin typeface="Aptos"/>
              </a:rPr>
              <a:t>WHY LATEST HURTS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58491" y="5394959"/>
            <a:ext cx="8807500" cy="47548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0" i="0">
                <a:solidFill>
                  <a:srgbClr val="123A5F"/>
                </a:solidFill>
                <a:latin typeface="Aptos"/>
              </a:rPr>
              <a:t>It makes rollback ambiguous — "go back to the previous latest" has no answer. It is an outage waiting for a quiet week.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GitHub Actions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1005840"/>
          </a:xfrm>
          <a:prstGeom prst="rect">
            <a:avLst/>
          </a:prstGeom>
          <a:solidFill>
            <a:srgbClr val="E6F4F1"/>
          </a:solidFill>
          <a:ln w="12700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8580" cy="1005840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1856231"/>
            <a:ext cx="10369296" cy="8595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 i="0">
                <a:solidFill>
                  <a:srgbClr val="123A5F"/>
                </a:solidFill>
                <a:latin typeface="Aptos"/>
              </a:rPr>
              <a:t>The automation built into GitHub. You describe the checks in a small text file inside your project, and GitHub runs them on its own computers every time something happens — for example, when you push.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3099815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990087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Nothing to install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310127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It is part of GitHub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3825240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715512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It runs on events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4035552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A push, a pull request, a schedule, or a button you press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4550664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4440936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Free on public projects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760976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Private projects on the free plan get 2 000 minutes a month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" y="5276088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166359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The file lives in .github/workflows/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5486400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It is code, so it is reviewed like any other change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320" b="1" i="0">
                <a:solidFill>
                  <a:srgbClr val="123A5F"/>
                </a:solidFill>
                <a:latin typeface="Aptos Display"/>
              </a:rPr>
              <a:t>GitHub Actions — the concepts that matter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384048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28800"/>
            <a:ext cx="2662184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6584" y="1828800"/>
            <a:ext cx="7880847" cy="29260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Aptos"/>
              </a:rPr>
              <a:t>Meaning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72216" cy="40862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85416"/>
            <a:ext cx="2662184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Runner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6584" y="2185416"/>
            <a:ext cx="7880847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The machine running a job: GitHub-hosted (ubuntu-24.04) or self-hosted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75750"/>
            <a:ext cx="10872216" cy="616648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594038"/>
            <a:ext cx="2662184" cy="58007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6584" y="2594038"/>
            <a:ext cx="7880847" cy="58007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A reusable unit: uses: owner/repo@ref. Pin it — @main lets an outsider change your pipeline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192399"/>
            <a:ext cx="10872216" cy="40862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210687"/>
            <a:ext cx="2662184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needs: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6584" y="3210687"/>
            <a:ext cx="7880847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Declares job dependencies, turning parallel jobs into a graph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601021"/>
            <a:ext cx="10872216" cy="408622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619309"/>
            <a:ext cx="2662184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strategy.matrix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6584" y="3619309"/>
            <a:ext cx="7880847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Runs one job across combinations, such as two Python versions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009644"/>
            <a:ext cx="10872216" cy="40862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27931"/>
            <a:ext cx="2662184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Secrets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6584" y="4027931"/>
            <a:ext cx="7880847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${{ secrets.NAME }} — encrypted, masked in logs, never given to PRs from forks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418266"/>
            <a:ext cx="10872216" cy="408622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436554"/>
            <a:ext cx="2662184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GITHUB_TOKEN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6584" y="4436554"/>
            <a:ext cx="7880847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An automatic, short-lived token, scoped by the permissions: block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826889"/>
            <a:ext cx="10872216" cy="6166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45177"/>
            <a:ext cx="2662184" cy="58007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OIDC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76584" y="4845177"/>
            <a:ext cx="7880847" cy="58007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Swap a short-lived GitHub identity token for cloud credentials — no stored secret at all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443537"/>
            <a:ext cx="10872216" cy="408622"/>
          </a:xfrm>
          <a:prstGeom prst="rect">
            <a:avLst/>
          </a:prstGeom>
          <a:solidFill>
            <a:srgbClr val="F3F6F8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5461825"/>
            <a:ext cx="2662184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1" i="0">
                <a:solidFill>
                  <a:srgbClr val="123A5F"/>
                </a:solidFill>
                <a:latin typeface="Aptos"/>
              </a:rPr>
              <a:t>Required status check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6584" y="5461825"/>
            <a:ext cx="7880847" cy="37204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400" b="0" i="0">
                <a:solidFill>
                  <a:srgbClr val="123A5F"/>
                </a:solidFill>
                <a:latin typeface="Aptos"/>
              </a:rPr>
              <a:t>Branch protection refuses the merge until this check is green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Jenkins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786384"/>
          </a:xfrm>
          <a:prstGeom prst="rect">
            <a:avLst/>
          </a:prstGeom>
          <a:solidFill>
            <a:srgbClr val="E6F4F1"/>
          </a:solidFill>
          <a:ln w="12700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8580" cy="786384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1856231"/>
            <a:ext cx="10369296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 i="0">
                <a:solidFill>
                  <a:srgbClr val="123A5F"/>
                </a:solidFill>
                <a:latin typeface="Aptos"/>
              </a:rPr>
              <a:t>A free automation server that your company installs and runs itself. It does the same job as GitHub Actions — build and test every change — using a file called a Jenkinsfile.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2880360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70632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It runs inside your own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090672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Sometimes a requirement in a bank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3678936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569208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Very flexible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889248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Thousands of add-ons, called plugins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4477512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4367784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Someone has to look after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687824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Updates, backups, security and plugins are your team's job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" y="5276088"/>
            <a:ext cx="118872" cy="118872"/>
          </a:xfrm>
          <a:prstGeom prst="rect">
            <a:avLst/>
          </a:prstGeom>
          <a:solidFill>
            <a:srgbClr val="D27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166359"/>
            <a:ext cx="10561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00" b="1" i="0">
                <a:solidFill>
                  <a:srgbClr val="123A5F"/>
                </a:solidFill>
                <a:latin typeface="Aptos"/>
              </a:rPr>
              <a:t>Pipelines are written as 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5486400"/>
            <a:ext cx="10561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30" b="0" i="0">
                <a:solidFill>
                  <a:srgbClr val="5A6570"/>
                </a:solidFill>
                <a:latin typeface="Aptos"/>
              </a:rPr>
              <a:t>A Jenkinsfile in the project, reviewed like any other change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Jenkins architecture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2518806"/>
            <a:ext cx="1691640" cy="653978"/>
          </a:xfrm>
          <a:prstGeom prst="rect">
            <a:avLst/>
          </a:prstGeom>
          <a:solidFill>
            <a:srgbClr val="F3F6F8"/>
          </a:solidFill>
          <a:ln w="9525">
            <a:solidFill>
              <a:srgbClr val="5A6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100" b="1" i="0">
                <a:solidFill>
                  <a:srgbClr val="123A5F"/>
                </a:solidFill>
                <a:latin typeface="Aptos"/>
              </a:rPr>
              <a:t>Git webhook</a:t>
            </a:r>
          </a:p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100" b="1" i="0">
                <a:solidFill>
                  <a:srgbClr val="123A5F"/>
                </a:solidFill>
                <a:latin typeface="Aptos"/>
              </a:rPr>
              <a:t>or poll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414015" y="2714999"/>
            <a:ext cx="566928" cy="261591"/>
          </a:xfrm>
          <a:prstGeom prst="rightArrow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54096" y="1905701"/>
            <a:ext cx="4663440" cy="1839315"/>
          </a:xfrm>
          <a:prstGeom prst="rect">
            <a:avLst/>
          </a:prstGeom>
          <a:solidFill>
            <a:srgbClr val="ECF1F6"/>
          </a:solidFill>
          <a:ln w="12700">
            <a:solidFill>
              <a:srgbClr val="12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054096" y="1905701"/>
            <a:ext cx="4663440" cy="376037"/>
          </a:xfrm>
          <a:prstGeom prst="rect">
            <a:avLst/>
          </a:prstGeom>
          <a:solidFill>
            <a:srgbClr val="12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JENKINS 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5" y="2396185"/>
            <a:ext cx="4206240" cy="27794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0" i="0">
                <a:solidFill>
                  <a:srgbClr val="123A5F"/>
                </a:solidFill>
                <a:latin typeface="Aptos"/>
              </a:rPr>
              <a:t>·  schedules builds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5" y="2706824"/>
            <a:ext cx="4206240" cy="27794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0" i="0">
                <a:solidFill>
                  <a:srgbClr val="123A5F"/>
                </a:solidFill>
                <a:latin typeface="Aptos"/>
              </a:rPr>
              <a:t>·  stores job config and build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8415" y="3017464"/>
            <a:ext cx="4206240" cy="27794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B3261E"/>
                </a:solidFill>
                <a:latin typeface="Aptos"/>
              </a:rPr>
              <a:t>·  holds EVERY credential Jenkins uses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8415" y="3328105"/>
            <a:ext cx="4206240" cy="277941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0" i="0">
                <a:solidFill>
                  <a:srgbClr val="123A5F"/>
                </a:solidFill>
                <a:latin typeface="Aptos"/>
              </a:rPr>
              <a:t>·  serves the UI and API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4073652" y="3794065"/>
            <a:ext cx="292608" cy="326989"/>
          </a:xfrm>
          <a:prstGeom prst="downArrow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45536" y="4170102"/>
            <a:ext cx="2148840" cy="858347"/>
          </a:xfrm>
          <a:prstGeom prst="rect">
            <a:avLst/>
          </a:prstGeom>
          <a:solidFill>
            <a:srgbClr val="EDF4EA"/>
          </a:solidFill>
          <a:ln w="9525">
            <a:solidFill>
              <a:srgbClr val="3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5536" y="4219151"/>
            <a:ext cx="2148840" cy="24524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3E7D32"/>
                </a:solidFill>
                <a:latin typeface="Aptos"/>
              </a:rPr>
              <a:t>AGENT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5536" y="4480742"/>
            <a:ext cx="2148840" cy="22889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050" b="0" i="0">
                <a:solidFill>
                  <a:srgbClr val="123A5F"/>
                </a:solidFill>
                <a:latin typeface="Aptos"/>
              </a:rPr>
              <a:t>label: linux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4709635"/>
            <a:ext cx="2148840" cy="22889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050" b="0" i="0">
                <a:solidFill>
                  <a:srgbClr val="123A5F"/>
                </a:solidFill>
                <a:latin typeface="Aptos"/>
              </a:rPr>
              <a:t>executors: 2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405372" y="3794065"/>
            <a:ext cx="292608" cy="326989"/>
          </a:xfrm>
          <a:prstGeom prst="downArrow">
            <a:avLst/>
          </a:prstGeom>
          <a:solidFill>
            <a:srgbClr val="5A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77256" y="4170102"/>
            <a:ext cx="2148840" cy="858347"/>
          </a:xfrm>
          <a:prstGeom prst="rect">
            <a:avLst/>
          </a:prstGeom>
          <a:solidFill>
            <a:srgbClr val="EDF4EA"/>
          </a:solidFill>
          <a:ln w="9525">
            <a:solidFill>
              <a:srgbClr val="3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77256" y="4219151"/>
            <a:ext cx="2148840" cy="24524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150" b="1" i="0">
                <a:solidFill>
                  <a:srgbClr val="3E7D32"/>
                </a:solidFill>
                <a:latin typeface="Aptos"/>
              </a:rPr>
              <a:t>AGENT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77256" y="4480742"/>
            <a:ext cx="2148840" cy="22889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050" b="0" i="0">
                <a:solidFill>
                  <a:srgbClr val="123A5F"/>
                </a:solidFill>
                <a:latin typeface="Aptos"/>
              </a:rPr>
              <a:t>label: docker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7256" y="4709635"/>
            <a:ext cx="2148840" cy="22889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050" b="0" i="0">
                <a:solidFill>
                  <a:srgbClr val="123A5F"/>
                </a:solidFill>
                <a:latin typeface="Aptos"/>
              </a:rPr>
              <a:t>executors: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54096" y="5085673"/>
            <a:ext cx="4663440" cy="22889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1050" b="1" i="1">
                <a:solidFill>
                  <a:srgbClr val="3E7D32"/>
                </a:solidFill>
                <a:latin typeface="Aptos"/>
              </a:rPr>
              <a:t>builds actually run here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1856" y="1905701"/>
            <a:ext cx="3538728" cy="1839315"/>
          </a:xfrm>
          <a:prstGeom prst="rect">
            <a:avLst/>
          </a:prstGeom>
          <a:solidFill>
            <a:srgbClr val="FBEBEA"/>
          </a:solidFill>
          <a:ln w="9525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8" y="1987447"/>
            <a:ext cx="3264408" cy="24524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50" b="1" i="0">
                <a:solidFill>
                  <a:srgbClr val="B3261E"/>
                </a:solidFill>
                <a:latin typeface="Aptos"/>
              </a:rPr>
              <a:t>SET CONTROLLER EXECUTORS TO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448" y="2273564"/>
            <a:ext cx="3264408" cy="138970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23A5F"/>
                </a:solidFill>
                <a:latin typeface="Aptos"/>
              </a:rPr>
              <a:t>A build running on the controller can read every credential Jenkins holds. A malicious or buggy build there is a breach of all of them at once.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1856" y="3908511"/>
            <a:ext cx="3538728" cy="1406054"/>
          </a:xfrm>
          <a:prstGeom prst="rect">
            <a:avLst/>
          </a:prstGeom>
          <a:solidFill>
            <a:srgbClr val="FDF1E2"/>
          </a:solidFill>
          <a:ln w="9525">
            <a:solidFill>
              <a:srgbClr val="D276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3990258"/>
            <a:ext cx="3264408" cy="24524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50" b="1" i="0">
                <a:solidFill>
                  <a:srgbClr val="D2760D"/>
                </a:solidFill>
                <a:latin typeface="Aptos"/>
              </a:rPr>
              <a:t>THE REAL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4268199"/>
            <a:ext cx="3264408" cy="9809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23A5F"/>
                </a:solidFill>
                <a:latin typeface="Aptos"/>
              </a:rPr>
              <a:t>A stateful, security-sensitive server: patching, backups, plugin upgrades. "Free" is a licence statement, not a cost statement.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A Jenkinsfile, line by 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6523329" cy="292150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6523329" cy="310896"/>
          </a:xfrm>
          <a:prstGeom prst="rect">
            <a:avLst/>
          </a:prstGeom>
          <a:solidFill>
            <a:srgbClr val="1C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804672" y="1888236"/>
            <a:ext cx="100584" cy="100584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1888236"/>
            <a:ext cx="100584" cy="100584"/>
          </a:xfrm>
          <a:prstGeom prst="ellipse">
            <a:avLst/>
          </a:prstGeom>
          <a:solidFill>
            <a:srgbClr val="E3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170432" y="1888236"/>
            <a:ext cx="100584" cy="100584"/>
          </a:xfrm>
          <a:prstGeom prst="ellipse">
            <a:avLst/>
          </a:prstGeom>
          <a:solidFill>
            <a:srgbClr val="4FB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819656"/>
            <a:ext cx="5608929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9FC0D8"/>
                </a:solidFill>
                <a:latin typeface="Aptos"/>
              </a:rPr>
              <a:t>JENKINSFILE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85416"/>
            <a:ext cx="6322161" cy="2281428"/>
          </a:xfrm>
          <a:prstGeom prst="rect">
            <a:avLst/>
          </a:prstGeom>
          <a:noFill/>
        </p:spPr>
        <p:txBody>
          <a:bodyPr wrap="square" lIns="73152" rIns="73152" tIns="18288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pipeline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agent any                            </a:t>
            </a:r>
            <a:r>
              <a:rPr sz="950" b="0">
                <a:solidFill>
                  <a:srgbClr val="8FBFA8"/>
                </a:solidFill>
                <a:latin typeface="Consolas"/>
              </a:rPr>
              <a:t>  // where to run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options { timeout(time: 20, unit: 'MINUTES')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environment { IMAGE = "paytrack-api"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stages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    stage('Checkout') { steps { checkout scm }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    stage('Lint')     { steps { sh 'flake8 src tests' }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    stage('Test')     { steps { sh 'pytest --junitxml=report.xml' }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    stage('Build')    { steps { sh 'docker build -t $IMAGE:$GIT_COMMIT .' }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post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    always  { junit 'report.xml' }   </a:t>
            </a:r>
            <a:r>
              <a:rPr sz="950" b="0">
                <a:solidFill>
                  <a:srgbClr val="8FBFA8"/>
                </a:solidFill>
                <a:latin typeface="Consolas"/>
              </a:rPr>
              <a:t>  // publish results either way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    failure { echo 'Stop the line: fix the build first'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8EEF4"/>
                </a:solidFill>
                <a:latin typeface="Consolas"/>
              </a:rP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6017" y="1764792"/>
            <a:ext cx="4074566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TO NOTICE</a:t>
            </a:r>
          </a:p>
        </p:txBody>
      </p:sp>
      <p:sp>
        <p:nvSpPr>
          <p:cNvPr id="16" name="Oval 15"/>
          <p:cNvSpPr/>
          <p:nvPr/>
        </p:nvSpPr>
        <p:spPr>
          <a:xfrm>
            <a:off x="7456017" y="2121408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6017" y="2139696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5201" y="2075688"/>
            <a:ext cx="3727094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pipeline { } wraps everything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Jenkins checks the file is valid before it starts</a:t>
            </a:r>
          </a:p>
        </p:txBody>
      </p:sp>
      <p:sp>
        <p:nvSpPr>
          <p:cNvPr id="19" name="Oval 18"/>
          <p:cNvSpPr/>
          <p:nvPr/>
        </p:nvSpPr>
        <p:spPr>
          <a:xfrm>
            <a:off x="7456017" y="3008375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6017" y="3026663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5201" y="2962656"/>
            <a:ext cx="3727094" cy="5212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agent any — which computer runs it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"any" means any computer that is free</a:t>
            </a:r>
          </a:p>
        </p:txBody>
      </p:sp>
      <p:sp>
        <p:nvSpPr>
          <p:cNvPr id="22" name="Oval 21"/>
          <p:cNvSpPr/>
          <p:nvPr/>
        </p:nvSpPr>
        <p:spPr>
          <a:xfrm>
            <a:off x="7456017" y="3730751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6017" y="3749039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5201" y="3685031"/>
            <a:ext cx="3727094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stages — the steps you see on the screen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Checkout · Lint (check the style) · Test · Build</a:t>
            </a:r>
          </a:p>
        </p:txBody>
      </p:sp>
      <p:sp>
        <p:nvSpPr>
          <p:cNvPr id="25" name="Oval 24"/>
          <p:cNvSpPr/>
          <p:nvPr/>
        </p:nvSpPr>
        <p:spPr>
          <a:xfrm>
            <a:off x="7456017" y="4617719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6017" y="4636007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85201" y="4571999"/>
            <a:ext cx="3727094" cy="5212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post — what to do at the end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always, or only after success or failure</a:t>
            </a:r>
          </a:p>
        </p:txBody>
      </p:sp>
      <p:sp>
        <p:nvSpPr>
          <p:cNvPr id="28" name="Oval 27"/>
          <p:cNvSpPr/>
          <p:nvPr/>
        </p:nvSpPr>
        <p:spPr>
          <a:xfrm>
            <a:off x="7456017" y="5340095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6017" y="5358383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5201" y="5294375"/>
            <a:ext cx="3727094" cy="5212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50" b="1">
                <a:solidFill>
                  <a:srgbClr val="123A5F"/>
                </a:solidFill>
                <a:latin typeface="Aptos"/>
              </a:rPr>
              <a:t>The same idea as GitHub Actions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100"/>
              </a:spcAft>
            </a:pPr>
            <a:r>
              <a:rPr sz="1090" b="0">
                <a:solidFill>
                  <a:srgbClr val="5A6570"/>
                </a:solidFill>
                <a:latin typeface="Aptos"/>
              </a:rPr>
              <a:t>A different file, the same checks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Four things teams say about CI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1783080"/>
            <a:ext cx="5298948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A0275C"/>
                </a:solidFill>
                <a:latin typeface="Aptos"/>
              </a:rPr>
              <a:t>WHAT PEOPLE SAY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3076" y="1783080"/>
            <a:ext cx="5298948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117A69"/>
                </a:solidFill>
                <a:latin typeface="Aptos"/>
              </a:rPr>
              <a:t>WHAT IS ACTUALLY TRUE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093976"/>
            <a:ext cx="5298948" cy="617220"/>
          </a:xfrm>
          <a:prstGeom prst="rect">
            <a:avLst/>
          </a:prstGeom>
          <a:solidFill>
            <a:srgbClr val="FAECF2"/>
          </a:solidFill>
          <a:ln w="7620">
            <a:solidFill>
              <a:srgbClr val="A027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130552"/>
            <a:ext cx="5024628" cy="5440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1">
                <a:solidFill>
                  <a:srgbClr val="1F2933"/>
                </a:solidFill>
                <a:latin typeface="Aptos"/>
              </a:rPr>
              <a:t>“We have Jenkins, so we do CI.”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093976"/>
            <a:ext cx="5298948" cy="617220"/>
          </a:xfrm>
          <a:prstGeom prst="rect">
            <a:avLst/>
          </a:prstGeom>
          <a:solidFill>
            <a:srgbClr val="E6F4F1"/>
          </a:solidFill>
          <a:ln w="7620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7940" y="2130552"/>
            <a:ext cx="5024628" cy="5440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CI is a habit: small changes added daily and tested automatically. A tool on its own is not CI.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839212"/>
            <a:ext cx="5298948" cy="617220"/>
          </a:xfrm>
          <a:prstGeom prst="rect">
            <a:avLst/>
          </a:prstGeom>
          <a:solidFill>
            <a:srgbClr val="FAECF2"/>
          </a:solidFill>
          <a:ln w="7620">
            <a:solidFill>
              <a:srgbClr val="A027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875788"/>
            <a:ext cx="5024628" cy="5440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1">
                <a:solidFill>
                  <a:srgbClr val="1F2933"/>
                </a:solidFill>
                <a:latin typeface="Aptos"/>
              </a:rPr>
              <a:t>“A 45-minute build is fine.”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2839212"/>
            <a:ext cx="5298948" cy="617220"/>
          </a:xfrm>
          <a:prstGeom prst="rect">
            <a:avLst/>
          </a:prstGeom>
          <a:solidFill>
            <a:srgbClr val="E6F4F1"/>
          </a:solidFill>
          <a:ln w="7620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7940" y="2875788"/>
            <a:ext cx="5024628" cy="5440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People stop waiting, pile up changes, and push while it is red. Slow checks get ignored.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4448"/>
            <a:ext cx="5298948" cy="617220"/>
          </a:xfrm>
          <a:prstGeom prst="rect">
            <a:avLst/>
          </a:prstGeom>
          <a:solidFill>
            <a:srgbClr val="FAECF2"/>
          </a:solidFill>
          <a:ln w="7620">
            <a:solidFill>
              <a:srgbClr val="A027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621024"/>
            <a:ext cx="5024628" cy="5440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1">
                <a:solidFill>
                  <a:srgbClr val="1F2933"/>
                </a:solidFill>
                <a:latin typeface="Aptos"/>
              </a:rPr>
              <a:t>“That test is just flaky — run it again.”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1636" y="3584448"/>
            <a:ext cx="5298948" cy="617220"/>
          </a:xfrm>
          <a:prstGeom prst="rect">
            <a:avLst/>
          </a:prstGeom>
          <a:solidFill>
            <a:srgbClr val="E6F4F1"/>
          </a:solidFill>
          <a:ln w="7620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7940" y="3621024"/>
            <a:ext cx="5024628" cy="5440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A test that fails at random teaches everyone to ignore red. Fix it or remove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329684"/>
            <a:ext cx="5298948" cy="617220"/>
          </a:xfrm>
          <a:prstGeom prst="rect">
            <a:avLst/>
          </a:prstGeom>
          <a:solidFill>
            <a:srgbClr val="FAECF2"/>
          </a:solidFill>
          <a:ln w="7620">
            <a:solidFill>
              <a:srgbClr val="A027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366260"/>
            <a:ext cx="5024628" cy="5440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1">
                <a:solidFill>
                  <a:srgbClr val="1F2933"/>
                </a:solidFill>
                <a:latin typeface="Aptos"/>
              </a:rPr>
              <a:t>“We rebuild it specially for the live system.”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4329684"/>
            <a:ext cx="5298948" cy="617220"/>
          </a:xfrm>
          <a:prstGeom prst="rect">
            <a:avLst/>
          </a:prstGeom>
          <a:solidFill>
            <a:srgbClr val="E6F4F1"/>
          </a:solidFill>
          <a:ln w="7620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4366260"/>
            <a:ext cx="5024628" cy="54406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F2933"/>
                </a:solidFill>
                <a:latin typeface="Aptos"/>
              </a:rPr>
              <a:t>Then the live system runs something nobody tested. Build once and use it everywhere.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GOING FURTHER · 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Securing the pipeline itself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76656" y="1860804"/>
            <a:ext cx="118872" cy="11887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741932"/>
            <a:ext cx="10579608" cy="21945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20" b="1" i="0">
                <a:solidFill>
                  <a:srgbClr val="123A5F"/>
                </a:solidFill>
                <a:latin typeface="Aptos"/>
              </a:rPr>
              <a:t>Pin third-party Actions to a full commit SHA, not a tag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20824"/>
            <a:ext cx="10579608" cy="1901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39" b="0" i="0">
                <a:solidFill>
                  <a:srgbClr val="5A6570"/>
                </a:solidFill>
                <a:latin typeface="Aptos"/>
              </a:rPr>
              <a:t>A tag is mutable: whoever controls it can change what runs with YOUR 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2464673"/>
            <a:ext cx="118872" cy="11887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345801"/>
            <a:ext cx="10579608" cy="21945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20" b="1" i="0">
                <a:solidFill>
                  <a:srgbClr val="123A5F"/>
                </a:solidFill>
                <a:latin typeface="Aptos"/>
              </a:rPr>
              <a:t>Least-privilege permissions: block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624693"/>
            <a:ext cx="10579608" cy="1901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39" b="0" i="0">
                <a:solidFill>
                  <a:srgbClr val="5A6570"/>
                </a:solidFill>
                <a:latin typeface="Aptos"/>
              </a:rPr>
              <a:t>The default GITHUB_TOKEN scope is broader than you need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3068543"/>
            <a:ext cx="118872" cy="11887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949671"/>
            <a:ext cx="10579608" cy="21945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20" b="1" i="0">
                <a:solidFill>
                  <a:srgbClr val="123A5F"/>
                </a:solidFill>
                <a:latin typeface="Aptos"/>
              </a:rPr>
              <a:t>Short-lived OIDC tokens instead of long-lived secrets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3228563"/>
            <a:ext cx="10579608" cy="1901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39" b="0" i="0">
                <a:solidFill>
                  <a:srgbClr val="5A6570"/>
                </a:solidFill>
                <a:latin typeface="Aptos"/>
              </a:rPr>
              <a:t>The ideal is a credential that does not exist long enough to be stolen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3672413"/>
            <a:ext cx="118872" cy="11887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553541"/>
            <a:ext cx="10579608" cy="21945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20" b="1" i="0">
                <a:solidFill>
                  <a:srgbClr val="123A5F"/>
                </a:solidFill>
                <a:latin typeface="Aptos"/>
              </a:rPr>
              <a:t>Never expose secrets to pull requests from forks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832433"/>
            <a:ext cx="10579608" cy="1901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39" b="0" i="0">
                <a:solidFill>
                  <a:srgbClr val="5A6570"/>
                </a:solidFill>
                <a:latin typeface="Aptos"/>
              </a:rPr>
              <a:t>Use pull_request, not pull_request_target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" y="4276283"/>
            <a:ext cx="118872" cy="11887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157411"/>
            <a:ext cx="10579608" cy="21945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20" b="1" i="0">
                <a:solidFill>
                  <a:srgbClr val="123A5F"/>
                </a:solidFill>
                <a:latin typeface="Aptos"/>
              </a:rPr>
              <a:t>CODEOWNERS on .github/workflows/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436303"/>
            <a:ext cx="10579608" cy="1901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39" b="0" i="0">
                <a:solidFill>
                  <a:srgbClr val="5A6570"/>
                </a:solidFill>
                <a:latin typeface="Aptos"/>
              </a:rPr>
              <a:t>Pipeline changes need the strictest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" y="4880152"/>
            <a:ext cx="118872" cy="118872"/>
          </a:xfrm>
          <a:prstGeom prst="rect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4761280"/>
            <a:ext cx="10579608" cy="21945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20" b="1" i="0">
                <a:solidFill>
                  <a:srgbClr val="123A5F"/>
                </a:solidFill>
                <a:latin typeface="Aptos"/>
              </a:rPr>
              <a:t>Ephemeral runners — one job per runner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040172"/>
            <a:ext cx="10579608" cy="1901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39" b="0" i="0">
                <a:solidFill>
                  <a:srgbClr val="5A6570"/>
                </a:solidFill>
                <a:latin typeface="Aptos"/>
              </a:rPr>
              <a:t>A reused runner leaks state between jobs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5340096"/>
            <a:ext cx="10872216" cy="585216"/>
          </a:xfrm>
          <a:prstGeom prst="rect">
            <a:avLst/>
          </a:prstGeom>
          <a:solidFill>
            <a:srgbClr val="FDF1E2"/>
          </a:solidFill>
          <a:ln w="9525">
            <a:solidFill>
              <a:srgbClr val="D276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404104"/>
            <a:ext cx="2121408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D2760D"/>
                </a:solidFill>
                <a:latin typeface="Aptos"/>
              </a:rPr>
              <a:t>WHY THIS MATTERS NOW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6936" y="5394959"/>
            <a:ext cx="8449056" cy="47548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50" b="0" i="0">
                <a:solidFill>
                  <a:srgbClr val="123A5F"/>
                </a:solidFill>
                <a:latin typeface="Aptos"/>
              </a:rPr>
              <a:t>Your CI system holds credentials to everything and executes code by design. SolarWinds, Codecov and the xz-utils backdoor were all supply-chain compromises.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LAB 04A  ·  GOING FURTHER  ·  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210" b="1" i="0">
                <a:solidFill>
                  <a:srgbClr val="123A5F"/>
                </a:solidFill>
                <a:latin typeface="Aptos Display"/>
              </a:rPr>
              <a:t>act — Run CI on Your Laptop, Then Harden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658368"/>
          </a:xfrm>
          <a:prstGeom prst="rect">
            <a:avLst/>
          </a:prstGeom>
          <a:solidFill>
            <a:srgbClr val="EDF4EA"/>
          </a:solidFill>
          <a:ln w="12700">
            <a:solidFill>
              <a:srgbClr val="3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837943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3E7D32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057400"/>
            <a:ext cx="10506456" cy="34747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50" b="0" i="0">
                <a:solidFill>
                  <a:srgbClr val="123A5F"/>
                </a:solidFill>
                <a:latin typeface="Aptos"/>
              </a:rPr>
              <a:t>Run the Lab 04 pipeline locally in seconds, then watch the pipeline-security slides happen for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60904"/>
            <a:ext cx="10872216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50" b="1" i="0">
                <a:solidFill>
                  <a:srgbClr val="117A69"/>
                </a:solidFill>
                <a:latin typeface="Aptos"/>
              </a:rPr>
              <a:t>YOU WILL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" y="298551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00380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" y="295808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Install act, verified by checksum, and run lint and tests on your machine</a:t>
            </a:r>
          </a:p>
        </p:txBody>
      </p:sp>
      <p:sp>
        <p:nvSpPr>
          <p:cNvPr id="15" name="Oval 14"/>
          <p:cNvSpPr/>
          <p:nvPr/>
        </p:nvSpPr>
        <p:spPr>
          <a:xfrm>
            <a:off x="676656" y="335127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336956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332384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Break the code and see CI fail before you push anything</a:t>
            </a:r>
          </a:p>
        </p:txBody>
      </p:sp>
      <p:sp>
        <p:nvSpPr>
          <p:cNvPr id="18" name="Oval 17"/>
          <p:cNvSpPr/>
          <p:nvPr/>
        </p:nvSpPr>
        <p:spPr>
          <a:xfrm>
            <a:off x="676656" y="3717035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73532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5" y="368960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See a secret masked as *** — then leak in plain sight once it is base64-encoded</a:t>
            </a:r>
          </a:p>
        </p:txBody>
      </p:sp>
      <p:sp>
        <p:nvSpPr>
          <p:cNvPr id="21" name="Oval 20"/>
          <p:cNvSpPr/>
          <p:nvPr/>
        </p:nvSpPr>
        <p:spPr>
          <a:xfrm>
            <a:off x="676656" y="408279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10108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405536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Open a "pull request" whose title runs a command, then close the hole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" y="444855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" y="446684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5" y="442112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Audit with actionlint and zizmor, and pin every action to a commit SHA</a:t>
            </a:r>
          </a:p>
        </p:txBody>
      </p:sp>
      <p:sp>
        <p:nvSpPr>
          <p:cNvPr id="27" name="Oval 26"/>
          <p:cNvSpPr/>
          <p:nvPr/>
        </p:nvSpPr>
        <p:spPr>
          <a:xfrm>
            <a:off x="676656" y="481431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" y="483260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5" y="478688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Build one versioned, checksummed artefact and release it from a tag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394960"/>
            <a:ext cx="10872216" cy="475488"/>
          </a:xfrm>
          <a:prstGeom prst="rect">
            <a:avLst/>
          </a:prstGeom>
          <a:solidFill>
            <a:srgbClr val="ECF1F6"/>
          </a:solidFill>
          <a:ln w="9525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5440680"/>
            <a:ext cx="105156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117A69"/>
                </a:solidFill>
                <a:latin typeface="Aptos"/>
              </a:rPr>
              <a:t>OUTCOME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92808" y="5431536"/>
            <a:ext cx="9454896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00" b="0" i="0">
                <a:solidFill>
                  <a:srgbClr val="123A5F"/>
                </a:solidFill>
                <a:latin typeface="Aptos"/>
              </a:rPr>
              <a:t>A pinned, time-boxed, least-privilege pipeline that the audit tools pass with no findings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blepro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56" y="219456"/>
            <a:ext cx="2843784" cy="896112"/>
          </a:xfrm>
          <a:prstGeom prst="rect">
            <a:avLst/>
          </a:prstGeom>
        </p:spPr>
      </p:pic>
      <p:pic>
        <p:nvPicPr>
          <p:cNvPr id="3" name="Picture 2" descr="footer_swi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025896"/>
            <a:ext cx="9747504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6272784"/>
            <a:ext cx="8229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92000"/>
              </a:lnSpc>
              <a:spcAft>
                <a:spcPts val="200"/>
              </a:spcAft>
            </a:pPr>
            <a:r>
              <a:rPr sz="1000" b="0" i="0">
                <a:solidFill>
                  <a:srgbClr val="5A6570"/>
                </a:solidFill>
                <a:latin typeface="Aptos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29184"/>
            <a:ext cx="827532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000" b="1" i="0">
                <a:solidFill>
                  <a:srgbClr val="5A6570"/>
                </a:solidFill>
                <a:latin typeface="Aptos"/>
              </a:rPr>
              <a:t>LAB 04B  ·  GOING FURTHER  ·  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3504"/>
            <a:ext cx="8275320" cy="8686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2800" b="1" i="0">
                <a:solidFill>
                  <a:srgbClr val="123A5F"/>
                </a:solidFill>
                <a:latin typeface="Aptos Display"/>
              </a:rPr>
              <a:t>The Same Pipeline on GitLab CI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1444752"/>
            <a:ext cx="2377440" cy="0"/>
          </a:xfrm>
          <a:prstGeom prst="line">
            <a:avLst/>
          </a:prstGeom>
          <a:ln w="25400">
            <a:solidFill>
              <a:srgbClr val="29A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58368" y="1783080"/>
            <a:ext cx="10872216" cy="658368"/>
          </a:xfrm>
          <a:prstGeom prst="rect">
            <a:avLst/>
          </a:prstGeom>
          <a:solidFill>
            <a:srgbClr val="EDF4EA"/>
          </a:solidFill>
          <a:ln w="12700">
            <a:solidFill>
              <a:srgbClr val="3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837943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3E7D32"/>
                </a:solidFill>
                <a:latin typeface="Aptos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057400"/>
            <a:ext cx="10506456" cy="347472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340" b="0" i="0">
                <a:solidFill>
                  <a:srgbClr val="123A5F"/>
                </a:solidFill>
                <a:latin typeface="Aptos"/>
              </a:rPr>
              <a:t>Open a GitLab account and rebuild Lab 04 in GitLab's language — the controls are the same, the names are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60904"/>
            <a:ext cx="10872216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50" b="1" i="0">
                <a:solidFill>
                  <a:srgbClr val="117A69"/>
                </a:solidFill>
                <a:latin typeface="Aptos"/>
              </a:rPr>
              <a:t>YOU WILL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" y="298551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00380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" y="295808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Sign up, verify your identity, turn on 2FA and add your SSH key</a:t>
            </a:r>
          </a:p>
        </p:txBody>
      </p:sp>
      <p:sp>
        <p:nvSpPr>
          <p:cNvPr id="15" name="Oval 14"/>
          <p:cNvSpPr/>
          <p:nvPr/>
        </p:nvSpPr>
        <p:spPr>
          <a:xfrm>
            <a:off x="676656" y="335127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336956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332384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Push PayTrack API to a new GitLab project as a second remote</a:t>
            </a:r>
          </a:p>
        </p:txBody>
      </p:sp>
      <p:sp>
        <p:nvSpPr>
          <p:cNvPr id="18" name="Oval 17"/>
          <p:cNvSpPr/>
          <p:nvPr/>
        </p:nvSpPr>
        <p:spPr>
          <a:xfrm>
            <a:off x="676656" y="3717035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73532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5" y="368960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Translate ci.yml into .gitlab-ci.yml: stages, templates, a matrix, test reports</a:t>
            </a:r>
          </a:p>
        </p:txBody>
      </p:sp>
      <p:sp>
        <p:nvSpPr>
          <p:cNvPr id="21" name="Oval 20"/>
          <p:cNvSpPr/>
          <p:nvPr/>
        </p:nvSpPr>
        <p:spPr>
          <a:xfrm>
            <a:off x="676656" y="408279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10108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405536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Open a merge request straight from git push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" y="444855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" y="446684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5" y="442112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Protect main and switch on "Pipelines must succeed"</a:t>
            </a:r>
          </a:p>
        </p:txBody>
      </p:sp>
      <p:sp>
        <p:nvSpPr>
          <p:cNvPr id="27" name="Oval 26"/>
          <p:cNvSpPr/>
          <p:nvPr/>
        </p:nvSpPr>
        <p:spPr>
          <a:xfrm>
            <a:off x="676656" y="4814316"/>
            <a:ext cx="237744" cy="237744"/>
          </a:xfrm>
          <a:prstGeom prst="ellipse">
            <a:avLst/>
          </a:prstGeom>
          <a:solidFill>
            <a:srgbClr val="117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" y="4832604"/>
            <a:ext cx="237744" cy="201168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5" y="4786884"/>
            <a:ext cx="104698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50" b="0" i="0">
                <a:solidFill>
                  <a:srgbClr val="123A5F"/>
                </a:solidFill>
                <a:latin typeface="Aptos"/>
              </a:rPr>
              <a:t>Push a broken change and watch the merge get blocked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394960"/>
            <a:ext cx="10872216" cy="475488"/>
          </a:xfrm>
          <a:prstGeom prst="rect">
            <a:avLst/>
          </a:prstGeom>
          <a:solidFill>
            <a:srgbClr val="ECF1F6"/>
          </a:solidFill>
          <a:ln w="9525">
            <a:solidFill>
              <a:srgbClr val="117A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100" b="0" i="0">
                <a:solidFill>
                  <a:srgbClr val="123A5F"/>
                </a:solidFill>
                <a:latin typeface="Aptos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5440680"/>
            <a:ext cx="105156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900" b="1" i="0">
                <a:solidFill>
                  <a:srgbClr val="117A69"/>
                </a:solidFill>
                <a:latin typeface="Aptos"/>
              </a:rPr>
              <a:t>OUTCOME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92808" y="5431536"/>
            <a:ext cx="9454896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1200" b="0" i="0">
                <a:solidFill>
                  <a:srgbClr val="123A5F"/>
                </a:solidFill>
                <a:latin typeface="Aptos"/>
              </a:rPr>
              <a:t>A GitLab project where a red pipeline cannot be merged, and a GitHub-to-GitLab translation 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0</Words>
  <Application>Microsoft Office PowerPoint</Application>
  <PresentationFormat>Widescreen</PresentationFormat>
  <Paragraphs>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Domenico Tarsitani</dc:creator>
  <cp:lastModifiedBy>Domenico Tarsitani</cp:lastModifiedBy>
  <cp:revision>1</cp:revision>
  <dcterms:created xsi:type="dcterms:W3CDTF">2025-02-28T08:21:36Z</dcterms:created>
  <dcterms:modified xsi:type="dcterms:W3CDTF">2025-02-28T08:27:52Z</dcterms:modified>
</cp:coreProperties>
</file>