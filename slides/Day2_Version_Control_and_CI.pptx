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5"/>
    <p:sldId id="271" r:id="rId4"/>
    <p:sldId id="272" r:id="rId3"/>
    <p:sldId id="273" r:id="rId2"/>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8.xml"/><Relationship Id="rId3" Type="http://schemas.openxmlformats.org/officeDocument/2006/relationships/slide" Target="slides/slide17.xml"/><Relationship Id="rId4" Type="http://schemas.openxmlformats.org/officeDocument/2006/relationships/slide" Target="slides/slide16.xml"/><Relationship Id="rId5" Type="http://schemas.openxmlformats.org/officeDocument/2006/relationships/slide" Target="slides/slide1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hours, pitched for beginners. Every new word is explained the first time it appears. Anything deeper is in the separate Going Further deck and the Git Command Guide — point keen delegates there instead of going deeper in class.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list aloud once. Tell the room these ten words cover most of today, and that the recap at the end of the day comes back to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at the level of habits, not tools. The only thing delegates must take away: this course uses GitHub Flow — one short branch per change, reviewed, then merged.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three minutes per slide. Say the plain-English meaning first, then the Git word. Other commands (stash, log in depth, reset, reflog, cherry-pick, tag, bisect, clean) are in the Going Further deck and the Git Command Guide — not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it as a story. Each line is explained on its own slide next.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output, captured from a scripted PayTrack repository. Read the terminal first, then the five points in the same order every time: what it does, how, when, what to be careful of, and one thing good to know. Say the plain-English word before the Git word. The full example is in docs/theory/git-command-guide.md.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output, captured from a scripted PayTrack repository. Read the terminal first, then the five points in the same order every time: what it does, how, when, what to be careful of, and one thing good to know. Say the plain-English word before the Git word. The full example is in docs/theory/git-command-guide.md.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output, captured from a scripted PayTrack repository. Read the terminal first, then the five points in the same order every time: what it does, how, when, what to be careful of, and one thing good to know. Say the plain-English word before the Git word. The full example is in docs/theory/git-command-guide.md.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output, captured from a scripted PayTrack repository. Read the terminal first, then the five points in the same order every time: what it does, how, when, what to be careful of, and one thing good to know. Say the plain-English word before the Git word. The full example is in docs/theory/git-command-guide.md.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output, captured from a scripted PayTrack repository. Read the terminal first, then the five points in the same order every time: what it does, how, when, what to be careful of, and one thing good to know. Say the plain-English word before the Git word. The full example is in docs/theory/git-command-guide.md.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output, captured from a scripted PayTrack repository. Read the terminal first, then the five points in the same order every time: what it does, how, when, what to be careful of, and one thing good to know. Say the plain-English word before the Git word. The full example is in docs/theory/git-command-guide.md.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circle is a commit (a save). Walk the four boxes left to right, top to bottom. The one to remember is SQUASH MERGE, because that is what the course uses on GitHub.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word slowly: re-BASE — change what your branch is based on. Everything about when it is safe follows from one fact: the saves get new IDs.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this live and slowly. The goal is calm: a conflict is Git asking a question. Delegates create one on purpose with a partner in Lab 03.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earlier a problem is caught, the cheaper it is: minutes to fix in step 1, an incident if it reaches the live system. That is why step 1 must be fast and strict.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04 Step 6 does exactly this. The teaching moment is the grey button: a check that applies to every change, with no meeting. break_health.py stands for the small Python patch in the lab README.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Use it to re-set attention and to say explicitly which lab this block leads into.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code top to bottom. The numbered points on the right are the talk track; the full, runnable version is in the matching lab README.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Use it to re-set attention and to say explicitly which lab this block leads into.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code top to bottom. The numbered points on the right are the talk track; the full, runnable version is in the matching lab README.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code top to bottom. The numbered points on the right are the talk track; the full, runnable version is in the matching lab README.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Use it to re-set attention and to say explicitly which lab this block leads into.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guide: labs/lab-03/README.md — it carries the full command list, the RECOVER block for anyone who has fallen behind, and an Instructor notes section with the expected duration, the three failures that actually happen in the room, and a debrief question. Check the run sheet (docs/run-sheet.md) for the time box.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Use it to re-set attention and to say explicitly which lab this block leads into.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Use it to re-set attention and to say explicitly which lab this block leads into.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code top to bottom. The numbered points on the right are the talk track; the full, runnable version is in the matching lab README.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guide: labs/lab-04/README.md — it carries the full command list, the RECOVER block for anyone who has fallen behind, and an Instructor notes section with the expected duration, the three failures that actually happen in the room, and a debrief question. Check the run sheet (docs/run-sheet.md) for the time box.</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as a discussion, not a quiz — the reasoning matters more than the answer. Worked answers: solutions/. Modules 2-9 self-checks are deliberately open because they ask about the delegate's own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5F7E0-7ABE-D3C0-63A5-FAA693B61DE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4D14142F-0237-05B2-12F3-217F91D031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B818A94-B989-CE86-B473-001B31E23621}"/>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C29B2774-C8F6-CF95-9EEC-50ABE8A35D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CAA3A74-908A-732B-B876-4A95EB6930CE}"/>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358114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A9EEE-04B9-E120-0146-94957BE6CEF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C682CE4-A695-0D69-31DF-5D96CE24A8E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68F0B88-1188-3BE8-45E5-6424E0D636E0}"/>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4DBDF9EE-6D0A-5161-4106-EF2D5ADDBF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1E32E08-9004-DAD6-5C7B-6D677285C160}"/>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4005550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8CB9-93FE-3C78-C2CD-1EAF2C6717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594F54DC-F855-6F7E-3197-E1D0866BD6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7FA7E3C-9379-5904-C0DD-DF43405764D8}"/>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57AB7A92-7A9B-0521-8C38-040F3347A49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6CE150-1846-E660-2129-F1A4DEFC7095}"/>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245056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0278-2BD0-EE70-D44C-6C4661905F6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8CA3346-3192-E072-CC3E-594CEE99BE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0887559-F73A-9048-366D-0C385522D57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7B06ABC6-8E5B-8A84-4C69-32CE6CD87DD4}"/>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6" name="Footer Placeholder 5">
            <a:extLst>
              <a:ext uri="{FF2B5EF4-FFF2-40B4-BE49-F238E27FC236}">
                <a16:creationId xmlns:a16="http://schemas.microsoft.com/office/drawing/2014/main" id="{9C7050D9-E01B-49C8-9460-6F5A8638E5E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C786C11-4C6B-15AA-2285-B7A416C46FF5}"/>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1100244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9EE91-BF0E-5883-9C29-741B4A27F24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F1854D85-7DCC-A7CD-D472-98D2C5588A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13AC918-4E7F-A372-4BAA-391F29E379A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7CDAB873-2718-31C9-3728-8C87F4F315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88531A2-BAA5-F9A5-BE21-3C7B39D8839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C03DEFDB-230D-CE83-B402-D2E11A1F503C}"/>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8" name="Footer Placeholder 7">
            <a:extLst>
              <a:ext uri="{FF2B5EF4-FFF2-40B4-BE49-F238E27FC236}">
                <a16:creationId xmlns:a16="http://schemas.microsoft.com/office/drawing/2014/main" id="{65D2F011-F841-554C-13E9-CD1FCA6C7A6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00BB38A-8241-5AF1-E1D8-D19FD9877CD7}"/>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3547266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E7733-ACD7-FD4A-6592-369DAA248D7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63A21B1D-288F-C977-8ACF-C5536E294680}"/>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4" name="Footer Placeholder 3">
            <a:extLst>
              <a:ext uri="{FF2B5EF4-FFF2-40B4-BE49-F238E27FC236}">
                <a16:creationId xmlns:a16="http://schemas.microsoft.com/office/drawing/2014/main" id="{4E6C56CD-B343-2A8C-0C73-50F9ADEDE60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B7336C9-F557-5456-3AA5-964F4B9E8789}"/>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1901316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7399D9-FB45-3C28-D9F9-9C2725691A49}"/>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3" name="Footer Placeholder 2">
            <a:extLst>
              <a:ext uri="{FF2B5EF4-FFF2-40B4-BE49-F238E27FC236}">
                <a16:creationId xmlns:a16="http://schemas.microsoft.com/office/drawing/2014/main" id="{F9AC3ECF-8999-FA85-C90B-2EE07154DBE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14A8C02-1511-50FF-115C-345812D04C09}"/>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725144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F0612-ADB5-2D26-0CFA-9616872E093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C1A00C5A-4FD8-1C37-6CF8-01CFBFF566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B8EB4FA-791A-85B3-AEE0-260478B8B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302BD70-87E6-A3B1-3F07-88B099649B87}"/>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6" name="Footer Placeholder 5">
            <a:extLst>
              <a:ext uri="{FF2B5EF4-FFF2-40B4-BE49-F238E27FC236}">
                <a16:creationId xmlns:a16="http://schemas.microsoft.com/office/drawing/2014/main" id="{BE25A4BD-D824-8817-C6B5-9A3AE2F184E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0D40EBA-26F7-09FF-10D2-A5DBCB5D8341}"/>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456016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1C236-44C3-E4F7-5253-3F4FE2B49C9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B885B9-5B38-77E5-3171-5B21176932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182C77A-7C07-D6B2-361D-E984CF278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AB7184F-61F1-B3AD-5D10-037759E0B26A}"/>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6" name="Footer Placeholder 5">
            <a:extLst>
              <a:ext uri="{FF2B5EF4-FFF2-40B4-BE49-F238E27FC236}">
                <a16:creationId xmlns:a16="http://schemas.microsoft.com/office/drawing/2014/main" id="{C34CE672-B4D7-103D-F0A3-2F98747AA82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F0EF296-811A-3D4E-CE6F-294B4D34D1C3}"/>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1011582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77C23-E6A1-546F-D81C-5B81F4AF322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57B1F0D-033A-B11C-34AC-3C120644223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5106513-31F3-E91A-B68C-E18421CF5374}"/>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924D0E42-B8F4-72F7-D446-03A8BBD636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0B6E9D-B2F3-54B8-EA91-BA14A3FACB83}"/>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3336881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9DD19F-0754-F30B-2555-3250849E5FC6}"/>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12E993B2-FFC8-443E-A6C0-EB1FE69F8BF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793358A-B713-776E-F05D-A7D18C5F5A93}"/>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161EF52E-2DC3-DFFE-7F6E-86F48AD35C2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9E148C-58C3-9F59-3903-AE7BB21D0538}"/>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19828273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8F3D80-4FC1-2E34-4473-3B6DE3F731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BB0B5773-305D-BCAD-DEE5-7EEB3AF51C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84406ED-6FC1-5B03-CC19-B56196C8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1F558EFC-0030-A53F-DA9B-FB6DB3493B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1256021-E9A4-7227-FB69-1C6041DEC0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B1F475-EBA2-46F5-80FD-483EF9506CC3}" type="slidenum">
              <a:rPr lang="en-GB" smtClean="0"/>
              <a:t>‹#›</a:t>
            </a:fld>
            <a:endParaRPr lang="en-GB"/>
          </a:p>
        </p:txBody>
      </p:sp>
    </p:spTree>
    <p:extLst>
      <p:ext uri="{BB962C8B-B14F-4D97-AF65-F5344CB8AC3E}">
        <p14:creationId xmlns:p14="http://schemas.microsoft.com/office/powerpoint/2010/main" val="2980681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731520" y="841248"/>
            <a:ext cx="2798064" cy="932688"/>
          </a:xfrm>
          <a:prstGeom prst="rect">
            <a:avLst/>
          </a:prstGeom>
        </p:spPr>
      </p:pic>
      <p:sp>
        <p:nvSpPr>
          <p:cNvPr id="6" name="TextBox 5"/>
          <p:cNvSpPr txBox="1"/>
          <p:nvPr/>
        </p:nvSpPr>
        <p:spPr>
          <a:xfrm>
            <a:off x="731520" y="2212848"/>
            <a:ext cx="10607040" cy="310896"/>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29ABE2"/>
                </a:solidFill>
                <a:latin typeface="Aptos"/>
              </a:rPr>
              <a:t>NOBLEPROG · DEVOPS PROFESSIONAL · UNICREDIT · DAY 2 OF 6</a:t>
            </a:r>
          </a:p>
        </p:txBody>
      </p:sp>
      <p:sp>
        <p:nvSpPr>
          <p:cNvPr id="7" name="TextBox 6"/>
          <p:cNvSpPr txBox="1"/>
          <p:nvPr/>
        </p:nvSpPr>
        <p:spPr>
          <a:xfrm>
            <a:off x="731520" y="2615184"/>
            <a:ext cx="10424160" cy="1097280"/>
          </a:xfrm>
          <a:prstGeom prst="rect">
            <a:avLst/>
          </a:prstGeom>
          <a:noFill/>
        </p:spPr>
        <p:txBody>
          <a:bodyPr wrap="square" lIns="73152" rIns="73152" tIns="36576" bIns="36576" anchor="t">
            <a:spAutoFit/>
          </a:bodyPr>
          <a:lstStyle/>
          <a:p>
            <a:pPr algn="l">
              <a:lnSpc>
                <a:spcPct val="100000"/>
              </a:lnSpc>
              <a:spcAft>
                <a:spcPts val="200"/>
              </a:spcAft>
            </a:pPr>
            <a:r>
              <a:rPr sz="3400" b="1" i="0">
                <a:solidFill>
                  <a:srgbClr val="123A5F"/>
                </a:solidFill>
                <a:latin typeface="Aptos Display"/>
              </a:rPr>
              <a:t>Working Together on Code</a:t>
            </a:r>
          </a:p>
        </p:txBody>
      </p:sp>
      <p:cxnSp>
        <p:nvCxnSpPr>
          <p:cNvPr id="8" name="Connector 7"/>
          <p:cNvCxnSpPr/>
          <p:nvPr/>
        </p:nvCxnSpPr>
        <p:spPr>
          <a:xfrm>
            <a:off x="731520" y="3959352"/>
            <a:ext cx="2926080" cy="0"/>
          </a:xfrm>
          <a:prstGeom prst="line">
            <a:avLst/>
          </a:prstGeom>
          <a:ln w="31750">
            <a:solidFill>
              <a:srgbClr val="29AB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4114800"/>
            <a:ext cx="10424160" cy="402336"/>
          </a:xfrm>
          <a:prstGeom prst="rect">
            <a:avLst/>
          </a:prstGeom>
          <a:noFill/>
        </p:spPr>
        <p:txBody>
          <a:bodyPr wrap="square" lIns="73152" rIns="73152" tIns="36576" bIns="36576" anchor="t">
            <a:spAutoFit/>
          </a:bodyPr>
          <a:lstStyle/>
          <a:p>
            <a:pPr algn="l">
              <a:lnSpc>
                <a:spcPct val="92000"/>
              </a:lnSpc>
              <a:spcAft>
                <a:spcPts val="200"/>
              </a:spcAft>
            </a:pPr>
            <a:r>
              <a:rPr sz="1500" b="0" i="0">
                <a:solidFill>
                  <a:srgbClr val="5A6570"/>
                </a:solidFill>
                <a:latin typeface="Aptos"/>
              </a:rPr>
              <a:t>How a team saves, shares and checks changes — so mistakes don't reach the live system</a:t>
            </a:r>
          </a:p>
        </p:txBody>
      </p:sp>
      <p:sp>
        <p:nvSpPr>
          <p:cNvPr id="10" name="Rectangle 9"/>
          <p:cNvSpPr/>
          <p:nvPr/>
        </p:nvSpPr>
        <p:spPr>
          <a:xfrm>
            <a:off x="731520" y="47137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TextBox 10"/>
          <p:cNvSpPr txBox="1"/>
          <p:nvPr/>
        </p:nvSpPr>
        <p:spPr>
          <a:xfrm>
            <a:off x="987552" y="4604004"/>
            <a:ext cx="9966960" cy="292608"/>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F2933"/>
                </a:solidFill>
                <a:latin typeface="Aptos"/>
              </a:rPr>
              <a:t>What Git is, in plain English — and the everyday commands you will use</a:t>
            </a:r>
          </a:p>
        </p:txBody>
      </p:sp>
      <p:sp>
        <p:nvSpPr>
          <p:cNvPr id="12" name="Rectangle 11"/>
          <p:cNvSpPr/>
          <p:nvPr/>
        </p:nvSpPr>
        <p:spPr>
          <a:xfrm>
            <a:off x="731520" y="50429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87552" y="4933188"/>
            <a:ext cx="9966960" cy="292608"/>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F2933"/>
                </a:solidFill>
                <a:latin typeface="Aptos"/>
              </a:rPr>
              <a:t>Branches: working on a change without disturbing anyone else</a:t>
            </a:r>
          </a:p>
        </p:txBody>
      </p:sp>
      <p:sp>
        <p:nvSpPr>
          <p:cNvPr id="14" name="Rectangle 13"/>
          <p:cNvSpPr/>
          <p:nvPr/>
        </p:nvSpPr>
        <p:spPr>
          <a:xfrm>
            <a:off x="731520" y="5372100"/>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87552" y="5262372"/>
            <a:ext cx="9966960" cy="292608"/>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F2933"/>
                </a:solidFill>
                <a:latin typeface="Aptos"/>
              </a:rPr>
              <a:t>Pull requests: a colleague checks your work before it goes in</a:t>
            </a:r>
          </a:p>
        </p:txBody>
      </p:sp>
      <p:sp>
        <p:nvSpPr>
          <p:cNvPr id="16" name="Rectangle 15"/>
          <p:cNvSpPr/>
          <p:nvPr/>
        </p:nvSpPr>
        <p:spPr>
          <a:xfrm>
            <a:off x="731520" y="5701284"/>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987552" y="5591556"/>
            <a:ext cx="9966960" cy="292608"/>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F2933"/>
                </a:solidFill>
                <a:latin typeface="Aptos"/>
              </a:rPr>
              <a:t>Continuous Integration: a computer tests every change automatically</a:t>
            </a:r>
          </a:p>
        </p:txBody>
      </p:sp>
      <p:sp>
        <p:nvSpPr>
          <p:cNvPr id="18" name="Rectangle 17"/>
          <p:cNvSpPr/>
          <p:nvPr/>
        </p:nvSpPr>
        <p:spPr>
          <a:xfrm>
            <a:off x="731520" y="603046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987552" y="5920740"/>
            <a:ext cx="9966960" cy="292608"/>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F2933"/>
                </a:solidFill>
                <a:latin typeface="Aptos"/>
              </a:rPr>
              <a:t>After class — Labs 03–05: a shared project, a merge conflict, an automatic check</a:t>
            </a:r>
          </a:p>
        </p:txBody>
      </p:sp>
      <p:sp>
        <p:nvSpPr>
          <p:cNvPr id="20" name="TextBox 19"/>
          <p:cNvSpPr txBox="1"/>
          <p:nvPr/>
        </p:nvSpPr>
        <p:spPr>
          <a:xfrm>
            <a:off x="731520" y="6053328"/>
            <a:ext cx="10424160" cy="310896"/>
          </a:xfrm>
          <a:prstGeom prst="rect">
            <a:avLst/>
          </a:prstGeom>
          <a:noFill/>
        </p:spPr>
        <p:txBody>
          <a:bodyPr wrap="square" lIns="73152" rIns="73152" tIns="36576" bIns="36576" anchor="t">
            <a:spAutoFit/>
          </a:bodyPr>
          <a:lstStyle/>
          <a:p>
            <a:pPr algn="l">
              <a:lnSpc>
                <a:spcPct val="92000"/>
              </a:lnSpc>
              <a:spcAft>
                <a:spcPts val="200"/>
              </a:spcAft>
            </a:pPr>
            <a:r>
              <a:rPr sz="1050" b="0" i="1">
                <a:solidFill>
                  <a:srgbClr val="5A6570"/>
                </a:solidFill>
                <a:latin typeface="Aptos"/>
              </a:rPr>
              <a:t>Today your project stops being yours alone and becomes the team's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TODAY</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Day 2 at a glance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837943"/>
            <a:ext cx="1417320" cy="23088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658368" y="1837943"/>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10" name="Rectangle 9"/>
          <p:cNvSpPr/>
          <p:nvPr/>
        </p:nvSpPr>
        <p:spPr>
          <a:xfrm>
            <a:off x="2075688" y="1837943"/>
            <a:ext cx="9454896" cy="23088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TextBox 10"/>
          <p:cNvSpPr txBox="1"/>
          <p:nvPr/>
        </p:nvSpPr>
        <p:spPr>
          <a:xfrm>
            <a:off x="2258568" y="1837943"/>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Words you will hear today · the journey of one change</a:t>
            </a:r>
          </a:p>
        </p:txBody>
      </p:sp>
      <p:sp>
        <p:nvSpPr>
          <p:cNvPr id="12" name="Rectangle 11"/>
          <p:cNvSpPr/>
          <p:nvPr/>
        </p:nvSpPr>
        <p:spPr>
          <a:xfrm>
            <a:off x="658368" y="2178558"/>
            <a:ext cx="1417320" cy="23088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58368" y="2178558"/>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14" name="Rectangle 13"/>
          <p:cNvSpPr/>
          <p:nvPr/>
        </p:nvSpPr>
        <p:spPr>
          <a:xfrm>
            <a:off x="2075688" y="2178558"/>
            <a:ext cx="9454896" cy="23088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2258568" y="2178558"/>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Branches — and how teams use them</a:t>
            </a:r>
          </a:p>
        </p:txBody>
      </p:sp>
      <p:sp>
        <p:nvSpPr>
          <p:cNvPr id="16" name="Rectangle 15"/>
          <p:cNvSpPr/>
          <p:nvPr/>
        </p:nvSpPr>
        <p:spPr>
          <a:xfrm>
            <a:off x="658368" y="2519172"/>
            <a:ext cx="1417320" cy="23088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658368" y="2519172"/>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18" name="Rectangle 17"/>
          <p:cNvSpPr/>
          <p:nvPr/>
        </p:nvSpPr>
        <p:spPr>
          <a:xfrm>
            <a:off x="2075688" y="2519172"/>
            <a:ext cx="9454896" cy="23088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2258568" y="2519172"/>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Everyday Git: the commands you need</a:t>
            </a:r>
          </a:p>
        </p:txBody>
      </p:sp>
      <p:sp>
        <p:nvSpPr>
          <p:cNvPr id="20" name="Rectangle 19"/>
          <p:cNvSpPr/>
          <p:nvPr/>
        </p:nvSpPr>
        <p:spPr>
          <a:xfrm>
            <a:off x="658368" y="2859786"/>
            <a:ext cx="1417320" cy="23088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58368" y="2859786"/>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22" name="Rectangle 21"/>
          <p:cNvSpPr/>
          <p:nvPr/>
        </p:nvSpPr>
        <p:spPr>
          <a:xfrm>
            <a:off x="2075688" y="2859786"/>
            <a:ext cx="9454896" cy="23088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2258568" y="2859786"/>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Combining work: merge, rebase and conflicts · COMPARE exercise</a:t>
            </a:r>
          </a:p>
        </p:txBody>
      </p:sp>
      <p:sp>
        <p:nvSpPr>
          <p:cNvPr id="24" name="Rectangle 23"/>
          <p:cNvSpPr/>
          <p:nvPr/>
        </p:nvSpPr>
        <p:spPr>
          <a:xfrm>
            <a:off x="658368" y="3200400"/>
            <a:ext cx="1417320" cy="230886"/>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58368" y="3200400"/>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LIVE DEMO</a:t>
            </a:r>
          </a:p>
        </p:txBody>
      </p:sp>
      <p:sp>
        <p:nvSpPr>
          <p:cNvPr id="26" name="Rectangle 25"/>
          <p:cNvSpPr/>
          <p:nvPr/>
        </p:nvSpPr>
        <p:spPr>
          <a:xfrm>
            <a:off x="2075688" y="3200400"/>
            <a:ext cx="9454896" cy="23088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7" name="TextBox 26"/>
          <p:cNvSpPr txBox="1"/>
          <p:nvPr/>
        </p:nvSpPr>
        <p:spPr>
          <a:xfrm>
            <a:off x="2258568" y="3200400"/>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A merge conflict, start to finish</a:t>
            </a:r>
          </a:p>
        </p:txBody>
      </p:sp>
      <p:sp>
        <p:nvSpPr>
          <p:cNvPr id="28" name="Rectangle 27"/>
          <p:cNvSpPr/>
          <p:nvPr/>
        </p:nvSpPr>
        <p:spPr>
          <a:xfrm>
            <a:off x="658368" y="3541014"/>
            <a:ext cx="1417320" cy="230886"/>
          </a:xfrm>
          <a:prstGeom prst="rect">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658368" y="3541014"/>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BREAK</a:t>
            </a:r>
          </a:p>
        </p:txBody>
      </p:sp>
      <p:sp>
        <p:nvSpPr>
          <p:cNvPr id="30" name="Rectangle 29"/>
          <p:cNvSpPr/>
          <p:nvPr/>
        </p:nvSpPr>
        <p:spPr>
          <a:xfrm>
            <a:off x="2075688" y="3541014"/>
            <a:ext cx="9454896" cy="230886"/>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2258568" y="3541014"/>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0" i="0">
                <a:solidFill>
                  <a:srgbClr val="5A6570"/>
                </a:solidFill>
                <a:latin typeface="Aptos"/>
              </a:rPr>
              <a:t>Break · 15 minutes</a:t>
            </a:r>
          </a:p>
        </p:txBody>
      </p:sp>
      <p:sp>
        <p:nvSpPr>
          <p:cNvPr id="32" name="Rectangle 31"/>
          <p:cNvSpPr/>
          <p:nvPr/>
        </p:nvSpPr>
        <p:spPr>
          <a:xfrm>
            <a:off x="658368" y="3881627"/>
            <a:ext cx="1417320" cy="23088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658368" y="3881627"/>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34" name="Rectangle 33"/>
          <p:cNvSpPr/>
          <p:nvPr/>
        </p:nvSpPr>
        <p:spPr>
          <a:xfrm>
            <a:off x="2075688" y="3881627"/>
            <a:ext cx="9454896" cy="23088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5" name="TextBox 34"/>
          <p:cNvSpPr txBox="1"/>
          <p:nvPr/>
        </p:nvSpPr>
        <p:spPr>
          <a:xfrm>
            <a:off x="2258568" y="3881627"/>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Pull requests: a second pair of eyes on every change</a:t>
            </a:r>
          </a:p>
        </p:txBody>
      </p:sp>
      <p:sp>
        <p:nvSpPr>
          <p:cNvPr id="36" name="Rectangle 35"/>
          <p:cNvSpPr/>
          <p:nvPr/>
        </p:nvSpPr>
        <p:spPr>
          <a:xfrm>
            <a:off x="658368" y="4222241"/>
            <a:ext cx="1417320" cy="23088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7" name="TextBox 36"/>
          <p:cNvSpPr txBox="1"/>
          <p:nvPr/>
        </p:nvSpPr>
        <p:spPr>
          <a:xfrm>
            <a:off x="658368" y="4222241"/>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38" name="Rectangle 37"/>
          <p:cNvSpPr/>
          <p:nvPr/>
        </p:nvSpPr>
        <p:spPr>
          <a:xfrm>
            <a:off x="2075688" y="4222241"/>
            <a:ext cx="9454896" cy="23088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9" name="TextBox 38"/>
          <p:cNvSpPr txBox="1"/>
          <p:nvPr/>
        </p:nvSpPr>
        <p:spPr>
          <a:xfrm>
            <a:off x="2258568" y="4222241"/>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Continuous Integration · PREDICT exercise</a:t>
            </a:r>
          </a:p>
        </p:txBody>
      </p:sp>
      <p:sp>
        <p:nvSpPr>
          <p:cNvPr id="40" name="Rectangle 39"/>
          <p:cNvSpPr/>
          <p:nvPr/>
        </p:nvSpPr>
        <p:spPr>
          <a:xfrm>
            <a:off x="658368" y="4562855"/>
            <a:ext cx="1417320" cy="23088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1" name="TextBox 40"/>
          <p:cNvSpPr txBox="1"/>
          <p:nvPr/>
        </p:nvSpPr>
        <p:spPr>
          <a:xfrm>
            <a:off x="658368" y="4562855"/>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42" name="Rectangle 41"/>
          <p:cNvSpPr/>
          <p:nvPr/>
        </p:nvSpPr>
        <p:spPr>
          <a:xfrm>
            <a:off x="2075688" y="4562855"/>
            <a:ext cx="9454896" cy="23088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3" name="TextBox 42"/>
          <p:cNvSpPr txBox="1"/>
          <p:nvPr/>
        </p:nvSpPr>
        <p:spPr>
          <a:xfrm>
            <a:off x="2258568" y="4562855"/>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The tools that run the checks: GitHub Actions and Jenkins</a:t>
            </a:r>
          </a:p>
        </p:txBody>
      </p:sp>
      <p:sp>
        <p:nvSpPr>
          <p:cNvPr id="44" name="Rectangle 43"/>
          <p:cNvSpPr/>
          <p:nvPr/>
        </p:nvSpPr>
        <p:spPr>
          <a:xfrm>
            <a:off x="658368" y="4903469"/>
            <a:ext cx="1417320" cy="230886"/>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5" name="TextBox 44"/>
          <p:cNvSpPr txBox="1"/>
          <p:nvPr/>
        </p:nvSpPr>
        <p:spPr>
          <a:xfrm>
            <a:off x="658368" y="4903469"/>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LIVE DEMO</a:t>
            </a:r>
          </a:p>
        </p:txBody>
      </p:sp>
      <p:sp>
        <p:nvSpPr>
          <p:cNvPr id="46" name="Rectangle 45"/>
          <p:cNvSpPr/>
          <p:nvPr/>
        </p:nvSpPr>
        <p:spPr>
          <a:xfrm>
            <a:off x="2075688" y="4903469"/>
            <a:ext cx="9454896" cy="23088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7" name="TextBox 46"/>
          <p:cNvSpPr txBox="1"/>
          <p:nvPr/>
        </p:nvSpPr>
        <p:spPr>
          <a:xfrm>
            <a:off x="2258568" y="4903469"/>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Watch the merge button go grey</a:t>
            </a:r>
          </a:p>
        </p:txBody>
      </p:sp>
      <p:sp>
        <p:nvSpPr>
          <p:cNvPr id="48" name="Rectangle 47"/>
          <p:cNvSpPr/>
          <p:nvPr/>
        </p:nvSpPr>
        <p:spPr>
          <a:xfrm>
            <a:off x="658368" y="5244083"/>
            <a:ext cx="1417320" cy="230886"/>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9" name="TextBox 48"/>
          <p:cNvSpPr txBox="1"/>
          <p:nvPr/>
        </p:nvSpPr>
        <p:spPr>
          <a:xfrm>
            <a:off x="658368" y="5244083"/>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PRACTICAL</a:t>
            </a:r>
          </a:p>
        </p:txBody>
      </p:sp>
      <p:sp>
        <p:nvSpPr>
          <p:cNvPr id="50" name="Rectangle 49"/>
          <p:cNvSpPr/>
          <p:nvPr/>
        </p:nvSpPr>
        <p:spPr>
          <a:xfrm>
            <a:off x="2075688" y="5244083"/>
            <a:ext cx="9454896" cy="23088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1" name="TextBox 50"/>
          <p:cNvSpPr txBox="1"/>
          <p:nvPr/>
        </p:nvSpPr>
        <p:spPr>
          <a:xfrm>
            <a:off x="2258568" y="5244083"/>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Start Lab 03 together</a:t>
            </a:r>
          </a:p>
        </p:txBody>
      </p:sp>
      <p:sp>
        <p:nvSpPr>
          <p:cNvPr id="52" name="Rectangle 51"/>
          <p:cNvSpPr/>
          <p:nvPr/>
        </p:nvSpPr>
        <p:spPr>
          <a:xfrm>
            <a:off x="658368" y="5584697"/>
            <a:ext cx="1417320" cy="230886"/>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3" name="TextBox 52"/>
          <p:cNvSpPr txBox="1"/>
          <p:nvPr/>
        </p:nvSpPr>
        <p:spPr>
          <a:xfrm>
            <a:off x="658368" y="5584697"/>
            <a:ext cx="1417320" cy="230886"/>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AFTER CLASS</a:t>
            </a:r>
          </a:p>
        </p:txBody>
      </p:sp>
      <p:sp>
        <p:nvSpPr>
          <p:cNvPr id="54" name="Rectangle 53"/>
          <p:cNvSpPr/>
          <p:nvPr/>
        </p:nvSpPr>
        <p:spPr>
          <a:xfrm>
            <a:off x="2075688" y="5584697"/>
            <a:ext cx="9454896" cy="23088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5" name="TextBox 54"/>
          <p:cNvSpPr txBox="1"/>
          <p:nvPr/>
        </p:nvSpPr>
        <p:spPr>
          <a:xfrm>
            <a:off x="2258568" y="5584697"/>
            <a:ext cx="9134856" cy="230886"/>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Finish Labs 03–05 after class · optional reading: Day 2 Going Further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START HERE</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Words you will hear today</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3097072"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Word</a:t>
            </a:r>
          </a:p>
        </p:txBody>
      </p:sp>
      <p:sp>
        <p:nvSpPr>
          <p:cNvPr id="10" name="TextBox 9"/>
          <p:cNvSpPr txBox="1"/>
          <p:nvPr/>
        </p:nvSpPr>
        <p:spPr>
          <a:xfrm>
            <a:off x="4011472" y="1828800"/>
            <a:ext cx="7445959"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What it means in plain English</a:t>
            </a:r>
          </a:p>
        </p:txBody>
      </p:sp>
      <p:sp>
        <p:nvSpPr>
          <p:cNvPr id="11" name="Rectangle 10"/>
          <p:cNvSpPr/>
          <p:nvPr/>
        </p:nvSpPr>
        <p:spPr>
          <a:xfrm>
            <a:off x="658368" y="2167128"/>
            <a:ext cx="10872216" cy="34770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749808" y="2185416"/>
            <a:ext cx="3097072"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Repository (repo)</a:t>
            </a:r>
          </a:p>
        </p:txBody>
      </p:sp>
      <p:sp>
        <p:nvSpPr>
          <p:cNvPr id="13" name="TextBox 12"/>
          <p:cNvSpPr txBox="1"/>
          <p:nvPr/>
        </p:nvSpPr>
        <p:spPr>
          <a:xfrm>
            <a:off x="4011472" y="2185416"/>
            <a:ext cx="7445959"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project folder plus the full history of every change made to it</a:t>
            </a:r>
          </a:p>
        </p:txBody>
      </p:sp>
      <p:sp>
        <p:nvSpPr>
          <p:cNvPr id="14" name="Rectangle 13"/>
          <p:cNvSpPr/>
          <p:nvPr/>
        </p:nvSpPr>
        <p:spPr>
          <a:xfrm>
            <a:off x="658368" y="2514828"/>
            <a:ext cx="10872216" cy="34770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749808" y="2533116"/>
            <a:ext cx="3097072"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Commit</a:t>
            </a:r>
          </a:p>
        </p:txBody>
      </p:sp>
      <p:sp>
        <p:nvSpPr>
          <p:cNvPr id="16" name="TextBox 15"/>
          <p:cNvSpPr txBox="1"/>
          <p:nvPr/>
        </p:nvSpPr>
        <p:spPr>
          <a:xfrm>
            <a:off x="4011472" y="2533116"/>
            <a:ext cx="7445959"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saved snapshot of your changes, with a short note saying why</a:t>
            </a:r>
          </a:p>
        </p:txBody>
      </p:sp>
      <p:sp>
        <p:nvSpPr>
          <p:cNvPr id="17" name="Rectangle 16"/>
          <p:cNvSpPr/>
          <p:nvPr/>
        </p:nvSpPr>
        <p:spPr>
          <a:xfrm>
            <a:off x="658368" y="2862529"/>
            <a:ext cx="10872216" cy="555726"/>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749808" y="2880817"/>
            <a:ext cx="3097072" cy="51915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Branch</a:t>
            </a:r>
          </a:p>
        </p:txBody>
      </p:sp>
      <p:sp>
        <p:nvSpPr>
          <p:cNvPr id="19" name="TextBox 18"/>
          <p:cNvSpPr txBox="1"/>
          <p:nvPr/>
        </p:nvSpPr>
        <p:spPr>
          <a:xfrm>
            <a:off x="4011472" y="2880817"/>
            <a:ext cx="7445959" cy="51915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separate line of work, so you can change things without touching the main version</a:t>
            </a:r>
          </a:p>
        </p:txBody>
      </p:sp>
      <p:sp>
        <p:nvSpPr>
          <p:cNvPr id="20" name="Rectangle 19"/>
          <p:cNvSpPr/>
          <p:nvPr/>
        </p:nvSpPr>
        <p:spPr>
          <a:xfrm>
            <a:off x="658368" y="3418255"/>
            <a:ext cx="10872216" cy="34770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436543"/>
            <a:ext cx="3097072"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main</a:t>
            </a:r>
          </a:p>
        </p:txBody>
      </p:sp>
      <p:sp>
        <p:nvSpPr>
          <p:cNvPr id="22" name="TextBox 21"/>
          <p:cNvSpPr txBox="1"/>
          <p:nvPr/>
        </p:nvSpPr>
        <p:spPr>
          <a:xfrm>
            <a:off x="4011472" y="3436543"/>
            <a:ext cx="7445959"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official version of the project that everyone builds on</a:t>
            </a:r>
          </a:p>
        </p:txBody>
      </p:sp>
      <p:sp>
        <p:nvSpPr>
          <p:cNvPr id="23" name="Rectangle 22"/>
          <p:cNvSpPr/>
          <p:nvPr/>
        </p:nvSpPr>
        <p:spPr>
          <a:xfrm>
            <a:off x="658368" y="3765956"/>
            <a:ext cx="10872216" cy="34770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749808" y="3784244"/>
            <a:ext cx="3097072"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Merge</a:t>
            </a:r>
          </a:p>
        </p:txBody>
      </p:sp>
      <p:sp>
        <p:nvSpPr>
          <p:cNvPr id="25" name="TextBox 24"/>
          <p:cNvSpPr txBox="1"/>
          <p:nvPr/>
        </p:nvSpPr>
        <p:spPr>
          <a:xfrm>
            <a:off x="4011472" y="3784244"/>
            <a:ext cx="7445959"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Bringing the changes from one branch into another</a:t>
            </a:r>
          </a:p>
        </p:txBody>
      </p:sp>
      <p:sp>
        <p:nvSpPr>
          <p:cNvPr id="26" name="Rectangle 25"/>
          <p:cNvSpPr/>
          <p:nvPr/>
        </p:nvSpPr>
        <p:spPr>
          <a:xfrm>
            <a:off x="658368" y="4113657"/>
            <a:ext cx="10872216" cy="34770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7" name="TextBox 26"/>
          <p:cNvSpPr txBox="1"/>
          <p:nvPr/>
        </p:nvSpPr>
        <p:spPr>
          <a:xfrm>
            <a:off x="749808" y="4131945"/>
            <a:ext cx="3097072"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Merge conflict</a:t>
            </a:r>
          </a:p>
        </p:txBody>
      </p:sp>
      <p:sp>
        <p:nvSpPr>
          <p:cNvPr id="28" name="TextBox 27"/>
          <p:cNvSpPr txBox="1"/>
          <p:nvPr/>
        </p:nvSpPr>
        <p:spPr>
          <a:xfrm>
            <a:off x="4011472" y="4131945"/>
            <a:ext cx="7445959"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Two people changed the same line — Git asks a person to decide</a:t>
            </a:r>
          </a:p>
        </p:txBody>
      </p:sp>
      <p:sp>
        <p:nvSpPr>
          <p:cNvPr id="29" name="Rectangle 28"/>
          <p:cNvSpPr/>
          <p:nvPr/>
        </p:nvSpPr>
        <p:spPr>
          <a:xfrm>
            <a:off x="658368" y="4461357"/>
            <a:ext cx="10872216" cy="34770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0" name="TextBox 29"/>
          <p:cNvSpPr txBox="1"/>
          <p:nvPr/>
        </p:nvSpPr>
        <p:spPr>
          <a:xfrm>
            <a:off x="749808" y="4479645"/>
            <a:ext cx="3097072"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Remote · GitHub</a:t>
            </a:r>
          </a:p>
        </p:txBody>
      </p:sp>
      <p:sp>
        <p:nvSpPr>
          <p:cNvPr id="31" name="TextBox 30"/>
          <p:cNvSpPr txBox="1"/>
          <p:nvPr/>
        </p:nvSpPr>
        <p:spPr>
          <a:xfrm>
            <a:off x="4011472" y="4479645"/>
            <a:ext cx="7445959"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shared copy of the repository, on a server the whole team can reach</a:t>
            </a:r>
          </a:p>
        </p:txBody>
      </p:sp>
      <p:sp>
        <p:nvSpPr>
          <p:cNvPr id="32" name="Rectangle 31"/>
          <p:cNvSpPr/>
          <p:nvPr/>
        </p:nvSpPr>
        <p:spPr>
          <a:xfrm>
            <a:off x="658368" y="4809058"/>
            <a:ext cx="10872216" cy="34770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749808" y="4827346"/>
            <a:ext cx="3097072"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Push · pull</a:t>
            </a:r>
          </a:p>
        </p:txBody>
      </p:sp>
      <p:sp>
        <p:nvSpPr>
          <p:cNvPr id="34" name="TextBox 33"/>
          <p:cNvSpPr txBox="1"/>
          <p:nvPr/>
        </p:nvSpPr>
        <p:spPr>
          <a:xfrm>
            <a:off x="4011472" y="4827346"/>
            <a:ext cx="7445959"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Upload your commits to the shared copy · download everyone else's</a:t>
            </a:r>
          </a:p>
        </p:txBody>
      </p:sp>
      <p:sp>
        <p:nvSpPr>
          <p:cNvPr id="35" name="Rectangle 34"/>
          <p:cNvSpPr/>
          <p:nvPr/>
        </p:nvSpPr>
        <p:spPr>
          <a:xfrm>
            <a:off x="658368" y="5156758"/>
            <a:ext cx="10872216" cy="34770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6" name="TextBox 35"/>
          <p:cNvSpPr txBox="1"/>
          <p:nvPr/>
        </p:nvSpPr>
        <p:spPr>
          <a:xfrm>
            <a:off x="749808" y="5175046"/>
            <a:ext cx="3097072"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Pull request (PR)</a:t>
            </a:r>
          </a:p>
        </p:txBody>
      </p:sp>
      <p:sp>
        <p:nvSpPr>
          <p:cNvPr id="37" name="TextBox 36"/>
          <p:cNvSpPr txBox="1"/>
          <p:nvPr/>
        </p:nvSpPr>
        <p:spPr>
          <a:xfrm>
            <a:off x="4011472" y="5175046"/>
            <a:ext cx="7445959"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request to merge your branch, where colleagues review it first</a:t>
            </a:r>
          </a:p>
        </p:txBody>
      </p:sp>
      <p:sp>
        <p:nvSpPr>
          <p:cNvPr id="38" name="Rectangle 37"/>
          <p:cNvSpPr/>
          <p:nvPr/>
        </p:nvSpPr>
        <p:spPr>
          <a:xfrm>
            <a:off x="658368" y="5504459"/>
            <a:ext cx="10872216" cy="34770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9" name="TextBox 38"/>
          <p:cNvSpPr txBox="1"/>
          <p:nvPr/>
        </p:nvSpPr>
        <p:spPr>
          <a:xfrm>
            <a:off x="749808" y="5522747"/>
            <a:ext cx="3097072"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CI (Continuous Integration)</a:t>
            </a:r>
          </a:p>
        </p:txBody>
      </p:sp>
      <p:sp>
        <p:nvSpPr>
          <p:cNvPr id="40" name="TextBox 39"/>
          <p:cNvSpPr txBox="1"/>
          <p:nvPr/>
        </p:nvSpPr>
        <p:spPr>
          <a:xfrm>
            <a:off x="4011472" y="5522747"/>
            <a:ext cx="7445959"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computer that builds and tests every change automatically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GIT IN PLAIN ENGLISH</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The journey of one change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41247" y="1965960"/>
            <a:ext cx="0" cy="3416740"/>
          </a:xfrm>
          <a:prstGeom prst="line">
            <a:avLst/>
          </a:prstGeom>
          <a:ln w="25400">
            <a:solidFill>
              <a:srgbClr val="B9CBDA"/>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58368" y="1773936"/>
            <a:ext cx="365760" cy="365760"/>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658368" y="1819656"/>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1</a:t>
            </a:r>
          </a:p>
        </p:txBody>
      </p:sp>
      <p:sp>
        <p:nvSpPr>
          <p:cNvPr id="11" name="TextBox 10"/>
          <p:cNvSpPr txBox="1"/>
          <p:nvPr/>
        </p:nvSpPr>
        <p:spPr>
          <a:xfrm>
            <a:off x="1188719" y="1755648"/>
            <a:ext cx="10305288" cy="542611"/>
          </a:xfrm>
          <a:prstGeom prst="rect">
            <a:avLst/>
          </a:prstGeom>
          <a:noFill/>
        </p:spPr>
        <p:txBody>
          <a:bodyPr wrap="square" lIns="73152" rIns="73152" tIns="36576" bIns="36576">
            <a:spAutoFit/>
          </a:bodyPr>
          <a:lstStyle/>
          <a:p>
            <a:pPr>
              <a:lnSpc>
                <a:spcPct val="95000"/>
              </a:lnSpc>
              <a:spcAft>
                <a:spcPts val="100"/>
              </a:spcAft>
            </a:pPr>
            <a:r>
              <a:rPr sz="1310" b="1">
                <a:solidFill>
                  <a:srgbClr val="123A5F"/>
                </a:solidFill>
                <a:latin typeface="Aptos"/>
              </a:rPr>
              <a:t>You edit files in your project folder</a:t>
            </a:r>
          </a:p>
          <a:p>
            <a:pPr>
              <a:lnSpc>
                <a:spcPct val="95000"/>
              </a:lnSpc>
              <a:spcBef>
                <a:spcPts val="200"/>
              </a:spcBef>
              <a:spcAft>
                <a:spcPts val="100"/>
              </a:spcAft>
            </a:pPr>
            <a:r>
              <a:rPr sz="1140" b="0">
                <a:solidFill>
                  <a:srgbClr val="5A6570"/>
                </a:solidFill>
                <a:latin typeface="Aptos"/>
              </a:rPr>
              <a:t>Nothing is saved in Git yet — this is your working copy</a:t>
            </a:r>
          </a:p>
        </p:txBody>
      </p:sp>
      <p:sp>
        <p:nvSpPr>
          <p:cNvPr id="12" name="Oval 11"/>
          <p:cNvSpPr/>
          <p:nvPr/>
        </p:nvSpPr>
        <p:spPr>
          <a:xfrm>
            <a:off x="658368" y="2457284"/>
            <a:ext cx="365760" cy="365760"/>
          </a:xfrm>
          <a:prstGeom prst="ellipse">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58368" y="2503004"/>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2</a:t>
            </a:r>
          </a:p>
        </p:txBody>
      </p:sp>
      <p:sp>
        <p:nvSpPr>
          <p:cNvPr id="14" name="TextBox 13"/>
          <p:cNvSpPr txBox="1"/>
          <p:nvPr/>
        </p:nvSpPr>
        <p:spPr>
          <a:xfrm>
            <a:off x="1188719" y="2438996"/>
            <a:ext cx="10305288" cy="542611"/>
          </a:xfrm>
          <a:prstGeom prst="rect">
            <a:avLst/>
          </a:prstGeom>
          <a:noFill/>
        </p:spPr>
        <p:txBody>
          <a:bodyPr wrap="square" lIns="73152" rIns="73152" tIns="36576" bIns="36576">
            <a:spAutoFit/>
          </a:bodyPr>
          <a:lstStyle/>
          <a:p>
            <a:pPr>
              <a:lnSpc>
                <a:spcPct val="95000"/>
              </a:lnSpc>
              <a:spcAft>
                <a:spcPts val="100"/>
              </a:spcAft>
            </a:pPr>
            <a:r>
              <a:rPr sz="1310" b="1">
                <a:solidFill>
                  <a:srgbClr val="123A5F"/>
                </a:solidFill>
                <a:latin typeface="Aptos"/>
              </a:rPr>
              <a:t>git add — choose which changes to save</a:t>
            </a:r>
          </a:p>
          <a:p>
            <a:pPr>
              <a:lnSpc>
                <a:spcPct val="95000"/>
              </a:lnSpc>
              <a:spcBef>
                <a:spcPts val="200"/>
              </a:spcBef>
              <a:spcAft>
                <a:spcPts val="100"/>
              </a:spcAft>
            </a:pPr>
            <a:r>
              <a:rPr sz="1140" b="0">
                <a:solidFill>
                  <a:srgbClr val="5A6570"/>
                </a:solidFill>
                <a:latin typeface="Aptos"/>
              </a:rPr>
              <a:t>Like putting items in a basket before you pay</a:t>
            </a:r>
          </a:p>
        </p:txBody>
      </p:sp>
      <p:sp>
        <p:nvSpPr>
          <p:cNvPr id="15" name="Oval 14"/>
          <p:cNvSpPr/>
          <p:nvPr/>
        </p:nvSpPr>
        <p:spPr>
          <a:xfrm>
            <a:off x="658368" y="3140632"/>
            <a:ext cx="365760" cy="365760"/>
          </a:xfrm>
          <a:prstGeom prst="ellipse">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658368" y="3186352"/>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3</a:t>
            </a:r>
          </a:p>
        </p:txBody>
      </p:sp>
      <p:sp>
        <p:nvSpPr>
          <p:cNvPr id="17" name="TextBox 16"/>
          <p:cNvSpPr txBox="1"/>
          <p:nvPr/>
        </p:nvSpPr>
        <p:spPr>
          <a:xfrm>
            <a:off x="1188719" y="3122344"/>
            <a:ext cx="10305288" cy="542611"/>
          </a:xfrm>
          <a:prstGeom prst="rect">
            <a:avLst/>
          </a:prstGeom>
          <a:noFill/>
        </p:spPr>
        <p:txBody>
          <a:bodyPr wrap="square" lIns="73152" rIns="73152" tIns="36576" bIns="36576">
            <a:spAutoFit/>
          </a:bodyPr>
          <a:lstStyle/>
          <a:p>
            <a:pPr>
              <a:lnSpc>
                <a:spcPct val="95000"/>
              </a:lnSpc>
              <a:spcAft>
                <a:spcPts val="100"/>
              </a:spcAft>
            </a:pPr>
            <a:r>
              <a:rPr sz="1310" b="1">
                <a:solidFill>
                  <a:srgbClr val="123A5F"/>
                </a:solidFill>
                <a:latin typeface="Aptos"/>
              </a:rPr>
              <a:t>git commit — save them as a snapshot, with a note</a:t>
            </a:r>
          </a:p>
          <a:p>
            <a:pPr>
              <a:lnSpc>
                <a:spcPct val="95000"/>
              </a:lnSpc>
              <a:spcBef>
                <a:spcPts val="200"/>
              </a:spcBef>
              <a:spcAft>
                <a:spcPts val="100"/>
              </a:spcAft>
            </a:pPr>
            <a:r>
              <a:rPr sz="1140" b="0">
                <a:solidFill>
                  <a:srgbClr val="5A6570"/>
                </a:solidFill>
                <a:latin typeface="Aptos"/>
              </a:rPr>
              <a:t>A save point you can always go back to</a:t>
            </a:r>
          </a:p>
        </p:txBody>
      </p:sp>
      <p:sp>
        <p:nvSpPr>
          <p:cNvPr id="18" name="Oval 17"/>
          <p:cNvSpPr/>
          <p:nvPr/>
        </p:nvSpPr>
        <p:spPr>
          <a:xfrm>
            <a:off x="658368" y="3823980"/>
            <a:ext cx="365760" cy="365760"/>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658368" y="3869700"/>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4</a:t>
            </a:r>
          </a:p>
        </p:txBody>
      </p:sp>
      <p:sp>
        <p:nvSpPr>
          <p:cNvPr id="20" name="TextBox 19"/>
          <p:cNvSpPr txBox="1"/>
          <p:nvPr/>
        </p:nvSpPr>
        <p:spPr>
          <a:xfrm>
            <a:off x="1188719" y="3805692"/>
            <a:ext cx="10305288" cy="542611"/>
          </a:xfrm>
          <a:prstGeom prst="rect">
            <a:avLst/>
          </a:prstGeom>
          <a:noFill/>
        </p:spPr>
        <p:txBody>
          <a:bodyPr wrap="square" lIns="73152" rIns="73152" tIns="36576" bIns="36576">
            <a:spAutoFit/>
          </a:bodyPr>
          <a:lstStyle/>
          <a:p>
            <a:pPr>
              <a:lnSpc>
                <a:spcPct val="95000"/>
              </a:lnSpc>
              <a:spcAft>
                <a:spcPts val="100"/>
              </a:spcAft>
            </a:pPr>
            <a:r>
              <a:rPr sz="1310" b="1">
                <a:solidFill>
                  <a:srgbClr val="123A5F"/>
                </a:solidFill>
                <a:latin typeface="Aptos"/>
              </a:rPr>
              <a:t>git push — upload your commits to GitHub</a:t>
            </a:r>
          </a:p>
          <a:p>
            <a:pPr>
              <a:lnSpc>
                <a:spcPct val="95000"/>
              </a:lnSpc>
              <a:spcBef>
                <a:spcPts val="200"/>
              </a:spcBef>
              <a:spcAft>
                <a:spcPts val="100"/>
              </a:spcAft>
            </a:pPr>
            <a:r>
              <a:rPr sz="1140" b="0">
                <a:solidFill>
                  <a:srgbClr val="5A6570"/>
                </a:solidFill>
                <a:latin typeface="Aptos"/>
              </a:rPr>
              <a:t>Now the team can see your work</a:t>
            </a:r>
          </a:p>
        </p:txBody>
      </p:sp>
      <p:sp>
        <p:nvSpPr>
          <p:cNvPr id="21" name="Oval 20"/>
          <p:cNvSpPr/>
          <p:nvPr/>
        </p:nvSpPr>
        <p:spPr>
          <a:xfrm>
            <a:off x="658368" y="4507328"/>
            <a:ext cx="365760" cy="365760"/>
          </a:xfrm>
          <a:prstGeom prst="ellipse">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658368" y="4553048"/>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5</a:t>
            </a:r>
          </a:p>
        </p:txBody>
      </p:sp>
      <p:sp>
        <p:nvSpPr>
          <p:cNvPr id="23" name="TextBox 22"/>
          <p:cNvSpPr txBox="1"/>
          <p:nvPr/>
        </p:nvSpPr>
        <p:spPr>
          <a:xfrm>
            <a:off x="1188719" y="4489040"/>
            <a:ext cx="10305288" cy="542611"/>
          </a:xfrm>
          <a:prstGeom prst="rect">
            <a:avLst/>
          </a:prstGeom>
          <a:noFill/>
        </p:spPr>
        <p:txBody>
          <a:bodyPr wrap="square" lIns="73152" rIns="73152" tIns="36576" bIns="36576">
            <a:spAutoFit/>
          </a:bodyPr>
          <a:lstStyle/>
          <a:p>
            <a:pPr>
              <a:lnSpc>
                <a:spcPct val="95000"/>
              </a:lnSpc>
              <a:spcAft>
                <a:spcPts val="100"/>
              </a:spcAft>
            </a:pPr>
            <a:r>
              <a:rPr sz="1310" b="1">
                <a:solidFill>
                  <a:srgbClr val="123A5F"/>
                </a:solidFill>
                <a:latin typeface="Aptos"/>
              </a:rPr>
              <a:t>Open a pull request — ask for a review</a:t>
            </a:r>
          </a:p>
          <a:p>
            <a:pPr>
              <a:lnSpc>
                <a:spcPct val="95000"/>
              </a:lnSpc>
              <a:spcBef>
                <a:spcPts val="200"/>
              </a:spcBef>
              <a:spcAft>
                <a:spcPts val="100"/>
              </a:spcAft>
            </a:pPr>
            <a:r>
              <a:rPr sz="1140" b="0">
                <a:solidFill>
                  <a:srgbClr val="5A6570"/>
                </a:solidFill>
                <a:latin typeface="Aptos"/>
              </a:rPr>
              <a:t>A colleague reads it; a computer runs the tests</a:t>
            </a:r>
          </a:p>
        </p:txBody>
      </p:sp>
      <p:sp>
        <p:nvSpPr>
          <p:cNvPr id="24" name="Oval 23"/>
          <p:cNvSpPr/>
          <p:nvPr/>
        </p:nvSpPr>
        <p:spPr>
          <a:xfrm>
            <a:off x="658368" y="5190676"/>
            <a:ext cx="365760" cy="365760"/>
          </a:xfrm>
          <a:prstGeom prst="ellipse">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58368" y="5236396"/>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6</a:t>
            </a:r>
          </a:p>
        </p:txBody>
      </p:sp>
      <p:sp>
        <p:nvSpPr>
          <p:cNvPr id="26" name="TextBox 25"/>
          <p:cNvSpPr txBox="1"/>
          <p:nvPr/>
        </p:nvSpPr>
        <p:spPr>
          <a:xfrm>
            <a:off x="1188719" y="5172388"/>
            <a:ext cx="10305288" cy="542611"/>
          </a:xfrm>
          <a:prstGeom prst="rect">
            <a:avLst/>
          </a:prstGeom>
          <a:noFill/>
        </p:spPr>
        <p:txBody>
          <a:bodyPr wrap="square" lIns="73152" rIns="73152" tIns="36576" bIns="36576">
            <a:spAutoFit/>
          </a:bodyPr>
          <a:lstStyle/>
          <a:p>
            <a:pPr>
              <a:lnSpc>
                <a:spcPct val="95000"/>
              </a:lnSpc>
              <a:spcAft>
                <a:spcPts val="100"/>
              </a:spcAft>
            </a:pPr>
            <a:r>
              <a:rPr sz="1310" b="1">
                <a:solidFill>
                  <a:srgbClr val="123A5F"/>
                </a:solidFill>
                <a:latin typeface="Aptos"/>
              </a:rPr>
              <a:t>Merge — your change joins main</a:t>
            </a:r>
          </a:p>
          <a:p>
            <a:pPr>
              <a:lnSpc>
                <a:spcPct val="95000"/>
              </a:lnSpc>
              <a:spcBef>
                <a:spcPts val="200"/>
              </a:spcBef>
              <a:spcAft>
                <a:spcPts val="100"/>
              </a:spcAft>
            </a:pPr>
            <a:r>
              <a:rPr sz="1140" b="0">
                <a:solidFill>
                  <a:srgbClr val="5A6570"/>
                </a:solidFill>
                <a:latin typeface="Aptos"/>
              </a:rPr>
              <a:t>It is now part of the official version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1</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Branches</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Working on a change without getting in anyone's way</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What a branch is</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Three ways teams use branches — and the one this course uses</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Naming your branch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6</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§2.4</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Branch</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786384"/>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7863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640080"/>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A separate line of work inside the same project. You make your changes on the branch; the main version stays untouched until your work is checked and merged back in.</a:t>
            </a:r>
          </a:p>
        </p:txBody>
      </p:sp>
      <p:sp>
        <p:nvSpPr>
          <p:cNvPr id="11" name="Rectangle 10"/>
          <p:cNvSpPr/>
          <p:nvPr/>
        </p:nvSpPr>
        <p:spPr>
          <a:xfrm>
            <a:off x="676656" y="2880360"/>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770632"/>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Think of a copy of a document you can scribble on</a:t>
            </a:r>
          </a:p>
        </p:txBody>
      </p:sp>
      <p:sp>
        <p:nvSpPr>
          <p:cNvPr id="13" name="TextBox 12"/>
          <p:cNvSpPr txBox="1"/>
          <p:nvPr/>
        </p:nvSpPr>
        <p:spPr>
          <a:xfrm>
            <a:off x="950976" y="3090672"/>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The original stays clean until you bring the changes back</a:t>
            </a:r>
          </a:p>
        </p:txBody>
      </p:sp>
      <p:sp>
        <p:nvSpPr>
          <p:cNvPr id="14" name="Rectangle 13"/>
          <p:cNvSpPr/>
          <p:nvPr/>
        </p:nvSpPr>
        <p:spPr>
          <a:xfrm>
            <a:off x="676656" y="3678936"/>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569208"/>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Every change gets its own branch</a:t>
            </a:r>
          </a:p>
        </p:txBody>
      </p:sp>
      <p:sp>
        <p:nvSpPr>
          <p:cNvPr id="16" name="TextBox 15"/>
          <p:cNvSpPr txBox="1"/>
          <p:nvPr/>
        </p:nvSpPr>
        <p:spPr>
          <a:xfrm>
            <a:off x="950976" y="3889248"/>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Two people can work at the same time without overwriting each other</a:t>
            </a:r>
          </a:p>
        </p:txBody>
      </p:sp>
      <p:sp>
        <p:nvSpPr>
          <p:cNvPr id="17" name="Rectangle 16"/>
          <p:cNvSpPr/>
          <p:nvPr/>
        </p:nvSpPr>
        <p:spPr>
          <a:xfrm>
            <a:off x="676656" y="4477512"/>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4367784"/>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A branch is cheap</a:t>
            </a:r>
          </a:p>
        </p:txBody>
      </p:sp>
      <p:sp>
        <p:nvSpPr>
          <p:cNvPr id="19" name="TextBox 18"/>
          <p:cNvSpPr txBox="1"/>
          <p:nvPr/>
        </p:nvSpPr>
        <p:spPr>
          <a:xfrm>
            <a:off x="950976" y="4687824"/>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Git creates one instantly, however big the project is</a:t>
            </a:r>
          </a:p>
        </p:txBody>
      </p:sp>
      <p:sp>
        <p:nvSpPr>
          <p:cNvPr id="20" name="Rectangle 19"/>
          <p:cNvSpPr/>
          <p:nvPr/>
        </p:nvSpPr>
        <p:spPr>
          <a:xfrm>
            <a:off x="676656" y="5276088"/>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50976" y="5166359"/>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The team agrees how branches are used</a:t>
            </a:r>
          </a:p>
        </p:txBody>
      </p:sp>
      <p:sp>
        <p:nvSpPr>
          <p:cNvPr id="22" name="TextBox 21"/>
          <p:cNvSpPr txBox="1"/>
          <p:nvPr/>
        </p:nvSpPr>
        <p:spPr>
          <a:xfrm>
            <a:off x="950976" y="5486400"/>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That agreement is called a branching strategy — next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7</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§2.4</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Three ways teams use branches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905701"/>
            <a:ext cx="3471672" cy="2738536"/>
          </a:xfrm>
          <a:prstGeom prst="rect">
            <a:avLst/>
          </a:prstGeom>
          <a:solidFill>
            <a:srgbClr val="F3F6F8"/>
          </a:solidFill>
          <a:ln w="12700">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905701"/>
            <a:ext cx="3471672" cy="376037"/>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749808" y="1962924"/>
            <a:ext cx="3288792" cy="261591"/>
          </a:xfrm>
          <a:prstGeom prst="rect">
            <a:avLst/>
          </a:prstGeom>
          <a:noFill/>
        </p:spPr>
        <p:txBody>
          <a:bodyPr wrap="square" lIns="73152" rIns="73152" tIns="36576" bIns="36576" anchor="t">
            <a:spAutoFit/>
          </a:bodyPr>
          <a:lstStyle/>
          <a:p>
            <a:pPr algn="ctr">
              <a:lnSpc>
                <a:spcPct val="92000"/>
              </a:lnSpc>
              <a:spcAft>
                <a:spcPts val="200"/>
              </a:spcAft>
            </a:pPr>
            <a:r>
              <a:rPr sz="1250" b="1" i="0">
                <a:solidFill>
                  <a:srgbClr val="FFFFFF"/>
                </a:solidFill>
                <a:latin typeface="Aptos"/>
              </a:rPr>
              <a:t>TRUNK-BASED</a:t>
            </a:r>
          </a:p>
        </p:txBody>
      </p:sp>
      <p:sp>
        <p:nvSpPr>
          <p:cNvPr id="11" name="TextBox 10"/>
          <p:cNvSpPr txBox="1"/>
          <p:nvPr/>
        </p:nvSpPr>
        <p:spPr>
          <a:xfrm>
            <a:off x="749808" y="2371660"/>
            <a:ext cx="3288792" cy="245242"/>
          </a:xfrm>
          <a:prstGeom prst="rect">
            <a:avLst/>
          </a:prstGeom>
          <a:noFill/>
        </p:spPr>
        <p:txBody>
          <a:bodyPr wrap="square" lIns="73152" rIns="73152" tIns="36576" bIns="36576" anchor="t">
            <a:spAutoFit/>
          </a:bodyPr>
          <a:lstStyle/>
          <a:p>
            <a:pPr algn="ctr">
              <a:lnSpc>
                <a:spcPct val="92000"/>
              </a:lnSpc>
              <a:spcAft>
                <a:spcPts val="200"/>
              </a:spcAft>
            </a:pPr>
            <a:r>
              <a:rPr sz="1050" b="1" i="0">
                <a:solidFill>
                  <a:srgbClr val="3E7D32"/>
                </a:solidFill>
                <a:latin typeface="Aptos"/>
              </a:rPr>
              <a:t>a branch lives for hours</a:t>
            </a:r>
          </a:p>
        </p:txBody>
      </p:sp>
      <p:sp>
        <p:nvSpPr>
          <p:cNvPr id="12" name="Rectangle 11"/>
          <p:cNvSpPr/>
          <p:nvPr/>
        </p:nvSpPr>
        <p:spPr>
          <a:xfrm>
            <a:off x="822959" y="2780397"/>
            <a:ext cx="91440" cy="81747"/>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024128" y="2690475"/>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Everyone adds small changes to main</a:t>
            </a:r>
          </a:p>
        </p:txBody>
      </p:sp>
      <p:sp>
        <p:nvSpPr>
          <p:cNvPr id="14" name="Rectangle 13"/>
          <p:cNvSpPr/>
          <p:nvPr/>
        </p:nvSpPr>
        <p:spPr>
          <a:xfrm>
            <a:off x="822959" y="3205484"/>
            <a:ext cx="91440" cy="81747"/>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1024128" y="3115561"/>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Branches last less than a day</a:t>
            </a:r>
          </a:p>
        </p:txBody>
      </p:sp>
      <p:sp>
        <p:nvSpPr>
          <p:cNvPr id="16" name="Rectangle 15"/>
          <p:cNvSpPr/>
          <p:nvPr/>
        </p:nvSpPr>
        <p:spPr>
          <a:xfrm>
            <a:off x="822959" y="3630570"/>
            <a:ext cx="91440" cy="81747"/>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1024128" y="3540648"/>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Unfinished work hidden behind a switch</a:t>
            </a:r>
          </a:p>
        </p:txBody>
      </p:sp>
      <p:sp>
        <p:nvSpPr>
          <p:cNvPr id="18" name="Rectangle 17"/>
          <p:cNvSpPr/>
          <p:nvPr/>
        </p:nvSpPr>
        <p:spPr>
          <a:xfrm>
            <a:off x="822959" y="4055656"/>
            <a:ext cx="91440" cy="81747"/>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1024128" y="3965734"/>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Used by the fastest, safest teams</a:t>
            </a:r>
          </a:p>
        </p:txBody>
      </p:sp>
      <p:sp>
        <p:nvSpPr>
          <p:cNvPr id="20" name="Rectangle 19"/>
          <p:cNvSpPr/>
          <p:nvPr/>
        </p:nvSpPr>
        <p:spPr>
          <a:xfrm>
            <a:off x="4358640" y="1905701"/>
            <a:ext cx="3471672" cy="2738536"/>
          </a:xfrm>
          <a:prstGeom prst="rect">
            <a:avLst/>
          </a:prstGeom>
          <a:solidFill>
            <a:srgbClr val="F3F6F8"/>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Rectangle 20"/>
          <p:cNvSpPr/>
          <p:nvPr/>
        </p:nvSpPr>
        <p:spPr>
          <a:xfrm>
            <a:off x="4358640" y="1905701"/>
            <a:ext cx="3471672" cy="376037"/>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4450080" y="1962924"/>
            <a:ext cx="3288792" cy="261591"/>
          </a:xfrm>
          <a:prstGeom prst="rect">
            <a:avLst/>
          </a:prstGeom>
          <a:noFill/>
        </p:spPr>
        <p:txBody>
          <a:bodyPr wrap="square" lIns="73152" rIns="73152" tIns="36576" bIns="36576" anchor="t">
            <a:spAutoFit/>
          </a:bodyPr>
          <a:lstStyle/>
          <a:p>
            <a:pPr algn="ctr">
              <a:lnSpc>
                <a:spcPct val="92000"/>
              </a:lnSpc>
              <a:spcAft>
                <a:spcPts val="200"/>
              </a:spcAft>
            </a:pPr>
            <a:r>
              <a:rPr sz="1250" b="1" i="0">
                <a:solidFill>
                  <a:srgbClr val="FFFFFF"/>
                </a:solidFill>
                <a:latin typeface="Aptos"/>
              </a:rPr>
              <a:t>GITHUB FLOW</a:t>
            </a:r>
          </a:p>
        </p:txBody>
      </p:sp>
      <p:sp>
        <p:nvSpPr>
          <p:cNvPr id="23" name="TextBox 22"/>
          <p:cNvSpPr txBox="1"/>
          <p:nvPr/>
        </p:nvSpPr>
        <p:spPr>
          <a:xfrm>
            <a:off x="4450080" y="2371660"/>
            <a:ext cx="3288792" cy="245242"/>
          </a:xfrm>
          <a:prstGeom prst="rect">
            <a:avLst/>
          </a:prstGeom>
          <a:noFill/>
        </p:spPr>
        <p:txBody>
          <a:bodyPr wrap="square" lIns="73152" rIns="73152" tIns="36576" bIns="36576" anchor="t">
            <a:spAutoFit/>
          </a:bodyPr>
          <a:lstStyle/>
          <a:p>
            <a:pPr algn="ctr">
              <a:lnSpc>
                <a:spcPct val="92000"/>
              </a:lnSpc>
              <a:spcAft>
                <a:spcPts val="200"/>
              </a:spcAft>
            </a:pPr>
            <a:r>
              <a:rPr sz="1050" b="1" i="0">
                <a:solidFill>
                  <a:srgbClr val="117A69"/>
                </a:solidFill>
                <a:latin typeface="Aptos"/>
              </a:rPr>
              <a:t>a branch lives for days</a:t>
            </a:r>
          </a:p>
        </p:txBody>
      </p:sp>
      <p:sp>
        <p:nvSpPr>
          <p:cNvPr id="24" name="Rectangle 23"/>
          <p:cNvSpPr/>
          <p:nvPr/>
        </p:nvSpPr>
        <p:spPr>
          <a:xfrm>
            <a:off x="4523232" y="2780397"/>
            <a:ext cx="91440" cy="81747"/>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4724400" y="2690475"/>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One short branch per change</a:t>
            </a:r>
          </a:p>
        </p:txBody>
      </p:sp>
      <p:sp>
        <p:nvSpPr>
          <p:cNvPr id="26" name="Rectangle 25"/>
          <p:cNvSpPr/>
          <p:nvPr/>
        </p:nvSpPr>
        <p:spPr>
          <a:xfrm>
            <a:off x="4523232" y="3205484"/>
            <a:ext cx="91440" cy="81747"/>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7" name="TextBox 26"/>
          <p:cNvSpPr txBox="1"/>
          <p:nvPr/>
        </p:nvSpPr>
        <p:spPr>
          <a:xfrm>
            <a:off x="4724400" y="3115561"/>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Change → review → merge</a:t>
            </a:r>
          </a:p>
        </p:txBody>
      </p:sp>
      <p:sp>
        <p:nvSpPr>
          <p:cNvPr id="28" name="Rectangle 27"/>
          <p:cNvSpPr/>
          <p:nvPr/>
        </p:nvSpPr>
        <p:spPr>
          <a:xfrm>
            <a:off x="4523232" y="3630570"/>
            <a:ext cx="91440" cy="81747"/>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4724400" y="3540648"/>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main is always ready to release</a:t>
            </a:r>
          </a:p>
        </p:txBody>
      </p:sp>
      <p:sp>
        <p:nvSpPr>
          <p:cNvPr id="30" name="Rectangle 29"/>
          <p:cNvSpPr/>
          <p:nvPr/>
        </p:nvSpPr>
        <p:spPr>
          <a:xfrm>
            <a:off x="4523232" y="4055656"/>
            <a:ext cx="91440" cy="81747"/>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4724400" y="3965734"/>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What this course uses</a:t>
            </a:r>
          </a:p>
        </p:txBody>
      </p:sp>
      <p:sp>
        <p:nvSpPr>
          <p:cNvPr id="32" name="Rectangle 31"/>
          <p:cNvSpPr/>
          <p:nvPr/>
        </p:nvSpPr>
        <p:spPr>
          <a:xfrm>
            <a:off x="8058911" y="1905701"/>
            <a:ext cx="3471672" cy="2738536"/>
          </a:xfrm>
          <a:prstGeom prst="rect">
            <a:avLst/>
          </a:prstGeom>
          <a:solidFill>
            <a:srgbClr val="F3F6F8"/>
          </a:solidFill>
          <a:ln w="12700">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Rectangle 32"/>
          <p:cNvSpPr/>
          <p:nvPr/>
        </p:nvSpPr>
        <p:spPr>
          <a:xfrm>
            <a:off x="8058911" y="1905701"/>
            <a:ext cx="3471672" cy="376037"/>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4" name="TextBox 33"/>
          <p:cNvSpPr txBox="1"/>
          <p:nvPr/>
        </p:nvSpPr>
        <p:spPr>
          <a:xfrm>
            <a:off x="8150351" y="1962924"/>
            <a:ext cx="3288792" cy="261591"/>
          </a:xfrm>
          <a:prstGeom prst="rect">
            <a:avLst/>
          </a:prstGeom>
          <a:noFill/>
        </p:spPr>
        <p:txBody>
          <a:bodyPr wrap="square" lIns="73152" rIns="73152" tIns="36576" bIns="36576" anchor="t">
            <a:spAutoFit/>
          </a:bodyPr>
          <a:lstStyle/>
          <a:p>
            <a:pPr algn="ctr">
              <a:lnSpc>
                <a:spcPct val="92000"/>
              </a:lnSpc>
              <a:spcAft>
                <a:spcPts val="200"/>
              </a:spcAft>
            </a:pPr>
            <a:r>
              <a:rPr sz="1250" b="1" i="0">
                <a:solidFill>
                  <a:srgbClr val="FFFFFF"/>
                </a:solidFill>
                <a:latin typeface="Aptos"/>
              </a:rPr>
              <a:t>GITFLOW</a:t>
            </a:r>
          </a:p>
        </p:txBody>
      </p:sp>
      <p:sp>
        <p:nvSpPr>
          <p:cNvPr id="35" name="TextBox 34"/>
          <p:cNvSpPr txBox="1"/>
          <p:nvPr/>
        </p:nvSpPr>
        <p:spPr>
          <a:xfrm>
            <a:off x="8150351" y="2371660"/>
            <a:ext cx="3288792" cy="245242"/>
          </a:xfrm>
          <a:prstGeom prst="rect">
            <a:avLst/>
          </a:prstGeom>
          <a:noFill/>
        </p:spPr>
        <p:txBody>
          <a:bodyPr wrap="square" lIns="73152" rIns="73152" tIns="36576" bIns="36576" anchor="t">
            <a:spAutoFit/>
          </a:bodyPr>
          <a:lstStyle/>
          <a:p>
            <a:pPr algn="ctr">
              <a:lnSpc>
                <a:spcPct val="92000"/>
              </a:lnSpc>
              <a:spcAft>
                <a:spcPts val="200"/>
              </a:spcAft>
            </a:pPr>
            <a:r>
              <a:rPr sz="1050" b="1" i="0">
                <a:solidFill>
                  <a:srgbClr val="D2760D"/>
                </a:solidFill>
                <a:latin typeface="Aptos"/>
              </a:rPr>
              <a:t>a branch lives for weeks</a:t>
            </a:r>
          </a:p>
        </p:txBody>
      </p:sp>
      <p:sp>
        <p:nvSpPr>
          <p:cNvPr id="36" name="Rectangle 35"/>
          <p:cNvSpPr/>
          <p:nvPr/>
        </p:nvSpPr>
        <p:spPr>
          <a:xfrm>
            <a:off x="8223503" y="2780397"/>
            <a:ext cx="91440" cy="81747"/>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7" name="TextBox 36"/>
          <p:cNvSpPr txBox="1"/>
          <p:nvPr/>
        </p:nvSpPr>
        <p:spPr>
          <a:xfrm>
            <a:off x="8424672" y="2690475"/>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Several long-lived branches</a:t>
            </a:r>
          </a:p>
        </p:txBody>
      </p:sp>
      <p:sp>
        <p:nvSpPr>
          <p:cNvPr id="38" name="Rectangle 37"/>
          <p:cNvSpPr/>
          <p:nvPr/>
        </p:nvSpPr>
        <p:spPr>
          <a:xfrm>
            <a:off x="8223503" y="3205484"/>
            <a:ext cx="91440" cy="81747"/>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9" name="TextBox 38"/>
          <p:cNvSpPr txBox="1"/>
          <p:nvPr/>
        </p:nvSpPr>
        <p:spPr>
          <a:xfrm>
            <a:off x="8424672" y="3115561"/>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Lots of branches to manage</a:t>
            </a:r>
          </a:p>
        </p:txBody>
      </p:sp>
      <p:sp>
        <p:nvSpPr>
          <p:cNvPr id="40" name="Rectangle 39"/>
          <p:cNvSpPr/>
          <p:nvPr/>
        </p:nvSpPr>
        <p:spPr>
          <a:xfrm>
            <a:off x="8223503" y="3630570"/>
            <a:ext cx="91440" cy="81747"/>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1" name="TextBox 40"/>
          <p:cNvSpPr txBox="1"/>
          <p:nvPr/>
        </p:nvSpPr>
        <p:spPr>
          <a:xfrm>
            <a:off x="8424672" y="3540648"/>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Combining work is often painful</a:t>
            </a:r>
          </a:p>
        </p:txBody>
      </p:sp>
      <p:sp>
        <p:nvSpPr>
          <p:cNvPr id="42" name="Rectangle 41"/>
          <p:cNvSpPr/>
          <p:nvPr/>
        </p:nvSpPr>
        <p:spPr>
          <a:xfrm>
            <a:off x="8223503" y="4055656"/>
            <a:ext cx="91440" cy="81747"/>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3" name="TextBox 42"/>
          <p:cNvSpPr txBox="1"/>
          <p:nvPr/>
        </p:nvSpPr>
        <p:spPr>
          <a:xfrm>
            <a:off x="8424672" y="3965734"/>
            <a:ext cx="2941320" cy="449610"/>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Suits scheduled, numbered releases</a:t>
            </a:r>
          </a:p>
        </p:txBody>
      </p:sp>
      <p:sp>
        <p:nvSpPr>
          <p:cNvPr id="44" name="Rectangle 43"/>
          <p:cNvSpPr/>
          <p:nvPr/>
        </p:nvSpPr>
        <p:spPr>
          <a:xfrm>
            <a:off x="658368" y="4807732"/>
            <a:ext cx="10872216" cy="940094"/>
          </a:xfrm>
          <a:prstGeom prst="rect">
            <a:avLst/>
          </a:prstGeom>
          <a:solidFill>
            <a:srgbClr val="ECF1F6"/>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5" name="TextBox 44"/>
          <p:cNvSpPr txBox="1"/>
          <p:nvPr/>
        </p:nvSpPr>
        <p:spPr>
          <a:xfrm>
            <a:off x="859536" y="4889479"/>
            <a:ext cx="10469880" cy="776599"/>
          </a:xfrm>
          <a:prstGeom prst="rect">
            <a:avLst/>
          </a:prstGeom>
          <a:noFill/>
        </p:spPr>
        <p:txBody>
          <a:bodyPr wrap="square" lIns="73152" rIns="73152" tIns="36576" bIns="36576" anchor="t">
            <a:spAutoFit/>
          </a:bodyPr>
          <a:lstStyle/>
          <a:p>
            <a:pPr algn="l">
              <a:lnSpc>
                <a:spcPct val="112000"/>
              </a:lnSpc>
              <a:spcAft>
                <a:spcPts val="200"/>
              </a:spcAft>
            </a:pPr>
            <a:r>
              <a:rPr sz="1200" b="0" i="0">
                <a:solidFill>
                  <a:srgbClr val="123A5F"/>
                </a:solidFill>
                <a:latin typeface="Aptos"/>
              </a:rPr>
              <a:t>The research is clear: teams whose branches are few and short-lived deliver faster and break things less. The reason is size — a branch that lives three weeks is three weeks of changes nobody has combined or tested together, and combining it is the riskiest moment of the month.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8</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§2.4</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Naming your branch</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5979718" cy="273100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979718"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065318"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BRANCH NAMES  ·  BASH</a:t>
            </a:r>
          </a:p>
        </p:txBody>
      </p:sp>
      <p:sp>
        <p:nvSpPr>
          <p:cNvPr id="14" name="TextBox 13"/>
          <p:cNvSpPr txBox="1"/>
          <p:nvPr/>
        </p:nvSpPr>
        <p:spPr>
          <a:xfrm>
            <a:off x="768096" y="2185416"/>
            <a:ext cx="5778550" cy="2090928"/>
          </a:xfrm>
          <a:prstGeom prst="rect">
            <a:avLst/>
          </a:prstGeom>
          <a:noFill/>
        </p:spPr>
        <p:txBody>
          <a:bodyPr wrap="square" lIns="73152" rIns="73152" tIns="18288" bIns="18288">
            <a:spAutoFit/>
          </a:bodyPr>
          <a:lstStyle/>
          <a:p>
            <a:pPr>
              <a:lnSpc>
                <a:spcPct val="100000"/>
              </a:lnSpc>
              <a:spcAft>
                <a:spcPts val="0"/>
              </a:spcAft>
            </a:pPr>
            <a:r>
              <a:rPr sz="1300" b="0">
                <a:solidFill>
                  <a:srgbClr val="E8EEF4"/>
                </a:solidFill>
                <a:latin typeface="Consolas"/>
              </a:rPr>
              <a:t>feature/PAY-142-add-readiness-probe</a:t>
            </a:r>
          </a:p>
          <a:p>
            <a:pPr>
              <a:lnSpc>
                <a:spcPct val="100000"/>
              </a:lnSpc>
              <a:spcAft>
                <a:spcPts val="0"/>
              </a:spcAft>
            </a:pPr>
            <a:r>
              <a:rPr sz="1300" b="0">
                <a:solidFill>
                  <a:srgbClr val="E8EEF4"/>
                </a:solidFill>
                <a:latin typeface="Consolas"/>
              </a:rPr>
              <a:t>bugfix/PAY-158-null-latency</a:t>
            </a:r>
          </a:p>
          <a:p>
            <a:pPr>
              <a:lnSpc>
                <a:spcPct val="100000"/>
              </a:lnSpc>
              <a:spcAft>
                <a:spcPts val="0"/>
              </a:spcAft>
            </a:pPr>
            <a:r>
              <a:rPr sz="1300" b="0">
                <a:solidFill>
                  <a:srgbClr val="E8EEF4"/>
                </a:solidFill>
                <a:latin typeface="Consolas"/>
              </a:rPr>
              <a:t>hotfix/PAY-160-crash-on-empty-body</a:t>
            </a:r>
          </a:p>
          <a:p>
            <a:pPr>
              <a:lnSpc>
                <a:spcPct val="100000"/>
              </a:lnSpc>
              <a:spcAft>
                <a:spcPts val="0"/>
              </a:spcAft>
            </a:pPr>
            <a:r>
              <a:rPr sz="1300" b="0">
                <a:solidFill>
                  <a:srgbClr val="E8EEF4"/>
                </a:solidFill>
                <a:latin typeface="Consolas"/>
              </a:rPr>
              <a:t>chore/bump-flask-3.0.3</a:t>
            </a:r>
          </a:p>
          <a:p>
            <a:pPr>
              <a:lnSpc>
                <a:spcPct val="100000"/>
              </a:lnSpc>
              <a:spcAft>
                <a:spcPts val="0"/>
              </a:spcAft>
            </a:pPr>
            <a:r>
              <a:rPr sz="1300" b="0">
                <a:solidFill>
                  <a:srgbClr val="E8EEF4"/>
                </a:solidFill>
                <a:latin typeface="Consolas"/>
              </a:rPr>
              <a:t> </a:t>
            </a:r>
          </a:p>
          <a:p>
            <a:pPr>
              <a:lnSpc>
                <a:spcPct val="100000"/>
              </a:lnSpc>
              <a:spcAft>
                <a:spcPts val="0"/>
              </a:spcAft>
            </a:pPr>
            <a:r>
              <a:rPr sz="1300" b="1">
                <a:solidFill>
                  <a:srgbClr val="7CC8EE"/>
                </a:solidFill>
                <a:latin typeface="Consolas"/>
              </a:rPr>
              <a:t>$ </a:t>
            </a:r>
            <a:r>
              <a:rPr sz="1300" b="0">
                <a:solidFill>
                  <a:srgbClr val="E8EEF4"/>
                </a:solidFill>
                <a:latin typeface="Consolas"/>
              </a:rPr>
              <a:t>git switch -c feature/PAY-142-add-readiness-probe</a:t>
            </a:r>
          </a:p>
          <a:p>
            <a:pPr>
              <a:lnSpc>
                <a:spcPct val="100000"/>
              </a:lnSpc>
              <a:spcAft>
                <a:spcPts val="0"/>
              </a:spcAft>
            </a:pPr>
            <a:r>
              <a:rPr sz="1300" b="1">
                <a:solidFill>
                  <a:srgbClr val="7CC8EE"/>
                </a:solidFill>
                <a:latin typeface="Consolas"/>
              </a:rPr>
              <a:t>$ </a:t>
            </a:r>
            <a:r>
              <a:rPr sz="1300" b="0">
                <a:solidFill>
                  <a:srgbClr val="E8EEF4"/>
                </a:solidFill>
                <a:latin typeface="Consolas"/>
              </a:rPr>
              <a:t>git push -u origin HEAD</a:t>
            </a:r>
          </a:p>
          <a:p>
            <a:pPr>
              <a:lnSpc>
                <a:spcPct val="100000"/>
              </a:lnSpc>
              <a:spcAft>
                <a:spcPts val="0"/>
              </a:spcAft>
            </a:pPr>
            <a:r>
              <a:rPr sz="1300" b="0">
                <a:solidFill>
                  <a:srgbClr val="8FBFA8"/>
                </a:solidFill>
                <a:latin typeface="Consolas"/>
              </a:rPr>
              <a:t># ... pull request reviewed and squash-merged ...</a:t>
            </a:r>
          </a:p>
          <a:p>
            <a:pPr>
              <a:lnSpc>
                <a:spcPct val="100000"/>
              </a:lnSpc>
              <a:spcAft>
                <a:spcPts val="0"/>
              </a:spcAft>
            </a:pPr>
            <a:r>
              <a:rPr sz="1300" b="1">
                <a:solidFill>
                  <a:srgbClr val="7CC8EE"/>
                </a:solidFill>
                <a:latin typeface="Consolas"/>
              </a:rPr>
              <a:t>$ </a:t>
            </a:r>
            <a:r>
              <a:rPr sz="1300" b="0">
                <a:solidFill>
                  <a:srgbClr val="E8EEF4"/>
                </a:solidFill>
                <a:latin typeface="Consolas"/>
              </a:rPr>
              <a:t>git switch main &amp;&amp; git pull</a:t>
            </a:r>
          </a:p>
          <a:p>
            <a:pPr>
              <a:lnSpc>
                <a:spcPct val="100000"/>
              </a:lnSpc>
              <a:spcAft>
                <a:spcPts val="0"/>
              </a:spcAft>
            </a:pPr>
            <a:r>
              <a:rPr sz="1300" b="1">
                <a:solidFill>
                  <a:srgbClr val="7CC8EE"/>
                </a:solidFill>
                <a:latin typeface="Consolas"/>
              </a:rPr>
              <a:t>$ </a:t>
            </a:r>
            <a:r>
              <a:rPr sz="1300" b="0">
                <a:solidFill>
                  <a:srgbClr val="E8EEF4"/>
                </a:solidFill>
                <a:latin typeface="Consolas"/>
              </a:rPr>
              <a:t>git branch -d feature/PAY-142-add-readiness-probe</a:t>
            </a:r>
          </a:p>
        </p:txBody>
      </p:sp>
      <p:sp>
        <p:nvSpPr>
          <p:cNvPr id="15" name="TextBox 14"/>
          <p:cNvSpPr txBox="1"/>
          <p:nvPr/>
        </p:nvSpPr>
        <p:spPr>
          <a:xfrm>
            <a:off x="6912406" y="1764792"/>
            <a:ext cx="4618177"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6912406"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6912406"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241590" y="2075688"/>
            <a:ext cx="4270705"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Pattern: type / ticket - short description</a:t>
            </a:r>
          </a:p>
          <a:p>
            <a:pPr>
              <a:lnSpc>
                <a:spcPct val="95000"/>
              </a:lnSpc>
              <a:spcBef>
                <a:spcPts val="200"/>
              </a:spcBef>
              <a:spcAft>
                <a:spcPts val="100"/>
              </a:spcAft>
            </a:pPr>
            <a:r>
              <a:rPr sz="1090" b="0">
                <a:solidFill>
                  <a:srgbClr val="5A6570"/>
                </a:solidFill>
                <a:latin typeface="Aptos"/>
              </a:rPr>
              <a:t>Anyone can tell what the branch is for, and find the ticket</a:t>
            </a:r>
          </a:p>
        </p:txBody>
      </p:sp>
      <p:sp>
        <p:nvSpPr>
          <p:cNvPr id="19" name="Oval 18"/>
          <p:cNvSpPr/>
          <p:nvPr/>
        </p:nvSpPr>
        <p:spPr>
          <a:xfrm>
            <a:off x="6912406" y="3008375"/>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6912406" y="3026663"/>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241590" y="2962656"/>
            <a:ext cx="4270705"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Types: feature · bugfix · hotfix · chore</a:t>
            </a:r>
          </a:p>
          <a:p>
            <a:pPr>
              <a:lnSpc>
                <a:spcPct val="95000"/>
              </a:lnSpc>
              <a:spcBef>
                <a:spcPts val="200"/>
              </a:spcBef>
              <a:spcAft>
                <a:spcPts val="100"/>
              </a:spcAft>
            </a:pPr>
            <a:r>
              <a:rPr sz="1090" b="0">
                <a:solidFill>
                  <a:srgbClr val="5A6570"/>
                </a:solidFill>
                <a:latin typeface="Aptos"/>
              </a:rPr>
              <a:t>New work · a fix · an urgent fix · housekeeping</a:t>
            </a:r>
          </a:p>
        </p:txBody>
      </p:sp>
      <p:sp>
        <p:nvSpPr>
          <p:cNvPr id="22" name="Oval 21"/>
          <p:cNvSpPr/>
          <p:nvPr/>
        </p:nvSpPr>
        <p:spPr>
          <a:xfrm>
            <a:off x="6912406" y="3730751"/>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6912406" y="3749039"/>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241590" y="3685031"/>
            <a:ext cx="4270705"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git push -u origin HEAD</a:t>
            </a:r>
          </a:p>
          <a:p>
            <a:pPr>
              <a:lnSpc>
                <a:spcPct val="95000"/>
              </a:lnSpc>
              <a:spcBef>
                <a:spcPts val="200"/>
              </a:spcBef>
              <a:spcAft>
                <a:spcPts val="100"/>
              </a:spcAft>
            </a:pPr>
            <a:r>
              <a:rPr sz="1090" b="0">
                <a:solidFill>
                  <a:srgbClr val="5A6570"/>
                </a:solidFill>
                <a:latin typeface="Aptos"/>
              </a:rPr>
              <a:t>Uploads your branch to GitHub for the first time</a:t>
            </a:r>
          </a:p>
        </p:txBody>
      </p:sp>
      <p:sp>
        <p:nvSpPr>
          <p:cNvPr id="25" name="Oval 24"/>
          <p:cNvSpPr/>
          <p:nvPr/>
        </p:nvSpPr>
        <p:spPr>
          <a:xfrm>
            <a:off x="6912406" y="4453127"/>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6912406" y="447141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241590" y="4407407"/>
            <a:ext cx="4270705"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Delete the branch once it is merged</a:t>
            </a:r>
          </a:p>
          <a:p>
            <a:pPr>
              <a:lnSpc>
                <a:spcPct val="95000"/>
              </a:lnSpc>
              <a:spcBef>
                <a:spcPts val="200"/>
              </a:spcBef>
              <a:spcAft>
                <a:spcPts val="100"/>
              </a:spcAft>
            </a:pPr>
            <a:r>
              <a:rPr sz="1090" b="0">
                <a:solidFill>
                  <a:srgbClr val="5A6570"/>
                </a:solidFill>
                <a:latin typeface="Aptos"/>
              </a:rPr>
              <a:t>Old branches pile up and confuse everyone</a:t>
            </a:r>
          </a:p>
        </p:txBody>
      </p:sp>
      <p:sp>
        <p:nvSpPr>
          <p:cNvPr id="28" name="Oval 27"/>
          <p:cNvSpPr/>
          <p:nvPr/>
        </p:nvSpPr>
        <p:spPr>
          <a:xfrm>
            <a:off x="6912406" y="5175503"/>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6912406" y="519379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30" name="TextBox 29"/>
          <p:cNvSpPr txBox="1"/>
          <p:nvPr/>
        </p:nvSpPr>
        <p:spPr>
          <a:xfrm>
            <a:off x="7241590" y="5129783"/>
            <a:ext cx="4270705"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Never work directly on main</a:t>
            </a:r>
          </a:p>
          <a:p>
            <a:pPr>
              <a:lnSpc>
                <a:spcPct val="95000"/>
              </a:lnSpc>
              <a:spcBef>
                <a:spcPts val="200"/>
              </a:spcBef>
              <a:spcAft>
                <a:spcPts val="100"/>
              </a:spcAft>
            </a:pPr>
            <a:r>
              <a:rPr sz="1090" b="0">
                <a:solidFill>
                  <a:srgbClr val="5A6570"/>
                </a:solidFill>
                <a:latin typeface="Aptos"/>
              </a:rPr>
              <a:t>Once main is protected GitHub refuses it — you will see that in Lab 03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2</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Everyday Git</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The commands you will actually use</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A normal day with Git</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Get a project · see what changed · save your work</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Branches · stay in sync with GitHub</a:t>
            </a:r>
          </a:p>
        </p:txBody>
      </p:sp>
      <p:sp>
        <p:nvSpPr>
          <p:cNvPr id="15" name="Rectangle 14"/>
          <p:cNvSpPr/>
          <p:nvPr/>
        </p:nvSpPr>
        <p:spPr>
          <a:xfrm>
            <a:off x="2267712" y="4914900"/>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2523744" y="4805172"/>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Undo safely</a:t>
            </a:r>
          </a:p>
        </p:txBody>
      </p:sp>
      <p:sp>
        <p:nvSpPr>
          <p:cNvPr id="17" name="Rectangle 16"/>
          <p:cNvSpPr/>
          <p:nvPr/>
        </p:nvSpPr>
        <p:spPr>
          <a:xfrm>
            <a:off x="2267712" y="5244084"/>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2523744" y="5134356"/>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Which command do I need?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10</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EVERYDAY GIT</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A normal day with Git, in order</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523329" cy="251002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523329"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608929"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BASH</a:t>
            </a:r>
          </a:p>
        </p:txBody>
      </p:sp>
      <p:sp>
        <p:nvSpPr>
          <p:cNvPr id="14" name="TextBox 13"/>
          <p:cNvSpPr txBox="1"/>
          <p:nvPr/>
        </p:nvSpPr>
        <p:spPr>
          <a:xfrm>
            <a:off x="768096" y="2185416"/>
            <a:ext cx="6322161" cy="1869948"/>
          </a:xfrm>
          <a:prstGeom prst="rect">
            <a:avLst/>
          </a:prstGeom>
          <a:noFill/>
        </p:spPr>
        <p:txBody>
          <a:bodyPr wrap="square" lIns="73152" rIns="73152" tIns="18288" bIns="18288">
            <a:spAutoFit/>
          </a:bodyPr>
          <a:lstStyle/>
          <a:p>
            <a:pPr>
              <a:lnSpc>
                <a:spcPct val="100000"/>
              </a:lnSpc>
              <a:spcAft>
                <a:spcPts val="0"/>
              </a:spcAft>
            </a:pPr>
            <a:r>
              <a:rPr sz="1050" b="1">
                <a:solidFill>
                  <a:srgbClr val="7CC8EE"/>
                </a:solidFill>
                <a:latin typeface="Consolas"/>
              </a:rPr>
              <a:t>$ </a:t>
            </a:r>
            <a:r>
              <a:rPr sz="1050" b="0">
                <a:solidFill>
                  <a:srgbClr val="E8EEF4"/>
                </a:solidFill>
                <a:latin typeface="Consolas"/>
              </a:rPr>
              <a:t>git switch main &amp;&amp; git pull           </a:t>
            </a:r>
            <a:r>
              <a:rPr sz="1050" b="0">
                <a:solidFill>
                  <a:srgbClr val="8FBFA8"/>
                </a:solidFill>
                <a:latin typeface="Consolas"/>
              </a:rPr>
              <a:t>  # get the latest official version</a:t>
            </a:r>
          </a:p>
          <a:p>
            <a:pPr>
              <a:lnSpc>
                <a:spcPct val="100000"/>
              </a:lnSpc>
              <a:spcAft>
                <a:spcPts val="0"/>
              </a:spcAft>
            </a:pPr>
            <a:r>
              <a:rPr sz="1050" b="1">
                <a:solidFill>
                  <a:srgbClr val="7CC8EE"/>
                </a:solidFill>
                <a:latin typeface="Consolas"/>
              </a:rPr>
              <a:t>$ </a:t>
            </a:r>
            <a:r>
              <a:rPr sz="1050" b="0">
                <a:solidFill>
                  <a:srgbClr val="E8EEF4"/>
                </a:solidFill>
                <a:latin typeface="Consolas"/>
              </a:rPr>
              <a:t>git switch -c feature/PAY-142          </a:t>
            </a:r>
            <a:r>
              <a:rPr sz="1050" b="0">
                <a:solidFill>
                  <a:srgbClr val="8FBFA8"/>
                </a:solidFill>
                <a:latin typeface="Consolas"/>
              </a:rPr>
              <a:t>  # start a branch for your change</a:t>
            </a:r>
          </a:p>
          <a:p>
            <a:pPr>
              <a:lnSpc>
                <a:spcPct val="100000"/>
              </a:lnSpc>
              <a:spcAft>
                <a:spcPts val="0"/>
              </a:spcAft>
            </a:pPr>
            <a:r>
              <a:rPr sz="1050" b="0">
                <a:solidFill>
                  <a:srgbClr val="E8EEF4"/>
                </a:solidFill>
                <a:latin typeface="Consolas"/>
              </a:rPr>
              <a:t>  ... edit app/src/app.py ...</a:t>
            </a:r>
          </a:p>
          <a:p>
            <a:pPr>
              <a:lnSpc>
                <a:spcPct val="100000"/>
              </a:lnSpc>
              <a:spcAft>
                <a:spcPts val="0"/>
              </a:spcAft>
            </a:pPr>
            <a:r>
              <a:rPr sz="1050" b="1">
                <a:solidFill>
                  <a:srgbClr val="7CC8EE"/>
                </a:solidFill>
                <a:latin typeface="Consolas"/>
              </a:rPr>
              <a:t>$ </a:t>
            </a:r>
            <a:r>
              <a:rPr sz="1050" b="0">
                <a:solidFill>
                  <a:srgbClr val="E8EEF4"/>
                </a:solidFill>
                <a:latin typeface="Consolas"/>
              </a:rPr>
              <a:t>git status                             </a:t>
            </a:r>
            <a:r>
              <a:rPr sz="1050" b="0">
                <a:solidFill>
                  <a:srgbClr val="8FBFA8"/>
                </a:solidFill>
                <a:latin typeface="Consolas"/>
              </a:rPr>
              <a:t>  # which files did I change?</a:t>
            </a:r>
          </a:p>
          <a:p>
            <a:pPr>
              <a:lnSpc>
                <a:spcPct val="100000"/>
              </a:lnSpc>
              <a:spcAft>
                <a:spcPts val="0"/>
              </a:spcAft>
            </a:pPr>
            <a:r>
              <a:rPr sz="1050" b="1">
                <a:solidFill>
                  <a:srgbClr val="7CC8EE"/>
                </a:solidFill>
                <a:latin typeface="Consolas"/>
              </a:rPr>
              <a:t>$ </a:t>
            </a:r>
            <a:r>
              <a:rPr sz="1050" b="0">
                <a:solidFill>
                  <a:srgbClr val="E8EEF4"/>
                </a:solidFill>
                <a:latin typeface="Consolas"/>
              </a:rPr>
              <a:t>git diff                               </a:t>
            </a:r>
            <a:r>
              <a:rPr sz="1050" b="0">
                <a:solidFill>
                  <a:srgbClr val="8FBFA8"/>
                </a:solidFill>
                <a:latin typeface="Consolas"/>
              </a:rPr>
              <a:t>  # what exactly did I change?</a:t>
            </a:r>
          </a:p>
          <a:p>
            <a:pPr>
              <a:lnSpc>
                <a:spcPct val="100000"/>
              </a:lnSpc>
              <a:spcAft>
                <a:spcPts val="0"/>
              </a:spcAft>
            </a:pPr>
            <a:r>
              <a:rPr sz="1050" b="1">
                <a:solidFill>
                  <a:srgbClr val="7CC8EE"/>
                </a:solidFill>
                <a:latin typeface="Consolas"/>
              </a:rPr>
              <a:t>$ </a:t>
            </a:r>
            <a:r>
              <a:rPr sz="1050" b="0">
                <a:solidFill>
                  <a:srgbClr val="E8EEF4"/>
                </a:solidFill>
                <a:latin typeface="Consolas"/>
              </a:rPr>
              <a:t>git add app/src/app.py                 </a:t>
            </a:r>
            <a:r>
              <a:rPr sz="1050" b="0">
                <a:solidFill>
                  <a:srgbClr val="8FBFA8"/>
                </a:solidFill>
                <a:latin typeface="Consolas"/>
              </a:rPr>
              <a:t>  # pick the changes to save</a:t>
            </a:r>
          </a:p>
          <a:p>
            <a:pPr>
              <a:lnSpc>
                <a:spcPct val="100000"/>
              </a:lnSpc>
              <a:spcAft>
                <a:spcPts val="0"/>
              </a:spcAft>
            </a:pPr>
            <a:r>
              <a:rPr sz="1050" b="1">
                <a:solidFill>
                  <a:srgbClr val="7CC8EE"/>
                </a:solidFill>
                <a:latin typeface="Consolas"/>
              </a:rPr>
              <a:t>$ </a:t>
            </a:r>
            <a:r>
              <a:rPr sz="1050" b="0">
                <a:solidFill>
                  <a:srgbClr val="E8EEF4"/>
                </a:solidFill>
                <a:latin typeface="Consolas"/>
              </a:rPr>
              <a:t>git diff --staged                      </a:t>
            </a:r>
            <a:r>
              <a:rPr sz="1050" b="0">
                <a:solidFill>
                  <a:srgbClr val="8FBFA8"/>
                </a:solidFill>
                <a:latin typeface="Consolas"/>
              </a:rPr>
              <a:t>  # double-check what will be saved</a:t>
            </a:r>
          </a:p>
          <a:p>
            <a:pPr>
              <a:lnSpc>
                <a:spcPct val="100000"/>
              </a:lnSpc>
              <a:spcAft>
                <a:spcPts val="0"/>
              </a:spcAft>
            </a:pPr>
            <a:r>
              <a:rPr sz="1050" b="1">
                <a:solidFill>
                  <a:srgbClr val="7CC8EE"/>
                </a:solidFill>
                <a:latin typeface="Consolas"/>
              </a:rPr>
              <a:t>$ </a:t>
            </a:r>
            <a:r>
              <a:rPr sz="1050" b="0">
                <a:solidFill>
                  <a:srgbClr val="E8EEF4"/>
                </a:solidFill>
                <a:latin typeface="Consolas"/>
              </a:rPr>
              <a:t>git commit -m "feat: add readiness probe"</a:t>
            </a:r>
          </a:p>
          <a:p>
            <a:pPr>
              <a:lnSpc>
                <a:spcPct val="100000"/>
              </a:lnSpc>
              <a:spcAft>
                <a:spcPts val="0"/>
              </a:spcAft>
            </a:pPr>
            <a:r>
              <a:rPr sz="1050" b="1">
                <a:solidFill>
                  <a:srgbClr val="7CC8EE"/>
                </a:solidFill>
                <a:latin typeface="Consolas"/>
              </a:rPr>
              <a:t>$ </a:t>
            </a:r>
            <a:r>
              <a:rPr sz="1050" b="0">
                <a:solidFill>
                  <a:srgbClr val="E8EEF4"/>
                </a:solidFill>
                <a:latin typeface="Consolas"/>
              </a:rPr>
              <a:t>git push -u origin HEAD                </a:t>
            </a:r>
            <a:r>
              <a:rPr sz="1050" b="0">
                <a:solidFill>
                  <a:srgbClr val="8FBFA8"/>
                </a:solidFill>
                <a:latin typeface="Consolas"/>
              </a:rPr>
              <a:t>  # upload the branch to GitHub</a:t>
            </a:r>
          </a:p>
          <a:p>
            <a:pPr>
              <a:lnSpc>
                <a:spcPct val="100000"/>
              </a:lnSpc>
              <a:spcAft>
                <a:spcPts val="0"/>
              </a:spcAft>
            </a:pPr>
            <a:r>
              <a:rPr sz="1050" b="0">
                <a:solidFill>
                  <a:srgbClr val="E8EEF4"/>
                </a:solidFill>
                <a:latin typeface="Consolas"/>
              </a:rPr>
              <a:t>  ... open a pull request, get a review ...</a:t>
            </a:r>
          </a:p>
          <a:p>
            <a:pPr>
              <a:lnSpc>
                <a:spcPct val="100000"/>
              </a:lnSpc>
              <a:spcAft>
                <a:spcPts val="0"/>
              </a:spcAft>
            </a:pPr>
            <a:r>
              <a:rPr sz="1050" b="1">
                <a:solidFill>
                  <a:srgbClr val="7CC8EE"/>
                </a:solidFill>
                <a:latin typeface="Consolas"/>
              </a:rPr>
              <a:t>$ </a:t>
            </a:r>
            <a:r>
              <a:rPr sz="1050" b="0">
                <a:solidFill>
                  <a:srgbClr val="E8EEF4"/>
                </a:solidFill>
                <a:latin typeface="Consolas"/>
              </a:rPr>
              <a:t>git switch main &amp;&amp; git pull            </a:t>
            </a:r>
            <a:r>
              <a:rPr sz="1050" b="0">
                <a:solidFill>
                  <a:srgbClr val="8FBFA8"/>
                </a:solidFill>
                <a:latin typeface="Consolas"/>
              </a:rPr>
              <a:t>  # after the merge: update again</a:t>
            </a:r>
          </a:p>
        </p:txBody>
      </p:sp>
      <p:sp>
        <p:nvSpPr>
          <p:cNvPr id="15" name="TextBox 14"/>
          <p:cNvSpPr txBox="1"/>
          <p:nvPr/>
        </p:nvSpPr>
        <p:spPr>
          <a:xfrm>
            <a:off x="7456017" y="1764792"/>
            <a:ext cx="4074566"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7456017"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56017"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785201" y="2075688"/>
            <a:ext cx="372709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Start from the latest main</a:t>
            </a:r>
          </a:p>
          <a:p>
            <a:pPr>
              <a:lnSpc>
                <a:spcPct val="95000"/>
              </a:lnSpc>
              <a:spcBef>
                <a:spcPts val="200"/>
              </a:spcBef>
              <a:spcAft>
                <a:spcPts val="100"/>
              </a:spcAft>
            </a:pPr>
            <a:r>
              <a:rPr sz="1090" b="0">
                <a:solidFill>
                  <a:srgbClr val="5A6570"/>
                </a:solidFill>
                <a:latin typeface="Aptos"/>
              </a:rPr>
              <a:t>So you build on top of everyone else's work</a:t>
            </a:r>
          </a:p>
        </p:txBody>
      </p:sp>
      <p:sp>
        <p:nvSpPr>
          <p:cNvPr id="19" name="Oval 18"/>
          <p:cNvSpPr/>
          <p:nvPr/>
        </p:nvSpPr>
        <p:spPr>
          <a:xfrm>
            <a:off x="7456017" y="2761487"/>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456017" y="2779775"/>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785201" y="2715768"/>
            <a:ext cx="372709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One branch per change</a:t>
            </a:r>
          </a:p>
          <a:p>
            <a:pPr>
              <a:lnSpc>
                <a:spcPct val="95000"/>
              </a:lnSpc>
              <a:spcBef>
                <a:spcPts val="200"/>
              </a:spcBef>
              <a:spcAft>
                <a:spcPts val="100"/>
              </a:spcAft>
            </a:pPr>
            <a:r>
              <a:rPr sz="1090" b="0">
                <a:solidFill>
                  <a:srgbClr val="5A6570"/>
                </a:solidFill>
                <a:latin typeface="Aptos"/>
              </a:rPr>
              <a:t>Small, focused changes are easier to review and to undo</a:t>
            </a:r>
          </a:p>
        </p:txBody>
      </p:sp>
      <p:sp>
        <p:nvSpPr>
          <p:cNvPr id="22" name="Oval 21"/>
          <p:cNvSpPr/>
          <p:nvPr/>
        </p:nvSpPr>
        <p:spPr>
          <a:xfrm>
            <a:off x="7456017" y="3566159"/>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456017" y="3584447"/>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785201" y="3520439"/>
            <a:ext cx="372709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Look before you save</a:t>
            </a:r>
          </a:p>
          <a:p>
            <a:pPr>
              <a:lnSpc>
                <a:spcPct val="95000"/>
              </a:lnSpc>
              <a:spcBef>
                <a:spcPts val="200"/>
              </a:spcBef>
              <a:spcAft>
                <a:spcPts val="100"/>
              </a:spcAft>
            </a:pPr>
            <a:r>
              <a:rPr sz="1090" b="0">
                <a:solidFill>
                  <a:srgbClr val="5A6570"/>
                </a:solidFill>
                <a:latin typeface="Aptos"/>
              </a:rPr>
              <a:t>git status and git diff show exactly what is about to go in</a:t>
            </a:r>
          </a:p>
        </p:txBody>
      </p:sp>
      <p:sp>
        <p:nvSpPr>
          <p:cNvPr id="25" name="Oval 24"/>
          <p:cNvSpPr/>
          <p:nvPr/>
        </p:nvSpPr>
        <p:spPr>
          <a:xfrm>
            <a:off x="7456017" y="4370831"/>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456017" y="4389120"/>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785201" y="4325112"/>
            <a:ext cx="372709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Save with a clear note</a:t>
            </a:r>
          </a:p>
          <a:p>
            <a:pPr>
              <a:lnSpc>
                <a:spcPct val="95000"/>
              </a:lnSpc>
              <a:spcBef>
                <a:spcPts val="200"/>
              </a:spcBef>
              <a:spcAft>
                <a:spcPts val="100"/>
              </a:spcAft>
            </a:pPr>
            <a:r>
              <a:rPr sz="1090" b="0">
                <a:solidFill>
                  <a:srgbClr val="5A6570"/>
                </a:solidFill>
                <a:latin typeface="Aptos"/>
              </a:rPr>
              <a:t>Say WHY — the change itself already shows what</a:t>
            </a:r>
          </a:p>
        </p:txBody>
      </p:sp>
      <p:sp>
        <p:nvSpPr>
          <p:cNvPr id="28" name="Oval 27"/>
          <p:cNvSpPr/>
          <p:nvPr/>
        </p:nvSpPr>
        <p:spPr>
          <a:xfrm>
            <a:off x="7456017" y="5175503"/>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56017" y="519379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30" name="TextBox 29"/>
          <p:cNvSpPr txBox="1"/>
          <p:nvPr/>
        </p:nvSpPr>
        <p:spPr>
          <a:xfrm>
            <a:off x="7785201" y="5129783"/>
            <a:ext cx="372709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Share it and ask for a review</a:t>
            </a:r>
          </a:p>
          <a:p>
            <a:pPr>
              <a:lnSpc>
                <a:spcPct val="95000"/>
              </a:lnSpc>
              <a:spcBef>
                <a:spcPts val="200"/>
              </a:spcBef>
              <a:spcAft>
                <a:spcPts val="100"/>
              </a:spcAft>
            </a:pPr>
            <a:r>
              <a:rPr sz="1090" b="0">
                <a:solidFill>
                  <a:srgbClr val="5A6570"/>
                </a:solidFill>
                <a:latin typeface="Aptos"/>
              </a:rPr>
              <a:t>Nothing reaches main without a second pair of eyes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11</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EVERYDAY GIT</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640" b="1" i="0">
                <a:solidFill>
                  <a:srgbClr val="123A5F"/>
                </a:solidFill>
                <a:latin typeface="Aptos Display"/>
              </a:rPr>
              <a:t>git init · git clone — get a project</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305885" cy="292150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305885"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391485"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BASH  ·  REAL OUTPUT</a:t>
            </a:r>
          </a:p>
        </p:txBody>
      </p:sp>
      <p:sp>
        <p:nvSpPr>
          <p:cNvPr id="14" name="TextBox 13"/>
          <p:cNvSpPr txBox="1"/>
          <p:nvPr/>
        </p:nvSpPr>
        <p:spPr>
          <a:xfrm>
            <a:off x="768096" y="2185416"/>
            <a:ext cx="6104717" cy="2281428"/>
          </a:xfrm>
          <a:prstGeom prst="rect">
            <a:avLst/>
          </a:prstGeom>
          <a:noFill/>
        </p:spPr>
        <p:txBody>
          <a:bodyPr wrap="square" lIns="73152" rIns="73152" tIns="18288" bIns="18288">
            <a:spAutoFit/>
          </a:bodyPr>
          <a:lstStyle/>
          <a:p>
            <a:pPr>
              <a:lnSpc>
                <a:spcPct val="100000"/>
              </a:lnSpc>
              <a:spcAft>
                <a:spcPts val="0"/>
              </a:spcAft>
            </a:pPr>
            <a:r>
              <a:rPr sz="950" b="1">
                <a:solidFill>
                  <a:srgbClr val="7CC8EE"/>
                </a:solidFill>
                <a:latin typeface="Consolas"/>
              </a:rPr>
              <a:t>$ </a:t>
            </a:r>
            <a:r>
              <a:rPr sz="950" b="0">
                <a:solidFill>
                  <a:srgbClr val="E8EEF4"/>
                </a:solidFill>
                <a:latin typeface="Consolas"/>
              </a:rPr>
              <a:t>mkdir paytrack-api &amp;&amp; cd paytrack-api</a:t>
            </a:r>
          </a:p>
          <a:p>
            <a:pPr>
              <a:lnSpc>
                <a:spcPct val="100000"/>
              </a:lnSpc>
              <a:spcAft>
                <a:spcPts val="0"/>
              </a:spcAft>
            </a:pPr>
            <a:r>
              <a:rPr sz="950" b="1">
                <a:solidFill>
                  <a:srgbClr val="7CC8EE"/>
                </a:solidFill>
                <a:latin typeface="Consolas"/>
              </a:rPr>
              <a:t>$ </a:t>
            </a:r>
            <a:r>
              <a:rPr sz="950" b="0">
                <a:solidFill>
                  <a:srgbClr val="E8EEF4"/>
                </a:solidFill>
                <a:latin typeface="Consolas"/>
              </a:rPr>
              <a:t>git init</a:t>
            </a:r>
          </a:p>
          <a:p>
            <a:pPr>
              <a:lnSpc>
                <a:spcPct val="100000"/>
              </a:lnSpc>
              <a:spcAft>
                <a:spcPts val="0"/>
              </a:spcAft>
            </a:pPr>
            <a:r>
              <a:rPr sz="950" b="0">
                <a:solidFill>
                  <a:srgbClr val="E8EEF4"/>
                </a:solidFill>
                <a:latin typeface="Consolas"/>
              </a:rPr>
              <a:t>Initialized empty Git repository in /home/you/devops-course/paytrack-api/.git/</a:t>
            </a:r>
          </a:p>
          <a:p>
            <a:pPr>
              <a:lnSpc>
                <a:spcPct val="100000"/>
              </a:lnSpc>
              <a:spcAft>
                <a:spcPts val="0"/>
              </a:spcAft>
            </a:pPr>
            <a:r>
              <a:rPr sz="950" b="0">
                <a:solidFill>
                  <a:srgbClr val="E8EEF4"/>
                </a:solidFill>
                <a:latin typeface="Consolas"/>
              </a:rPr>
              <a:t> </a:t>
            </a:r>
          </a:p>
          <a:p>
            <a:pPr>
              <a:lnSpc>
                <a:spcPct val="100000"/>
              </a:lnSpc>
              <a:spcAft>
                <a:spcPts val="0"/>
              </a:spcAft>
            </a:pPr>
            <a:r>
              <a:rPr sz="950" b="1">
                <a:solidFill>
                  <a:srgbClr val="7CC8EE"/>
                </a:solidFill>
                <a:latin typeface="Consolas"/>
              </a:rPr>
              <a:t>$ </a:t>
            </a:r>
            <a:r>
              <a:rPr sz="950" b="0">
                <a:solidFill>
                  <a:srgbClr val="E8EEF4"/>
                </a:solidFill>
                <a:latin typeface="Consolas"/>
              </a:rPr>
              <a:t>git clone https://github.com/kumbulanit/devops_professional.git course-material</a:t>
            </a:r>
          </a:p>
          <a:p>
            <a:pPr>
              <a:lnSpc>
                <a:spcPct val="100000"/>
              </a:lnSpc>
              <a:spcAft>
                <a:spcPts val="0"/>
              </a:spcAft>
            </a:pPr>
            <a:r>
              <a:rPr sz="950" b="0">
                <a:solidFill>
                  <a:srgbClr val="E8EEF4"/>
                </a:solidFill>
                <a:latin typeface="Consolas"/>
              </a:rPr>
              <a:t>Cloning into 'course-material'...</a:t>
            </a:r>
          </a:p>
          <a:p>
            <a:pPr>
              <a:lnSpc>
                <a:spcPct val="100000"/>
              </a:lnSpc>
              <a:spcAft>
                <a:spcPts val="0"/>
              </a:spcAft>
            </a:pPr>
            <a:r>
              <a:rPr sz="950" b="0">
                <a:solidFill>
                  <a:srgbClr val="E8EEF4"/>
                </a:solidFill>
                <a:latin typeface="Consolas"/>
              </a:rPr>
              <a:t>remote: Enumerating objects: 140, done.</a:t>
            </a:r>
          </a:p>
          <a:p>
            <a:pPr>
              <a:lnSpc>
                <a:spcPct val="100000"/>
              </a:lnSpc>
              <a:spcAft>
                <a:spcPts val="0"/>
              </a:spcAft>
            </a:pPr>
            <a:r>
              <a:rPr sz="950" b="0">
                <a:solidFill>
                  <a:srgbClr val="E8EEF4"/>
                </a:solidFill>
                <a:latin typeface="Consolas"/>
              </a:rPr>
              <a:t>remote: Counting objects: 100% (140/140), done.</a:t>
            </a:r>
          </a:p>
          <a:p>
            <a:pPr>
              <a:lnSpc>
                <a:spcPct val="100000"/>
              </a:lnSpc>
              <a:spcAft>
                <a:spcPts val="0"/>
              </a:spcAft>
            </a:pPr>
            <a:r>
              <a:rPr sz="950" b="0">
                <a:solidFill>
                  <a:srgbClr val="E8EEF4"/>
                </a:solidFill>
                <a:latin typeface="Consolas"/>
              </a:rPr>
              <a:t>remote: Compressing objects: 100% (87/87), done.</a:t>
            </a:r>
          </a:p>
          <a:p>
            <a:pPr>
              <a:lnSpc>
                <a:spcPct val="100000"/>
              </a:lnSpc>
              <a:spcAft>
                <a:spcPts val="0"/>
              </a:spcAft>
            </a:pPr>
            <a:r>
              <a:rPr sz="950" b="0">
                <a:solidFill>
                  <a:srgbClr val="E8EEF4"/>
                </a:solidFill>
                <a:latin typeface="Consolas"/>
              </a:rPr>
              <a:t>remote: Total 140 (delta 22), reused 136 (delta 21), pack-reused 0 (from 0)</a:t>
            </a:r>
          </a:p>
          <a:p>
            <a:pPr>
              <a:lnSpc>
                <a:spcPct val="100000"/>
              </a:lnSpc>
              <a:spcAft>
                <a:spcPts val="0"/>
              </a:spcAft>
            </a:pPr>
            <a:r>
              <a:rPr sz="950" b="0">
                <a:solidFill>
                  <a:srgbClr val="E8EEF4"/>
                </a:solidFill>
                <a:latin typeface="Consolas"/>
              </a:rPr>
              <a:t>Receiving objects: 100% (140/140), 386.04 KiB | 10.16 MiB/s, done.</a:t>
            </a:r>
          </a:p>
          <a:p>
            <a:pPr>
              <a:lnSpc>
                <a:spcPct val="100000"/>
              </a:lnSpc>
              <a:spcAft>
                <a:spcPts val="0"/>
              </a:spcAft>
            </a:pPr>
            <a:r>
              <a:rPr sz="950" b="0">
                <a:solidFill>
                  <a:srgbClr val="E8EEF4"/>
                </a:solidFill>
                <a:latin typeface="Consolas"/>
              </a:rPr>
              <a:t>Resolving deltas: 100% (22/22), done.</a:t>
            </a:r>
          </a:p>
          <a:p>
            <a:pPr>
              <a:lnSpc>
                <a:spcPct val="100000"/>
              </a:lnSpc>
              <a:spcAft>
                <a:spcPts val="0"/>
              </a:spcAft>
            </a:pPr>
            <a:r>
              <a:rPr sz="950" b="1">
                <a:solidFill>
                  <a:srgbClr val="7CC8EE"/>
                </a:solidFill>
                <a:latin typeface="Consolas"/>
              </a:rPr>
              <a:t>$ </a:t>
            </a:r>
            <a:r>
              <a:rPr sz="950" b="0">
                <a:solidFill>
                  <a:srgbClr val="E8EEF4"/>
                </a:solidFill>
                <a:latin typeface="Consolas"/>
              </a:rPr>
              <a:t>cd course-material &amp;&amp; git remote -v</a:t>
            </a:r>
          </a:p>
          <a:p>
            <a:pPr>
              <a:lnSpc>
                <a:spcPct val="100000"/>
              </a:lnSpc>
              <a:spcAft>
                <a:spcPts val="0"/>
              </a:spcAft>
            </a:pPr>
            <a:r>
              <a:rPr sz="950" b="0">
                <a:solidFill>
                  <a:srgbClr val="E8EEF4"/>
                </a:solidFill>
                <a:latin typeface="Consolas"/>
              </a:rPr>
              <a:t>origin    https://github.com/kumbulanit/devops_professional.git (fetch)</a:t>
            </a:r>
          </a:p>
          <a:p>
            <a:pPr>
              <a:lnSpc>
                <a:spcPct val="100000"/>
              </a:lnSpc>
              <a:spcAft>
                <a:spcPts val="0"/>
              </a:spcAft>
            </a:pPr>
            <a:r>
              <a:rPr sz="950" b="0">
                <a:solidFill>
                  <a:srgbClr val="E8EEF4"/>
                </a:solidFill>
                <a:latin typeface="Consolas"/>
              </a:rPr>
              <a:t>origin    https://github.com/kumbulanit/devops_professional.git (push)</a:t>
            </a:r>
          </a:p>
        </p:txBody>
      </p:sp>
      <p:sp>
        <p:nvSpPr>
          <p:cNvPr id="15" name="TextBox 14"/>
          <p:cNvSpPr txBox="1"/>
          <p:nvPr/>
        </p:nvSpPr>
        <p:spPr>
          <a:xfrm>
            <a:off x="7238573" y="1764792"/>
            <a:ext cx="4292010"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7238573"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238573"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567757" y="2075688"/>
            <a:ext cx="3944538" cy="763341"/>
          </a:xfrm>
          <a:prstGeom prst="rect">
            <a:avLst/>
          </a:prstGeom>
          <a:noFill/>
        </p:spPr>
        <p:txBody>
          <a:bodyPr wrap="square" lIns="73152" rIns="73152" tIns="36576" bIns="36576">
            <a:spAutoFit/>
          </a:bodyPr>
          <a:lstStyle/>
          <a:p>
            <a:pPr>
              <a:lnSpc>
                <a:spcPct val="95000"/>
              </a:lnSpc>
              <a:spcAft>
                <a:spcPts val="100"/>
              </a:spcAft>
            </a:pPr>
            <a:r>
              <a:rPr sz="1090" b="1">
                <a:solidFill>
                  <a:srgbClr val="123A5F"/>
                </a:solidFill>
                <a:latin typeface="Aptos"/>
              </a:rPr>
              <a:t>What — start a new project, or copy an existing one</a:t>
            </a:r>
          </a:p>
          <a:p>
            <a:pPr>
              <a:lnSpc>
                <a:spcPct val="95000"/>
              </a:lnSpc>
              <a:spcBef>
                <a:spcPts val="200"/>
              </a:spcBef>
              <a:spcAft>
                <a:spcPts val="100"/>
              </a:spcAft>
            </a:pPr>
            <a:r>
              <a:rPr sz="930" b="0">
                <a:solidFill>
                  <a:srgbClr val="5A6570"/>
                </a:solidFill>
                <a:latin typeface="Aptos"/>
              </a:rPr>
              <a:t>init: Git starts tracking a folder · clone: download a project with all its history</a:t>
            </a:r>
          </a:p>
        </p:txBody>
      </p:sp>
      <p:sp>
        <p:nvSpPr>
          <p:cNvPr id="19" name="Oval 18"/>
          <p:cNvSpPr/>
          <p:nvPr/>
        </p:nvSpPr>
        <p:spPr>
          <a:xfrm>
            <a:off x="7238573" y="3017044"/>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238573" y="303533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567757" y="2971324"/>
            <a:ext cx="3944538" cy="460345"/>
          </a:xfrm>
          <a:prstGeom prst="rect">
            <a:avLst/>
          </a:prstGeom>
          <a:noFill/>
        </p:spPr>
        <p:txBody>
          <a:bodyPr wrap="square" lIns="73152" rIns="73152" tIns="36576" bIns="36576">
            <a:spAutoFit/>
          </a:bodyPr>
          <a:lstStyle/>
          <a:p>
            <a:pPr>
              <a:lnSpc>
                <a:spcPct val="95000"/>
              </a:lnSpc>
              <a:spcAft>
                <a:spcPts val="100"/>
              </a:spcAft>
            </a:pPr>
            <a:r>
              <a:rPr sz="1090" b="1">
                <a:solidFill>
                  <a:srgbClr val="123A5F"/>
                </a:solidFill>
                <a:latin typeface="Aptos"/>
              </a:rPr>
              <a:t>How — git clone &lt;address&gt; &lt;folder-name&gt;</a:t>
            </a:r>
          </a:p>
          <a:p>
            <a:pPr>
              <a:lnSpc>
                <a:spcPct val="95000"/>
              </a:lnSpc>
              <a:spcBef>
                <a:spcPts val="200"/>
              </a:spcBef>
              <a:spcAft>
                <a:spcPts val="100"/>
              </a:spcAft>
            </a:pPr>
            <a:r>
              <a:rPr sz="930" b="0">
                <a:solidFill>
                  <a:srgbClr val="5A6570"/>
                </a:solidFill>
                <a:latin typeface="Aptos"/>
              </a:rPr>
              <a:t>Copy the address from the green "Code" button on GitHub</a:t>
            </a:r>
          </a:p>
        </p:txBody>
      </p:sp>
      <p:sp>
        <p:nvSpPr>
          <p:cNvPr id="22" name="Oval 21"/>
          <p:cNvSpPr/>
          <p:nvPr/>
        </p:nvSpPr>
        <p:spPr>
          <a:xfrm>
            <a:off x="7238573" y="3609685"/>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238573" y="3627973"/>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567757" y="3563965"/>
            <a:ext cx="3944538" cy="763341"/>
          </a:xfrm>
          <a:prstGeom prst="rect">
            <a:avLst/>
          </a:prstGeom>
          <a:noFill/>
        </p:spPr>
        <p:txBody>
          <a:bodyPr wrap="square" lIns="73152" rIns="73152" tIns="36576" bIns="36576">
            <a:spAutoFit/>
          </a:bodyPr>
          <a:lstStyle/>
          <a:p>
            <a:pPr>
              <a:lnSpc>
                <a:spcPct val="95000"/>
              </a:lnSpc>
              <a:spcAft>
                <a:spcPts val="100"/>
              </a:spcAft>
            </a:pPr>
            <a:r>
              <a:rPr sz="1090" b="1">
                <a:solidFill>
                  <a:srgbClr val="123A5F"/>
                </a:solidFill>
                <a:latin typeface="Aptos"/>
              </a:rPr>
              <a:t>When — clone to join a project · init to start a new one</a:t>
            </a:r>
          </a:p>
          <a:p>
            <a:pPr>
              <a:lnSpc>
                <a:spcPct val="95000"/>
              </a:lnSpc>
              <a:spcBef>
                <a:spcPts val="200"/>
              </a:spcBef>
              <a:spcAft>
                <a:spcPts val="100"/>
              </a:spcAft>
            </a:pPr>
            <a:r>
              <a:rPr sz="930" b="0">
                <a:solidFill>
                  <a:srgbClr val="5A6570"/>
                </a:solidFill>
                <a:latin typeface="Aptos"/>
              </a:rPr>
              <a:t>In this course you clone the course material and init your own project</a:t>
            </a:r>
          </a:p>
        </p:txBody>
      </p:sp>
      <p:sp>
        <p:nvSpPr>
          <p:cNvPr id="25" name="Oval 24"/>
          <p:cNvSpPr/>
          <p:nvPr/>
        </p:nvSpPr>
        <p:spPr>
          <a:xfrm>
            <a:off x="7238573" y="4505321"/>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238573" y="4523609"/>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567757" y="4459601"/>
            <a:ext cx="3944538" cy="763341"/>
          </a:xfrm>
          <a:prstGeom prst="rect">
            <a:avLst/>
          </a:prstGeom>
          <a:noFill/>
        </p:spPr>
        <p:txBody>
          <a:bodyPr wrap="square" lIns="73152" rIns="73152" tIns="36576" bIns="36576">
            <a:spAutoFit/>
          </a:bodyPr>
          <a:lstStyle/>
          <a:p>
            <a:pPr>
              <a:lnSpc>
                <a:spcPct val="95000"/>
              </a:lnSpc>
              <a:spcAft>
                <a:spcPts val="100"/>
              </a:spcAft>
            </a:pPr>
            <a:r>
              <a:rPr sz="1090" b="1">
                <a:solidFill>
                  <a:srgbClr val="123A5F"/>
                </a:solidFill>
                <a:latin typeface="Aptos"/>
              </a:rPr>
              <a:t>Careful — never run git init inside an existing project</a:t>
            </a:r>
          </a:p>
          <a:p>
            <a:pPr>
              <a:lnSpc>
                <a:spcPct val="95000"/>
              </a:lnSpc>
              <a:spcBef>
                <a:spcPts val="200"/>
              </a:spcBef>
              <a:spcAft>
                <a:spcPts val="100"/>
              </a:spcAft>
            </a:pPr>
            <a:r>
              <a:rPr sz="930" b="0">
                <a:solidFill>
                  <a:srgbClr val="5A6570"/>
                </a:solidFill>
                <a:latin typeface="Aptos"/>
              </a:rPr>
              <a:t>A project inside a project confuses Git; run git status first to check</a:t>
            </a:r>
          </a:p>
        </p:txBody>
      </p:sp>
      <p:sp>
        <p:nvSpPr>
          <p:cNvPr id="28" name="Oval 27"/>
          <p:cNvSpPr/>
          <p:nvPr/>
        </p:nvSpPr>
        <p:spPr>
          <a:xfrm>
            <a:off x="7238573" y="540095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238573" y="541924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30" name="TextBox 29"/>
          <p:cNvSpPr txBox="1"/>
          <p:nvPr/>
        </p:nvSpPr>
        <p:spPr>
          <a:xfrm>
            <a:off x="7567757" y="5355238"/>
            <a:ext cx="3944538" cy="460345"/>
          </a:xfrm>
          <a:prstGeom prst="rect">
            <a:avLst/>
          </a:prstGeom>
          <a:noFill/>
        </p:spPr>
        <p:txBody>
          <a:bodyPr wrap="square" lIns="73152" rIns="73152" tIns="36576" bIns="36576">
            <a:spAutoFit/>
          </a:bodyPr>
          <a:lstStyle/>
          <a:p>
            <a:pPr>
              <a:lnSpc>
                <a:spcPct val="95000"/>
              </a:lnSpc>
              <a:spcAft>
                <a:spcPts val="100"/>
              </a:spcAft>
            </a:pPr>
            <a:r>
              <a:rPr sz="1090" b="1">
                <a:solidFill>
                  <a:srgbClr val="123A5F"/>
                </a:solidFill>
                <a:latin typeface="Aptos"/>
              </a:rPr>
              <a:t>Good to know — clone remembers where it came from</a:t>
            </a:r>
          </a:p>
          <a:p>
            <a:pPr>
              <a:lnSpc>
                <a:spcPct val="95000"/>
              </a:lnSpc>
              <a:spcBef>
                <a:spcPts val="200"/>
              </a:spcBef>
              <a:spcAft>
                <a:spcPts val="100"/>
              </a:spcAft>
            </a:pPr>
            <a:r>
              <a:rPr sz="930" b="0">
                <a:solidFill>
                  <a:srgbClr val="5A6570"/>
                </a:solidFill>
                <a:latin typeface="Aptos"/>
              </a:rPr>
              <a:t>That address is called "origin"; git remote -v shows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12</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EVERYDAY GIT</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160" b="1" i="0">
                <a:solidFill>
                  <a:srgbClr val="123A5F"/>
                </a:solidFill>
                <a:latin typeface="Aptos Display"/>
              </a:rPr>
              <a:t>git status · git diff — what have I changed?</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305885" cy="408736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305885"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391485"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BASH  ·  REAL OUTPUT</a:t>
            </a:r>
          </a:p>
        </p:txBody>
      </p:sp>
      <p:sp>
        <p:nvSpPr>
          <p:cNvPr id="14" name="TextBox 13"/>
          <p:cNvSpPr txBox="1"/>
          <p:nvPr/>
        </p:nvSpPr>
        <p:spPr>
          <a:xfrm>
            <a:off x="768096" y="2185416"/>
            <a:ext cx="6104717" cy="3584447"/>
          </a:xfrm>
          <a:prstGeom prst="rect">
            <a:avLst/>
          </a:prstGeom>
          <a:noFill/>
        </p:spPr>
        <p:txBody>
          <a:bodyPr wrap="square" lIns="73152" rIns="73152" tIns="18288" bIns="18288">
            <a:spAutoFit/>
          </a:bodyPr>
          <a:lstStyle/>
          <a:p>
            <a:pPr>
              <a:lnSpc>
                <a:spcPct val="100000"/>
              </a:lnSpc>
              <a:spcAft>
                <a:spcPts val="0"/>
              </a:spcAft>
            </a:pPr>
            <a:r>
              <a:rPr sz="950" b="1">
                <a:solidFill>
                  <a:srgbClr val="7CC8EE"/>
                </a:solidFill>
                <a:latin typeface="Consolas"/>
              </a:rPr>
              <a:t>$ </a:t>
            </a:r>
            <a:r>
              <a:rPr sz="950" b="0">
                <a:solidFill>
                  <a:srgbClr val="E8EEF4"/>
                </a:solidFill>
                <a:latin typeface="Consolas"/>
              </a:rPr>
              <a:t>git status</a:t>
            </a:r>
          </a:p>
          <a:p>
            <a:pPr>
              <a:lnSpc>
                <a:spcPct val="100000"/>
              </a:lnSpc>
              <a:spcAft>
                <a:spcPts val="0"/>
              </a:spcAft>
            </a:pPr>
            <a:r>
              <a:rPr sz="950" b="0">
                <a:solidFill>
                  <a:srgbClr val="E8EEF4"/>
                </a:solidFill>
                <a:latin typeface="Consolas"/>
              </a:rPr>
              <a:t>On branch main</a:t>
            </a:r>
          </a:p>
          <a:p>
            <a:pPr>
              <a:lnSpc>
                <a:spcPct val="100000"/>
              </a:lnSpc>
              <a:spcAft>
                <a:spcPts val="0"/>
              </a:spcAft>
            </a:pPr>
            <a:r>
              <a:rPr sz="950" b="0">
                <a:solidFill>
                  <a:srgbClr val="E8EEF4"/>
                </a:solidFill>
                <a:latin typeface="Consolas"/>
              </a:rPr>
              <a:t>Your branch is up to date with 'origin/main'.</a:t>
            </a:r>
          </a:p>
          <a:p>
            <a:pPr>
              <a:lnSpc>
                <a:spcPct val="100000"/>
              </a:lnSpc>
              <a:spcAft>
                <a:spcPts val="0"/>
              </a:spcAft>
            </a:pPr>
            <a:r>
              <a:rPr sz="950" b="0">
                <a:solidFill>
                  <a:srgbClr val="E8EEF4"/>
                </a:solidFill>
                <a:latin typeface="Consolas"/>
              </a:rPr>
              <a:t> </a:t>
            </a:r>
          </a:p>
          <a:p>
            <a:pPr>
              <a:lnSpc>
                <a:spcPct val="100000"/>
              </a:lnSpc>
              <a:spcAft>
                <a:spcPts val="0"/>
              </a:spcAft>
            </a:pPr>
            <a:r>
              <a:rPr sz="950" b="0">
                <a:solidFill>
                  <a:srgbClr val="E8EEF4"/>
                </a:solidFill>
                <a:latin typeface="Consolas"/>
              </a:rPr>
              <a:t>Changes to be committed:</a:t>
            </a:r>
          </a:p>
          <a:p>
            <a:pPr>
              <a:lnSpc>
                <a:spcPct val="100000"/>
              </a:lnSpc>
              <a:spcAft>
                <a:spcPts val="0"/>
              </a:spcAft>
            </a:pPr>
            <a:r>
              <a:rPr sz="950" b="0">
                <a:solidFill>
                  <a:srgbClr val="E8EEF4"/>
                </a:solidFill>
                <a:latin typeface="Consolas"/>
              </a:rPr>
              <a:t>    modified:   README.md</a:t>
            </a:r>
          </a:p>
          <a:p>
            <a:pPr>
              <a:lnSpc>
                <a:spcPct val="100000"/>
              </a:lnSpc>
              <a:spcAft>
                <a:spcPts val="0"/>
              </a:spcAft>
            </a:pPr>
            <a:r>
              <a:rPr sz="950" b="0">
                <a:solidFill>
                  <a:srgbClr val="E8EEF4"/>
                </a:solidFill>
                <a:latin typeface="Consolas"/>
              </a:rPr>
              <a:t> </a:t>
            </a:r>
          </a:p>
          <a:p>
            <a:pPr>
              <a:lnSpc>
                <a:spcPct val="100000"/>
              </a:lnSpc>
              <a:spcAft>
                <a:spcPts val="0"/>
              </a:spcAft>
            </a:pPr>
            <a:r>
              <a:rPr sz="950" b="0">
                <a:solidFill>
                  <a:srgbClr val="E8EEF4"/>
                </a:solidFill>
                <a:latin typeface="Consolas"/>
              </a:rPr>
              <a:t>Changes not staged for commit:</a:t>
            </a:r>
          </a:p>
          <a:p>
            <a:pPr>
              <a:lnSpc>
                <a:spcPct val="100000"/>
              </a:lnSpc>
              <a:spcAft>
                <a:spcPts val="0"/>
              </a:spcAft>
            </a:pPr>
            <a:r>
              <a:rPr sz="950" b="0">
                <a:solidFill>
                  <a:srgbClr val="E8EEF4"/>
                </a:solidFill>
                <a:latin typeface="Consolas"/>
              </a:rPr>
              <a:t>    modified:   app/src/config.py</a:t>
            </a:r>
          </a:p>
          <a:p>
            <a:pPr>
              <a:lnSpc>
                <a:spcPct val="100000"/>
              </a:lnSpc>
              <a:spcAft>
                <a:spcPts val="0"/>
              </a:spcAft>
            </a:pPr>
            <a:r>
              <a:rPr sz="950" b="0">
                <a:solidFill>
                  <a:srgbClr val="E8EEF4"/>
                </a:solidFill>
                <a:latin typeface="Consolas"/>
              </a:rPr>
              <a:t> </a:t>
            </a:r>
          </a:p>
          <a:p>
            <a:pPr>
              <a:lnSpc>
                <a:spcPct val="100000"/>
              </a:lnSpc>
              <a:spcAft>
                <a:spcPts val="0"/>
              </a:spcAft>
            </a:pPr>
            <a:r>
              <a:rPr sz="950" b="0">
                <a:solidFill>
                  <a:srgbClr val="E8EEF4"/>
                </a:solidFill>
                <a:latin typeface="Consolas"/>
              </a:rPr>
              <a:t>Untracked files:</a:t>
            </a:r>
          </a:p>
          <a:p>
            <a:pPr>
              <a:lnSpc>
                <a:spcPct val="100000"/>
              </a:lnSpc>
              <a:spcAft>
                <a:spcPts val="0"/>
              </a:spcAft>
            </a:pPr>
            <a:r>
              <a:rPr sz="950" b="0">
                <a:solidFill>
                  <a:srgbClr val="E8EEF4"/>
                </a:solidFill>
                <a:latin typeface="Consolas"/>
              </a:rPr>
              <a:t>    app/src/probes.py</a:t>
            </a:r>
          </a:p>
          <a:p>
            <a:pPr>
              <a:lnSpc>
                <a:spcPct val="100000"/>
              </a:lnSpc>
              <a:spcAft>
                <a:spcPts val="0"/>
              </a:spcAft>
            </a:pPr>
            <a:r>
              <a:rPr sz="950" b="0">
                <a:solidFill>
                  <a:srgbClr val="E8EEF4"/>
                </a:solidFill>
                <a:latin typeface="Consolas"/>
              </a:rPr>
              <a:t> </a:t>
            </a:r>
          </a:p>
          <a:p>
            <a:pPr>
              <a:lnSpc>
                <a:spcPct val="100000"/>
              </a:lnSpc>
              <a:spcAft>
                <a:spcPts val="0"/>
              </a:spcAft>
            </a:pPr>
            <a:r>
              <a:rPr sz="950" b="1">
                <a:solidFill>
                  <a:srgbClr val="7CC8EE"/>
                </a:solidFill>
                <a:latin typeface="Consolas"/>
              </a:rPr>
              <a:t>$ </a:t>
            </a:r>
            <a:r>
              <a:rPr sz="950" b="0">
                <a:solidFill>
                  <a:srgbClr val="E8EEF4"/>
                </a:solidFill>
                <a:latin typeface="Consolas"/>
              </a:rPr>
              <a:t>git status -s</a:t>
            </a:r>
          </a:p>
          <a:p>
            <a:pPr>
              <a:lnSpc>
                <a:spcPct val="100000"/>
              </a:lnSpc>
              <a:spcAft>
                <a:spcPts val="0"/>
              </a:spcAft>
            </a:pPr>
            <a:r>
              <a:rPr sz="950" b="0">
                <a:solidFill>
                  <a:srgbClr val="E8EEF4"/>
                </a:solidFill>
                <a:latin typeface="Consolas"/>
              </a:rPr>
              <a:t>M  README.md</a:t>
            </a:r>
          </a:p>
          <a:p>
            <a:pPr>
              <a:lnSpc>
                <a:spcPct val="100000"/>
              </a:lnSpc>
              <a:spcAft>
                <a:spcPts val="0"/>
              </a:spcAft>
            </a:pPr>
            <a:r>
              <a:rPr sz="950" b="0">
                <a:solidFill>
                  <a:srgbClr val="E8EEF4"/>
                </a:solidFill>
                <a:latin typeface="Consolas"/>
              </a:rPr>
              <a:t> M app/src/config.py</a:t>
            </a:r>
          </a:p>
          <a:p>
            <a:pPr>
              <a:lnSpc>
                <a:spcPct val="100000"/>
              </a:lnSpc>
              <a:spcAft>
                <a:spcPts val="0"/>
              </a:spcAft>
            </a:pPr>
            <a:r>
              <a:rPr sz="950" b="0">
                <a:solidFill>
                  <a:srgbClr val="E8EEF4"/>
                </a:solidFill>
                <a:latin typeface="Consolas"/>
              </a:rPr>
              <a:t>?? app/src/probes.py</a:t>
            </a:r>
          </a:p>
          <a:p>
            <a:pPr>
              <a:lnSpc>
                <a:spcPct val="100000"/>
              </a:lnSpc>
              <a:spcAft>
                <a:spcPts val="0"/>
              </a:spcAft>
            </a:pPr>
            <a:r>
              <a:rPr sz="950" b="1">
                <a:solidFill>
                  <a:srgbClr val="7CC8EE"/>
                </a:solidFill>
                <a:latin typeface="Consolas"/>
              </a:rPr>
              <a:t>$ </a:t>
            </a:r>
            <a:r>
              <a:rPr sz="950" b="0">
                <a:solidFill>
                  <a:srgbClr val="E8EEF4"/>
                </a:solidFill>
                <a:latin typeface="Consolas"/>
              </a:rPr>
              <a:t>git diff</a:t>
            </a:r>
          </a:p>
          <a:p>
            <a:pPr>
              <a:lnSpc>
                <a:spcPct val="100000"/>
              </a:lnSpc>
              <a:spcAft>
                <a:spcPts val="0"/>
              </a:spcAft>
            </a:pPr>
            <a:r>
              <a:rPr sz="950" b="0">
                <a:solidFill>
                  <a:srgbClr val="E8EEF4"/>
                </a:solidFill>
                <a:latin typeface="Consolas"/>
              </a:rPr>
              <a:t>@@ -3,5 +3,5 @@ import os</a:t>
            </a:r>
          </a:p>
          <a:p>
            <a:pPr>
              <a:lnSpc>
                <a:spcPct val="100000"/>
              </a:lnSpc>
              <a:spcAft>
                <a:spcPts val="0"/>
              </a:spcAft>
            </a:pPr>
            <a:r>
              <a:rPr sz="950" b="0">
                <a:solidFill>
                  <a:srgbClr val="E8EEF4"/>
                </a:solidFill>
                <a:latin typeface="Consolas"/>
              </a:rPr>
              <a:t>-    TIMEOUT = int(os.getenv("SETTLEMENT_TIMEOUT", "30"))</a:t>
            </a:r>
          </a:p>
          <a:p>
            <a:pPr>
              <a:lnSpc>
                <a:spcPct val="100000"/>
              </a:lnSpc>
              <a:spcAft>
                <a:spcPts val="0"/>
              </a:spcAft>
            </a:pPr>
            <a:r>
              <a:rPr sz="950" b="0">
                <a:solidFill>
                  <a:srgbClr val="E8EEF4"/>
                </a:solidFill>
                <a:latin typeface="Consolas"/>
              </a:rPr>
              <a:t>+    TIMEOUT = int(os.getenv("SETTLEMENT_TIMEOUT", "45"))</a:t>
            </a:r>
          </a:p>
          <a:p>
            <a:pPr>
              <a:lnSpc>
                <a:spcPct val="100000"/>
              </a:lnSpc>
              <a:spcAft>
                <a:spcPts val="0"/>
              </a:spcAft>
            </a:pPr>
            <a:r>
              <a:rPr sz="950" b="1">
                <a:solidFill>
                  <a:srgbClr val="7CC8EE"/>
                </a:solidFill>
                <a:latin typeface="Consolas"/>
              </a:rPr>
              <a:t>$ </a:t>
            </a:r>
            <a:r>
              <a:rPr sz="950" b="0">
                <a:solidFill>
                  <a:srgbClr val="E8EEF4"/>
                </a:solidFill>
                <a:latin typeface="Consolas"/>
              </a:rPr>
              <a:t>git diff --staged</a:t>
            </a:r>
          </a:p>
          <a:p>
            <a:pPr>
              <a:lnSpc>
                <a:spcPct val="100000"/>
              </a:lnSpc>
              <a:spcAft>
                <a:spcPts val="0"/>
              </a:spcAft>
            </a:pPr>
            <a:r>
              <a:rPr sz="950" b="0">
                <a:solidFill>
                  <a:srgbClr val="E8EEF4"/>
                </a:solidFill>
                <a:latin typeface="Consolas"/>
              </a:rPr>
              <a:t>@@ -1 +1,3 @@</a:t>
            </a:r>
          </a:p>
          <a:p>
            <a:pPr>
              <a:lnSpc>
                <a:spcPct val="100000"/>
              </a:lnSpc>
              <a:spcAft>
                <a:spcPts val="0"/>
              </a:spcAft>
            </a:pPr>
            <a:r>
              <a:rPr sz="950" b="0">
                <a:solidFill>
                  <a:srgbClr val="E8EEF4"/>
                </a:solidFill>
                <a:latin typeface="Consolas"/>
              </a:rPr>
              <a:t>+Card authorisation service.</a:t>
            </a:r>
          </a:p>
        </p:txBody>
      </p:sp>
      <p:sp>
        <p:nvSpPr>
          <p:cNvPr id="15" name="TextBox 14"/>
          <p:cNvSpPr txBox="1"/>
          <p:nvPr/>
        </p:nvSpPr>
        <p:spPr>
          <a:xfrm>
            <a:off x="7238573" y="1764792"/>
            <a:ext cx="4292010"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7238573"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238573"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567757" y="2075688"/>
            <a:ext cx="3944538" cy="737006"/>
          </a:xfrm>
          <a:prstGeom prst="rect">
            <a:avLst/>
          </a:prstGeom>
          <a:noFill/>
        </p:spPr>
        <p:txBody>
          <a:bodyPr wrap="square" lIns="73152" rIns="73152" tIns="36576" bIns="36576">
            <a:spAutoFit/>
          </a:bodyPr>
          <a:lstStyle/>
          <a:p>
            <a:pPr>
              <a:lnSpc>
                <a:spcPct val="95000"/>
              </a:lnSpc>
              <a:spcAft>
                <a:spcPts val="100"/>
              </a:spcAft>
            </a:pPr>
            <a:r>
              <a:rPr sz="1050" b="1">
                <a:solidFill>
                  <a:srgbClr val="123A5F"/>
                </a:solidFill>
                <a:latin typeface="Aptos"/>
              </a:rPr>
              <a:t>What — status lists your changes · diff shows them line by line</a:t>
            </a:r>
          </a:p>
          <a:p>
            <a:pPr>
              <a:lnSpc>
                <a:spcPct val="95000"/>
              </a:lnSpc>
              <a:spcBef>
                <a:spcPts val="200"/>
              </a:spcBef>
              <a:spcAft>
                <a:spcPts val="100"/>
              </a:spcAft>
            </a:pPr>
            <a:r>
              <a:rPr sz="890" b="0">
                <a:solidFill>
                  <a:srgbClr val="5A6570"/>
                </a:solidFill>
                <a:latin typeface="Aptos"/>
              </a:rPr>
              <a:t>Nothing is changed by either command, so they are always safe</a:t>
            </a:r>
          </a:p>
        </p:txBody>
      </p:sp>
      <p:sp>
        <p:nvSpPr>
          <p:cNvPr id="19" name="Oval 18"/>
          <p:cNvSpPr/>
          <p:nvPr/>
        </p:nvSpPr>
        <p:spPr>
          <a:xfrm>
            <a:off x="7238573" y="2983504"/>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238573" y="300179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567757" y="2937784"/>
            <a:ext cx="3944538" cy="721644"/>
          </a:xfrm>
          <a:prstGeom prst="rect">
            <a:avLst/>
          </a:prstGeom>
          <a:noFill/>
        </p:spPr>
        <p:txBody>
          <a:bodyPr wrap="square" lIns="73152" rIns="73152" tIns="36576" bIns="36576">
            <a:spAutoFit/>
          </a:bodyPr>
          <a:lstStyle/>
          <a:p>
            <a:pPr>
              <a:lnSpc>
                <a:spcPct val="95000"/>
              </a:lnSpc>
              <a:spcAft>
                <a:spcPts val="100"/>
              </a:spcAft>
            </a:pPr>
            <a:r>
              <a:rPr sz="1050" b="1">
                <a:solidFill>
                  <a:srgbClr val="123A5F"/>
                </a:solidFill>
                <a:latin typeface="Aptos"/>
              </a:rPr>
              <a:t>How — read the three groups in git status</a:t>
            </a:r>
          </a:p>
          <a:p>
            <a:pPr>
              <a:lnSpc>
                <a:spcPct val="95000"/>
              </a:lnSpc>
              <a:spcBef>
                <a:spcPts val="200"/>
              </a:spcBef>
              <a:spcAft>
                <a:spcPts val="100"/>
              </a:spcAft>
            </a:pPr>
            <a:r>
              <a:rPr sz="890" b="0">
                <a:solidFill>
                  <a:srgbClr val="5A6570"/>
                </a:solidFill>
                <a:latin typeface="Aptos"/>
              </a:rPr>
              <a:t>"to be committed" = picked for your next save · "not staged" = changed, not picked · "untracked" = new file Git doesn't know</a:t>
            </a:r>
          </a:p>
        </p:txBody>
      </p:sp>
      <p:sp>
        <p:nvSpPr>
          <p:cNvPr id="22" name="Oval 21"/>
          <p:cNvSpPr/>
          <p:nvPr/>
        </p:nvSpPr>
        <p:spPr>
          <a:xfrm>
            <a:off x="7238573" y="383023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238573" y="384852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567757" y="3784518"/>
            <a:ext cx="3944538" cy="583387"/>
          </a:xfrm>
          <a:prstGeom prst="rect">
            <a:avLst/>
          </a:prstGeom>
          <a:noFill/>
        </p:spPr>
        <p:txBody>
          <a:bodyPr wrap="square" lIns="73152" rIns="73152" tIns="36576" bIns="36576">
            <a:spAutoFit/>
          </a:bodyPr>
          <a:lstStyle/>
          <a:p>
            <a:pPr>
              <a:lnSpc>
                <a:spcPct val="95000"/>
              </a:lnSpc>
              <a:spcAft>
                <a:spcPts val="100"/>
              </a:spcAft>
            </a:pPr>
            <a:r>
              <a:rPr sz="1050" b="1">
                <a:solidFill>
                  <a:srgbClr val="123A5F"/>
                </a:solidFill>
                <a:latin typeface="Aptos"/>
              </a:rPr>
              <a:t>How — git status -s is the short version</a:t>
            </a:r>
          </a:p>
          <a:p>
            <a:pPr>
              <a:lnSpc>
                <a:spcPct val="95000"/>
              </a:lnSpc>
              <a:spcBef>
                <a:spcPts val="200"/>
              </a:spcBef>
              <a:spcAft>
                <a:spcPts val="100"/>
              </a:spcAft>
            </a:pPr>
            <a:r>
              <a:rPr sz="890" b="0">
                <a:solidFill>
                  <a:srgbClr val="5A6570"/>
                </a:solidFill>
                <a:latin typeface="Aptos"/>
              </a:rPr>
              <a:t>M = modified · A = added · ?? = a new file Git is not tracking yet</a:t>
            </a:r>
          </a:p>
        </p:txBody>
      </p:sp>
      <p:sp>
        <p:nvSpPr>
          <p:cNvPr id="25" name="Oval 24"/>
          <p:cNvSpPr/>
          <p:nvPr/>
        </p:nvSpPr>
        <p:spPr>
          <a:xfrm>
            <a:off x="7238573" y="4538715"/>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238573" y="4557003"/>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567757" y="4492995"/>
            <a:ext cx="3944538" cy="598749"/>
          </a:xfrm>
          <a:prstGeom prst="rect">
            <a:avLst/>
          </a:prstGeom>
          <a:noFill/>
        </p:spPr>
        <p:txBody>
          <a:bodyPr wrap="square" lIns="73152" rIns="73152" tIns="36576" bIns="36576">
            <a:spAutoFit/>
          </a:bodyPr>
          <a:lstStyle/>
          <a:p>
            <a:pPr>
              <a:lnSpc>
                <a:spcPct val="95000"/>
              </a:lnSpc>
              <a:spcAft>
                <a:spcPts val="100"/>
              </a:spcAft>
            </a:pPr>
            <a:r>
              <a:rPr sz="1050" b="1">
                <a:solidFill>
                  <a:srgbClr val="123A5F"/>
                </a:solidFill>
                <a:latin typeface="Aptos"/>
              </a:rPr>
              <a:t>When — before every save, and whenever you are unsure</a:t>
            </a:r>
          </a:p>
          <a:p>
            <a:pPr>
              <a:lnSpc>
                <a:spcPct val="95000"/>
              </a:lnSpc>
              <a:spcBef>
                <a:spcPts val="200"/>
              </a:spcBef>
              <a:spcAft>
                <a:spcPts val="100"/>
              </a:spcAft>
            </a:pPr>
            <a:r>
              <a:rPr sz="890" b="0">
                <a:solidFill>
                  <a:srgbClr val="5A6570"/>
                </a:solidFill>
                <a:latin typeface="Aptos"/>
              </a:rPr>
              <a:t>Make it a habit: status, then diff, then add</a:t>
            </a:r>
          </a:p>
        </p:txBody>
      </p:sp>
      <p:sp>
        <p:nvSpPr>
          <p:cNvPr id="28" name="Oval 27"/>
          <p:cNvSpPr/>
          <p:nvPr/>
        </p:nvSpPr>
        <p:spPr>
          <a:xfrm>
            <a:off x="7238573" y="5262554"/>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238573" y="528084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30" name="TextBox 29"/>
          <p:cNvSpPr txBox="1"/>
          <p:nvPr/>
        </p:nvSpPr>
        <p:spPr>
          <a:xfrm>
            <a:off x="7567757" y="5216834"/>
            <a:ext cx="3944538" cy="598749"/>
          </a:xfrm>
          <a:prstGeom prst="rect">
            <a:avLst/>
          </a:prstGeom>
          <a:noFill/>
        </p:spPr>
        <p:txBody>
          <a:bodyPr wrap="square" lIns="73152" rIns="73152" tIns="36576" bIns="36576">
            <a:spAutoFit/>
          </a:bodyPr>
          <a:lstStyle/>
          <a:p>
            <a:pPr>
              <a:lnSpc>
                <a:spcPct val="95000"/>
              </a:lnSpc>
              <a:spcAft>
                <a:spcPts val="100"/>
              </a:spcAft>
            </a:pPr>
            <a:r>
              <a:rPr sz="1050" b="1">
                <a:solidFill>
                  <a:srgbClr val="123A5F"/>
                </a:solidFill>
                <a:latin typeface="Aptos"/>
              </a:rPr>
              <a:t>Careful — git diff goes blank once everything is picked</a:t>
            </a:r>
          </a:p>
          <a:p>
            <a:pPr>
              <a:lnSpc>
                <a:spcPct val="95000"/>
              </a:lnSpc>
              <a:spcBef>
                <a:spcPts val="200"/>
              </a:spcBef>
              <a:spcAft>
                <a:spcPts val="100"/>
              </a:spcAft>
            </a:pPr>
            <a:r>
              <a:rPr sz="890" b="0">
                <a:solidFill>
                  <a:srgbClr val="5A6570"/>
                </a:solidFill>
                <a:latin typeface="Aptos"/>
              </a:rPr>
              <a:t>Use git diff --staged to see what you are about to save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13</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EVERYDAY GIT</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570" b="1" i="0">
                <a:solidFill>
                  <a:srgbClr val="123A5F"/>
                </a:solidFill>
                <a:latin typeface="Aptos Display"/>
              </a:rPr>
              <a:t>git add · git commit — save your work</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305885" cy="332536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305885"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391485"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BASH  ·  REAL OUTPUT</a:t>
            </a:r>
          </a:p>
        </p:txBody>
      </p:sp>
      <p:sp>
        <p:nvSpPr>
          <p:cNvPr id="14" name="TextBox 13"/>
          <p:cNvSpPr txBox="1"/>
          <p:nvPr/>
        </p:nvSpPr>
        <p:spPr>
          <a:xfrm>
            <a:off x="768096" y="2185416"/>
            <a:ext cx="6104717" cy="2685288"/>
          </a:xfrm>
          <a:prstGeom prst="rect">
            <a:avLst/>
          </a:prstGeom>
          <a:noFill/>
        </p:spPr>
        <p:txBody>
          <a:bodyPr wrap="square" lIns="73152" rIns="73152" tIns="18288" bIns="18288">
            <a:spAutoFit/>
          </a:bodyPr>
          <a:lstStyle/>
          <a:p>
            <a:pPr>
              <a:lnSpc>
                <a:spcPct val="100000"/>
              </a:lnSpc>
              <a:spcAft>
                <a:spcPts val="0"/>
              </a:spcAft>
            </a:pPr>
            <a:r>
              <a:rPr sz="1300" b="1">
                <a:solidFill>
                  <a:srgbClr val="7CC8EE"/>
                </a:solidFill>
                <a:latin typeface="Consolas"/>
              </a:rPr>
              <a:t>$ </a:t>
            </a:r>
            <a:r>
              <a:rPr sz="1300" b="0">
                <a:solidFill>
                  <a:srgbClr val="E8EEF4"/>
                </a:solidFill>
                <a:latin typeface="Consolas"/>
              </a:rPr>
              <a:t>git status -s</a:t>
            </a:r>
          </a:p>
          <a:p>
            <a:pPr>
              <a:lnSpc>
                <a:spcPct val="100000"/>
              </a:lnSpc>
              <a:spcAft>
                <a:spcPts val="0"/>
              </a:spcAft>
            </a:pPr>
            <a:r>
              <a:rPr sz="1300" b="0">
                <a:solidFill>
                  <a:srgbClr val="E8EEF4"/>
                </a:solidFill>
                <a:latin typeface="Consolas"/>
              </a:rPr>
              <a:t> M app/src/probes.py</a:t>
            </a:r>
          </a:p>
          <a:p>
            <a:pPr>
              <a:lnSpc>
                <a:spcPct val="100000"/>
              </a:lnSpc>
              <a:spcAft>
                <a:spcPts val="0"/>
              </a:spcAft>
            </a:pPr>
            <a:r>
              <a:rPr sz="1300" b="0">
                <a:solidFill>
                  <a:srgbClr val="E8EEF4"/>
                </a:solidFill>
                <a:latin typeface="Consolas"/>
              </a:rPr>
              <a:t>?? config/</a:t>
            </a:r>
          </a:p>
          <a:p>
            <a:pPr>
              <a:lnSpc>
                <a:spcPct val="100000"/>
              </a:lnSpc>
              <a:spcAft>
                <a:spcPts val="0"/>
              </a:spcAft>
            </a:pPr>
            <a:r>
              <a:rPr sz="1300" b="1">
                <a:solidFill>
                  <a:srgbClr val="7CC8EE"/>
                </a:solidFill>
                <a:latin typeface="Consolas"/>
              </a:rPr>
              <a:t>$ </a:t>
            </a:r>
            <a:r>
              <a:rPr sz="1300" b="0">
                <a:solidFill>
                  <a:srgbClr val="E8EEF4"/>
                </a:solidFill>
                <a:latin typeface="Consolas"/>
              </a:rPr>
              <a:t>git add app/src/probes.py</a:t>
            </a:r>
          </a:p>
          <a:p>
            <a:pPr>
              <a:lnSpc>
                <a:spcPct val="100000"/>
              </a:lnSpc>
              <a:spcAft>
                <a:spcPts val="0"/>
              </a:spcAft>
            </a:pPr>
            <a:r>
              <a:rPr sz="1300" b="1">
                <a:solidFill>
                  <a:srgbClr val="7CC8EE"/>
                </a:solidFill>
                <a:latin typeface="Consolas"/>
              </a:rPr>
              <a:t>$ </a:t>
            </a:r>
            <a:r>
              <a:rPr sz="1300" b="0">
                <a:solidFill>
                  <a:srgbClr val="E8EEF4"/>
                </a:solidFill>
                <a:latin typeface="Consolas"/>
              </a:rPr>
              <a:t>git status -s</a:t>
            </a:r>
          </a:p>
          <a:p>
            <a:pPr>
              <a:lnSpc>
                <a:spcPct val="100000"/>
              </a:lnSpc>
              <a:spcAft>
                <a:spcPts val="0"/>
              </a:spcAft>
            </a:pPr>
            <a:r>
              <a:rPr sz="1300" b="0">
                <a:solidFill>
                  <a:srgbClr val="E8EEF4"/>
                </a:solidFill>
                <a:latin typeface="Consolas"/>
              </a:rPr>
              <a:t>M  app/src/probes.py</a:t>
            </a:r>
          </a:p>
          <a:p>
            <a:pPr>
              <a:lnSpc>
                <a:spcPct val="100000"/>
              </a:lnSpc>
              <a:spcAft>
                <a:spcPts val="0"/>
              </a:spcAft>
            </a:pPr>
            <a:r>
              <a:rPr sz="1300" b="0">
                <a:solidFill>
                  <a:srgbClr val="E8EEF4"/>
                </a:solidFill>
                <a:latin typeface="Consolas"/>
              </a:rPr>
              <a:t>?? config/</a:t>
            </a:r>
          </a:p>
          <a:p>
            <a:pPr>
              <a:lnSpc>
                <a:spcPct val="100000"/>
              </a:lnSpc>
              <a:spcAft>
                <a:spcPts val="0"/>
              </a:spcAft>
            </a:pPr>
            <a:r>
              <a:rPr sz="1300" b="1">
                <a:solidFill>
                  <a:srgbClr val="7CC8EE"/>
                </a:solidFill>
                <a:latin typeface="Consolas"/>
              </a:rPr>
              <a:t>$ </a:t>
            </a:r>
            <a:r>
              <a:rPr sz="1300" b="0">
                <a:solidFill>
                  <a:srgbClr val="E8EEF4"/>
                </a:solidFill>
                <a:latin typeface="Consolas"/>
              </a:rPr>
              <a:t>git commit -m "feat: report the store in /ready"</a:t>
            </a:r>
          </a:p>
          <a:p>
            <a:pPr>
              <a:lnSpc>
                <a:spcPct val="100000"/>
              </a:lnSpc>
              <a:spcAft>
                <a:spcPts val="0"/>
              </a:spcAft>
            </a:pPr>
            <a:r>
              <a:rPr sz="1300" b="0">
                <a:solidFill>
                  <a:srgbClr val="E8EEF4"/>
                </a:solidFill>
                <a:latin typeface="Consolas"/>
              </a:rPr>
              <a:t>[main c6b1cae] feat: report the store in /ready</a:t>
            </a:r>
          </a:p>
          <a:p>
            <a:pPr>
              <a:lnSpc>
                <a:spcPct val="100000"/>
              </a:lnSpc>
              <a:spcAft>
                <a:spcPts val="0"/>
              </a:spcAft>
            </a:pPr>
            <a:r>
              <a:rPr sz="1300" b="0">
                <a:solidFill>
                  <a:srgbClr val="E8EEF4"/>
                </a:solidFill>
                <a:latin typeface="Consolas"/>
              </a:rPr>
              <a:t> 1 file changed, 1 insertion(+), 1 deletion(-)</a:t>
            </a:r>
          </a:p>
          <a:p>
            <a:pPr>
              <a:lnSpc>
                <a:spcPct val="100000"/>
              </a:lnSpc>
              <a:spcAft>
                <a:spcPts val="0"/>
              </a:spcAft>
            </a:pPr>
            <a:r>
              <a:rPr sz="1300" b="1">
                <a:solidFill>
                  <a:srgbClr val="7CC8EE"/>
                </a:solidFill>
                <a:latin typeface="Consolas"/>
              </a:rPr>
              <a:t>$ </a:t>
            </a:r>
            <a:r>
              <a:rPr sz="1300" b="0">
                <a:solidFill>
                  <a:srgbClr val="E8EEF4"/>
                </a:solidFill>
                <a:latin typeface="Consolas"/>
              </a:rPr>
              <a:t>git log --oneline</a:t>
            </a:r>
          </a:p>
          <a:p>
            <a:pPr>
              <a:lnSpc>
                <a:spcPct val="100000"/>
              </a:lnSpc>
              <a:spcAft>
                <a:spcPts val="0"/>
              </a:spcAft>
            </a:pPr>
            <a:r>
              <a:rPr sz="1300" b="0">
                <a:solidFill>
                  <a:srgbClr val="E8EEF4"/>
                </a:solidFill>
                <a:latin typeface="Consolas"/>
              </a:rPr>
              <a:t>c6b1cae feat: report the store in /ready</a:t>
            </a:r>
          </a:p>
          <a:p>
            <a:pPr>
              <a:lnSpc>
                <a:spcPct val="100000"/>
              </a:lnSpc>
              <a:spcAft>
                <a:spcPts val="0"/>
              </a:spcAft>
            </a:pPr>
            <a:r>
              <a:rPr sz="1300" b="0">
                <a:solidFill>
                  <a:srgbClr val="E8EEF4"/>
                </a:solidFill>
                <a:latin typeface="Consolas"/>
              </a:rPr>
              <a:t>2ccf1a2 feat: add PayTrack API service</a:t>
            </a:r>
          </a:p>
        </p:txBody>
      </p:sp>
      <p:sp>
        <p:nvSpPr>
          <p:cNvPr id="15" name="TextBox 14"/>
          <p:cNvSpPr txBox="1"/>
          <p:nvPr/>
        </p:nvSpPr>
        <p:spPr>
          <a:xfrm>
            <a:off x="7238573" y="1764792"/>
            <a:ext cx="4292010"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7238573"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238573"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567757" y="2075688"/>
            <a:ext cx="3944538" cy="644834"/>
          </a:xfrm>
          <a:prstGeom prst="rect">
            <a:avLst/>
          </a:prstGeom>
          <a:noFill/>
        </p:spPr>
        <p:txBody>
          <a:bodyPr wrap="square" lIns="73152" rIns="73152" tIns="36576" bIns="36576">
            <a:spAutoFit/>
          </a:bodyPr>
          <a:lstStyle/>
          <a:p>
            <a:pPr>
              <a:lnSpc>
                <a:spcPct val="95000"/>
              </a:lnSpc>
              <a:spcAft>
                <a:spcPts val="100"/>
              </a:spcAft>
            </a:pPr>
            <a:r>
              <a:rPr sz="1170" b="1">
                <a:solidFill>
                  <a:srgbClr val="123A5F"/>
                </a:solidFill>
                <a:latin typeface="Aptos"/>
              </a:rPr>
              <a:t>What — add picks changes; commit saves them</a:t>
            </a:r>
          </a:p>
          <a:p>
            <a:pPr>
              <a:lnSpc>
                <a:spcPct val="95000"/>
              </a:lnSpc>
              <a:spcBef>
                <a:spcPts val="200"/>
              </a:spcBef>
              <a:spcAft>
                <a:spcPts val="100"/>
              </a:spcAft>
            </a:pPr>
            <a:r>
              <a:rPr sz="1010" b="0">
                <a:solidFill>
                  <a:srgbClr val="5A6570"/>
                </a:solidFill>
                <a:latin typeface="Aptos"/>
              </a:rPr>
              <a:t>Like a basket: add puts things in, commit pays for them</a:t>
            </a:r>
          </a:p>
        </p:txBody>
      </p:sp>
      <p:sp>
        <p:nvSpPr>
          <p:cNvPr id="19" name="Oval 18"/>
          <p:cNvSpPr/>
          <p:nvPr/>
        </p:nvSpPr>
        <p:spPr>
          <a:xfrm>
            <a:off x="7238573" y="2886614"/>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238573" y="290490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567757" y="2840894"/>
            <a:ext cx="3944538" cy="816010"/>
          </a:xfrm>
          <a:prstGeom prst="rect">
            <a:avLst/>
          </a:prstGeom>
          <a:noFill/>
        </p:spPr>
        <p:txBody>
          <a:bodyPr wrap="square" lIns="73152" rIns="73152" tIns="36576" bIns="36576">
            <a:spAutoFit/>
          </a:bodyPr>
          <a:lstStyle/>
          <a:p>
            <a:pPr>
              <a:lnSpc>
                <a:spcPct val="95000"/>
              </a:lnSpc>
              <a:spcAft>
                <a:spcPts val="100"/>
              </a:spcAft>
            </a:pPr>
            <a:r>
              <a:rPr sz="1170" b="1">
                <a:solidFill>
                  <a:srgbClr val="123A5F"/>
                </a:solidFill>
                <a:latin typeface="Aptos"/>
              </a:rPr>
              <a:t>How — git add &lt;file&gt; · git commit -m "what changed"</a:t>
            </a:r>
          </a:p>
          <a:p>
            <a:pPr>
              <a:lnSpc>
                <a:spcPct val="95000"/>
              </a:lnSpc>
              <a:spcBef>
                <a:spcPts val="200"/>
              </a:spcBef>
              <a:spcAft>
                <a:spcPts val="100"/>
              </a:spcAft>
            </a:pPr>
            <a:r>
              <a:rPr sz="1010" b="0">
                <a:solidFill>
                  <a:srgbClr val="5A6570"/>
                </a:solidFill>
                <a:latin typeface="Aptos"/>
              </a:rPr>
              <a:t>Each commit gets a unique ID — here c6b1cae — and your note</a:t>
            </a:r>
          </a:p>
        </p:txBody>
      </p:sp>
      <p:sp>
        <p:nvSpPr>
          <p:cNvPr id="22" name="Oval 21"/>
          <p:cNvSpPr/>
          <p:nvPr/>
        </p:nvSpPr>
        <p:spPr>
          <a:xfrm>
            <a:off x="7238573" y="382299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238573" y="384128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567757" y="3777276"/>
            <a:ext cx="3944538" cy="644834"/>
          </a:xfrm>
          <a:prstGeom prst="rect">
            <a:avLst/>
          </a:prstGeom>
          <a:noFill/>
        </p:spPr>
        <p:txBody>
          <a:bodyPr wrap="square" lIns="73152" rIns="73152" tIns="36576" bIns="36576">
            <a:spAutoFit/>
          </a:bodyPr>
          <a:lstStyle/>
          <a:p>
            <a:pPr>
              <a:lnSpc>
                <a:spcPct val="95000"/>
              </a:lnSpc>
              <a:spcAft>
                <a:spcPts val="100"/>
              </a:spcAft>
            </a:pPr>
            <a:r>
              <a:rPr sz="1170" b="1">
                <a:solidFill>
                  <a:srgbClr val="123A5F"/>
                </a:solidFill>
                <a:latin typeface="Aptos"/>
              </a:rPr>
              <a:t>Careful — pick only what you mean to save</a:t>
            </a:r>
          </a:p>
          <a:p>
            <a:pPr>
              <a:lnSpc>
                <a:spcPct val="95000"/>
              </a:lnSpc>
              <a:spcBef>
                <a:spcPts val="200"/>
              </a:spcBef>
              <a:spcAft>
                <a:spcPts val="100"/>
              </a:spcAft>
            </a:pPr>
            <a:r>
              <a:rPr sz="1010" b="0">
                <a:solidFill>
                  <a:srgbClr val="5A6570"/>
                </a:solidFill>
                <a:latin typeface="Aptos"/>
              </a:rPr>
              <a:t>config/ holds a password file: it was deliberately NOT added. git add . would have picked it</a:t>
            </a:r>
          </a:p>
        </p:txBody>
      </p:sp>
      <p:sp>
        <p:nvSpPr>
          <p:cNvPr id="25" name="Oval 24"/>
          <p:cNvSpPr/>
          <p:nvPr/>
        </p:nvSpPr>
        <p:spPr>
          <a:xfrm>
            <a:off x="7238573" y="4588203"/>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238573" y="4606491"/>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567757" y="4542483"/>
            <a:ext cx="3944538" cy="490776"/>
          </a:xfrm>
          <a:prstGeom prst="rect">
            <a:avLst/>
          </a:prstGeom>
          <a:noFill/>
        </p:spPr>
        <p:txBody>
          <a:bodyPr wrap="square" lIns="73152" rIns="73152" tIns="36576" bIns="36576">
            <a:spAutoFit/>
          </a:bodyPr>
          <a:lstStyle/>
          <a:p>
            <a:pPr>
              <a:lnSpc>
                <a:spcPct val="95000"/>
              </a:lnSpc>
              <a:spcAft>
                <a:spcPts val="100"/>
              </a:spcAft>
            </a:pPr>
            <a:r>
              <a:rPr sz="1170" b="1">
                <a:solidFill>
                  <a:srgbClr val="123A5F"/>
                </a:solidFill>
                <a:latin typeface="Aptos"/>
              </a:rPr>
              <a:t>Good to know — git log lists your commits</a:t>
            </a:r>
          </a:p>
          <a:p>
            <a:pPr>
              <a:lnSpc>
                <a:spcPct val="95000"/>
              </a:lnSpc>
              <a:spcBef>
                <a:spcPts val="200"/>
              </a:spcBef>
              <a:spcAft>
                <a:spcPts val="100"/>
              </a:spcAft>
            </a:pPr>
            <a:r>
              <a:rPr sz="1010" b="0">
                <a:solidFill>
                  <a:srgbClr val="5A6570"/>
                </a:solidFill>
                <a:latin typeface="Aptos"/>
              </a:rPr>
              <a:t>Newest first, with the note you wrote</a:t>
            </a:r>
          </a:p>
        </p:txBody>
      </p:sp>
      <p:sp>
        <p:nvSpPr>
          <p:cNvPr id="28" name="Oval 27"/>
          <p:cNvSpPr/>
          <p:nvPr/>
        </p:nvSpPr>
        <p:spPr>
          <a:xfrm>
            <a:off x="7238573" y="5199351"/>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238573" y="5217639"/>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30" name="TextBox 29"/>
          <p:cNvSpPr txBox="1"/>
          <p:nvPr/>
        </p:nvSpPr>
        <p:spPr>
          <a:xfrm>
            <a:off x="7567757" y="5153631"/>
            <a:ext cx="3944538" cy="661952"/>
          </a:xfrm>
          <a:prstGeom prst="rect">
            <a:avLst/>
          </a:prstGeom>
          <a:noFill/>
        </p:spPr>
        <p:txBody>
          <a:bodyPr wrap="square" lIns="73152" rIns="73152" tIns="36576" bIns="36576">
            <a:spAutoFit/>
          </a:bodyPr>
          <a:lstStyle/>
          <a:p>
            <a:pPr>
              <a:lnSpc>
                <a:spcPct val="95000"/>
              </a:lnSpc>
              <a:spcAft>
                <a:spcPts val="100"/>
              </a:spcAft>
            </a:pPr>
            <a:r>
              <a:rPr sz="1170" b="1">
                <a:solidFill>
                  <a:srgbClr val="123A5F"/>
                </a:solidFill>
                <a:latin typeface="Aptos"/>
              </a:rPr>
              <a:t>Good to know — a commit is only on YOUR computer</a:t>
            </a:r>
          </a:p>
          <a:p>
            <a:pPr>
              <a:lnSpc>
                <a:spcPct val="95000"/>
              </a:lnSpc>
              <a:spcBef>
                <a:spcPts val="200"/>
              </a:spcBef>
              <a:spcAft>
                <a:spcPts val="100"/>
              </a:spcAft>
            </a:pPr>
            <a:r>
              <a:rPr sz="1010" b="0">
                <a:solidFill>
                  <a:srgbClr val="5A6570"/>
                </a:solidFill>
                <a:latin typeface="Aptos"/>
              </a:rPr>
              <a:t>Nobody else has it until you git push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14</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EVERYDAY GIT</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270" b="1" i="0">
                <a:solidFill>
                  <a:srgbClr val="123A5F"/>
                </a:solidFill>
                <a:latin typeface="Aptos Display"/>
              </a:rPr>
              <a:t>git branch · git switch — work on a branch</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305885" cy="292912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305885"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391485"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BASH  ·  REAL OUTPUT</a:t>
            </a:r>
          </a:p>
        </p:txBody>
      </p:sp>
      <p:sp>
        <p:nvSpPr>
          <p:cNvPr id="14" name="TextBox 13"/>
          <p:cNvSpPr txBox="1"/>
          <p:nvPr/>
        </p:nvSpPr>
        <p:spPr>
          <a:xfrm>
            <a:off x="768096" y="2185416"/>
            <a:ext cx="6104717" cy="2289048"/>
          </a:xfrm>
          <a:prstGeom prst="rect">
            <a:avLst/>
          </a:prstGeom>
          <a:noFill/>
        </p:spPr>
        <p:txBody>
          <a:bodyPr wrap="square" lIns="73152" rIns="73152" tIns="18288" bIns="18288">
            <a:spAutoFit/>
          </a:bodyPr>
          <a:lstStyle/>
          <a:p>
            <a:pPr>
              <a:lnSpc>
                <a:spcPct val="100000"/>
              </a:lnSpc>
              <a:spcAft>
                <a:spcPts val="0"/>
              </a:spcAft>
            </a:pPr>
            <a:r>
              <a:rPr sz="1100" b="1">
                <a:solidFill>
                  <a:srgbClr val="7CC8EE"/>
                </a:solidFill>
                <a:latin typeface="Consolas"/>
              </a:rPr>
              <a:t>$ </a:t>
            </a:r>
            <a:r>
              <a:rPr sz="1100" b="0">
                <a:solidFill>
                  <a:srgbClr val="E8EEF4"/>
                </a:solidFill>
                <a:latin typeface="Consolas"/>
              </a:rPr>
              <a:t>git switch -c feature/PAY-150-region-header</a:t>
            </a:r>
          </a:p>
          <a:p>
            <a:pPr>
              <a:lnSpc>
                <a:spcPct val="100000"/>
              </a:lnSpc>
              <a:spcAft>
                <a:spcPts val="0"/>
              </a:spcAft>
            </a:pPr>
            <a:r>
              <a:rPr sz="1100" b="0">
                <a:solidFill>
                  <a:srgbClr val="E8EEF4"/>
                </a:solidFill>
                <a:latin typeface="Consolas"/>
              </a:rPr>
              <a:t>Switched to a new branch 'feature/PAY-150-region-header'</a:t>
            </a:r>
          </a:p>
          <a:p>
            <a:pPr>
              <a:lnSpc>
                <a:spcPct val="100000"/>
              </a:lnSpc>
              <a:spcAft>
                <a:spcPts val="0"/>
              </a:spcAft>
            </a:pPr>
            <a:r>
              <a:rPr sz="1100" b="1">
                <a:solidFill>
                  <a:srgbClr val="7CC8EE"/>
                </a:solidFill>
                <a:latin typeface="Consolas"/>
              </a:rPr>
              <a:t>$ </a:t>
            </a:r>
            <a:r>
              <a:rPr sz="1100" b="0">
                <a:solidFill>
                  <a:srgbClr val="E8EEF4"/>
                </a:solidFill>
                <a:latin typeface="Consolas"/>
              </a:rPr>
              <a:t>git branch</a:t>
            </a:r>
          </a:p>
          <a:p>
            <a:pPr>
              <a:lnSpc>
                <a:spcPct val="100000"/>
              </a:lnSpc>
              <a:spcAft>
                <a:spcPts val="0"/>
              </a:spcAft>
            </a:pPr>
            <a:r>
              <a:rPr sz="1100" b="0">
                <a:solidFill>
                  <a:srgbClr val="E8EEF4"/>
                </a:solidFill>
                <a:latin typeface="Consolas"/>
              </a:rPr>
              <a:t>* feature/PAY-150-region-header</a:t>
            </a:r>
          </a:p>
          <a:p>
            <a:pPr>
              <a:lnSpc>
                <a:spcPct val="100000"/>
              </a:lnSpc>
              <a:spcAft>
                <a:spcPts val="0"/>
              </a:spcAft>
            </a:pPr>
            <a:r>
              <a:rPr sz="1100" b="0">
                <a:solidFill>
                  <a:srgbClr val="E8EEF4"/>
                </a:solidFill>
                <a:latin typeface="Consolas"/>
              </a:rPr>
              <a:t>  main</a:t>
            </a:r>
          </a:p>
          <a:p>
            <a:pPr>
              <a:lnSpc>
                <a:spcPct val="100000"/>
              </a:lnSpc>
              <a:spcAft>
                <a:spcPts val="0"/>
              </a:spcAft>
            </a:pPr>
            <a:r>
              <a:rPr sz="1100" b="0">
                <a:solidFill>
                  <a:srgbClr val="8FBFA8"/>
                </a:solidFill>
                <a:latin typeface="Consolas"/>
              </a:rPr>
              <a:t># ...one commit on the branch...</a:t>
            </a:r>
          </a:p>
          <a:p>
            <a:pPr>
              <a:lnSpc>
                <a:spcPct val="100000"/>
              </a:lnSpc>
              <a:spcAft>
                <a:spcPts val="0"/>
              </a:spcAft>
            </a:pPr>
            <a:r>
              <a:rPr sz="1100" b="1">
                <a:solidFill>
                  <a:srgbClr val="7CC8EE"/>
                </a:solidFill>
                <a:latin typeface="Consolas"/>
              </a:rPr>
              <a:t>$ </a:t>
            </a:r>
            <a:r>
              <a:rPr sz="1100" b="0">
                <a:solidFill>
                  <a:srgbClr val="E8EEF4"/>
                </a:solidFill>
                <a:latin typeface="Consolas"/>
              </a:rPr>
              <a:t>git switch main</a:t>
            </a:r>
          </a:p>
          <a:p>
            <a:pPr>
              <a:lnSpc>
                <a:spcPct val="100000"/>
              </a:lnSpc>
              <a:spcAft>
                <a:spcPts val="0"/>
              </a:spcAft>
            </a:pPr>
            <a:r>
              <a:rPr sz="1100" b="0">
                <a:solidFill>
                  <a:srgbClr val="E8EEF4"/>
                </a:solidFill>
                <a:latin typeface="Consolas"/>
              </a:rPr>
              <a:t>Switched to branch 'main'</a:t>
            </a:r>
          </a:p>
          <a:p>
            <a:pPr>
              <a:lnSpc>
                <a:spcPct val="100000"/>
              </a:lnSpc>
              <a:spcAft>
                <a:spcPts val="0"/>
              </a:spcAft>
            </a:pPr>
            <a:r>
              <a:rPr sz="1100" b="0">
                <a:solidFill>
                  <a:srgbClr val="E8EEF4"/>
                </a:solidFill>
                <a:latin typeface="Consolas"/>
              </a:rPr>
              <a:t>Your branch is up to date with 'origin/main'.</a:t>
            </a:r>
          </a:p>
          <a:p>
            <a:pPr>
              <a:lnSpc>
                <a:spcPct val="100000"/>
              </a:lnSpc>
              <a:spcAft>
                <a:spcPts val="0"/>
              </a:spcAft>
            </a:pPr>
            <a:r>
              <a:rPr sz="1100" b="1">
                <a:solidFill>
                  <a:srgbClr val="7CC8EE"/>
                </a:solidFill>
                <a:latin typeface="Consolas"/>
              </a:rPr>
              <a:t>$ </a:t>
            </a:r>
            <a:r>
              <a:rPr sz="1100" b="0">
                <a:solidFill>
                  <a:srgbClr val="E8EEF4"/>
                </a:solidFill>
                <a:latin typeface="Consolas"/>
              </a:rPr>
              <a:t>git branch -d feature/PAY-150-region-header</a:t>
            </a:r>
          </a:p>
          <a:p>
            <a:pPr>
              <a:lnSpc>
                <a:spcPct val="100000"/>
              </a:lnSpc>
              <a:spcAft>
                <a:spcPts val="0"/>
              </a:spcAft>
            </a:pPr>
            <a:r>
              <a:rPr sz="1100" b="0">
                <a:solidFill>
                  <a:srgbClr val="E8EEF4"/>
                </a:solidFill>
                <a:latin typeface="Consolas"/>
              </a:rPr>
              <a:t>error: the branch 'feature/PAY-150-region-header' is not fully merged</a:t>
            </a:r>
          </a:p>
          <a:p>
            <a:pPr>
              <a:lnSpc>
                <a:spcPct val="100000"/>
              </a:lnSpc>
              <a:spcAft>
                <a:spcPts val="0"/>
              </a:spcAft>
            </a:pPr>
            <a:r>
              <a:rPr sz="1100" b="1">
                <a:solidFill>
                  <a:srgbClr val="7CC8EE"/>
                </a:solidFill>
                <a:latin typeface="Consolas"/>
              </a:rPr>
              <a:t>$ </a:t>
            </a:r>
            <a:r>
              <a:rPr sz="1100" b="0">
                <a:solidFill>
                  <a:srgbClr val="E8EEF4"/>
                </a:solidFill>
                <a:latin typeface="Consolas"/>
              </a:rPr>
              <a:t>git branch -D feature/PAY-150-region-header</a:t>
            </a:r>
          </a:p>
          <a:p>
            <a:pPr>
              <a:lnSpc>
                <a:spcPct val="100000"/>
              </a:lnSpc>
              <a:spcAft>
                <a:spcPts val="0"/>
              </a:spcAft>
            </a:pPr>
            <a:r>
              <a:rPr sz="1100" b="0">
                <a:solidFill>
                  <a:srgbClr val="E8EEF4"/>
                </a:solidFill>
                <a:latin typeface="Consolas"/>
              </a:rPr>
              <a:t>Deleted branch feature/PAY-150-region-header (was d48abee).</a:t>
            </a:r>
          </a:p>
        </p:txBody>
      </p:sp>
      <p:sp>
        <p:nvSpPr>
          <p:cNvPr id="15" name="TextBox 14"/>
          <p:cNvSpPr txBox="1"/>
          <p:nvPr/>
        </p:nvSpPr>
        <p:spPr>
          <a:xfrm>
            <a:off x="7238573" y="1764792"/>
            <a:ext cx="4292010"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7238573"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238573"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567757" y="2075688"/>
            <a:ext cx="3944538" cy="619816"/>
          </a:xfrm>
          <a:prstGeom prst="rect">
            <a:avLst/>
          </a:prstGeom>
          <a:noFill/>
        </p:spPr>
        <p:txBody>
          <a:bodyPr wrap="square" lIns="73152" rIns="73152" tIns="36576" bIns="36576">
            <a:spAutoFit/>
          </a:bodyPr>
          <a:lstStyle/>
          <a:p>
            <a:pPr>
              <a:lnSpc>
                <a:spcPct val="95000"/>
              </a:lnSpc>
              <a:spcAft>
                <a:spcPts val="100"/>
              </a:spcAft>
            </a:pPr>
            <a:r>
              <a:rPr sz="1090" b="1">
                <a:solidFill>
                  <a:srgbClr val="123A5F"/>
                </a:solidFill>
                <a:latin typeface="Aptos"/>
              </a:rPr>
              <a:t>What — branch lists branches · switch moves you to one</a:t>
            </a:r>
          </a:p>
          <a:p>
            <a:pPr>
              <a:lnSpc>
                <a:spcPct val="95000"/>
              </a:lnSpc>
              <a:spcBef>
                <a:spcPts val="200"/>
              </a:spcBef>
              <a:spcAft>
                <a:spcPts val="100"/>
              </a:spcAft>
            </a:pPr>
            <a:r>
              <a:rPr sz="930" b="0">
                <a:solidFill>
                  <a:srgbClr val="5A6570"/>
                </a:solidFill>
                <a:latin typeface="Aptos"/>
              </a:rPr>
              <a:t>Your files change to match the branch you are on</a:t>
            </a:r>
          </a:p>
        </p:txBody>
      </p:sp>
      <p:sp>
        <p:nvSpPr>
          <p:cNvPr id="19" name="Oval 18"/>
          <p:cNvSpPr/>
          <p:nvPr/>
        </p:nvSpPr>
        <p:spPr>
          <a:xfrm>
            <a:off x="7238573" y="2873520"/>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238573" y="2891808"/>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567757" y="2827800"/>
            <a:ext cx="3944538" cy="763341"/>
          </a:xfrm>
          <a:prstGeom prst="rect">
            <a:avLst/>
          </a:prstGeom>
          <a:noFill/>
        </p:spPr>
        <p:txBody>
          <a:bodyPr wrap="square" lIns="73152" rIns="73152" tIns="36576" bIns="36576">
            <a:spAutoFit/>
          </a:bodyPr>
          <a:lstStyle/>
          <a:p>
            <a:pPr>
              <a:lnSpc>
                <a:spcPct val="95000"/>
              </a:lnSpc>
              <a:spcAft>
                <a:spcPts val="100"/>
              </a:spcAft>
            </a:pPr>
            <a:r>
              <a:rPr sz="1090" b="1">
                <a:solidFill>
                  <a:srgbClr val="123A5F"/>
                </a:solidFill>
                <a:latin typeface="Aptos"/>
              </a:rPr>
              <a:t>How — git switch -c &lt;name&gt; creates a branch and moves onto it</a:t>
            </a:r>
          </a:p>
          <a:p>
            <a:pPr>
              <a:lnSpc>
                <a:spcPct val="95000"/>
              </a:lnSpc>
              <a:spcBef>
                <a:spcPts val="200"/>
              </a:spcBef>
              <a:spcAft>
                <a:spcPts val="100"/>
              </a:spcAft>
            </a:pPr>
            <a:r>
              <a:rPr sz="930" b="0">
                <a:solidFill>
                  <a:srgbClr val="5A6570"/>
                </a:solidFill>
                <a:latin typeface="Aptos"/>
              </a:rPr>
              <a:t>git switch &lt;name&gt; moves to one that exists · * marks where you are</a:t>
            </a:r>
          </a:p>
        </p:txBody>
      </p:sp>
      <p:sp>
        <p:nvSpPr>
          <p:cNvPr id="22" name="Oval 21"/>
          <p:cNvSpPr/>
          <p:nvPr/>
        </p:nvSpPr>
        <p:spPr>
          <a:xfrm>
            <a:off x="7238573" y="376915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238573" y="378744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567757" y="3723436"/>
            <a:ext cx="3944538" cy="460345"/>
          </a:xfrm>
          <a:prstGeom prst="rect">
            <a:avLst/>
          </a:prstGeom>
          <a:noFill/>
        </p:spPr>
        <p:txBody>
          <a:bodyPr wrap="square" lIns="73152" rIns="73152" tIns="36576" bIns="36576">
            <a:spAutoFit/>
          </a:bodyPr>
          <a:lstStyle/>
          <a:p>
            <a:pPr>
              <a:lnSpc>
                <a:spcPct val="95000"/>
              </a:lnSpc>
              <a:spcAft>
                <a:spcPts val="100"/>
              </a:spcAft>
            </a:pPr>
            <a:r>
              <a:rPr sz="1090" b="1">
                <a:solidFill>
                  <a:srgbClr val="123A5F"/>
                </a:solidFill>
                <a:latin typeface="Aptos"/>
              </a:rPr>
              <a:t>When — at the start of every new piece of work</a:t>
            </a:r>
          </a:p>
          <a:p>
            <a:pPr>
              <a:lnSpc>
                <a:spcPct val="95000"/>
              </a:lnSpc>
              <a:spcBef>
                <a:spcPts val="200"/>
              </a:spcBef>
              <a:spcAft>
                <a:spcPts val="100"/>
              </a:spcAft>
            </a:pPr>
            <a:r>
              <a:rPr sz="930" b="0">
                <a:solidFill>
                  <a:srgbClr val="5A6570"/>
                </a:solidFill>
                <a:latin typeface="Aptos"/>
              </a:rPr>
              <a:t>Always from an up-to-date main</a:t>
            </a:r>
          </a:p>
        </p:txBody>
      </p:sp>
      <p:sp>
        <p:nvSpPr>
          <p:cNvPr id="25" name="Oval 24"/>
          <p:cNvSpPr/>
          <p:nvPr/>
        </p:nvSpPr>
        <p:spPr>
          <a:xfrm>
            <a:off x="7238573" y="4361797"/>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238573" y="4380085"/>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567757" y="4316077"/>
            <a:ext cx="3944538" cy="603869"/>
          </a:xfrm>
          <a:prstGeom prst="rect">
            <a:avLst/>
          </a:prstGeom>
          <a:noFill/>
        </p:spPr>
        <p:txBody>
          <a:bodyPr wrap="square" lIns="73152" rIns="73152" tIns="36576" bIns="36576">
            <a:spAutoFit/>
          </a:bodyPr>
          <a:lstStyle/>
          <a:p>
            <a:pPr>
              <a:lnSpc>
                <a:spcPct val="95000"/>
              </a:lnSpc>
              <a:spcAft>
                <a:spcPts val="100"/>
              </a:spcAft>
            </a:pPr>
            <a:r>
              <a:rPr sz="1090" b="1">
                <a:solidFill>
                  <a:srgbClr val="123A5F"/>
                </a:solidFill>
                <a:latin typeface="Aptos"/>
              </a:rPr>
              <a:t>Tidy up — git branch -d &lt;name&gt; once it is merged</a:t>
            </a:r>
          </a:p>
          <a:p>
            <a:pPr>
              <a:lnSpc>
                <a:spcPct val="95000"/>
              </a:lnSpc>
              <a:spcBef>
                <a:spcPts val="200"/>
              </a:spcBef>
              <a:spcAft>
                <a:spcPts val="100"/>
              </a:spcAft>
            </a:pPr>
            <a:r>
              <a:rPr sz="930" b="0">
                <a:solidFill>
                  <a:srgbClr val="5A6570"/>
                </a:solidFill>
                <a:latin typeface="Aptos"/>
              </a:rPr>
              <a:t>Git refuses if the work is not merged yet — that is a safety net</a:t>
            </a:r>
          </a:p>
        </p:txBody>
      </p:sp>
      <p:sp>
        <p:nvSpPr>
          <p:cNvPr id="28" name="Oval 27"/>
          <p:cNvSpPr/>
          <p:nvPr/>
        </p:nvSpPr>
        <p:spPr>
          <a:xfrm>
            <a:off x="7238573" y="5097962"/>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238573" y="5116250"/>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30" name="TextBox 29"/>
          <p:cNvSpPr txBox="1"/>
          <p:nvPr/>
        </p:nvSpPr>
        <p:spPr>
          <a:xfrm>
            <a:off x="7567757" y="5052242"/>
            <a:ext cx="3944538" cy="763341"/>
          </a:xfrm>
          <a:prstGeom prst="rect">
            <a:avLst/>
          </a:prstGeom>
          <a:noFill/>
        </p:spPr>
        <p:txBody>
          <a:bodyPr wrap="square" lIns="73152" rIns="73152" tIns="36576" bIns="36576">
            <a:spAutoFit/>
          </a:bodyPr>
          <a:lstStyle/>
          <a:p>
            <a:pPr>
              <a:lnSpc>
                <a:spcPct val="95000"/>
              </a:lnSpc>
              <a:spcAft>
                <a:spcPts val="100"/>
              </a:spcAft>
            </a:pPr>
            <a:r>
              <a:rPr sz="1090" b="1">
                <a:solidFill>
                  <a:srgbClr val="123A5F"/>
                </a:solidFill>
                <a:latin typeface="Aptos"/>
              </a:rPr>
              <a:t>Careful — git branch -D deletes even unmerged work</a:t>
            </a:r>
          </a:p>
          <a:p>
            <a:pPr>
              <a:lnSpc>
                <a:spcPct val="95000"/>
              </a:lnSpc>
              <a:spcBef>
                <a:spcPts val="200"/>
              </a:spcBef>
              <a:spcAft>
                <a:spcPts val="100"/>
              </a:spcAft>
            </a:pPr>
            <a:r>
              <a:rPr sz="930" b="0">
                <a:solidFill>
                  <a:srgbClr val="5A6570"/>
                </a:solidFill>
                <a:latin typeface="Aptos"/>
              </a:rPr>
              <a:t>Only use the capital D when you are sure you don't need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15</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EVERYDAY GIT</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070" b="1" i="0">
                <a:solidFill>
                  <a:srgbClr val="123A5F"/>
                </a:solidFill>
                <a:latin typeface="Aptos Display"/>
              </a:rPr>
              <a:t>git pull · git push — stay in sync with GitHub</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305885" cy="337870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305885"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391485"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BASH  ·  REAL OUTPUT</a:t>
            </a:r>
          </a:p>
        </p:txBody>
      </p:sp>
      <p:sp>
        <p:nvSpPr>
          <p:cNvPr id="14" name="TextBox 13"/>
          <p:cNvSpPr txBox="1"/>
          <p:nvPr/>
        </p:nvSpPr>
        <p:spPr>
          <a:xfrm>
            <a:off x="768096" y="2185416"/>
            <a:ext cx="6104717" cy="2738628"/>
          </a:xfrm>
          <a:prstGeom prst="rect">
            <a:avLst/>
          </a:prstGeom>
          <a:noFill/>
        </p:spPr>
        <p:txBody>
          <a:bodyPr wrap="square" lIns="73152" rIns="73152" tIns="18288" bIns="18288">
            <a:spAutoFit/>
          </a:bodyPr>
          <a:lstStyle/>
          <a:p>
            <a:pPr>
              <a:lnSpc>
                <a:spcPct val="100000"/>
              </a:lnSpc>
              <a:spcAft>
                <a:spcPts val="0"/>
              </a:spcAft>
            </a:pPr>
            <a:r>
              <a:rPr sz="1150" b="1">
                <a:solidFill>
                  <a:srgbClr val="7CC8EE"/>
                </a:solidFill>
                <a:latin typeface="Consolas"/>
              </a:rPr>
              <a:t>$ </a:t>
            </a:r>
            <a:r>
              <a:rPr sz="1150" b="0">
                <a:solidFill>
                  <a:srgbClr val="E8EEF4"/>
                </a:solidFill>
                <a:latin typeface="Consolas"/>
              </a:rPr>
              <a:t>git pull</a:t>
            </a:r>
          </a:p>
          <a:p>
            <a:pPr>
              <a:lnSpc>
                <a:spcPct val="100000"/>
              </a:lnSpc>
              <a:spcAft>
                <a:spcPts val="0"/>
              </a:spcAft>
            </a:pPr>
            <a:r>
              <a:rPr sz="1150" b="0">
                <a:solidFill>
                  <a:srgbClr val="E8EEF4"/>
                </a:solidFill>
                <a:latin typeface="Consolas"/>
              </a:rPr>
              <a:t>From https://github.com/&lt;your-username&gt;/paytrack-api</a:t>
            </a:r>
          </a:p>
          <a:p>
            <a:pPr>
              <a:lnSpc>
                <a:spcPct val="100000"/>
              </a:lnSpc>
              <a:spcAft>
                <a:spcPts val="0"/>
              </a:spcAft>
            </a:pPr>
            <a:r>
              <a:rPr sz="1150" b="0">
                <a:solidFill>
                  <a:srgbClr val="E8EEF4"/>
                </a:solidFill>
                <a:latin typeface="Consolas"/>
              </a:rPr>
              <a:t>   c6b1cae..eceac51  main       -&gt; origin/main</a:t>
            </a:r>
          </a:p>
          <a:p>
            <a:pPr>
              <a:lnSpc>
                <a:spcPct val="100000"/>
              </a:lnSpc>
              <a:spcAft>
                <a:spcPts val="0"/>
              </a:spcAft>
            </a:pPr>
            <a:r>
              <a:rPr sz="1150" b="0">
                <a:solidFill>
                  <a:srgbClr val="E8EEF4"/>
                </a:solidFill>
                <a:latin typeface="Consolas"/>
              </a:rPr>
              <a:t>Updating c6b1cae..eceac51</a:t>
            </a:r>
          </a:p>
          <a:p>
            <a:pPr>
              <a:lnSpc>
                <a:spcPct val="100000"/>
              </a:lnSpc>
              <a:spcAft>
                <a:spcPts val="0"/>
              </a:spcAft>
            </a:pPr>
            <a:r>
              <a:rPr sz="1150" b="0">
                <a:solidFill>
                  <a:srgbClr val="E8EEF4"/>
                </a:solidFill>
                <a:latin typeface="Consolas"/>
              </a:rPr>
              <a:t>Fast-forward</a:t>
            </a:r>
          </a:p>
          <a:p>
            <a:pPr>
              <a:lnSpc>
                <a:spcPct val="100000"/>
              </a:lnSpc>
              <a:spcAft>
                <a:spcPts val="0"/>
              </a:spcAft>
            </a:pPr>
            <a:r>
              <a:rPr sz="1150" b="0">
                <a:solidFill>
                  <a:srgbClr val="E8EEF4"/>
                </a:solidFill>
                <a:latin typeface="Consolas"/>
              </a:rPr>
              <a:t> docs/CONTRIBUTING.md | 1 +</a:t>
            </a:r>
          </a:p>
          <a:p>
            <a:pPr>
              <a:lnSpc>
                <a:spcPct val="100000"/>
              </a:lnSpc>
              <a:spcAft>
                <a:spcPts val="0"/>
              </a:spcAft>
            </a:pPr>
            <a:r>
              <a:rPr sz="1150" b="0">
                <a:solidFill>
                  <a:srgbClr val="E8EEF4"/>
                </a:solidFill>
                <a:latin typeface="Consolas"/>
              </a:rPr>
              <a:t> 1 file changed, 1 insertion(+)</a:t>
            </a:r>
          </a:p>
          <a:p>
            <a:pPr>
              <a:lnSpc>
                <a:spcPct val="100000"/>
              </a:lnSpc>
              <a:spcAft>
                <a:spcPts val="0"/>
              </a:spcAft>
            </a:pPr>
            <a:r>
              <a:rPr sz="1150" b="0">
                <a:solidFill>
                  <a:srgbClr val="E8EEF4"/>
                </a:solidFill>
                <a:latin typeface="Consolas"/>
              </a:rPr>
              <a:t> create mode 100644 docs/CONTRIBUTING.md</a:t>
            </a:r>
          </a:p>
          <a:p>
            <a:pPr>
              <a:lnSpc>
                <a:spcPct val="100000"/>
              </a:lnSpc>
              <a:spcAft>
                <a:spcPts val="0"/>
              </a:spcAft>
            </a:pPr>
            <a:r>
              <a:rPr sz="1150" b="1">
                <a:solidFill>
                  <a:srgbClr val="7CC8EE"/>
                </a:solidFill>
                <a:latin typeface="Consolas"/>
              </a:rPr>
              <a:t>$ </a:t>
            </a:r>
            <a:r>
              <a:rPr sz="1150" b="0">
                <a:solidFill>
                  <a:srgbClr val="E8EEF4"/>
                </a:solidFill>
                <a:latin typeface="Consolas"/>
              </a:rPr>
              <a:t>git switch -c feature/PAY-170</a:t>
            </a:r>
          </a:p>
          <a:p>
            <a:pPr>
              <a:lnSpc>
                <a:spcPct val="100000"/>
              </a:lnSpc>
              <a:spcAft>
                <a:spcPts val="0"/>
              </a:spcAft>
            </a:pPr>
            <a:r>
              <a:rPr sz="1150" b="0">
                <a:solidFill>
                  <a:srgbClr val="E8EEF4"/>
                </a:solidFill>
                <a:latin typeface="Consolas"/>
              </a:rPr>
              <a:t>Switched to a new branch 'feature/PAY-170'</a:t>
            </a:r>
          </a:p>
          <a:p>
            <a:pPr>
              <a:lnSpc>
                <a:spcPct val="100000"/>
              </a:lnSpc>
              <a:spcAft>
                <a:spcPts val="0"/>
              </a:spcAft>
            </a:pPr>
            <a:r>
              <a:rPr sz="1150" b="1">
                <a:solidFill>
                  <a:srgbClr val="7CC8EE"/>
                </a:solidFill>
                <a:latin typeface="Consolas"/>
              </a:rPr>
              <a:t>$ </a:t>
            </a:r>
            <a:r>
              <a:rPr sz="1150" b="0">
                <a:solidFill>
                  <a:srgbClr val="E8EEF4"/>
                </a:solidFill>
                <a:latin typeface="Consolas"/>
              </a:rPr>
              <a:t>git commit -qm "feat: supported currency list"</a:t>
            </a:r>
          </a:p>
          <a:p>
            <a:pPr>
              <a:lnSpc>
                <a:spcPct val="100000"/>
              </a:lnSpc>
              <a:spcAft>
                <a:spcPts val="0"/>
              </a:spcAft>
            </a:pPr>
            <a:r>
              <a:rPr sz="1150" b="1">
                <a:solidFill>
                  <a:srgbClr val="7CC8EE"/>
                </a:solidFill>
                <a:latin typeface="Consolas"/>
              </a:rPr>
              <a:t>$ </a:t>
            </a:r>
            <a:r>
              <a:rPr sz="1150" b="0">
                <a:solidFill>
                  <a:srgbClr val="E8EEF4"/>
                </a:solidFill>
                <a:latin typeface="Consolas"/>
              </a:rPr>
              <a:t>git push -u origin HEAD</a:t>
            </a:r>
          </a:p>
          <a:p>
            <a:pPr>
              <a:lnSpc>
                <a:spcPct val="100000"/>
              </a:lnSpc>
              <a:spcAft>
                <a:spcPts val="0"/>
              </a:spcAft>
            </a:pPr>
            <a:r>
              <a:rPr sz="1150" b="0">
                <a:solidFill>
                  <a:srgbClr val="E8EEF4"/>
                </a:solidFill>
                <a:latin typeface="Consolas"/>
              </a:rPr>
              <a:t>To https://github.com/&lt;your-username&gt;/paytrack-api.git</a:t>
            </a:r>
          </a:p>
          <a:p>
            <a:pPr>
              <a:lnSpc>
                <a:spcPct val="100000"/>
              </a:lnSpc>
              <a:spcAft>
                <a:spcPts val="0"/>
              </a:spcAft>
            </a:pPr>
            <a:r>
              <a:rPr sz="1150" b="0">
                <a:solidFill>
                  <a:srgbClr val="E8EEF4"/>
                </a:solidFill>
                <a:latin typeface="Consolas"/>
              </a:rPr>
              <a:t> * [new branch]      HEAD -&gt; feature/PAY-170</a:t>
            </a:r>
          </a:p>
          <a:p>
            <a:pPr>
              <a:lnSpc>
                <a:spcPct val="100000"/>
              </a:lnSpc>
              <a:spcAft>
                <a:spcPts val="0"/>
              </a:spcAft>
            </a:pPr>
            <a:r>
              <a:rPr sz="1150" b="0">
                <a:solidFill>
                  <a:srgbClr val="E8EEF4"/>
                </a:solidFill>
                <a:latin typeface="Consolas"/>
              </a:rPr>
              <a:t>branch 'feature/PAY-170' set up to track 'origin/feature/PAY-170'.</a:t>
            </a:r>
          </a:p>
        </p:txBody>
      </p:sp>
      <p:sp>
        <p:nvSpPr>
          <p:cNvPr id="15" name="TextBox 14"/>
          <p:cNvSpPr txBox="1"/>
          <p:nvPr/>
        </p:nvSpPr>
        <p:spPr>
          <a:xfrm>
            <a:off x="7238573" y="1764792"/>
            <a:ext cx="4292010"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7238573"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238573"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567757" y="2075688"/>
            <a:ext cx="3944538" cy="661952"/>
          </a:xfrm>
          <a:prstGeom prst="rect">
            <a:avLst/>
          </a:prstGeom>
          <a:noFill/>
        </p:spPr>
        <p:txBody>
          <a:bodyPr wrap="square" lIns="73152" rIns="73152" tIns="36576" bIns="36576">
            <a:spAutoFit/>
          </a:bodyPr>
          <a:lstStyle/>
          <a:p>
            <a:pPr>
              <a:lnSpc>
                <a:spcPct val="95000"/>
              </a:lnSpc>
              <a:spcAft>
                <a:spcPts val="100"/>
              </a:spcAft>
            </a:pPr>
            <a:r>
              <a:rPr sz="1170" b="1">
                <a:solidFill>
                  <a:srgbClr val="123A5F"/>
                </a:solidFill>
                <a:latin typeface="Aptos"/>
              </a:rPr>
              <a:t>What — pull downloads your team's work · push uploads yours</a:t>
            </a:r>
          </a:p>
          <a:p>
            <a:pPr>
              <a:lnSpc>
                <a:spcPct val="95000"/>
              </a:lnSpc>
              <a:spcBef>
                <a:spcPts val="200"/>
              </a:spcBef>
              <a:spcAft>
                <a:spcPts val="100"/>
              </a:spcAft>
            </a:pPr>
            <a:r>
              <a:rPr sz="1010" b="0">
                <a:solidFill>
                  <a:srgbClr val="5A6570"/>
                </a:solidFill>
                <a:latin typeface="Aptos"/>
              </a:rPr>
              <a:t>"origin" is Git's name for the copy on GitHub</a:t>
            </a:r>
          </a:p>
        </p:txBody>
      </p:sp>
      <p:sp>
        <p:nvSpPr>
          <p:cNvPr id="19" name="Oval 18"/>
          <p:cNvSpPr/>
          <p:nvPr/>
        </p:nvSpPr>
        <p:spPr>
          <a:xfrm>
            <a:off x="7238573" y="2899452"/>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238573" y="2917740"/>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567757" y="2853732"/>
            <a:ext cx="3944538" cy="644834"/>
          </a:xfrm>
          <a:prstGeom prst="rect">
            <a:avLst/>
          </a:prstGeom>
          <a:noFill/>
        </p:spPr>
        <p:txBody>
          <a:bodyPr wrap="square" lIns="73152" rIns="73152" tIns="36576" bIns="36576">
            <a:spAutoFit/>
          </a:bodyPr>
          <a:lstStyle/>
          <a:p>
            <a:pPr>
              <a:lnSpc>
                <a:spcPct val="95000"/>
              </a:lnSpc>
              <a:spcAft>
                <a:spcPts val="100"/>
              </a:spcAft>
            </a:pPr>
            <a:r>
              <a:rPr sz="1170" b="1">
                <a:solidFill>
                  <a:srgbClr val="123A5F"/>
                </a:solidFill>
                <a:latin typeface="Aptos"/>
              </a:rPr>
              <a:t>How — git pull before you start work</a:t>
            </a:r>
          </a:p>
          <a:p>
            <a:pPr>
              <a:lnSpc>
                <a:spcPct val="95000"/>
              </a:lnSpc>
              <a:spcBef>
                <a:spcPts val="200"/>
              </a:spcBef>
              <a:spcAft>
                <a:spcPts val="100"/>
              </a:spcAft>
            </a:pPr>
            <a:r>
              <a:rPr sz="1010" b="0">
                <a:solidFill>
                  <a:srgbClr val="5A6570"/>
                </a:solidFill>
                <a:latin typeface="Aptos"/>
              </a:rPr>
              <a:t>Here a colleague's new file arrives: docs/CONTRIBUTING.md</a:t>
            </a:r>
          </a:p>
        </p:txBody>
      </p:sp>
      <p:sp>
        <p:nvSpPr>
          <p:cNvPr id="22" name="Oval 21"/>
          <p:cNvSpPr/>
          <p:nvPr/>
        </p:nvSpPr>
        <p:spPr>
          <a:xfrm>
            <a:off x="7238573" y="3660379"/>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238573" y="3678667"/>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567757" y="3614659"/>
            <a:ext cx="3944538" cy="661952"/>
          </a:xfrm>
          <a:prstGeom prst="rect">
            <a:avLst/>
          </a:prstGeom>
          <a:noFill/>
        </p:spPr>
        <p:txBody>
          <a:bodyPr wrap="square" lIns="73152" rIns="73152" tIns="36576" bIns="36576">
            <a:spAutoFit/>
          </a:bodyPr>
          <a:lstStyle/>
          <a:p>
            <a:pPr>
              <a:lnSpc>
                <a:spcPct val="95000"/>
              </a:lnSpc>
              <a:spcAft>
                <a:spcPts val="100"/>
              </a:spcAft>
            </a:pPr>
            <a:r>
              <a:rPr sz="1170" b="1">
                <a:solidFill>
                  <a:srgbClr val="123A5F"/>
                </a:solidFill>
                <a:latin typeface="Aptos"/>
              </a:rPr>
              <a:t>How — the first push of a branch: git push -u origin HEAD</a:t>
            </a:r>
          </a:p>
          <a:p>
            <a:pPr>
              <a:lnSpc>
                <a:spcPct val="95000"/>
              </a:lnSpc>
              <a:spcBef>
                <a:spcPts val="200"/>
              </a:spcBef>
              <a:spcAft>
                <a:spcPts val="100"/>
              </a:spcAft>
            </a:pPr>
            <a:r>
              <a:rPr sz="1010" b="0">
                <a:solidFill>
                  <a:srgbClr val="5A6570"/>
                </a:solidFill>
                <a:latin typeface="Aptos"/>
              </a:rPr>
              <a:t>After that, a plain git push is enough</a:t>
            </a:r>
          </a:p>
        </p:txBody>
      </p:sp>
      <p:sp>
        <p:nvSpPr>
          <p:cNvPr id="25" name="Oval 24"/>
          <p:cNvSpPr/>
          <p:nvPr/>
        </p:nvSpPr>
        <p:spPr>
          <a:xfrm>
            <a:off x="7238573" y="4438424"/>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238573" y="445671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567757" y="4392704"/>
            <a:ext cx="3944538" cy="661952"/>
          </a:xfrm>
          <a:prstGeom prst="rect">
            <a:avLst/>
          </a:prstGeom>
          <a:noFill/>
        </p:spPr>
        <p:txBody>
          <a:bodyPr wrap="square" lIns="73152" rIns="73152" tIns="36576" bIns="36576">
            <a:spAutoFit/>
          </a:bodyPr>
          <a:lstStyle/>
          <a:p>
            <a:pPr>
              <a:lnSpc>
                <a:spcPct val="95000"/>
              </a:lnSpc>
              <a:spcAft>
                <a:spcPts val="100"/>
              </a:spcAft>
            </a:pPr>
            <a:r>
              <a:rPr sz="1170" b="1">
                <a:solidFill>
                  <a:srgbClr val="123A5F"/>
                </a:solidFill>
                <a:latin typeface="Aptos"/>
              </a:rPr>
              <a:t>If a push is rejected — someone pushed before you</a:t>
            </a:r>
          </a:p>
          <a:p>
            <a:pPr>
              <a:lnSpc>
                <a:spcPct val="95000"/>
              </a:lnSpc>
              <a:spcBef>
                <a:spcPts val="200"/>
              </a:spcBef>
              <a:spcAft>
                <a:spcPts val="100"/>
              </a:spcAft>
            </a:pPr>
            <a:r>
              <a:rPr sz="1010" b="0">
                <a:solidFill>
                  <a:srgbClr val="5A6570"/>
                </a:solidFill>
                <a:latin typeface="Aptos"/>
              </a:rPr>
              <a:t>Run git pull, then push again</a:t>
            </a:r>
          </a:p>
        </p:txBody>
      </p:sp>
      <p:sp>
        <p:nvSpPr>
          <p:cNvPr id="28" name="Oval 27"/>
          <p:cNvSpPr/>
          <p:nvPr/>
        </p:nvSpPr>
        <p:spPr>
          <a:xfrm>
            <a:off x="7238573" y="5216469"/>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238573" y="5234757"/>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30" name="TextBox 29"/>
          <p:cNvSpPr txBox="1"/>
          <p:nvPr/>
        </p:nvSpPr>
        <p:spPr>
          <a:xfrm>
            <a:off x="7567757" y="5170749"/>
            <a:ext cx="3944538" cy="644834"/>
          </a:xfrm>
          <a:prstGeom prst="rect">
            <a:avLst/>
          </a:prstGeom>
          <a:noFill/>
        </p:spPr>
        <p:txBody>
          <a:bodyPr wrap="square" lIns="73152" rIns="73152" tIns="36576" bIns="36576">
            <a:spAutoFit/>
          </a:bodyPr>
          <a:lstStyle/>
          <a:p>
            <a:pPr>
              <a:lnSpc>
                <a:spcPct val="95000"/>
              </a:lnSpc>
              <a:spcAft>
                <a:spcPts val="100"/>
              </a:spcAft>
            </a:pPr>
            <a:r>
              <a:rPr sz="1170" b="1">
                <a:solidFill>
                  <a:srgbClr val="123A5F"/>
                </a:solidFill>
                <a:latin typeface="Aptos"/>
              </a:rPr>
              <a:t>Careful — never force-push to main</a:t>
            </a:r>
          </a:p>
          <a:p>
            <a:pPr>
              <a:lnSpc>
                <a:spcPct val="95000"/>
              </a:lnSpc>
              <a:spcBef>
                <a:spcPts val="200"/>
              </a:spcBef>
              <a:spcAft>
                <a:spcPts val="100"/>
              </a:spcAft>
            </a:pPr>
            <a:r>
              <a:rPr sz="1010" b="0">
                <a:solidFill>
                  <a:srgbClr val="5A6570"/>
                </a:solidFill>
                <a:latin typeface="Aptos"/>
              </a:rPr>
              <a:t>It would overwrite other people's work — GitHub can block it (Lab 03)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16</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EVERYDAY GIT</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510" b="1" i="0">
                <a:solidFill>
                  <a:srgbClr val="123A5F"/>
                </a:solidFill>
                <a:latin typeface="Aptos Display"/>
              </a:rPr>
              <a:t>git restore · git revert — undo safely</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305885" cy="408736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305885"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391485"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BASH  ·  REAL OUTPUT</a:t>
            </a:r>
          </a:p>
        </p:txBody>
      </p:sp>
      <p:sp>
        <p:nvSpPr>
          <p:cNvPr id="14" name="TextBox 13"/>
          <p:cNvSpPr txBox="1"/>
          <p:nvPr/>
        </p:nvSpPr>
        <p:spPr>
          <a:xfrm>
            <a:off x="768096" y="2185416"/>
            <a:ext cx="6104717" cy="3477768"/>
          </a:xfrm>
          <a:prstGeom prst="rect">
            <a:avLst/>
          </a:prstGeom>
          <a:noFill/>
        </p:spPr>
        <p:txBody>
          <a:bodyPr wrap="square" lIns="73152" rIns="73152" tIns="18288" bIns="18288">
            <a:spAutoFit/>
          </a:bodyPr>
          <a:lstStyle/>
          <a:p>
            <a:pPr>
              <a:lnSpc>
                <a:spcPct val="100000"/>
              </a:lnSpc>
              <a:spcAft>
                <a:spcPts val="0"/>
              </a:spcAft>
            </a:pPr>
            <a:r>
              <a:rPr sz="1300" b="1">
                <a:solidFill>
                  <a:srgbClr val="7CC8EE"/>
                </a:solidFill>
                <a:latin typeface="Consolas"/>
              </a:rPr>
              <a:t>$ </a:t>
            </a:r>
            <a:r>
              <a:rPr sz="1300" b="0">
                <a:solidFill>
                  <a:srgbClr val="E8EEF4"/>
                </a:solidFill>
                <a:latin typeface="Consolas"/>
              </a:rPr>
              <a:t>git status -s</a:t>
            </a:r>
          </a:p>
          <a:p>
            <a:pPr>
              <a:lnSpc>
                <a:spcPct val="100000"/>
              </a:lnSpc>
              <a:spcAft>
                <a:spcPts val="0"/>
              </a:spcAft>
            </a:pPr>
            <a:r>
              <a:rPr sz="1300" b="0">
                <a:solidFill>
                  <a:srgbClr val="E8EEF4"/>
                </a:solidFill>
                <a:latin typeface="Consolas"/>
              </a:rPr>
              <a:t> M app/src/config.py</a:t>
            </a:r>
          </a:p>
          <a:p>
            <a:pPr>
              <a:lnSpc>
                <a:spcPct val="100000"/>
              </a:lnSpc>
              <a:spcAft>
                <a:spcPts val="0"/>
              </a:spcAft>
            </a:pPr>
            <a:r>
              <a:rPr sz="1300" b="1">
                <a:solidFill>
                  <a:srgbClr val="7CC8EE"/>
                </a:solidFill>
                <a:latin typeface="Consolas"/>
              </a:rPr>
              <a:t>$ </a:t>
            </a:r>
            <a:r>
              <a:rPr sz="1300" b="0">
                <a:solidFill>
                  <a:srgbClr val="E8EEF4"/>
                </a:solidFill>
                <a:latin typeface="Consolas"/>
              </a:rPr>
              <a:t>git restore app/src/config.py</a:t>
            </a:r>
          </a:p>
          <a:p>
            <a:pPr>
              <a:lnSpc>
                <a:spcPct val="100000"/>
              </a:lnSpc>
              <a:spcAft>
                <a:spcPts val="0"/>
              </a:spcAft>
            </a:pPr>
            <a:r>
              <a:rPr sz="1300" b="1">
                <a:solidFill>
                  <a:srgbClr val="7CC8EE"/>
                </a:solidFill>
                <a:latin typeface="Consolas"/>
              </a:rPr>
              <a:t>$ </a:t>
            </a:r>
            <a:r>
              <a:rPr sz="1300" b="0">
                <a:solidFill>
                  <a:srgbClr val="E8EEF4"/>
                </a:solidFill>
                <a:latin typeface="Consolas"/>
              </a:rPr>
              <a:t>git status -s</a:t>
            </a:r>
          </a:p>
          <a:p>
            <a:pPr>
              <a:lnSpc>
                <a:spcPct val="100000"/>
              </a:lnSpc>
              <a:spcAft>
                <a:spcPts val="0"/>
              </a:spcAft>
            </a:pPr>
            <a:r>
              <a:rPr sz="1300" b="1">
                <a:solidFill>
                  <a:srgbClr val="7CC8EE"/>
                </a:solidFill>
                <a:latin typeface="Consolas"/>
              </a:rPr>
              <a:t>$ </a:t>
            </a:r>
            <a:r>
              <a:rPr sz="1300" b="0">
                <a:solidFill>
                  <a:srgbClr val="E8EEF4"/>
                </a:solidFill>
                <a:latin typeface="Consolas"/>
              </a:rPr>
              <a:t>git log --oneline -2</a:t>
            </a:r>
          </a:p>
          <a:p>
            <a:pPr>
              <a:lnSpc>
                <a:spcPct val="100000"/>
              </a:lnSpc>
              <a:spcAft>
                <a:spcPts val="0"/>
              </a:spcAft>
            </a:pPr>
            <a:r>
              <a:rPr sz="1300" b="0">
                <a:solidFill>
                  <a:srgbClr val="E8EEF4"/>
                </a:solidFill>
                <a:latin typeface="Consolas"/>
              </a:rPr>
              <a:t>5467d18 perf: cut settlement timeout to 5s</a:t>
            </a:r>
          </a:p>
          <a:p>
            <a:pPr>
              <a:lnSpc>
                <a:spcPct val="100000"/>
              </a:lnSpc>
              <a:spcAft>
                <a:spcPts val="0"/>
              </a:spcAft>
            </a:pPr>
            <a:r>
              <a:rPr sz="1300" b="0">
                <a:solidFill>
                  <a:srgbClr val="E8EEF4"/>
                </a:solidFill>
                <a:latin typeface="Consolas"/>
              </a:rPr>
              <a:t>eceac51 docs: add contributing guide</a:t>
            </a:r>
          </a:p>
          <a:p>
            <a:pPr>
              <a:lnSpc>
                <a:spcPct val="100000"/>
              </a:lnSpc>
              <a:spcAft>
                <a:spcPts val="0"/>
              </a:spcAft>
            </a:pPr>
            <a:r>
              <a:rPr sz="1300" b="1">
                <a:solidFill>
                  <a:srgbClr val="7CC8EE"/>
                </a:solidFill>
                <a:latin typeface="Consolas"/>
              </a:rPr>
              <a:t>$ </a:t>
            </a:r>
            <a:r>
              <a:rPr sz="1300" b="0">
                <a:solidFill>
                  <a:srgbClr val="E8EEF4"/>
                </a:solidFill>
                <a:latin typeface="Consolas"/>
              </a:rPr>
              <a:t>git revert HEAD --no-edit</a:t>
            </a:r>
          </a:p>
          <a:p>
            <a:pPr>
              <a:lnSpc>
                <a:spcPct val="100000"/>
              </a:lnSpc>
              <a:spcAft>
                <a:spcPts val="0"/>
              </a:spcAft>
            </a:pPr>
            <a:r>
              <a:rPr sz="1300" b="0">
                <a:solidFill>
                  <a:srgbClr val="E8EEF4"/>
                </a:solidFill>
                <a:latin typeface="Consolas"/>
              </a:rPr>
              <a:t>[main e436a04] Revert "perf: cut settlement timeout to 5s"</a:t>
            </a:r>
          </a:p>
          <a:p>
            <a:pPr>
              <a:lnSpc>
                <a:spcPct val="100000"/>
              </a:lnSpc>
              <a:spcAft>
                <a:spcPts val="0"/>
              </a:spcAft>
            </a:pPr>
            <a:r>
              <a:rPr sz="1300" b="0">
                <a:solidFill>
                  <a:srgbClr val="E8EEF4"/>
                </a:solidFill>
                <a:latin typeface="Consolas"/>
              </a:rPr>
              <a:t> Date: Thu Sep 17 09:18:01 2026 +0200</a:t>
            </a:r>
          </a:p>
          <a:p>
            <a:pPr>
              <a:lnSpc>
                <a:spcPct val="100000"/>
              </a:lnSpc>
              <a:spcAft>
                <a:spcPts val="0"/>
              </a:spcAft>
            </a:pPr>
            <a:r>
              <a:rPr sz="1300" b="0">
                <a:solidFill>
                  <a:srgbClr val="E8EEF4"/>
                </a:solidFill>
                <a:latin typeface="Consolas"/>
              </a:rPr>
              <a:t> 1 file changed, 1 insertion(+), 1 deletion(-)</a:t>
            </a:r>
          </a:p>
          <a:p>
            <a:pPr>
              <a:lnSpc>
                <a:spcPct val="100000"/>
              </a:lnSpc>
              <a:spcAft>
                <a:spcPts val="0"/>
              </a:spcAft>
            </a:pPr>
            <a:r>
              <a:rPr sz="1300" b="1">
                <a:solidFill>
                  <a:srgbClr val="7CC8EE"/>
                </a:solidFill>
                <a:latin typeface="Consolas"/>
              </a:rPr>
              <a:t>$ </a:t>
            </a:r>
            <a:r>
              <a:rPr sz="1300" b="0">
                <a:solidFill>
                  <a:srgbClr val="E8EEF4"/>
                </a:solidFill>
                <a:latin typeface="Consolas"/>
              </a:rPr>
              <a:t>git log --oneline -3</a:t>
            </a:r>
          </a:p>
          <a:p>
            <a:pPr>
              <a:lnSpc>
                <a:spcPct val="100000"/>
              </a:lnSpc>
              <a:spcAft>
                <a:spcPts val="0"/>
              </a:spcAft>
            </a:pPr>
            <a:r>
              <a:rPr sz="1300" b="0">
                <a:solidFill>
                  <a:srgbClr val="E8EEF4"/>
                </a:solidFill>
                <a:latin typeface="Consolas"/>
              </a:rPr>
              <a:t>e436a04 Revert "perf: cut settlement timeout to 5s"</a:t>
            </a:r>
          </a:p>
          <a:p>
            <a:pPr>
              <a:lnSpc>
                <a:spcPct val="100000"/>
              </a:lnSpc>
              <a:spcAft>
                <a:spcPts val="0"/>
              </a:spcAft>
            </a:pPr>
            <a:r>
              <a:rPr sz="1300" b="0">
                <a:solidFill>
                  <a:srgbClr val="E8EEF4"/>
                </a:solidFill>
                <a:latin typeface="Consolas"/>
              </a:rPr>
              <a:t>5467d18 perf: cut settlement timeout to 5s</a:t>
            </a:r>
          </a:p>
          <a:p>
            <a:pPr>
              <a:lnSpc>
                <a:spcPct val="100000"/>
              </a:lnSpc>
              <a:spcAft>
                <a:spcPts val="0"/>
              </a:spcAft>
            </a:pPr>
            <a:r>
              <a:rPr sz="1300" b="0">
                <a:solidFill>
                  <a:srgbClr val="E8EEF4"/>
                </a:solidFill>
                <a:latin typeface="Consolas"/>
              </a:rPr>
              <a:t>eceac51 docs: add contributing guide</a:t>
            </a:r>
          </a:p>
          <a:p>
            <a:pPr>
              <a:lnSpc>
                <a:spcPct val="100000"/>
              </a:lnSpc>
              <a:spcAft>
                <a:spcPts val="0"/>
              </a:spcAft>
            </a:pPr>
            <a:r>
              <a:rPr sz="1300" b="1">
                <a:solidFill>
                  <a:srgbClr val="7CC8EE"/>
                </a:solidFill>
                <a:latin typeface="Consolas"/>
              </a:rPr>
              <a:t>$ </a:t>
            </a:r>
            <a:r>
              <a:rPr sz="1300" b="0">
                <a:solidFill>
                  <a:srgbClr val="E8EEF4"/>
                </a:solidFill>
                <a:latin typeface="Consolas"/>
              </a:rPr>
              <a:t>git push</a:t>
            </a:r>
          </a:p>
          <a:p>
            <a:pPr>
              <a:lnSpc>
                <a:spcPct val="100000"/>
              </a:lnSpc>
              <a:spcAft>
                <a:spcPts val="0"/>
              </a:spcAft>
            </a:pPr>
            <a:r>
              <a:rPr sz="1300" b="0">
                <a:solidFill>
                  <a:srgbClr val="E8EEF4"/>
                </a:solidFill>
                <a:latin typeface="Consolas"/>
              </a:rPr>
              <a:t>   5467d18..e436a04  main -&gt; main</a:t>
            </a:r>
          </a:p>
        </p:txBody>
      </p:sp>
      <p:sp>
        <p:nvSpPr>
          <p:cNvPr id="15" name="TextBox 14"/>
          <p:cNvSpPr txBox="1"/>
          <p:nvPr/>
        </p:nvSpPr>
        <p:spPr>
          <a:xfrm>
            <a:off x="7238573" y="1764792"/>
            <a:ext cx="4292010"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7238573"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238573"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567757" y="2075688"/>
            <a:ext cx="3944538" cy="86868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restore — throw away an edit you have NOT committed</a:t>
            </a:r>
          </a:p>
          <a:p>
            <a:pPr>
              <a:lnSpc>
                <a:spcPct val="95000"/>
              </a:lnSpc>
              <a:spcBef>
                <a:spcPts val="200"/>
              </a:spcBef>
              <a:spcAft>
                <a:spcPts val="100"/>
              </a:spcAft>
            </a:pPr>
            <a:r>
              <a:rPr sz="1090" b="0">
                <a:solidFill>
                  <a:srgbClr val="5A6570"/>
                </a:solidFill>
                <a:latin typeface="Aptos"/>
              </a:rPr>
              <a:t>The file goes back to how it was at the last commit</a:t>
            </a:r>
          </a:p>
        </p:txBody>
      </p:sp>
      <p:sp>
        <p:nvSpPr>
          <p:cNvPr id="19" name="Oval 18"/>
          <p:cNvSpPr/>
          <p:nvPr/>
        </p:nvSpPr>
        <p:spPr>
          <a:xfrm>
            <a:off x="7238573" y="3099815"/>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238573" y="3118103"/>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567757" y="3054096"/>
            <a:ext cx="3944538"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Careful — restore cannot be undone</a:t>
            </a:r>
          </a:p>
          <a:p>
            <a:pPr>
              <a:lnSpc>
                <a:spcPct val="95000"/>
              </a:lnSpc>
              <a:spcBef>
                <a:spcPts val="200"/>
              </a:spcBef>
              <a:spcAft>
                <a:spcPts val="100"/>
              </a:spcAft>
            </a:pPr>
            <a:r>
              <a:rPr sz="1090" b="0">
                <a:solidFill>
                  <a:srgbClr val="5A6570"/>
                </a:solidFill>
                <a:latin typeface="Aptos"/>
              </a:rPr>
              <a:t>Those edits were never saved anywhere</a:t>
            </a:r>
          </a:p>
        </p:txBody>
      </p:sp>
      <p:sp>
        <p:nvSpPr>
          <p:cNvPr id="22" name="Oval 21"/>
          <p:cNvSpPr/>
          <p:nvPr/>
        </p:nvSpPr>
        <p:spPr>
          <a:xfrm>
            <a:off x="7238573" y="3730752"/>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238573" y="3749040"/>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567757" y="3685032"/>
            <a:ext cx="3944538" cy="70408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revert — cancel a commit that is ALREADY shared</a:t>
            </a:r>
          </a:p>
          <a:p>
            <a:pPr>
              <a:lnSpc>
                <a:spcPct val="95000"/>
              </a:lnSpc>
              <a:spcBef>
                <a:spcPts val="200"/>
              </a:spcBef>
              <a:spcAft>
                <a:spcPts val="100"/>
              </a:spcAft>
            </a:pPr>
            <a:r>
              <a:rPr sz="1090" b="0">
                <a:solidFill>
                  <a:srgbClr val="5A6570"/>
                </a:solidFill>
                <a:latin typeface="Aptos"/>
              </a:rPr>
              <a:t>It adds a new commit that does the opposite</a:t>
            </a:r>
          </a:p>
        </p:txBody>
      </p:sp>
      <p:sp>
        <p:nvSpPr>
          <p:cNvPr id="25" name="Oval 24"/>
          <p:cNvSpPr/>
          <p:nvPr/>
        </p:nvSpPr>
        <p:spPr>
          <a:xfrm>
            <a:off x="7238573" y="454456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238573" y="456285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567757" y="4498848"/>
            <a:ext cx="3944538"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Why revert is safe</a:t>
            </a:r>
          </a:p>
          <a:p>
            <a:pPr>
              <a:lnSpc>
                <a:spcPct val="95000"/>
              </a:lnSpc>
              <a:spcBef>
                <a:spcPts val="200"/>
              </a:spcBef>
              <a:spcAft>
                <a:spcPts val="100"/>
              </a:spcAft>
            </a:pPr>
            <a:r>
              <a:rPr sz="1090" b="0">
                <a:solidFill>
                  <a:srgbClr val="5A6570"/>
                </a:solidFill>
                <a:latin typeface="Aptos"/>
              </a:rPr>
              <a:t>Nothing is deleted: the mistake and the fix are both in the history, and everyone just pulls</a:t>
            </a:r>
          </a:p>
        </p:txBody>
      </p:sp>
      <p:sp>
        <p:nvSpPr>
          <p:cNvPr id="28" name="Oval 27"/>
          <p:cNvSpPr/>
          <p:nvPr/>
        </p:nvSpPr>
        <p:spPr>
          <a:xfrm>
            <a:off x="7238573" y="534009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238573" y="535838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30" name="TextBox 29"/>
          <p:cNvSpPr txBox="1"/>
          <p:nvPr/>
        </p:nvSpPr>
        <p:spPr>
          <a:xfrm>
            <a:off x="7567757" y="5294376"/>
            <a:ext cx="3944538"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In a bank — the record stays complete</a:t>
            </a:r>
          </a:p>
          <a:p>
            <a:pPr>
              <a:lnSpc>
                <a:spcPct val="95000"/>
              </a:lnSpc>
              <a:spcBef>
                <a:spcPts val="200"/>
              </a:spcBef>
              <a:spcAft>
                <a:spcPts val="100"/>
              </a:spcAft>
            </a:pPr>
            <a:r>
              <a:rPr sz="1090" b="0">
                <a:solidFill>
                  <a:srgbClr val="5A6570"/>
                </a:solidFill>
                <a:latin typeface="Aptos"/>
              </a:rPr>
              <a:t>You can see what was undone, by whom, and why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17</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EVERYDAY GIT</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Which command do I need?</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3635405"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I want to…</a:t>
            </a:r>
          </a:p>
        </p:txBody>
      </p:sp>
      <p:sp>
        <p:nvSpPr>
          <p:cNvPr id="10" name="TextBox 9"/>
          <p:cNvSpPr txBox="1"/>
          <p:nvPr/>
        </p:nvSpPr>
        <p:spPr>
          <a:xfrm>
            <a:off x="4549805" y="1828800"/>
            <a:ext cx="4690960"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Command</a:t>
            </a:r>
          </a:p>
        </p:txBody>
      </p:sp>
      <p:sp>
        <p:nvSpPr>
          <p:cNvPr id="11" name="TextBox 10"/>
          <p:cNvSpPr txBox="1"/>
          <p:nvPr/>
        </p:nvSpPr>
        <p:spPr>
          <a:xfrm>
            <a:off x="9405358" y="1828800"/>
            <a:ext cx="2052073"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Safe?</a:t>
            </a:r>
          </a:p>
        </p:txBody>
      </p:sp>
      <p:sp>
        <p:nvSpPr>
          <p:cNvPr id="12" name="Rectangle 11"/>
          <p:cNvSpPr/>
          <p:nvPr/>
        </p:nvSpPr>
        <p:spPr>
          <a:xfrm>
            <a:off x="658368" y="2167128"/>
            <a:ext cx="10872216" cy="407561"/>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3635405" cy="37098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See what I have changed</a:t>
            </a:r>
          </a:p>
        </p:txBody>
      </p:sp>
      <p:sp>
        <p:nvSpPr>
          <p:cNvPr id="14" name="TextBox 13"/>
          <p:cNvSpPr txBox="1"/>
          <p:nvPr/>
        </p:nvSpPr>
        <p:spPr>
          <a:xfrm>
            <a:off x="4549805" y="2185416"/>
            <a:ext cx="4690960"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status · git diff</a:t>
            </a:r>
          </a:p>
        </p:txBody>
      </p:sp>
      <p:sp>
        <p:nvSpPr>
          <p:cNvPr id="15" name="TextBox 14"/>
          <p:cNvSpPr txBox="1"/>
          <p:nvPr/>
        </p:nvSpPr>
        <p:spPr>
          <a:xfrm>
            <a:off x="9405358" y="2185416"/>
            <a:ext cx="2052073"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3E7D32"/>
                </a:solidFill>
                <a:latin typeface="Aptos"/>
              </a:rPr>
              <a:t>✔ Only looks</a:t>
            </a:r>
          </a:p>
        </p:txBody>
      </p:sp>
      <p:sp>
        <p:nvSpPr>
          <p:cNvPr id="16" name="Rectangle 15"/>
          <p:cNvSpPr/>
          <p:nvPr/>
        </p:nvSpPr>
        <p:spPr>
          <a:xfrm>
            <a:off x="658368" y="2574689"/>
            <a:ext cx="10872216" cy="615587"/>
          </a:xfrm>
          <a:prstGeom prst="rect">
            <a:avLst/>
          </a:prstGeom>
          <a:solidFill>
            <a:srgbClr val="FDF1E2"/>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592977"/>
            <a:ext cx="3635405" cy="57901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Start a new piece of work</a:t>
            </a:r>
          </a:p>
        </p:txBody>
      </p:sp>
      <p:sp>
        <p:nvSpPr>
          <p:cNvPr id="18" name="TextBox 17"/>
          <p:cNvSpPr txBox="1"/>
          <p:nvPr/>
        </p:nvSpPr>
        <p:spPr>
          <a:xfrm>
            <a:off x="4549805" y="2592977"/>
            <a:ext cx="4690960"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switch main · git pull · git switch -c &lt;name&gt;</a:t>
            </a:r>
          </a:p>
        </p:txBody>
      </p:sp>
      <p:sp>
        <p:nvSpPr>
          <p:cNvPr id="19" name="TextBox 18"/>
          <p:cNvSpPr txBox="1"/>
          <p:nvPr/>
        </p:nvSpPr>
        <p:spPr>
          <a:xfrm>
            <a:off x="9405358" y="2592977"/>
            <a:ext cx="2052073"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t>
            </a:r>
          </a:p>
        </p:txBody>
      </p:sp>
      <p:sp>
        <p:nvSpPr>
          <p:cNvPr id="20" name="Rectangle 19"/>
          <p:cNvSpPr/>
          <p:nvPr/>
        </p:nvSpPr>
        <p:spPr>
          <a:xfrm>
            <a:off x="658368" y="3190276"/>
            <a:ext cx="10872216" cy="407561"/>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208564"/>
            <a:ext cx="3635405" cy="37098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Save my work</a:t>
            </a:r>
          </a:p>
        </p:txBody>
      </p:sp>
      <p:sp>
        <p:nvSpPr>
          <p:cNvPr id="22" name="TextBox 21"/>
          <p:cNvSpPr txBox="1"/>
          <p:nvPr/>
        </p:nvSpPr>
        <p:spPr>
          <a:xfrm>
            <a:off x="4549805" y="3208564"/>
            <a:ext cx="4690960"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add &lt;file&gt; · git commit -m "note"</a:t>
            </a:r>
          </a:p>
        </p:txBody>
      </p:sp>
      <p:sp>
        <p:nvSpPr>
          <p:cNvPr id="23" name="TextBox 22"/>
          <p:cNvSpPr txBox="1"/>
          <p:nvPr/>
        </p:nvSpPr>
        <p:spPr>
          <a:xfrm>
            <a:off x="9405358" y="3208564"/>
            <a:ext cx="2052073"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t>
            </a:r>
          </a:p>
        </p:txBody>
      </p:sp>
      <p:sp>
        <p:nvSpPr>
          <p:cNvPr id="24" name="Rectangle 23"/>
          <p:cNvSpPr/>
          <p:nvPr/>
        </p:nvSpPr>
        <p:spPr>
          <a:xfrm>
            <a:off x="658368" y="3597837"/>
            <a:ext cx="10872216" cy="407561"/>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3616125"/>
            <a:ext cx="3635405" cy="37098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See my saved commits</a:t>
            </a:r>
          </a:p>
        </p:txBody>
      </p:sp>
      <p:sp>
        <p:nvSpPr>
          <p:cNvPr id="26" name="TextBox 25"/>
          <p:cNvSpPr txBox="1"/>
          <p:nvPr/>
        </p:nvSpPr>
        <p:spPr>
          <a:xfrm>
            <a:off x="4549805" y="3616125"/>
            <a:ext cx="4690960"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log --oneline</a:t>
            </a:r>
          </a:p>
        </p:txBody>
      </p:sp>
      <p:sp>
        <p:nvSpPr>
          <p:cNvPr id="27" name="TextBox 26"/>
          <p:cNvSpPr txBox="1"/>
          <p:nvPr/>
        </p:nvSpPr>
        <p:spPr>
          <a:xfrm>
            <a:off x="9405358" y="3616125"/>
            <a:ext cx="2052073"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3E7D32"/>
                </a:solidFill>
                <a:latin typeface="Aptos"/>
              </a:rPr>
              <a:t>✔ Only looks</a:t>
            </a:r>
          </a:p>
        </p:txBody>
      </p:sp>
      <p:sp>
        <p:nvSpPr>
          <p:cNvPr id="28" name="Rectangle 27"/>
          <p:cNvSpPr/>
          <p:nvPr/>
        </p:nvSpPr>
        <p:spPr>
          <a:xfrm>
            <a:off x="658368" y="4005398"/>
            <a:ext cx="10872216" cy="615587"/>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9808" y="4023686"/>
            <a:ext cx="3635405" cy="57901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Share my work · get my team's work</a:t>
            </a:r>
          </a:p>
        </p:txBody>
      </p:sp>
      <p:sp>
        <p:nvSpPr>
          <p:cNvPr id="30" name="TextBox 29"/>
          <p:cNvSpPr txBox="1"/>
          <p:nvPr/>
        </p:nvSpPr>
        <p:spPr>
          <a:xfrm>
            <a:off x="4549805" y="4023686"/>
            <a:ext cx="4690960"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push · git pull</a:t>
            </a:r>
          </a:p>
        </p:txBody>
      </p:sp>
      <p:sp>
        <p:nvSpPr>
          <p:cNvPr id="31" name="TextBox 30"/>
          <p:cNvSpPr txBox="1"/>
          <p:nvPr/>
        </p:nvSpPr>
        <p:spPr>
          <a:xfrm>
            <a:off x="9405358" y="4023686"/>
            <a:ext cx="2052073"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t>
            </a:r>
          </a:p>
        </p:txBody>
      </p:sp>
      <p:sp>
        <p:nvSpPr>
          <p:cNvPr id="32" name="Rectangle 31"/>
          <p:cNvSpPr/>
          <p:nvPr/>
        </p:nvSpPr>
        <p:spPr>
          <a:xfrm>
            <a:off x="658368" y="4620985"/>
            <a:ext cx="10872216" cy="615587"/>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749808" y="4639273"/>
            <a:ext cx="3635405" cy="57901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Throw away an edit I haven't saved</a:t>
            </a:r>
          </a:p>
        </p:txBody>
      </p:sp>
      <p:sp>
        <p:nvSpPr>
          <p:cNvPr id="34" name="TextBox 33"/>
          <p:cNvSpPr txBox="1"/>
          <p:nvPr/>
        </p:nvSpPr>
        <p:spPr>
          <a:xfrm>
            <a:off x="4549805" y="4639273"/>
            <a:ext cx="4690960"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restore &lt;file&gt;</a:t>
            </a:r>
          </a:p>
        </p:txBody>
      </p:sp>
      <p:sp>
        <p:nvSpPr>
          <p:cNvPr id="35" name="TextBox 34"/>
          <p:cNvSpPr txBox="1"/>
          <p:nvPr/>
        </p:nvSpPr>
        <p:spPr>
          <a:xfrm>
            <a:off x="9405358" y="4639273"/>
            <a:ext cx="2052073"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B3261E"/>
                </a:solidFill>
                <a:latin typeface="Aptos"/>
              </a:rPr>
              <a:t>✗ Cannot be undone</a:t>
            </a:r>
          </a:p>
        </p:txBody>
      </p:sp>
      <p:sp>
        <p:nvSpPr>
          <p:cNvPr id="36" name="Rectangle 35"/>
          <p:cNvSpPr/>
          <p:nvPr/>
        </p:nvSpPr>
        <p:spPr>
          <a:xfrm>
            <a:off x="658368" y="5236572"/>
            <a:ext cx="10872216" cy="615587"/>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7" name="TextBox 36"/>
          <p:cNvSpPr txBox="1"/>
          <p:nvPr/>
        </p:nvSpPr>
        <p:spPr>
          <a:xfrm>
            <a:off x="749808" y="5254860"/>
            <a:ext cx="3635405" cy="57901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Undo a change that is already shared</a:t>
            </a:r>
          </a:p>
        </p:txBody>
      </p:sp>
      <p:sp>
        <p:nvSpPr>
          <p:cNvPr id="38" name="TextBox 37"/>
          <p:cNvSpPr txBox="1"/>
          <p:nvPr/>
        </p:nvSpPr>
        <p:spPr>
          <a:xfrm>
            <a:off x="4549805" y="5254860"/>
            <a:ext cx="4690960"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revert &lt;ID&gt;</a:t>
            </a:r>
          </a:p>
        </p:txBody>
      </p:sp>
      <p:sp>
        <p:nvSpPr>
          <p:cNvPr id="39" name="TextBox 38"/>
          <p:cNvSpPr txBox="1"/>
          <p:nvPr/>
        </p:nvSpPr>
        <p:spPr>
          <a:xfrm>
            <a:off x="9405358" y="5254860"/>
            <a:ext cx="2052073"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3E7D32"/>
                </a:solidFill>
                <a:latin typeface="Aptos"/>
              </a:rPr>
              <a:t>✔ Keeps the history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3</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Combining Work</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Merge, rebase — and what to do when two people change the same line</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Ways to bring a branch into main</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What rebase means, and how to do it</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Merge or rebase? — and the golden rule</a:t>
            </a:r>
          </a:p>
        </p:txBody>
      </p:sp>
      <p:sp>
        <p:nvSpPr>
          <p:cNvPr id="15" name="Rectangle 14"/>
          <p:cNvSpPr/>
          <p:nvPr/>
        </p:nvSpPr>
        <p:spPr>
          <a:xfrm>
            <a:off x="2267712" y="4914900"/>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2523744" y="4805172"/>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Merge conflicts, calmly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19</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§2.5</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Ways to bring a branch into main</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905701"/>
            <a:ext cx="5298948" cy="1863838"/>
          </a:xfrm>
          <a:prstGeom prst="rect">
            <a:avLst/>
          </a:prstGeom>
          <a:solidFill>
            <a:srgbClr val="F3F6F8"/>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822959" y="1971098"/>
            <a:ext cx="3291840" cy="245242"/>
          </a:xfrm>
          <a:prstGeom prst="rect">
            <a:avLst/>
          </a:prstGeom>
          <a:noFill/>
        </p:spPr>
        <p:txBody>
          <a:bodyPr wrap="square" lIns="73152" rIns="73152" tIns="36576" bIns="36576" anchor="t">
            <a:spAutoFit/>
          </a:bodyPr>
          <a:lstStyle/>
          <a:p>
            <a:pPr algn="l">
              <a:lnSpc>
                <a:spcPct val="92000"/>
              </a:lnSpc>
              <a:spcAft>
                <a:spcPts val="200"/>
              </a:spcAft>
            </a:pPr>
            <a:r>
              <a:rPr sz="1200" b="1" i="0">
                <a:solidFill>
                  <a:srgbClr val="117A69"/>
                </a:solidFill>
                <a:latin typeface="Aptos"/>
              </a:rPr>
              <a:t>FAST-FORWARD</a:t>
            </a:r>
          </a:p>
        </p:txBody>
      </p:sp>
      <p:cxnSp>
        <p:nvCxnSpPr>
          <p:cNvPr id="10" name="Connector 9"/>
          <p:cNvCxnSpPr/>
          <p:nvPr/>
        </p:nvCxnSpPr>
        <p:spPr>
          <a:xfrm>
            <a:off x="1261872" y="2657776"/>
            <a:ext cx="329184"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920240" y="2657776"/>
            <a:ext cx="329184"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78608" y="2657776"/>
            <a:ext cx="329184"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932688" y="2510631"/>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877824" y="2559679"/>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A</a:t>
            </a:r>
          </a:p>
        </p:txBody>
      </p:sp>
      <p:sp>
        <p:nvSpPr>
          <p:cNvPr id="15" name="Oval 14"/>
          <p:cNvSpPr/>
          <p:nvPr/>
        </p:nvSpPr>
        <p:spPr>
          <a:xfrm>
            <a:off x="1591056" y="2510631"/>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1536192" y="2559679"/>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B</a:t>
            </a:r>
          </a:p>
        </p:txBody>
      </p:sp>
      <p:sp>
        <p:nvSpPr>
          <p:cNvPr id="17" name="Oval 16"/>
          <p:cNvSpPr/>
          <p:nvPr/>
        </p:nvSpPr>
        <p:spPr>
          <a:xfrm>
            <a:off x="2249424" y="2510631"/>
            <a:ext cx="329184" cy="294290"/>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2194560" y="2559679"/>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C</a:t>
            </a:r>
          </a:p>
        </p:txBody>
      </p:sp>
      <p:sp>
        <p:nvSpPr>
          <p:cNvPr id="19" name="Oval 18"/>
          <p:cNvSpPr/>
          <p:nvPr/>
        </p:nvSpPr>
        <p:spPr>
          <a:xfrm>
            <a:off x="2907792" y="2510631"/>
            <a:ext cx="329184" cy="294290"/>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2852928" y="2559679"/>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D</a:t>
            </a:r>
          </a:p>
        </p:txBody>
      </p:sp>
      <p:sp>
        <p:nvSpPr>
          <p:cNvPr id="21" name="TextBox 20"/>
          <p:cNvSpPr txBox="1"/>
          <p:nvPr/>
        </p:nvSpPr>
        <p:spPr>
          <a:xfrm>
            <a:off x="3630168" y="2486107"/>
            <a:ext cx="914400" cy="24524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23A5F"/>
                </a:solidFill>
                <a:latin typeface="Aptos"/>
              </a:rPr>
              <a:t>◄ main</a:t>
            </a:r>
          </a:p>
        </p:txBody>
      </p:sp>
      <p:sp>
        <p:nvSpPr>
          <p:cNvPr id="22" name="TextBox 21"/>
          <p:cNvSpPr txBox="1"/>
          <p:nvPr/>
        </p:nvSpPr>
        <p:spPr>
          <a:xfrm>
            <a:off x="822959" y="3066513"/>
            <a:ext cx="5024628" cy="376037"/>
          </a:xfrm>
          <a:prstGeom prst="rect">
            <a:avLst/>
          </a:prstGeom>
          <a:noFill/>
        </p:spPr>
        <p:txBody>
          <a:bodyPr wrap="square" lIns="73152" rIns="73152" tIns="36576" bIns="36576" anchor="t">
            <a:spAutoFit/>
          </a:bodyPr>
          <a:lstStyle/>
          <a:p>
            <a:pPr algn="l">
              <a:lnSpc>
                <a:spcPct val="92000"/>
              </a:lnSpc>
              <a:spcAft>
                <a:spcPts val="200"/>
              </a:spcAft>
            </a:pPr>
            <a:r>
              <a:rPr sz="1050" b="0" i="0">
                <a:solidFill>
                  <a:srgbClr val="123A5F"/>
                </a:solidFill>
                <a:latin typeface="Aptos"/>
              </a:rPr>
              <a:t>main simply moves forward to include your commits C and D. No extra commit is needed.</a:t>
            </a:r>
          </a:p>
        </p:txBody>
      </p:sp>
      <p:sp>
        <p:nvSpPr>
          <p:cNvPr id="23" name="TextBox 22"/>
          <p:cNvSpPr txBox="1"/>
          <p:nvPr/>
        </p:nvSpPr>
        <p:spPr>
          <a:xfrm>
            <a:off x="822959" y="3475250"/>
            <a:ext cx="5024628" cy="228892"/>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117A69"/>
                </a:solidFill>
                <a:latin typeface="Aptos"/>
              </a:rPr>
              <a:t>USE FOR:  when nobody else has changed main</a:t>
            </a:r>
          </a:p>
        </p:txBody>
      </p:sp>
      <p:sp>
        <p:nvSpPr>
          <p:cNvPr id="24" name="Rectangle 23"/>
          <p:cNvSpPr/>
          <p:nvPr/>
        </p:nvSpPr>
        <p:spPr>
          <a:xfrm>
            <a:off x="6231636" y="1905701"/>
            <a:ext cx="5298948" cy="1863838"/>
          </a:xfrm>
          <a:prstGeom prst="rect">
            <a:avLst/>
          </a:prstGeom>
          <a:solidFill>
            <a:srgbClr val="F3F6F8"/>
          </a:solidFill>
          <a:ln w="12700">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396227" y="1971098"/>
            <a:ext cx="3291840" cy="245242"/>
          </a:xfrm>
          <a:prstGeom prst="rect">
            <a:avLst/>
          </a:prstGeom>
          <a:noFill/>
        </p:spPr>
        <p:txBody>
          <a:bodyPr wrap="square" lIns="73152" rIns="73152" tIns="36576" bIns="36576" anchor="t">
            <a:spAutoFit/>
          </a:bodyPr>
          <a:lstStyle/>
          <a:p>
            <a:pPr algn="l">
              <a:lnSpc>
                <a:spcPct val="92000"/>
              </a:lnSpc>
              <a:spcAft>
                <a:spcPts val="200"/>
              </a:spcAft>
            </a:pPr>
            <a:r>
              <a:rPr sz="1200" b="1" i="0">
                <a:solidFill>
                  <a:srgbClr val="D2760D"/>
                </a:solidFill>
                <a:latin typeface="Aptos"/>
              </a:rPr>
              <a:t>MERGE COMMIT</a:t>
            </a:r>
          </a:p>
        </p:txBody>
      </p:sp>
      <p:cxnSp>
        <p:nvCxnSpPr>
          <p:cNvPr id="26" name="Connector 25"/>
          <p:cNvCxnSpPr/>
          <p:nvPr/>
        </p:nvCxnSpPr>
        <p:spPr>
          <a:xfrm>
            <a:off x="6835140" y="2428884"/>
            <a:ext cx="329183"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93507" y="2428884"/>
            <a:ext cx="329185"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151875" y="2428884"/>
            <a:ext cx="329184"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810243" y="2428884"/>
            <a:ext cx="530353"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6505955" y="2281738"/>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6451092" y="2330787"/>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A</a:t>
            </a:r>
          </a:p>
        </p:txBody>
      </p:sp>
      <p:sp>
        <p:nvSpPr>
          <p:cNvPr id="32" name="Oval 31"/>
          <p:cNvSpPr/>
          <p:nvPr/>
        </p:nvSpPr>
        <p:spPr>
          <a:xfrm>
            <a:off x="7164323" y="2281738"/>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7109459" y="2330787"/>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B</a:t>
            </a:r>
          </a:p>
        </p:txBody>
      </p:sp>
      <p:sp>
        <p:nvSpPr>
          <p:cNvPr id="34" name="Oval 33"/>
          <p:cNvSpPr/>
          <p:nvPr/>
        </p:nvSpPr>
        <p:spPr>
          <a:xfrm>
            <a:off x="7822692" y="2281738"/>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5" name="TextBox 34"/>
          <p:cNvSpPr txBox="1"/>
          <p:nvPr/>
        </p:nvSpPr>
        <p:spPr>
          <a:xfrm>
            <a:off x="7767827" y="2330787"/>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E</a:t>
            </a:r>
          </a:p>
        </p:txBody>
      </p:sp>
      <p:sp>
        <p:nvSpPr>
          <p:cNvPr id="36" name="Oval 35"/>
          <p:cNvSpPr/>
          <p:nvPr/>
        </p:nvSpPr>
        <p:spPr>
          <a:xfrm>
            <a:off x="8481059" y="2281738"/>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7" name="TextBox 36"/>
          <p:cNvSpPr txBox="1"/>
          <p:nvPr/>
        </p:nvSpPr>
        <p:spPr>
          <a:xfrm>
            <a:off x="8426195" y="2330787"/>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F</a:t>
            </a:r>
          </a:p>
        </p:txBody>
      </p:sp>
      <p:sp>
        <p:nvSpPr>
          <p:cNvPr id="38" name="Oval 37"/>
          <p:cNvSpPr/>
          <p:nvPr/>
        </p:nvSpPr>
        <p:spPr>
          <a:xfrm>
            <a:off x="9340596" y="2281738"/>
            <a:ext cx="329184" cy="294290"/>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9" name="TextBox 38"/>
          <p:cNvSpPr txBox="1"/>
          <p:nvPr/>
        </p:nvSpPr>
        <p:spPr>
          <a:xfrm>
            <a:off x="9285732" y="2330787"/>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M</a:t>
            </a:r>
          </a:p>
        </p:txBody>
      </p:sp>
      <p:cxnSp>
        <p:nvCxnSpPr>
          <p:cNvPr id="40" name="Connector 39"/>
          <p:cNvCxnSpPr/>
          <p:nvPr/>
        </p:nvCxnSpPr>
        <p:spPr>
          <a:xfrm>
            <a:off x="7438644" y="2526980"/>
            <a:ext cx="256031" cy="212543"/>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978139" y="2821271"/>
            <a:ext cx="539497"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8819388" y="2526980"/>
            <a:ext cx="576072" cy="212543"/>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7648955" y="2674126"/>
            <a:ext cx="329184" cy="294290"/>
          </a:xfrm>
          <a:prstGeom prst="ellipse">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4" name="TextBox 43"/>
          <p:cNvSpPr txBox="1"/>
          <p:nvPr/>
        </p:nvSpPr>
        <p:spPr>
          <a:xfrm>
            <a:off x="7594091" y="2723174"/>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C</a:t>
            </a:r>
          </a:p>
        </p:txBody>
      </p:sp>
      <p:sp>
        <p:nvSpPr>
          <p:cNvPr id="45" name="Oval 44"/>
          <p:cNvSpPr/>
          <p:nvPr/>
        </p:nvSpPr>
        <p:spPr>
          <a:xfrm>
            <a:off x="8517636" y="2674126"/>
            <a:ext cx="329184" cy="294290"/>
          </a:xfrm>
          <a:prstGeom prst="ellipse">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6" name="TextBox 45"/>
          <p:cNvSpPr txBox="1"/>
          <p:nvPr/>
        </p:nvSpPr>
        <p:spPr>
          <a:xfrm>
            <a:off x="8462772" y="2723174"/>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D</a:t>
            </a:r>
          </a:p>
        </p:txBody>
      </p:sp>
      <p:sp>
        <p:nvSpPr>
          <p:cNvPr id="47" name="TextBox 46"/>
          <p:cNvSpPr txBox="1"/>
          <p:nvPr/>
        </p:nvSpPr>
        <p:spPr>
          <a:xfrm>
            <a:off x="6396227" y="3066513"/>
            <a:ext cx="5024628" cy="376037"/>
          </a:xfrm>
          <a:prstGeom prst="rect">
            <a:avLst/>
          </a:prstGeom>
          <a:noFill/>
        </p:spPr>
        <p:txBody>
          <a:bodyPr wrap="square" lIns="73152" rIns="73152" tIns="36576" bIns="36576" anchor="t">
            <a:spAutoFit/>
          </a:bodyPr>
          <a:lstStyle/>
          <a:p>
            <a:pPr algn="l">
              <a:lnSpc>
                <a:spcPct val="92000"/>
              </a:lnSpc>
              <a:spcAft>
                <a:spcPts val="200"/>
              </a:spcAft>
            </a:pPr>
            <a:r>
              <a:rPr sz="1050" b="0" i="0">
                <a:solidFill>
                  <a:srgbClr val="123A5F"/>
                </a:solidFill>
                <a:latin typeface="Aptos"/>
              </a:rPr>
              <a:t>A joining commit M ties the two lines together. Nothing is changed, so it is always safe.</a:t>
            </a:r>
          </a:p>
        </p:txBody>
      </p:sp>
      <p:sp>
        <p:nvSpPr>
          <p:cNvPr id="48" name="TextBox 47"/>
          <p:cNvSpPr txBox="1"/>
          <p:nvPr/>
        </p:nvSpPr>
        <p:spPr>
          <a:xfrm>
            <a:off x="6396227" y="3475250"/>
            <a:ext cx="5024628" cy="228892"/>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D2760D"/>
                </a:solidFill>
                <a:latin typeface="Aptos"/>
              </a:rPr>
              <a:t>USE FOR:  branches that other people also use</a:t>
            </a:r>
          </a:p>
        </p:txBody>
      </p:sp>
      <p:sp>
        <p:nvSpPr>
          <p:cNvPr id="49" name="Rectangle 48"/>
          <p:cNvSpPr/>
          <p:nvPr/>
        </p:nvSpPr>
        <p:spPr>
          <a:xfrm>
            <a:off x="658368" y="3867636"/>
            <a:ext cx="5298948" cy="1863838"/>
          </a:xfrm>
          <a:prstGeom prst="rect">
            <a:avLst/>
          </a:prstGeom>
          <a:solidFill>
            <a:srgbClr val="F3F6F8"/>
          </a:solidFill>
          <a:ln w="12700">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0" name="TextBox 49"/>
          <p:cNvSpPr txBox="1"/>
          <p:nvPr/>
        </p:nvSpPr>
        <p:spPr>
          <a:xfrm>
            <a:off x="822959" y="3933034"/>
            <a:ext cx="3291840" cy="245242"/>
          </a:xfrm>
          <a:prstGeom prst="rect">
            <a:avLst/>
          </a:prstGeom>
          <a:noFill/>
        </p:spPr>
        <p:txBody>
          <a:bodyPr wrap="square" lIns="73152" rIns="73152" tIns="36576" bIns="36576" anchor="t">
            <a:spAutoFit/>
          </a:bodyPr>
          <a:lstStyle/>
          <a:p>
            <a:pPr algn="l">
              <a:lnSpc>
                <a:spcPct val="92000"/>
              </a:lnSpc>
              <a:spcAft>
                <a:spcPts val="200"/>
              </a:spcAft>
            </a:pPr>
            <a:r>
              <a:rPr sz="1200" b="1" i="0">
                <a:solidFill>
                  <a:srgbClr val="3E7D32"/>
                </a:solidFill>
                <a:latin typeface="Aptos"/>
              </a:rPr>
              <a:t>SQUASH MERGE</a:t>
            </a:r>
          </a:p>
        </p:txBody>
      </p:sp>
      <p:cxnSp>
        <p:nvCxnSpPr>
          <p:cNvPr id="51" name="Connector 50"/>
          <p:cNvCxnSpPr/>
          <p:nvPr/>
        </p:nvCxnSpPr>
        <p:spPr>
          <a:xfrm>
            <a:off x="1261872" y="4390819"/>
            <a:ext cx="329184"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920240" y="4390819"/>
            <a:ext cx="429768"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932688" y="4243675"/>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4" name="TextBox 53"/>
          <p:cNvSpPr txBox="1"/>
          <p:nvPr/>
        </p:nvSpPr>
        <p:spPr>
          <a:xfrm>
            <a:off x="877824" y="4292723"/>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A</a:t>
            </a:r>
          </a:p>
        </p:txBody>
      </p:sp>
      <p:sp>
        <p:nvSpPr>
          <p:cNvPr id="55" name="Oval 54"/>
          <p:cNvSpPr/>
          <p:nvPr/>
        </p:nvSpPr>
        <p:spPr>
          <a:xfrm>
            <a:off x="1591056" y="4243675"/>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6" name="TextBox 55"/>
          <p:cNvSpPr txBox="1"/>
          <p:nvPr/>
        </p:nvSpPr>
        <p:spPr>
          <a:xfrm>
            <a:off x="1536192" y="4292723"/>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B</a:t>
            </a:r>
          </a:p>
        </p:txBody>
      </p:sp>
      <p:sp>
        <p:nvSpPr>
          <p:cNvPr id="57" name="Oval 56"/>
          <p:cNvSpPr/>
          <p:nvPr/>
        </p:nvSpPr>
        <p:spPr>
          <a:xfrm>
            <a:off x="2350008" y="4243675"/>
            <a:ext cx="329184" cy="294290"/>
          </a:xfrm>
          <a:prstGeom prst="ellipse">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8" name="TextBox 57"/>
          <p:cNvSpPr txBox="1"/>
          <p:nvPr/>
        </p:nvSpPr>
        <p:spPr>
          <a:xfrm>
            <a:off x="2295144" y="4292723"/>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S</a:t>
            </a:r>
          </a:p>
        </p:txBody>
      </p:sp>
      <p:cxnSp>
        <p:nvCxnSpPr>
          <p:cNvPr id="59" name="Connector 58"/>
          <p:cNvCxnSpPr/>
          <p:nvPr/>
        </p:nvCxnSpPr>
        <p:spPr>
          <a:xfrm>
            <a:off x="2404872" y="4799556"/>
            <a:ext cx="329184" cy="54864"/>
          </a:xfrm>
          <a:prstGeom prst="line">
            <a:avLst/>
          </a:prstGeom>
          <a:ln w="19050">
            <a:solidFill>
              <a:srgbClr val="B7C0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063240" y="4799556"/>
            <a:ext cx="329184" cy="54864"/>
          </a:xfrm>
          <a:prstGeom prst="line">
            <a:avLst/>
          </a:prstGeom>
          <a:ln w="19050">
            <a:solidFill>
              <a:srgbClr val="B7C0C8"/>
            </a:solidFill>
            <a:prstDash val="dash"/>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2075688" y="4652412"/>
            <a:ext cx="329184" cy="294290"/>
          </a:xfrm>
          <a:prstGeom prst="ellipse">
            <a:avLst/>
          </a:prstGeom>
          <a:solidFill>
            <a:srgbClr val="C9D2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62" name="TextBox 61"/>
          <p:cNvSpPr txBox="1"/>
          <p:nvPr/>
        </p:nvSpPr>
        <p:spPr>
          <a:xfrm>
            <a:off x="2020824" y="4701459"/>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C</a:t>
            </a:r>
          </a:p>
        </p:txBody>
      </p:sp>
      <p:sp>
        <p:nvSpPr>
          <p:cNvPr id="63" name="Oval 62"/>
          <p:cNvSpPr/>
          <p:nvPr/>
        </p:nvSpPr>
        <p:spPr>
          <a:xfrm>
            <a:off x="2734056" y="4652412"/>
            <a:ext cx="329184" cy="294290"/>
          </a:xfrm>
          <a:prstGeom prst="ellipse">
            <a:avLst/>
          </a:prstGeom>
          <a:solidFill>
            <a:srgbClr val="C9D2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64" name="TextBox 63"/>
          <p:cNvSpPr txBox="1"/>
          <p:nvPr/>
        </p:nvSpPr>
        <p:spPr>
          <a:xfrm>
            <a:off x="2679192" y="4701459"/>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D</a:t>
            </a:r>
          </a:p>
        </p:txBody>
      </p:sp>
      <p:sp>
        <p:nvSpPr>
          <p:cNvPr id="65" name="Oval 64"/>
          <p:cNvSpPr/>
          <p:nvPr/>
        </p:nvSpPr>
        <p:spPr>
          <a:xfrm>
            <a:off x="3392424" y="4652412"/>
            <a:ext cx="329184" cy="294290"/>
          </a:xfrm>
          <a:prstGeom prst="ellipse">
            <a:avLst/>
          </a:prstGeom>
          <a:solidFill>
            <a:srgbClr val="C9D2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66" name="TextBox 65"/>
          <p:cNvSpPr txBox="1"/>
          <p:nvPr/>
        </p:nvSpPr>
        <p:spPr>
          <a:xfrm>
            <a:off x="3337560" y="4701459"/>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E</a:t>
            </a:r>
          </a:p>
        </p:txBody>
      </p:sp>
      <p:sp>
        <p:nvSpPr>
          <p:cNvPr id="67" name="TextBox 66"/>
          <p:cNvSpPr txBox="1"/>
          <p:nvPr/>
        </p:nvSpPr>
        <p:spPr>
          <a:xfrm>
            <a:off x="3767328" y="4668761"/>
            <a:ext cx="1188720" cy="245242"/>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5A6570"/>
                </a:solidFill>
                <a:latin typeface="Aptos"/>
              </a:rPr>
              <a:t>→ squashed</a:t>
            </a:r>
          </a:p>
        </p:txBody>
      </p:sp>
      <p:sp>
        <p:nvSpPr>
          <p:cNvPr id="68" name="TextBox 67"/>
          <p:cNvSpPr txBox="1"/>
          <p:nvPr/>
        </p:nvSpPr>
        <p:spPr>
          <a:xfrm>
            <a:off x="822959" y="5028450"/>
            <a:ext cx="5024628" cy="376037"/>
          </a:xfrm>
          <a:prstGeom prst="rect">
            <a:avLst/>
          </a:prstGeom>
          <a:noFill/>
        </p:spPr>
        <p:txBody>
          <a:bodyPr wrap="square" lIns="73152" rIns="73152" tIns="36576" bIns="36576" anchor="t">
            <a:spAutoFit/>
          </a:bodyPr>
          <a:lstStyle/>
          <a:p>
            <a:pPr algn="l">
              <a:lnSpc>
                <a:spcPct val="92000"/>
              </a:lnSpc>
              <a:spcAft>
                <a:spcPts val="200"/>
              </a:spcAft>
            </a:pPr>
            <a:r>
              <a:rPr sz="1050" b="0" i="0">
                <a:solidFill>
                  <a:srgbClr val="123A5F"/>
                </a:solidFill>
                <a:latin typeface="Aptos"/>
              </a:rPr>
              <a:t>Your commits C, D and E become ONE commit S on main. A tidy history. Then delete the branch.</a:t>
            </a:r>
          </a:p>
        </p:txBody>
      </p:sp>
      <p:sp>
        <p:nvSpPr>
          <p:cNvPr id="69" name="TextBox 68"/>
          <p:cNvSpPr txBox="1"/>
          <p:nvPr/>
        </p:nvSpPr>
        <p:spPr>
          <a:xfrm>
            <a:off x="822959" y="5437186"/>
            <a:ext cx="5024628" cy="228892"/>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3E7D32"/>
                </a:solidFill>
                <a:latin typeface="Aptos"/>
              </a:rPr>
              <a:t>USE FOR:  pull requests — what this course uses</a:t>
            </a:r>
          </a:p>
        </p:txBody>
      </p:sp>
      <p:sp>
        <p:nvSpPr>
          <p:cNvPr id="70" name="Rectangle 69"/>
          <p:cNvSpPr/>
          <p:nvPr/>
        </p:nvSpPr>
        <p:spPr>
          <a:xfrm>
            <a:off x="6231636" y="3867636"/>
            <a:ext cx="5298948" cy="1863838"/>
          </a:xfrm>
          <a:prstGeom prst="rect">
            <a:avLst/>
          </a:prstGeom>
          <a:solidFill>
            <a:srgbClr val="F3F6F8"/>
          </a:solidFill>
          <a:ln w="1270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71" name="TextBox 70"/>
          <p:cNvSpPr txBox="1"/>
          <p:nvPr/>
        </p:nvSpPr>
        <p:spPr>
          <a:xfrm>
            <a:off x="6396227" y="3933034"/>
            <a:ext cx="3291840" cy="245242"/>
          </a:xfrm>
          <a:prstGeom prst="rect">
            <a:avLst/>
          </a:prstGeom>
          <a:noFill/>
        </p:spPr>
        <p:txBody>
          <a:bodyPr wrap="square" lIns="73152" rIns="73152" tIns="36576" bIns="36576" anchor="t">
            <a:spAutoFit/>
          </a:bodyPr>
          <a:lstStyle/>
          <a:p>
            <a:pPr algn="l">
              <a:lnSpc>
                <a:spcPct val="92000"/>
              </a:lnSpc>
              <a:spcAft>
                <a:spcPts val="200"/>
              </a:spcAft>
            </a:pPr>
            <a:r>
              <a:rPr sz="1200" b="1" i="0">
                <a:solidFill>
                  <a:srgbClr val="A0275C"/>
                </a:solidFill>
                <a:latin typeface="Aptos"/>
              </a:rPr>
              <a:t>REBASE</a:t>
            </a:r>
          </a:p>
        </p:txBody>
      </p:sp>
      <p:cxnSp>
        <p:nvCxnSpPr>
          <p:cNvPr id="72" name="Connector 71"/>
          <p:cNvCxnSpPr/>
          <p:nvPr/>
        </p:nvCxnSpPr>
        <p:spPr>
          <a:xfrm>
            <a:off x="6835140" y="4390819"/>
            <a:ext cx="256031"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420355" y="4390819"/>
            <a:ext cx="256033"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005571" y="4390819"/>
            <a:ext cx="256033"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590788" y="4390819"/>
            <a:ext cx="256031"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176003" y="4390819"/>
            <a:ext cx="256033" cy="54864"/>
          </a:xfrm>
          <a:prstGeom prst="line">
            <a:avLst/>
          </a:prstGeom>
          <a:ln w="19050">
            <a:solidFill>
              <a:srgbClr val="B7C0C8"/>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6505955" y="4243675"/>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78" name="TextBox 77"/>
          <p:cNvSpPr txBox="1"/>
          <p:nvPr/>
        </p:nvSpPr>
        <p:spPr>
          <a:xfrm>
            <a:off x="6451092" y="4292723"/>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A</a:t>
            </a:r>
          </a:p>
        </p:txBody>
      </p:sp>
      <p:sp>
        <p:nvSpPr>
          <p:cNvPr id="79" name="Oval 78"/>
          <p:cNvSpPr/>
          <p:nvPr/>
        </p:nvSpPr>
        <p:spPr>
          <a:xfrm>
            <a:off x="7091171" y="4243675"/>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80" name="TextBox 79"/>
          <p:cNvSpPr txBox="1"/>
          <p:nvPr/>
        </p:nvSpPr>
        <p:spPr>
          <a:xfrm>
            <a:off x="7036307" y="4292723"/>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B</a:t>
            </a:r>
          </a:p>
        </p:txBody>
      </p:sp>
      <p:sp>
        <p:nvSpPr>
          <p:cNvPr id="81" name="Oval 80"/>
          <p:cNvSpPr/>
          <p:nvPr/>
        </p:nvSpPr>
        <p:spPr>
          <a:xfrm>
            <a:off x="7676388" y="4243675"/>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82" name="TextBox 81"/>
          <p:cNvSpPr txBox="1"/>
          <p:nvPr/>
        </p:nvSpPr>
        <p:spPr>
          <a:xfrm>
            <a:off x="7621523" y="4292723"/>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E</a:t>
            </a:r>
          </a:p>
        </p:txBody>
      </p:sp>
      <p:sp>
        <p:nvSpPr>
          <p:cNvPr id="83" name="Oval 82"/>
          <p:cNvSpPr/>
          <p:nvPr/>
        </p:nvSpPr>
        <p:spPr>
          <a:xfrm>
            <a:off x="8261604" y="4243675"/>
            <a:ext cx="329184" cy="294290"/>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84" name="TextBox 83"/>
          <p:cNvSpPr txBox="1"/>
          <p:nvPr/>
        </p:nvSpPr>
        <p:spPr>
          <a:xfrm>
            <a:off x="8206740" y="4292723"/>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F</a:t>
            </a:r>
          </a:p>
        </p:txBody>
      </p:sp>
      <p:sp>
        <p:nvSpPr>
          <p:cNvPr id="85" name="Oval 84"/>
          <p:cNvSpPr/>
          <p:nvPr/>
        </p:nvSpPr>
        <p:spPr>
          <a:xfrm>
            <a:off x="8846819" y="4243675"/>
            <a:ext cx="329184" cy="294290"/>
          </a:xfrm>
          <a:prstGeom prst="ellipse">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86" name="TextBox 85"/>
          <p:cNvSpPr txBox="1"/>
          <p:nvPr/>
        </p:nvSpPr>
        <p:spPr>
          <a:xfrm>
            <a:off x="8791955" y="4292723"/>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C′</a:t>
            </a:r>
          </a:p>
        </p:txBody>
      </p:sp>
      <p:sp>
        <p:nvSpPr>
          <p:cNvPr id="87" name="Oval 86"/>
          <p:cNvSpPr/>
          <p:nvPr/>
        </p:nvSpPr>
        <p:spPr>
          <a:xfrm>
            <a:off x="9432036" y="4243675"/>
            <a:ext cx="329184" cy="294290"/>
          </a:xfrm>
          <a:prstGeom prst="ellipse">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88" name="TextBox 87"/>
          <p:cNvSpPr txBox="1"/>
          <p:nvPr/>
        </p:nvSpPr>
        <p:spPr>
          <a:xfrm>
            <a:off x="9377172" y="4292723"/>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D′</a:t>
            </a:r>
          </a:p>
        </p:txBody>
      </p:sp>
      <p:cxnSp>
        <p:nvCxnSpPr>
          <p:cNvPr id="89" name="Connector 88"/>
          <p:cNvCxnSpPr/>
          <p:nvPr/>
        </p:nvCxnSpPr>
        <p:spPr>
          <a:xfrm>
            <a:off x="7978139" y="4799556"/>
            <a:ext cx="256032" cy="54864"/>
          </a:xfrm>
          <a:prstGeom prst="line">
            <a:avLst/>
          </a:prstGeom>
          <a:ln w="19050">
            <a:solidFill>
              <a:srgbClr val="B7C0C8"/>
            </a:solidFill>
            <a:prstDash val="dash"/>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7648955" y="4652412"/>
            <a:ext cx="329184" cy="294290"/>
          </a:xfrm>
          <a:prstGeom prst="ellipse">
            <a:avLst/>
          </a:prstGeom>
          <a:solidFill>
            <a:srgbClr val="C9D2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1" name="TextBox 90"/>
          <p:cNvSpPr txBox="1"/>
          <p:nvPr/>
        </p:nvSpPr>
        <p:spPr>
          <a:xfrm>
            <a:off x="7594091" y="4701459"/>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C</a:t>
            </a:r>
          </a:p>
        </p:txBody>
      </p:sp>
      <p:sp>
        <p:nvSpPr>
          <p:cNvPr id="92" name="Oval 91"/>
          <p:cNvSpPr/>
          <p:nvPr/>
        </p:nvSpPr>
        <p:spPr>
          <a:xfrm>
            <a:off x="8234171" y="4652412"/>
            <a:ext cx="329184" cy="294290"/>
          </a:xfrm>
          <a:prstGeom prst="ellipse">
            <a:avLst/>
          </a:prstGeom>
          <a:solidFill>
            <a:srgbClr val="C9D2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3" name="TextBox 92"/>
          <p:cNvSpPr txBox="1"/>
          <p:nvPr/>
        </p:nvSpPr>
        <p:spPr>
          <a:xfrm>
            <a:off x="8179307" y="4701459"/>
            <a:ext cx="438912"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D</a:t>
            </a:r>
          </a:p>
        </p:txBody>
      </p:sp>
      <p:sp>
        <p:nvSpPr>
          <p:cNvPr id="94" name="TextBox 93"/>
          <p:cNvSpPr txBox="1"/>
          <p:nvPr/>
        </p:nvSpPr>
        <p:spPr>
          <a:xfrm>
            <a:off x="8654796" y="4668761"/>
            <a:ext cx="1737360" cy="245242"/>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B3261E"/>
                </a:solidFill>
                <a:latin typeface="Aptos"/>
              </a:rPr>
              <a:t>✗ old copies, left behind</a:t>
            </a:r>
          </a:p>
        </p:txBody>
      </p:sp>
      <p:sp>
        <p:nvSpPr>
          <p:cNvPr id="95" name="TextBox 94"/>
          <p:cNvSpPr txBox="1"/>
          <p:nvPr/>
        </p:nvSpPr>
        <p:spPr>
          <a:xfrm>
            <a:off x="6396227" y="5028450"/>
            <a:ext cx="5024628" cy="376037"/>
          </a:xfrm>
          <a:prstGeom prst="rect">
            <a:avLst/>
          </a:prstGeom>
          <a:noFill/>
        </p:spPr>
        <p:txBody>
          <a:bodyPr wrap="square" lIns="73152" rIns="73152" tIns="36576" bIns="36576" anchor="t">
            <a:spAutoFit/>
          </a:bodyPr>
          <a:lstStyle/>
          <a:p>
            <a:pPr algn="l">
              <a:lnSpc>
                <a:spcPct val="92000"/>
              </a:lnSpc>
              <a:spcAft>
                <a:spcPts val="200"/>
              </a:spcAft>
            </a:pPr>
            <a:r>
              <a:rPr sz="1050" b="0" i="0">
                <a:solidFill>
                  <a:srgbClr val="123A5F"/>
                </a:solidFill>
                <a:latin typeface="Aptos"/>
              </a:rPr>
              <a:t>Your commits are copied on top of the latest main as C′ and D′, with new IDs. Only for work nobody else has.</a:t>
            </a:r>
          </a:p>
        </p:txBody>
      </p:sp>
      <p:sp>
        <p:nvSpPr>
          <p:cNvPr id="96" name="TextBox 95"/>
          <p:cNvSpPr txBox="1"/>
          <p:nvPr/>
        </p:nvSpPr>
        <p:spPr>
          <a:xfrm>
            <a:off x="6396227" y="5437186"/>
            <a:ext cx="5024628" cy="228892"/>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A0275C"/>
                </a:solidFill>
                <a:latin typeface="Aptos"/>
              </a:rPr>
              <a:t>USE FOR:  updating your OWN branch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20</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§2.5</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Rebase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786384"/>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7863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640080"/>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Moving your branch so it starts from the latest version of main — as if you had begun your work today. Git replays your saves, one by one, on top of the new main.</a:t>
            </a:r>
          </a:p>
        </p:txBody>
      </p:sp>
      <p:sp>
        <p:nvSpPr>
          <p:cNvPr id="11" name="Rectangle 10"/>
          <p:cNvSpPr/>
          <p:nvPr/>
        </p:nvSpPr>
        <p:spPr>
          <a:xfrm>
            <a:off x="676656" y="2880360"/>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770632"/>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Why — main moved on while you were working</a:t>
            </a:r>
          </a:p>
        </p:txBody>
      </p:sp>
      <p:sp>
        <p:nvSpPr>
          <p:cNvPr id="13" name="TextBox 12"/>
          <p:cNvSpPr txBox="1"/>
          <p:nvPr/>
        </p:nvSpPr>
        <p:spPr>
          <a:xfrm>
            <a:off x="950976" y="3090672"/>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Rebase brings your branch up to date without an extra "merge" commit</a:t>
            </a:r>
          </a:p>
        </p:txBody>
      </p:sp>
      <p:sp>
        <p:nvSpPr>
          <p:cNvPr id="14" name="Rectangle 13"/>
          <p:cNvSpPr/>
          <p:nvPr/>
        </p:nvSpPr>
        <p:spPr>
          <a:xfrm>
            <a:off x="676656" y="3678936"/>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569208"/>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The result — a neat, straight-line history</a:t>
            </a:r>
          </a:p>
        </p:txBody>
      </p:sp>
      <p:sp>
        <p:nvSpPr>
          <p:cNvPr id="16" name="TextBox 15"/>
          <p:cNvSpPr txBox="1"/>
          <p:nvPr/>
        </p:nvSpPr>
        <p:spPr>
          <a:xfrm>
            <a:off x="950976" y="3889248"/>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Your saves sit on top of everyone else's</a:t>
            </a:r>
          </a:p>
        </p:txBody>
      </p:sp>
      <p:sp>
        <p:nvSpPr>
          <p:cNvPr id="17" name="Rectangle 16"/>
          <p:cNvSpPr/>
          <p:nvPr/>
        </p:nvSpPr>
        <p:spPr>
          <a:xfrm>
            <a:off x="676656" y="4477512"/>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4367784"/>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The catch — your saves get NEW IDs</a:t>
            </a:r>
          </a:p>
        </p:txBody>
      </p:sp>
      <p:sp>
        <p:nvSpPr>
          <p:cNvPr id="19" name="TextBox 18"/>
          <p:cNvSpPr txBox="1"/>
          <p:nvPr/>
        </p:nvSpPr>
        <p:spPr>
          <a:xfrm>
            <a:off x="950976" y="4687824"/>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They are copies, so anyone who already has the old ones gets confused</a:t>
            </a:r>
          </a:p>
        </p:txBody>
      </p:sp>
      <p:sp>
        <p:nvSpPr>
          <p:cNvPr id="20" name="Rectangle 19"/>
          <p:cNvSpPr/>
          <p:nvPr/>
        </p:nvSpPr>
        <p:spPr>
          <a:xfrm>
            <a:off x="676656" y="5276088"/>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50976" y="5166359"/>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The rule — only rebase work nobody else is using</a:t>
            </a:r>
          </a:p>
        </p:txBody>
      </p:sp>
      <p:sp>
        <p:nvSpPr>
          <p:cNvPr id="22" name="TextBox 21"/>
          <p:cNvSpPr txBox="1"/>
          <p:nvPr/>
        </p:nvSpPr>
        <p:spPr>
          <a:xfrm>
            <a:off x="950976" y="5486400"/>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Your own branch: fine. main or a shared branch: never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21</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§2.5</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How to rebase your branch</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305885" cy="251002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305885"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391485"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BASH  ·  REAL OUTPUT</a:t>
            </a:r>
          </a:p>
        </p:txBody>
      </p:sp>
      <p:sp>
        <p:nvSpPr>
          <p:cNvPr id="14" name="TextBox 13"/>
          <p:cNvSpPr txBox="1"/>
          <p:nvPr/>
        </p:nvSpPr>
        <p:spPr>
          <a:xfrm>
            <a:off x="768096" y="2185416"/>
            <a:ext cx="6104717" cy="1869948"/>
          </a:xfrm>
          <a:prstGeom prst="rect">
            <a:avLst/>
          </a:prstGeom>
          <a:noFill/>
        </p:spPr>
        <p:txBody>
          <a:bodyPr wrap="square" lIns="73152" rIns="73152" tIns="18288" bIns="18288">
            <a:spAutoFit/>
          </a:bodyPr>
          <a:lstStyle/>
          <a:p>
            <a:pPr>
              <a:lnSpc>
                <a:spcPct val="100000"/>
              </a:lnSpc>
              <a:spcAft>
                <a:spcPts val="0"/>
              </a:spcAft>
            </a:pPr>
            <a:r>
              <a:rPr sz="1050" b="1">
                <a:solidFill>
                  <a:srgbClr val="7CC8EE"/>
                </a:solidFill>
                <a:latin typeface="Consolas"/>
              </a:rPr>
              <a:t>$ </a:t>
            </a:r>
            <a:r>
              <a:rPr sz="1050" b="0">
                <a:solidFill>
                  <a:srgbClr val="E8EEF4"/>
                </a:solidFill>
                <a:latin typeface="Consolas"/>
              </a:rPr>
              <a:t>git switch feature/PAY-142</a:t>
            </a:r>
          </a:p>
          <a:p>
            <a:pPr>
              <a:lnSpc>
                <a:spcPct val="100000"/>
              </a:lnSpc>
              <a:spcAft>
                <a:spcPts val="0"/>
              </a:spcAft>
            </a:pPr>
            <a:r>
              <a:rPr sz="1050" b="1">
                <a:solidFill>
                  <a:srgbClr val="7CC8EE"/>
                </a:solidFill>
                <a:latin typeface="Consolas"/>
              </a:rPr>
              <a:t>$ </a:t>
            </a:r>
            <a:r>
              <a:rPr sz="1050" b="0">
                <a:solidFill>
                  <a:srgbClr val="E8EEF4"/>
                </a:solidFill>
                <a:latin typeface="Consolas"/>
              </a:rPr>
              <a:t>git fetch origin</a:t>
            </a:r>
          </a:p>
          <a:p>
            <a:pPr>
              <a:lnSpc>
                <a:spcPct val="100000"/>
              </a:lnSpc>
              <a:spcAft>
                <a:spcPts val="0"/>
              </a:spcAft>
            </a:pPr>
            <a:r>
              <a:rPr sz="1050" b="0">
                <a:solidFill>
                  <a:srgbClr val="E8EEF4"/>
                </a:solidFill>
                <a:latin typeface="Consolas"/>
              </a:rPr>
              <a:t>   039ad72..6fcdcba  main       -&gt; origin/main</a:t>
            </a:r>
          </a:p>
          <a:p>
            <a:pPr>
              <a:lnSpc>
                <a:spcPct val="100000"/>
              </a:lnSpc>
              <a:spcAft>
                <a:spcPts val="0"/>
              </a:spcAft>
            </a:pPr>
            <a:r>
              <a:rPr sz="1050" b="1">
                <a:solidFill>
                  <a:srgbClr val="7CC8EE"/>
                </a:solidFill>
                <a:latin typeface="Consolas"/>
              </a:rPr>
              <a:t>$ </a:t>
            </a:r>
            <a:r>
              <a:rPr sz="1050" b="0">
                <a:solidFill>
                  <a:srgbClr val="E8EEF4"/>
                </a:solidFill>
                <a:latin typeface="Consolas"/>
              </a:rPr>
              <a:t>git rebase origin/main</a:t>
            </a:r>
          </a:p>
          <a:p>
            <a:pPr>
              <a:lnSpc>
                <a:spcPct val="100000"/>
              </a:lnSpc>
              <a:spcAft>
                <a:spcPts val="0"/>
              </a:spcAft>
            </a:pPr>
            <a:r>
              <a:rPr sz="1050" b="0">
                <a:solidFill>
                  <a:srgbClr val="E8EEF4"/>
                </a:solidFill>
                <a:latin typeface="Consolas"/>
              </a:rPr>
              <a:t>Successfully rebased and updated refs/heads/feature/PAY-142.</a:t>
            </a:r>
          </a:p>
          <a:p>
            <a:pPr>
              <a:lnSpc>
                <a:spcPct val="100000"/>
              </a:lnSpc>
              <a:spcAft>
                <a:spcPts val="0"/>
              </a:spcAft>
            </a:pPr>
            <a:r>
              <a:rPr sz="1050" b="1">
                <a:solidFill>
                  <a:srgbClr val="7CC8EE"/>
                </a:solidFill>
                <a:latin typeface="Consolas"/>
              </a:rPr>
              <a:t>$ </a:t>
            </a:r>
            <a:r>
              <a:rPr sz="1050" b="0">
                <a:solidFill>
                  <a:srgbClr val="E8EEF4"/>
                </a:solidFill>
                <a:latin typeface="Consolas"/>
              </a:rPr>
              <a:t>python -m pytest -q                </a:t>
            </a:r>
            <a:r>
              <a:rPr sz="1050" b="0">
                <a:solidFill>
                  <a:srgbClr val="8FBFA8"/>
                </a:solidFill>
                <a:latin typeface="Consolas"/>
              </a:rPr>
              <a:t>  # test the REBASED code</a:t>
            </a:r>
          </a:p>
          <a:p>
            <a:pPr>
              <a:lnSpc>
                <a:spcPct val="100000"/>
              </a:lnSpc>
              <a:spcAft>
                <a:spcPts val="0"/>
              </a:spcAft>
            </a:pPr>
            <a:r>
              <a:rPr sz="1050" b="1">
                <a:solidFill>
                  <a:srgbClr val="7CC8EE"/>
                </a:solidFill>
                <a:latin typeface="Consolas"/>
              </a:rPr>
              <a:t>$ </a:t>
            </a:r>
            <a:r>
              <a:rPr sz="1050" b="0">
                <a:solidFill>
                  <a:srgbClr val="E8EEF4"/>
                </a:solidFill>
                <a:latin typeface="Consolas"/>
              </a:rPr>
              <a:t>git push</a:t>
            </a:r>
          </a:p>
          <a:p>
            <a:pPr>
              <a:lnSpc>
                <a:spcPct val="100000"/>
              </a:lnSpc>
              <a:spcAft>
                <a:spcPts val="0"/>
              </a:spcAft>
            </a:pPr>
            <a:r>
              <a:rPr sz="1050" b="0">
                <a:solidFill>
                  <a:srgbClr val="E8EEF4"/>
                </a:solidFill>
                <a:latin typeface="Consolas"/>
              </a:rPr>
              <a:t> ! [rejected]        feature/PAY-142 -&gt; feature/PAY-142 (non-fast-forward)</a:t>
            </a:r>
          </a:p>
          <a:p>
            <a:pPr>
              <a:lnSpc>
                <a:spcPct val="100000"/>
              </a:lnSpc>
              <a:spcAft>
                <a:spcPts val="0"/>
              </a:spcAft>
            </a:pPr>
            <a:r>
              <a:rPr sz="1050" b="0">
                <a:solidFill>
                  <a:srgbClr val="E8EEF4"/>
                </a:solidFill>
                <a:latin typeface="Consolas"/>
              </a:rPr>
              <a:t>hint: use 'git pull' before pushing again. </a:t>
            </a:r>
            <a:r>
              <a:rPr sz="1050" b="0">
                <a:solidFill>
                  <a:srgbClr val="8FBFA8"/>
                </a:solidFill>
                <a:latin typeface="Consolas"/>
              </a:rPr>
              <a:t>  # do NOT follow this hint</a:t>
            </a:r>
          </a:p>
          <a:p>
            <a:pPr>
              <a:lnSpc>
                <a:spcPct val="100000"/>
              </a:lnSpc>
              <a:spcAft>
                <a:spcPts val="0"/>
              </a:spcAft>
            </a:pPr>
            <a:r>
              <a:rPr sz="1050" b="1">
                <a:solidFill>
                  <a:srgbClr val="7CC8EE"/>
                </a:solidFill>
                <a:latin typeface="Consolas"/>
              </a:rPr>
              <a:t>$ </a:t>
            </a:r>
            <a:r>
              <a:rPr sz="1050" b="0">
                <a:solidFill>
                  <a:srgbClr val="E8EEF4"/>
                </a:solidFill>
                <a:latin typeface="Consolas"/>
              </a:rPr>
              <a:t>git push --force-with-lease</a:t>
            </a:r>
          </a:p>
          <a:p>
            <a:pPr>
              <a:lnSpc>
                <a:spcPct val="100000"/>
              </a:lnSpc>
              <a:spcAft>
                <a:spcPts val="0"/>
              </a:spcAft>
            </a:pPr>
            <a:r>
              <a:rPr sz="1050" b="0">
                <a:solidFill>
                  <a:srgbClr val="E8EEF4"/>
                </a:solidFill>
                <a:latin typeface="Consolas"/>
              </a:rPr>
              <a:t> + f1c7cab...a39d691 feature/PAY-142 -&gt; feature/PAY-142 (forced update)</a:t>
            </a:r>
          </a:p>
        </p:txBody>
      </p:sp>
      <p:sp>
        <p:nvSpPr>
          <p:cNvPr id="15" name="TextBox 14"/>
          <p:cNvSpPr txBox="1"/>
          <p:nvPr/>
        </p:nvSpPr>
        <p:spPr>
          <a:xfrm>
            <a:off x="7238573" y="1764792"/>
            <a:ext cx="4292010"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7238573"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238573"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567757" y="2075688"/>
            <a:ext cx="3944538" cy="475561"/>
          </a:xfrm>
          <a:prstGeom prst="rect">
            <a:avLst/>
          </a:prstGeom>
          <a:noFill/>
        </p:spPr>
        <p:txBody>
          <a:bodyPr wrap="square" lIns="73152" rIns="73152" tIns="36576" bIns="36576">
            <a:spAutoFit/>
          </a:bodyPr>
          <a:lstStyle/>
          <a:p>
            <a:pPr>
              <a:lnSpc>
                <a:spcPct val="95000"/>
              </a:lnSpc>
              <a:spcAft>
                <a:spcPts val="100"/>
              </a:spcAft>
            </a:pPr>
            <a:r>
              <a:rPr sz="1130" b="1">
                <a:solidFill>
                  <a:srgbClr val="123A5F"/>
                </a:solidFill>
                <a:latin typeface="Aptos"/>
              </a:rPr>
              <a:t>1 · git fetch origin — download the latest main</a:t>
            </a:r>
          </a:p>
          <a:p>
            <a:pPr>
              <a:lnSpc>
                <a:spcPct val="95000"/>
              </a:lnSpc>
              <a:spcBef>
                <a:spcPts val="200"/>
              </a:spcBef>
              <a:spcAft>
                <a:spcPts val="100"/>
              </a:spcAft>
            </a:pPr>
            <a:r>
              <a:rPr sz="970" b="0">
                <a:solidFill>
                  <a:srgbClr val="5A6570"/>
                </a:solidFill>
                <a:latin typeface="Aptos"/>
              </a:rPr>
              <a:t>You can only move on top of what you have downloaded</a:t>
            </a:r>
          </a:p>
        </p:txBody>
      </p:sp>
      <p:sp>
        <p:nvSpPr>
          <p:cNvPr id="19" name="Oval 18"/>
          <p:cNvSpPr/>
          <p:nvPr/>
        </p:nvSpPr>
        <p:spPr>
          <a:xfrm>
            <a:off x="7238573" y="2747369"/>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238573" y="2765657"/>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567757" y="2701649"/>
            <a:ext cx="3944538" cy="640884"/>
          </a:xfrm>
          <a:prstGeom prst="rect">
            <a:avLst/>
          </a:prstGeom>
          <a:noFill/>
        </p:spPr>
        <p:txBody>
          <a:bodyPr wrap="square" lIns="73152" rIns="73152" tIns="36576" bIns="36576">
            <a:spAutoFit/>
          </a:bodyPr>
          <a:lstStyle/>
          <a:p>
            <a:pPr>
              <a:lnSpc>
                <a:spcPct val="95000"/>
              </a:lnSpc>
              <a:spcAft>
                <a:spcPts val="100"/>
              </a:spcAft>
            </a:pPr>
            <a:r>
              <a:rPr sz="1130" b="1">
                <a:solidFill>
                  <a:srgbClr val="123A5F"/>
                </a:solidFill>
                <a:latin typeface="Aptos"/>
              </a:rPr>
              <a:t>2 · git rebase origin/main — move your branch on top</a:t>
            </a:r>
          </a:p>
          <a:p>
            <a:pPr>
              <a:lnSpc>
                <a:spcPct val="95000"/>
              </a:lnSpc>
              <a:spcBef>
                <a:spcPts val="200"/>
              </a:spcBef>
              <a:spcAft>
                <a:spcPts val="100"/>
              </a:spcAft>
            </a:pPr>
            <a:r>
              <a:rPr sz="970" b="0">
                <a:solidFill>
                  <a:srgbClr val="5A6570"/>
                </a:solidFill>
                <a:latin typeface="Aptos"/>
              </a:rPr>
              <a:t>Git replays your saves one at a time</a:t>
            </a:r>
          </a:p>
        </p:txBody>
      </p:sp>
      <p:sp>
        <p:nvSpPr>
          <p:cNvPr id="22" name="Oval 21"/>
          <p:cNvSpPr/>
          <p:nvPr/>
        </p:nvSpPr>
        <p:spPr>
          <a:xfrm>
            <a:off x="7238573" y="3538654"/>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238573" y="355694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567757" y="3492934"/>
            <a:ext cx="3944538" cy="624352"/>
          </a:xfrm>
          <a:prstGeom prst="rect">
            <a:avLst/>
          </a:prstGeom>
          <a:noFill/>
        </p:spPr>
        <p:txBody>
          <a:bodyPr wrap="square" lIns="73152" rIns="73152" tIns="36576" bIns="36576">
            <a:spAutoFit/>
          </a:bodyPr>
          <a:lstStyle/>
          <a:p>
            <a:pPr>
              <a:lnSpc>
                <a:spcPct val="95000"/>
              </a:lnSpc>
              <a:spcAft>
                <a:spcPts val="100"/>
              </a:spcAft>
            </a:pPr>
            <a:r>
              <a:rPr sz="1130" b="1">
                <a:solidFill>
                  <a:srgbClr val="123A5F"/>
                </a:solidFill>
                <a:latin typeface="Aptos"/>
              </a:rPr>
              <a:t>3 · run the tests</a:t>
            </a:r>
          </a:p>
          <a:p>
            <a:pPr>
              <a:lnSpc>
                <a:spcPct val="95000"/>
              </a:lnSpc>
              <a:spcBef>
                <a:spcPts val="200"/>
              </a:spcBef>
              <a:spcAft>
                <a:spcPts val="100"/>
              </a:spcAft>
            </a:pPr>
            <a:r>
              <a:rPr sz="970" b="0">
                <a:solidFill>
                  <a:srgbClr val="5A6570"/>
                </a:solidFill>
                <a:latin typeface="Aptos"/>
              </a:rPr>
              <a:t>Your work now sits on new code — check it still works</a:t>
            </a:r>
          </a:p>
        </p:txBody>
      </p:sp>
      <p:sp>
        <p:nvSpPr>
          <p:cNvPr id="25" name="Oval 24"/>
          <p:cNvSpPr/>
          <p:nvPr/>
        </p:nvSpPr>
        <p:spPr>
          <a:xfrm>
            <a:off x="7238573" y="4313407"/>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238573" y="4331695"/>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567757" y="4267687"/>
            <a:ext cx="3944538" cy="773143"/>
          </a:xfrm>
          <a:prstGeom prst="rect">
            <a:avLst/>
          </a:prstGeom>
          <a:noFill/>
        </p:spPr>
        <p:txBody>
          <a:bodyPr wrap="square" lIns="73152" rIns="73152" tIns="36576" bIns="36576">
            <a:spAutoFit/>
          </a:bodyPr>
          <a:lstStyle/>
          <a:p>
            <a:pPr>
              <a:lnSpc>
                <a:spcPct val="95000"/>
              </a:lnSpc>
              <a:spcAft>
                <a:spcPts val="100"/>
              </a:spcAft>
            </a:pPr>
            <a:r>
              <a:rPr sz="1130" b="1">
                <a:solidFill>
                  <a:srgbClr val="123A5F"/>
                </a:solidFill>
                <a:latin typeface="Aptos"/>
              </a:rPr>
              <a:t>4 · git push --force-with-lease</a:t>
            </a:r>
          </a:p>
          <a:p>
            <a:pPr>
              <a:lnSpc>
                <a:spcPct val="95000"/>
              </a:lnSpc>
              <a:spcBef>
                <a:spcPts val="200"/>
              </a:spcBef>
              <a:spcAft>
                <a:spcPts val="100"/>
              </a:spcAft>
            </a:pPr>
            <a:r>
              <a:rPr sz="970" b="0">
                <a:solidFill>
                  <a:srgbClr val="5A6570"/>
                </a:solidFill>
                <a:latin typeface="Aptos"/>
              </a:rPr>
              <a:t>A plain push is refused because the IDs changed. This replaces YOUR branch only, and stops if anyone else pushed to it</a:t>
            </a:r>
          </a:p>
        </p:txBody>
      </p:sp>
      <p:sp>
        <p:nvSpPr>
          <p:cNvPr id="28" name="Oval 27"/>
          <p:cNvSpPr/>
          <p:nvPr/>
        </p:nvSpPr>
        <p:spPr>
          <a:xfrm>
            <a:off x="7238573" y="5236951"/>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238573" y="5255239"/>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30" name="TextBox 29"/>
          <p:cNvSpPr txBox="1"/>
          <p:nvPr/>
        </p:nvSpPr>
        <p:spPr>
          <a:xfrm>
            <a:off x="7567757" y="5191231"/>
            <a:ext cx="3944538" cy="624352"/>
          </a:xfrm>
          <a:prstGeom prst="rect">
            <a:avLst/>
          </a:prstGeom>
          <a:noFill/>
        </p:spPr>
        <p:txBody>
          <a:bodyPr wrap="square" lIns="73152" rIns="73152" tIns="36576" bIns="36576">
            <a:spAutoFit/>
          </a:bodyPr>
          <a:lstStyle/>
          <a:p>
            <a:pPr>
              <a:lnSpc>
                <a:spcPct val="95000"/>
              </a:lnSpc>
              <a:spcAft>
                <a:spcPts val="100"/>
              </a:spcAft>
            </a:pPr>
            <a:r>
              <a:rPr sz="1130" b="1">
                <a:solidFill>
                  <a:srgbClr val="123A5F"/>
                </a:solidFill>
                <a:latin typeface="Aptos"/>
              </a:rPr>
              <a:t>Ignore Git's hint to run git pull here</a:t>
            </a:r>
          </a:p>
          <a:p>
            <a:pPr>
              <a:lnSpc>
                <a:spcPct val="95000"/>
              </a:lnSpc>
              <a:spcBef>
                <a:spcPts val="200"/>
              </a:spcBef>
              <a:spcAft>
                <a:spcPts val="100"/>
              </a:spcAft>
            </a:pPr>
            <a:r>
              <a:rPr sz="970" b="0">
                <a:solidFill>
                  <a:srgbClr val="5A6570"/>
                </a:solidFill>
                <a:latin typeface="Aptos"/>
              </a:rPr>
              <a:t>It would bring the old copies back in and double everything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22</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§2.5</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Merge or rebase?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3770114"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Situation</a:t>
            </a:r>
          </a:p>
        </p:txBody>
      </p:sp>
      <p:sp>
        <p:nvSpPr>
          <p:cNvPr id="10" name="TextBox 9"/>
          <p:cNvSpPr txBox="1"/>
          <p:nvPr/>
        </p:nvSpPr>
        <p:spPr>
          <a:xfrm>
            <a:off x="4684514" y="1828800"/>
            <a:ext cx="2527575"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Use</a:t>
            </a:r>
          </a:p>
        </p:txBody>
      </p:sp>
      <p:sp>
        <p:nvSpPr>
          <p:cNvPr id="11" name="TextBox 10"/>
          <p:cNvSpPr txBox="1"/>
          <p:nvPr/>
        </p:nvSpPr>
        <p:spPr>
          <a:xfrm>
            <a:off x="7376682" y="1828800"/>
            <a:ext cx="4080749"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Why</a:t>
            </a:r>
          </a:p>
        </p:txBody>
      </p:sp>
      <p:sp>
        <p:nvSpPr>
          <p:cNvPr id="12" name="Rectangle 11"/>
          <p:cNvSpPr/>
          <p:nvPr/>
        </p:nvSpPr>
        <p:spPr>
          <a:xfrm>
            <a:off x="658368" y="2167128"/>
            <a:ext cx="10872216" cy="643280"/>
          </a:xfrm>
          <a:prstGeom prst="rect">
            <a:avLst/>
          </a:prstGeom>
          <a:solidFill>
            <a:srgbClr val="FDF1E2"/>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3770114" cy="60670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Your own branch, and main has moved on</a:t>
            </a:r>
          </a:p>
        </p:txBody>
      </p:sp>
      <p:sp>
        <p:nvSpPr>
          <p:cNvPr id="14" name="TextBox 13"/>
          <p:cNvSpPr txBox="1"/>
          <p:nvPr/>
        </p:nvSpPr>
        <p:spPr>
          <a:xfrm>
            <a:off x="4684514" y="2185416"/>
            <a:ext cx="2527575" cy="60670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Rebase</a:t>
            </a:r>
          </a:p>
        </p:txBody>
      </p:sp>
      <p:sp>
        <p:nvSpPr>
          <p:cNvPr id="15" name="TextBox 14"/>
          <p:cNvSpPr txBox="1"/>
          <p:nvPr/>
        </p:nvSpPr>
        <p:spPr>
          <a:xfrm>
            <a:off x="7376682" y="2185416"/>
            <a:ext cx="4080749" cy="60670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Only you have these commits — safe to move them</a:t>
            </a:r>
          </a:p>
        </p:txBody>
      </p:sp>
      <p:sp>
        <p:nvSpPr>
          <p:cNvPr id="16" name="Rectangle 15"/>
          <p:cNvSpPr/>
          <p:nvPr/>
        </p:nvSpPr>
        <p:spPr>
          <a:xfrm>
            <a:off x="658368" y="2810408"/>
            <a:ext cx="10872216" cy="64328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828696"/>
            <a:ext cx="3770114" cy="60670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A branch you share with a colleague</a:t>
            </a:r>
          </a:p>
        </p:txBody>
      </p:sp>
      <p:sp>
        <p:nvSpPr>
          <p:cNvPr id="18" name="TextBox 17"/>
          <p:cNvSpPr txBox="1"/>
          <p:nvPr/>
        </p:nvSpPr>
        <p:spPr>
          <a:xfrm>
            <a:off x="4684514" y="2828696"/>
            <a:ext cx="2527575" cy="60670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Merge</a:t>
            </a:r>
          </a:p>
        </p:txBody>
      </p:sp>
      <p:sp>
        <p:nvSpPr>
          <p:cNvPr id="19" name="TextBox 18"/>
          <p:cNvSpPr txBox="1"/>
          <p:nvPr/>
        </p:nvSpPr>
        <p:spPr>
          <a:xfrm>
            <a:off x="7376682" y="2828696"/>
            <a:ext cx="4080749" cy="60670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Rebasing would change commits they already have</a:t>
            </a:r>
          </a:p>
        </p:txBody>
      </p:sp>
      <p:sp>
        <p:nvSpPr>
          <p:cNvPr id="20" name="Rectangle 19"/>
          <p:cNvSpPr/>
          <p:nvPr/>
        </p:nvSpPr>
        <p:spPr>
          <a:xfrm>
            <a:off x="658368" y="3453688"/>
            <a:ext cx="10872216" cy="64328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471976"/>
            <a:ext cx="3770114" cy="60670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Your pull request is being reviewed</a:t>
            </a:r>
          </a:p>
        </p:txBody>
      </p:sp>
      <p:sp>
        <p:nvSpPr>
          <p:cNvPr id="22" name="TextBox 21"/>
          <p:cNvSpPr txBox="1"/>
          <p:nvPr/>
        </p:nvSpPr>
        <p:spPr>
          <a:xfrm>
            <a:off x="4684514" y="3471976"/>
            <a:ext cx="2527575" cy="60670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Merge, or add new commits</a:t>
            </a:r>
          </a:p>
        </p:txBody>
      </p:sp>
      <p:sp>
        <p:nvSpPr>
          <p:cNvPr id="23" name="TextBox 22"/>
          <p:cNvSpPr txBox="1"/>
          <p:nvPr/>
        </p:nvSpPr>
        <p:spPr>
          <a:xfrm>
            <a:off x="7376682" y="3471976"/>
            <a:ext cx="4080749" cy="60670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Reviewers can see what changed since they last looked</a:t>
            </a:r>
          </a:p>
        </p:txBody>
      </p:sp>
      <p:sp>
        <p:nvSpPr>
          <p:cNvPr id="24" name="Rectangle 23"/>
          <p:cNvSpPr/>
          <p:nvPr/>
        </p:nvSpPr>
        <p:spPr>
          <a:xfrm>
            <a:off x="658368" y="4096969"/>
            <a:ext cx="10872216" cy="435254"/>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4115257"/>
            <a:ext cx="3770114" cy="398678"/>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main, or any branch the team uses</a:t>
            </a:r>
          </a:p>
        </p:txBody>
      </p:sp>
      <p:sp>
        <p:nvSpPr>
          <p:cNvPr id="26" name="TextBox 25"/>
          <p:cNvSpPr txBox="1"/>
          <p:nvPr/>
        </p:nvSpPr>
        <p:spPr>
          <a:xfrm>
            <a:off x="4684514" y="4115257"/>
            <a:ext cx="2527575" cy="39867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Never rebase</a:t>
            </a:r>
          </a:p>
        </p:txBody>
      </p:sp>
      <p:sp>
        <p:nvSpPr>
          <p:cNvPr id="27" name="TextBox 26"/>
          <p:cNvSpPr txBox="1"/>
          <p:nvPr/>
        </p:nvSpPr>
        <p:spPr>
          <a:xfrm>
            <a:off x="7376682" y="4115257"/>
            <a:ext cx="4080749" cy="39867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It rewrites history everyone depends on</a:t>
            </a:r>
          </a:p>
        </p:txBody>
      </p:sp>
      <p:sp>
        <p:nvSpPr>
          <p:cNvPr id="28" name="Rectangle 27"/>
          <p:cNvSpPr/>
          <p:nvPr/>
        </p:nvSpPr>
        <p:spPr>
          <a:xfrm>
            <a:off x="658368" y="4532223"/>
            <a:ext cx="10872216" cy="64328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9808" y="4550511"/>
            <a:ext cx="3770114" cy="60670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Finishing a pull request on GitHub</a:t>
            </a:r>
          </a:p>
        </p:txBody>
      </p:sp>
      <p:sp>
        <p:nvSpPr>
          <p:cNvPr id="30" name="TextBox 29"/>
          <p:cNvSpPr txBox="1"/>
          <p:nvPr/>
        </p:nvSpPr>
        <p:spPr>
          <a:xfrm>
            <a:off x="4684514" y="4550511"/>
            <a:ext cx="2527575" cy="60670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Squash and merge</a:t>
            </a:r>
          </a:p>
        </p:txBody>
      </p:sp>
      <p:sp>
        <p:nvSpPr>
          <p:cNvPr id="31" name="TextBox 30"/>
          <p:cNvSpPr txBox="1"/>
          <p:nvPr/>
        </p:nvSpPr>
        <p:spPr>
          <a:xfrm>
            <a:off x="7376682" y="4550511"/>
            <a:ext cx="4080749" cy="60670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One tidy commit per change on main</a:t>
            </a:r>
          </a:p>
        </p:txBody>
      </p:sp>
      <p:sp>
        <p:nvSpPr>
          <p:cNvPr id="32" name="Rectangle 31"/>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804672" y="5404104"/>
            <a:ext cx="1673352"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THE GOLDEN RULE</a:t>
            </a:r>
          </a:p>
        </p:txBody>
      </p:sp>
      <p:sp>
        <p:nvSpPr>
          <p:cNvPr id="34" name="TextBox 33"/>
          <p:cNvSpPr txBox="1"/>
          <p:nvPr/>
        </p:nvSpPr>
        <p:spPr>
          <a:xfrm>
            <a:off x="2468879" y="5394959"/>
            <a:ext cx="8897112"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Never rebase commits that other people already have. Rebase to update YOUR OWN work; merge to combine SHARED work.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23</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COMPARE  ·  3 MIN</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Rebase or merge?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960120" cy="310896"/>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658368" y="1824228"/>
            <a:ext cx="960120" cy="237744"/>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COMPARE</a:t>
            </a:r>
          </a:p>
        </p:txBody>
      </p:sp>
      <p:sp>
        <p:nvSpPr>
          <p:cNvPr id="10" name="TextBox 9"/>
          <p:cNvSpPr txBox="1"/>
          <p:nvPr/>
        </p:nvSpPr>
        <p:spPr>
          <a:xfrm>
            <a:off x="1773936" y="1815084"/>
            <a:ext cx="9683496" cy="256032"/>
          </a:xfrm>
          <a:prstGeom prst="rect">
            <a:avLst/>
          </a:prstGeom>
          <a:noFill/>
        </p:spPr>
        <p:txBody>
          <a:bodyPr wrap="square" lIns="73152" rIns="73152" tIns="36576" bIns="36576" anchor="t">
            <a:spAutoFit/>
          </a:bodyPr>
          <a:lstStyle/>
          <a:p>
            <a:pPr algn="l">
              <a:lnSpc>
                <a:spcPct val="92000"/>
              </a:lnSpc>
              <a:spcAft>
                <a:spcPts val="200"/>
              </a:spcAft>
            </a:pPr>
            <a:r>
              <a:rPr sz="1050" b="1" i="0">
                <a:solidFill>
                  <a:srgbClr val="117A69"/>
                </a:solidFill>
                <a:latin typeface="Aptos"/>
              </a:rPr>
              <a:t>Two minutes in pairs. Be ready to defend your choice.</a:t>
            </a:r>
          </a:p>
        </p:txBody>
      </p:sp>
      <p:sp>
        <p:nvSpPr>
          <p:cNvPr id="11" name="Rectangle 10"/>
          <p:cNvSpPr/>
          <p:nvPr/>
        </p:nvSpPr>
        <p:spPr>
          <a:xfrm>
            <a:off x="658368" y="2258568"/>
            <a:ext cx="10872216" cy="548640"/>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258568"/>
            <a:ext cx="68580" cy="548640"/>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50976" y="2313432"/>
            <a:ext cx="10396728" cy="438912"/>
          </a:xfrm>
          <a:prstGeom prst="rect">
            <a:avLst/>
          </a:prstGeom>
          <a:noFill/>
        </p:spPr>
        <p:txBody>
          <a:bodyPr wrap="square" lIns="73152" rIns="73152" tIns="36576" bIns="36576" anchor="ctr">
            <a:spAutoFit/>
          </a:bodyPr>
          <a:lstStyle/>
          <a:p>
            <a:pPr algn="l">
              <a:lnSpc>
                <a:spcPct val="105000"/>
              </a:lnSpc>
              <a:spcAft>
                <a:spcPts val="200"/>
              </a:spcAft>
            </a:pPr>
            <a:r>
              <a:rPr sz="1500" b="1" i="0">
                <a:solidFill>
                  <a:srgbClr val="123A5F"/>
                </a:solidFill>
                <a:latin typeface="Aptos"/>
              </a:rPr>
              <a:t>For each situation, decide: rebase or merge — and say why in one sentence.</a:t>
            </a:r>
          </a:p>
        </p:txBody>
      </p:sp>
      <p:sp>
        <p:nvSpPr>
          <p:cNvPr id="14" name="Oval 13"/>
          <p:cNvSpPr/>
          <p:nvPr/>
        </p:nvSpPr>
        <p:spPr>
          <a:xfrm>
            <a:off x="676656" y="3063239"/>
            <a:ext cx="256032" cy="256032"/>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676656" y="3081527"/>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1</a:t>
            </a:r>
          </a:p>
        </p:txBody>
      </p:sp>
      <p:sp>
        <p:nvSpPr>
          <p:cNvPr id="16" name="TextBox 15"/>
          <p:cNvSpPr txBox="1"/>
          <p:nvPr/>
        </p:nvSpPr>
        <p:spPr>
          <a:xfrm>
            <a:off x="1078992" y="3035808"/>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1 · Your branch is three commits behind main, and only you have worked on it.</a:t>
            </a:r>
          </a:p>
        </p:txBody>
      </p:sp>
      <p:sp>
        <p:nvSpPr>
          <p:cNvPr id="17" name="Oval 16"/>
          <p:cNvSpPr/>
          <p:nvPr/>
        </p:nvSpPr>
        <p:spPr>
          <a:xfrm>
            <a:off x="676656" y="3627119"/>
            <a:ext cx="256032" cy="256032"/>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676656" y="3645407"/>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2</a:t>
            </a:r>
          </a:p>
        </p:txBody>
      </p:sp>
      <p:sp>
        <p:nvSpPr>
          <p:cNvPr id="19" name="TextBox 18"/>
          <p:cNvSpPr txBox="1"/>
          <p:nvPr/>
        </p:nvSpPr>
        <p:spPr>
          <a:xfrm>
            <a:off x="1078992" y="3599688"/>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2 · You and a colleague both push to the same branch.</a:t>
            </a:r>
          </a:p>
        </p:txBody>
      </p:sp>
      <p:sp>
        <p:nvSpPr>
          <p:cNvPr id="20" name="Oval 19"/>
          <p:cNvSpPr/>
          <p:nvPr/>
        </p:nvSpPr>
        <p:spPr>
          <a:xfrm>
            <a:off x="676656" y="4190999"/>
            <a:ext cx="256032" cy="256032"/>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76656" y="4209288"/>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3</a:t>
            </a:r>
          </a:p>
        </p:txBody>
      </p:sp>
      <p:sp>
        <p:nvSpPr>
          <p:cNvPr id="22" name="TextBox 21"/>
          <p:cNvSpPr txBox="1"/>
          <p:nvPr/>
        </p:nvSpPr>
        <p:spPr>
          <a:xfrm>
            <a:off x="1078992" y="4163568"/>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3 · The team's release branch needs a fix that is already in main.</a:t>
            </a:r>
          </a:p>
        </p:txBody>
      </p:sp>
      <p:sp>
        <p:nvSpPr>
          <p:cNvPr id="23" name="Oval 22"/>
          <p:cNvSpPr/>
          <p:nvPr/>
        </p:nvSpPr>
        <p:spPr>
          <a:xfrm>
            <a:off x="676656" y="4754880"/>
            <a:ext cx="256032" cy="256032"/>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676656" y="4773168"/>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4</a:t>
            </a:r>
          </a:p>
        </p:txBody>
      </p:sp>
      <p:sp>
        <p:nvSpPr>
          <p:cNvPr id="25" name="TextBox 24"/>
          <p:cNvSpPr txBox="1"/>
          <p:nvPr/>
        </p:nvSpPr>
        <p:spPr>
          <a:xfrm>
            <a:off x="1078992" y="4727448"/>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4 · Your pull request has two real commits and four called "fix typo".</a:t>
            </a:r>
          </a:p>
        </p:txBody>
      </p:sp>
      <p:sp>
        <p:nvSpPr>
          <p:cNvPr id="26" name="TextBox 25"/>
          <p:cNvSpPr txBox="1"/>
          <p:nvPr/>
        </p:nvSpPr>
        <p:spPr>
          <a:xfrm>
            <a:off x="658368" y="5559552"/>
            <a:ext cx="10872216" cy="274320"/>
          </a:xfrm>
          <a:prstGeom prst="rect">
            <a:avLst/>
          </a:prstGeom>
          <a:noFill/>
        </p:spPr>
        <p:txBody>
          <a:bodyPr wrap="square" lIns="73152" rIns="73152" tIns="36576" bIns="36576" anchor="t">
            <a:spAutoFit/>
          </a:bodyPr>
          <a:lstStyle/>
          <a:p>
            <a:pPr algn="l">
              <a:lnSpc>
                <a:spcPct val="92000"/>
              </a:lnSpc>
              <a:spcAft>
                <a:spcPts val="200"/>
              </a:spcAft>
            </a:pPr>
            <a:r>
              <a:rPr sz="1100" b="1" i="1">
                <a:solidFill>
                  <a:srgbClr val="117A69"/>
                </a:solidFill>
                <a:latin typeface="Aptos"/>
              </a:rPr>
              <a:t>Answers on the next slide — commit to yours first.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24</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COMPARE  ·  THE ANSWER</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Rebase or merge?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493776"/>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4864" cy="493776"/>
          </a:xfrm>
          <a:prstGeom prst="rect">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14400" y="1828800"/>
            <a:ext cx="10415016" cy="402336"/>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5A6570"/>
                </a:solidFill>
                <a:latin typeface="Aptos"/>
              </a:rPr>
              <a:t>For each situation, decide: rebase or merge — and say why in one sentence.</a:t>
            </a:r>
          </a:p>
        </p:txBody>
      </p:sp>
      <p:sp>
        <p:nvSpPr>
          <p:cNvPr id="11" name="Rectangle 10"/>
          <p:cNvSpPr/>
          <p:nvPr/>
        </p:nvSpPr>
        <p:spPr>
          <a:xfrm>
            <a:off x="658368" y="2551176"/>
            <a:ext cx="10872216" cy="3319272"/>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551176"/>
            <a:ext cx="73152" cy="33192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69264" y="2715768"/>
            <a:ext cx="10323576" cy="274320"/>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29ABE2"/>
                </a:solidFill>
                <a:latin typeface="Aptos"/>
              </a:rPr>
              <a:t>THE ANSWER</a:t>
            </a:r>
          </a:p>
        </p:txBody>
      </p:sp>
      <p:sp>
        <p:nvSpPr>
          <p:cNvPr id="14" name="TextBox 13"/>
          <p:cNvSpPr txBox="1"/>
          <p:nvPr/>
        </p:nvSpPr>
        <p:spPr>
          <a:xfrm>
            <a:off x="1207007" y="3081528"/>
            <a:ext cx="9774936" cy="2606039"/>
          </a:xfrm>
          <a:prstGeom prst="rect">
            <a:avLst/>
          </a:prstGeom>
          <a:noFill/>
        </p:spPr>
        <p:txBody>
          <a:bodyPr wrap="square" lIns="73152" rIns="73152" tIns="36576" bIns="36576" anchor="ctr">
            <a:spAutoFit/>
          </a:bodyPr>
          <a:lstStyle/>
          <a:p>
            <a:pPr algn="l">
              <a:lnSpc>
                <a:spcPct val="126000"/>
              </a:lnSpc>
              <a:spcAft>
                <a:spcPts val="200"/>
              </a:spcAft>
            </a:pPr>
            <a:r>
              <a:rPr sz="2100" b="0" i="0">
                <a:solidFill>
                  <a:srgbClr val="FFFFFF"/>
                </a:solidFill>
                <a:latin typeface="Aptos"/>
              </a:rPr>
              <a:t>1 Rebase — only you have those saves. 2 Merge — rebasing would break your colleague's copy. 3 Merge, or copy just that one fix — a release branch is shared by the team. 4 Let "squash and merge" combine them into one — or tidy them first with an interactive rebase (optional section).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25</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§2.5</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160" b="1" i="0">
                <a:solidFill>
                  <a:srgbClr val="123A5F"/>
                </a:solidFill>
                <a:latin typeface="Aptos Display"/>
              </a:rPr>
              <a:t>A merge conflict is a question, not an error</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5001219" cy="2377440"/>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001219"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4086819"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APP/SRC/CONFIG.PY</a:t>
            </a:r>
          </a:p>
        </p:txBody>
      </p:sp>
      <p:sp>
        <p:nvSpPr>
          <p:cNvPr id="14" name="TextBox 13"/>
          <p:cNvSpPr txBox="1"/>
          <p:nvPr/>
        </p:nvSpPr>
        <p:spPr>
          <a:xfrm>
            <a:off x="768096" y="2185416"/>
            <a:ext cx="4800051" cy="1496568"/>
          </a:xfrm>
          <a:prstGeom prst="rect">
            <a:avLst/>
          </a:prstGeom>
          <a:noFill/>
        </p:spPr>
        <p:txBody>
          <a:bodyPr wrap="square" lIns="73152" rIns="73152" tIns="18288" bIns="18288">
            <a:spAutoFit/>
          </a:bodyPr>
          <a:lstStyle/>
          <a:p>
            <a:pPr>
              <a:lnSpc>
                <a:spcPct val="100000"/>
              </a:lnSpc>
              <a:spcAft>
                <a:spcPts val="0"/>
              </a:spcAft>
            </a:pPr>
            <a:r>
              <a:rPr sz="1300" b="0">
                <a:solidFill>
                  <a:srgbClr val="E8EEF4"/>
                </a:solidFill>
                <a:latin typeface="Consolas"/>
              </a:rPr>
              <a:t>def settlement_timeout():</a:t>
            </a:r>
          </a:p>
          <a:p>
            <a:pPr>
              <a:lnSpc>
                <a:spcPct val="100000"/>
              </a:lnSpc>
              <a:spcAft>
                <a:spcPts val="0"/>
              </a:spcAft>
            </a:pPr>
            <a:r>
              <a:rPr sz="1300" b="0">
                <a:solidFill>
                  <a:srgbClr val="E8EEF4"/>
                </a:solidFill>
                <a:latin typeface="Consolas"/>
              </a:rPr>
              <a:t>&lt;&lt;&lt;&lt;&lt;&lt;&lt; HEAD</a:t>
            </a:r>
          </a:p>
          <a:p>
            <a:pPr>
              <a:lnSpc>
                <a:spcPct val="100000"/>
              </a:lnSpc>
              <a:spcAft>
                <a:spcPts val="0"/>
              </a:spcAft>
            </a:pPr>
            <a:r>
              <a:rPr sz="1300" b="0">
                <a:solidFill>
                  <a:srgbClr val="E8EEF4"/>
                </a:solidFill>
                <a:latin typeface="Consolas"/>
              </a:rPr>
              <a:t>    timeout = 30</a:t>
            </a:r>
          </a:p>
          <a:p>
            <a:pPr>
              <a:lnSpc>
                <a:spcPct val="100000"/>
              </a:lnSpc>
              <a:spcAft>
                <a:spcPts val="0"/>
              </a:spcAft>
            </a:pPr>
            <a:r>
              <a:rPr sz="1300" b="0">
                <a:solidFill>
                  <a:srgbClr val="E8EEF4"/>
                </a:solidFill>
                <a:latin typeface="Consolas"/>
              </a:rPr>
              <a:t>=======</a:t>
            </a:r>
          </a:p>
          <a:p>
            <a:pPr>
              <a:lnSpc>
                <a:spcPct val="100000"/>
              </a:lnSpc>
              <a:spcAft>
                <a:spcPts val="0"/>
              </a:spcAft>
            </a:pPr>
            <a:r>
              <a:rPr sz="1300" b="0">
                <a:solidFill>
                  <a:srgbClr val="E8EEF4"/>
                </a:solidFill>
                <a:latin typeface="Consolas"/>
              </a:rPr>
              <a:t>    timeout = 60</a:t>
            </a:r>
          </a:p>
          <a:p>
            <a:pPr>
              <a:lnSpc>
                <a:spcPct val="100000"/>
              </a:lnSpc>
              <a:spcAft>
                <a:spcPts val="0"/>
              </a:spcAft>
            </a:pPr>
            <a:r>
              <a:rPr sz="1300" b="0">
                <a:solidFill>
                  <a:srgbClr val="E8EEF4"/>
                </a:solidFill>
                <a:latin typeface="Consolas"/>
              </a:rPr>
              <a:t>&gt;&gt;&gt;&gt;&gt;&gt;&gt; feature/raise-timeout</a:t>
            </a:r>
          </a:p>
          <a:p>
            <a:pPr>
              <a:lnSpc>
                <a:spcPct val="100000"/>
              </a:lnSpc>
              <a:spcAft>
                <a:spcPts val="0"/>
              </a:spcAft>
            </a:pPr>
            <a:r>
              <a:rPr sz="1300" b="0">
                <a:solidFill>
                  <a:srgbClr val="E8EEF4"/>
                </a:solidFill>
                <a:latin typeface="Consolas"/>
              </a:rPr>
              <a:t>    return timeout</a:t>
            </a:r>
          </a:p>
        </p:txBody>
      </p:sp>
      <p:sp>
        <p:nvSpPr>
          <p:cNvPr id="15" name="TextBox 14"/>
          <p:cNvSpPr txBox="1"/>
          <p:nvPr/>
        </p:nvSpPr>
        <p:spPr>
          <a:xfrm>
            <a:off x="5933907" y="1764792"/>
            <a:ext cx="5596676"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5933907"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5933907"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6263091" y="2075688"/>
            <a:ext cx="524920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&lt;&lt;&lt;&lt;&lt;&lt;&lt; HEAD</a:t>
            </a:r>
          </a:p>
          <a:p>
            <a:pPr>
              <a:lnSpc>
                <a:spcPct val="95000"/>
              </a:lnSpc>
              <a:spcBef>
                <a:spcPts val="200"/>
              </a:spcBef>
              <a:spcAft>
                <a:spcPts val="100"/>
              </a:spcAft>
            </a:pPr>
            <a:r>
              <a:rPr sz="1090" b="0">
                <a:solidFill>
                  <a:srgbClr val="5A6570"/>
                </a:solidFill>
                <a:latin typeface="Aptos"/>
              </a:rPr>
              <a:t>Start of the version on the branch you are on</a:t>
            </a:r>
          </a:p>
        </p:txBody>
      </p:sp>
      <p:sp>
        <p:nvSpPr>
          <p:cNvPr id="19" name="Oval 18"/>
          <p:cNvSpPr/>
          <p:nvPr/>
        </p:nvSpPr>
        <p:spPr>
          <a:xfrm>
            <a:off x="5933907" y="2884932"/>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5933907" y="2903220"/>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6263091" y="2839212"/>
            <a:ext cx="524920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a:t>
            </a:r>
          </a:p>
          <a:p>
            <a:pPr>
              <a:lnSpc>
                <a:spcPct val="95000"/>
              </a:lnSpc>
              <a:spcBef>
                <a:spcPts val="200"/>
              </a:spcBef>
              <a:spcAft>
                <a:spcPts val="100"/>
              </a:spcAft>
            </a:pPr>
            <a:r>
              <a:rPr sz="1090" b="0">
                <a:solidFill>
                  <a:srgbClr val="5A6570"/>
                </a:solidFill>
                <a:latin typeface="Aptos"/>
              </a:rPr>
              <a:t>The divider between the two versions</a:t>
            </a:r>
          </a:p>
        </p:txBody>
      </p:sp>
      <p:sp>
        <p:nvSpPr>
          <p:cNvPr id="22" name="Oval 21"/>
          <p:cNvSpPr/>
          <p:nvPr/>
        </p:nvSpPr>
        <p:spPr>
          <a:xfrm>
            <a:off x="5933907" y="364845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5933907" y="366674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6263091" y="3602736"/>
            <a:ext cx="524920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&gt;&gt;&gt;&gt;&gt;&gt;&gt; feature/raise-timeout</a:t>
            </a:r>
          </a:p>
          <a:p>
            <a:pPr>
              <a:lnSpc>
                <a:spcPct val="95000"/>
              </a:lnSpc>
              <a:spcBef>
                <a:spcPts val="200"/>
              </a:spcBef>
              <a:spcAft>
                <a:spcPts val="100"/>
              </a:spcAft>
            </a:pPr>
            <a:r>
              <a:rPr sz="1090" b="0">
                <a:solidFill>
                  <a:srgbClr val="5A6570"/>
                </a:solidFill>
                <a:latin typeface="Aptos"/>
              </a:rPr>
              <a:t>End of the version coming from the other branch</a:t>
            </a:r>
          </a:p>
        </p:txBody>
      </p:sp>
      <p:sp>
        <p:nvSpPr>
          <p:cNvPr id="25" name="Oval 24"/>
          <p:cNvSpPr/>
          <p:nvPr/>
        </p:nvSpPr>
        <p:spPr>
          <a:xfrm>
            <a:off x="5933907" y="4411979"/>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5933907" y="4430268"/>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6263091" y="4366259"/>
            <a:ext cx="524920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Fix it by deciding what the line SHOULD say</a:t>
            </a:r>
          </a:p>
          <a:p>
            <a:pPr>
              <a:lnSpc>
                <a:spcPct val="95000"/>
              </a:lnSpc>
              <a:spcBef>
                <a:spcPts val="200"/>
              </a:spcBef>
              <a:spcAft>
                <a:spcPts val="100"/>
              </a:spcAft>
            </a:pPr>
            <a:r>
              <a:rPr sz="1090" b="0">
                <a:solidFill>
                  <a:srgbClr val="5A6570"/>
                </a:solidFill>
                <a:latin typeface="Aptos"/>
              </a:rPr>
              <a:t>Often a mix of both. Delete the three marker lines, run the tests, then git add and git commit</a:t>
            </a:r>
          </a:p>
        </p:txBody>
      </p:sp>
      <p:sp>
        <p:nvSpPr>
          <p:cNvPr id="28" name="Oval 27"/>
          <p:cNvSpPr/>
          <p:nvPr/>
        </p:nvSpPr>
        <p:spPr>
          <a:xfrm>
            <a:off x="5933907" y="5340095"/>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5933907" y="5358383"/>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30" name="TextBox 29"/>
          <p:cNvSpPr txBox="1"/>
          <p:nvPr/>
        </p:nvSpPr>
        <p:spPr>
          <a:xfrm>
            <a:off x="6263091" y="5294375"/>
            <a:ext cx="524920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Stuck? git merge --abort</a:t>
            </a:r>
          </a:p>
          <a:p>
            <a:pPr>
              <a:lnSpc>
                <a:spcPct val="95000"/>
              </a:lnSpc>
              <a:spcBef>
                <a:spcPts val="200"/>
              </a:spcBef>
              <a:spcAft>
                <a:spcPts val="100"/>
              </a:spcAft>
            </a:pPr>
            <a:r>
              <a:rPr sz="1090" b="0">
                <a:solidFill>
                  <a:srgbClr val="5A6570"/>
                </a:solidFill>
                <a:latin typeface="Aptos"/>
              </a:rPr>
              <a:t>Puts everything back exactly as it was before the merge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26</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LIVE DEMO  ·  6 MIN</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A merge conflict, start to finish</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523329" cy="349300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523329"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608929"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TERMINAL</a:t>
            </a:r>
          </a:p>
        </p:txBody>
      </p:sp>
      <p:sp>
        <p:nvSpPr>
          <p:cNvPr id="14" name="TextBox 13"/>
          <p:cNvSpPr txBox="1"/>
          <p:nvPr/>
        </p:nvSpPr>
        <p:spPr>
          <a:xfrm>
            <a:off x="768096" y="2185416"/>
            <a:ext cx="6322161" cy="2852928"/>
          </a:xfrm>
          <a:prstGeom prst="rect">
            <a:avLst/>
          </a:prstGeom>
          <a:noFill/>
        </p:spPr>
        <p:txBody>
          <a:bodyPr wrap="square" lIns="73152" rIns="73152" tIns="18288" bIns="18288">
            <a:spAutoFit/>
          </a:bodyPr>
          <a:lstStyle/>
          <a:p>
            <a:pPr>
              <a:lnSpc>
                <a:spcPct val="100000"/>
              </a:lnSpc>
              <a:spcAft>
                <a:spcPts val="0"/>
              </a:spcAft>
            </a:pPr>
            <a:r>
              <a:rPr sz="1200" b="1">
                <a:solidFill>
                  <a:srgbClr val="7CC8EE"/>
                </a:solidFill>
                <a:latin typeface="Consolas"/>
              </a:rPr>
              <a:t>$ </a:t>
            </a:r>
            <a:r>
              <a:rPr sz="1200" b="0">
                <a:solidFill>
                  <a:srgbClr val="E8EEF4"/>
                </a:solidFill>
                <a:latin typeface="Consolas"/>
              </a:rPr>
              <a:t>git switch -c feature/raise-timeout</a:t>
            </a:r>
          </a:p>
          <a:p>
            <a:pPr>
              <a:lnSpc>
                <a:spcPct val="100000"/>
              </a:lnSpc>
              <a:spcAft>
                <a:spcPts val="0"/>
              </a:spcAft>
            </a:pPr>
            <a:r>
              <a:rPr sz="1200" b="1">
                <a:solidFill>
                  <a:srgbClr val="7CC8EE"/>
                </a:solidFill>
                <a:latin typeface="Consolas"/>
              </a:rPr>
              <a:t>$ </a:t>
            </a:r>
            <a:r>
              <a:rPr sz="1200" b="0">
                <a:solidFill>
                  <a:srgbClr val="E8EEF4"/>
                </a:solidFill>
                <a:latin typeface="Consolas"/>
              </a:rPr>
              <a:t>sed -i 's/timeout = 30/timeout = 60/' config.py</a:t>
            </a:r>
          </a:p>
          <a:p>
            <a:pPr>
              <a:lnSpc>
                <a:spcPct val="100000"/>
              </a:lnSpc>
              <a:spcAft>
                <a:spcPts val="0"/>
              </a:spcAft>
            </a:pPr>
            <a:r>
              <a:rPr sz="1200" b="1">
                <a:solidFill>
                  <a:srgbClr val="7CC8EE"/>
                </a:solidFill>
                <a:latin typeface="Consolas"/>
              </a:rPr>
              <a:t>$ </a:t>
            </a:r>
            <a:r>
              <a:rPr sz="1200" b="0">
                <a:solidFill>
                  <a:srgbClr val="E8EEF4"/>
                </a:solidFill>
                <a:latin typeface="Consolas"/>
              </a:rPr>
              <a:t>git commit -qam "feat: raise settlement timeout"</a:t>
            </a:r>
          </a:p>
          <a:p>
            <a:pPr>
              <a:lnSpc>
                <a:spcPct val="100000"/>
              </a:lnSpc>
              <a:spcAft>
                <a:spcPts val="0"/>
              </a:spcAft>
            </a:pPr>
            <a:r>
              <a:rPr sz="1200" b="1">
                <a:solidFill>
                  <a:srgbClr val="7CC8EE"/>
                </a:solidFill>
                <a:latin typeface="Consolas"/>
              </a:rPr>
              <a:t>$ </a:t>
            </a:r>
            <a:r>
              <a:rPr sz="1200" b="0">
                <a:solidFill>
                  <a:srgbClr val="E8EEF4"/>
                </a:solidFill>
                <a:latin typeface="Consolas"/>
              </a:rPr>
              <a:t>git switch main</a:t>
            </a:r>
          </a:p>
          <a:p>
            <a:pPr>
              <a:lnSpc>
                <a:spcPct val="100000"/>
              </a:lnSpc>
              <a:spcAft>
                <a:spcPts val="0"/>
              </a:spcAft>
            </a:pPr>
            <a:r>
              <a:rPr sz="1200" b="1">
                <a:solidFill>
                  <a:srgbClr val="7CC8EE"/>
                </a:solidFill>
                <a:latin typeface="Consolas"/>
              </a:rPr>
              <a:t>$ </a:t>
            </a:r>
            <a:r>
              <a:rPr sz="1200" b="0">
                <a:solidFill>
                  <a:srgbClr val="E8EEF4"/>
                </a:solidFill>
                <a:latin typeface="Consolas"/>
              </a:rPr>
              <a:t>sed -i 's/timeout = 30/timeout = 45/' config.py</a:t>
            </a:r>
          </a:p>
          <a:p>
            <a:pPr>
              <a:lnSpc>
                <a:spcPct val="100000"/>
              </a:lnSpc>
              <a:spcAft>
                <a:spcPts val="0"/>
              </a:spcAft>
            </a:pPr>
            <a:r>
              <a:rPr sz="1200" b="1">
                <a:solidFill>
                  <a:srgbClr val="7CC8EE"/>
                </a:solidFill>
                <a:latin typeface="Consolas"/>
              </a:rPr>
              <a:t>$ </a:t>
            </a:r>
            <a:r>
              <a:rPr sz="1200" b="0">
                <a:solidFill>
                  <a:srgbClr val="E8EEF4"/>
                </a:solidFill>
                <a:latin typeface="Consolas"/>
              </a:rPr>
              <a:t>git commit -qam "fix: interim timeout"</a:t>
            </a:r>
          </a:p>
          <a:p>
            <a:pPr>
              <a:lnSpc>
                <a:spcPct val="100000"/>
              </a:lnSpc>
              <a:spcAft>
                <a:spcPts val="0"/>
              </a:spcAft>
            </a:pPr>
            <a:r>
              <a:rPr sz="1200" b="1">
                <a:solidFill>
                  <a:srgbClr val="7CC8EE"/>
                </a:solidFill>
                <a:latin typeface="Consolas"/>
              </a:rPr>
              <a:t>$ </a:t>
            </a:r>
            <a:r>
              <a:rPr sz="1200" b="0">
                <a:solidFill>
                  <a:srgbClr val="E8EEF4"/>
                </a:solidFill>
                <a:latin typeface="Consolas"/>
              </a:rPr>
              <a:t>git merge feature/raise-timeout</a:t>
            </a:r>
          </a:p>
          <a:p>
            <a:pPr>
              <a:lnSpc>
                <a:spcPct val="100000"/>
              </a:lnSpc>
              <a:spcAft>
                <a:spcPts val="0"/>
              </a:spcAft>
            </a:pPr>
            <a:r>
              <a:rPr sz="1200" b="0">
                <a:solidFill>
                  <a:srgbClr val="E8EEF4"/>
                </a:solidFill>
                <a:latin typeface="Consolas"/>
              </a:rPr>
              <a:t>Auto-merging config.py</a:t>
            </a:r>
          </a:p>
          <a:p>
            <a:pPr>
              <a:lnSpc>
                <a:spcPct val="100000"/>
              </a:lnSpc>
              <a:spcAft>
                <a:spcPts val="0"/>
              </a:spcAft>
            </a:pPr>
            <a:r>
              <a:rPr sz="1200" b="0">
                <a:solidFill>
                  <a:srgbClr val="E8EEF4"/>
                </a:solidFill>
                <a:latin typeface="Consolas"/>
              </a:rPr>
              <a:t>CONFLICT (content): Merge conflict in config.py</a:t>
            </a:r>
          </a:p>
          <a:p>
            <a:pPr>
              <a:lnSpc>
                <a:spcPct val="100000"/>
              </a:lnSpc>
              <a:spcAft>
                <a:spcPts val="0"/>
              </a:spcAft>
            </a:pPr>
            <a:r>
              <a:rPr sz="1200" b="0">
                <a:solidFill>
                  <a:srgbClr val="E8EEF4"/>
                </a:solidFill>
                <a:latin typeface="Consolas"/>
              </a:rPr>
              <a:t>Automatic merge failed; fix conflicts and then commit the result.</a:t>
            </a:r>
          </a:p>
          <a:p>
            <a:pPr>
              <a:lnSpc>
                <a:spcPct val="100000"/>
              </a:lnSpc>
              <a:spcAft>
                <a:spcPts val="0"/>
              </a:spcAft>
            </a:pPr>
            <a:r>
              <a:rPr sz="1200" b="1">
                <a:solidFill>
                  <a:srgbClr val="7CC8EE"/>
                </a:solidFill>
                <a:latin typeface="Consolas"/>
              </a:rPr>
              <a:t>$ </a:t>
            </a:r>
            <a:r>
              <a:rPr sz="1200" b="0">
                <a:solidFill>
                  <a:srgbClr val="E8EEF4"/>
                </a:solidFill>
                <a:latin typeface="Consolas"/>
              </a:rPr>
              <a:t>git status --short</a:t>
            </a:r>
          </a:p>
          <a:p>
            <a:pPr>
              <a:lnSpc>
                <a:spcPct val="100000"/>
              </a:lnSpc>
              <a:spcAft>
                <a:spcPts val="0"/>
              </a:spcAft>
            </a:pPr>
            <a:r>
              <a:rPr sz="1200" b="0">
                <a:solidFill>
                  <a:srgbClr val="E8EEF4"/>
                </a:solidFill>
                <a:latin typeface="Consolas"/>
              </a:rPr>
              <a:t>UU config.py</a:t>
            </a:r>
          </a:p>
          <a:p>
            <a:pPr>
              <a:lnSpc>
                <a:spcPct val="100000"/>
              </a:lnSpc>
              <a:spcAft>
                <a:spcPts val="0"/>
              </a:spcAft>
            </a:pPr>
            <a:r>
              <a:rPr sz="1200" b="1">
                <a:solidFill>
                  <a:srgbClr val="7CC8EE"/>
                </a:solidFill>
                <a:latin typeface="Consolas"/>
              </a:rPr>
              <a:t>$ </a:t>
            </a:r>
            <a:r>
              <a:rPr sz="1200" b="0">
                <a:solidFill>
                  <a:srgbClr val="E8EEF4"/>
                </a:solidFill>
                <a:latin typeface="Consolas"/>
              </a:rPr>
              <a:t>nano config.py                </a:t>
            </a:r>
            <a:r>
              <a:rPr sz="1200" b="0">
                <a:solidFill>
                  <a:srgbClr val="8FBFA8"/>
                </a:solidFill>
                <a:latin typeface="Consolas"/>
              </a:rPr>
              <a:t>  # decide the correct value</a:t>
            </a:r>
          </a:p>
          <a:p>
            <a:pPr>
              <a:lnSpc>
                <a:spcPct val="100000"/>
              </a:lnSpc>
              <a:spcAft>
                <a:spcPts val="0"/>
              </a:spcAft>
            </a:pPr>
            <a:r>
              <a:rPr sz="1200" b="1">
                <a:solidFill>
                  <a:srgbClr val="7CC8EE"/>
                </a:solidFill>
                <a:latin typeface="Consolas"/>
              </a:rPr>
              <a:t>$ </a:t>
            </a:r>
            <a:r>
              <a:rPr sz="1200" b="0">
                <a:solidFill>
                  <a:srgbClr val="E8EEF4"/>
                </a:solidFill>
                <a:latin typeface="Consolas"/>
              </a:rPr>
              <a:t>python -m pytest -q &amp;&amp; git add config.py</a:t>
            </a:r>
          </a:p>
          <a:p>
            <a:pPr>
              <a:lnSpc>
                <a:spcPct val="100000"/>
              </a:lnSpc>
              <a:spcAft>
                <a:spcPts val="0"/>
              </a:spcAft>
            </a:pPr>
            <a:r>
              <a:rPr sz="1200" b="1">
                <a:solidFill>
                  <a:srgbClr val="7CC8EE"/>
                </a:solidFill>
                <a:latin typeface="Consolas"/>
              </a:rPr>
              <a:t>$ </a:t>
            </a:r>
            <a:r>
              <a:rPr sz="1200" b="0">
                <a:solidFill>
                  <a:srgbClr val="E8EEF4"/>
                </a:solidFill>
                <a:latin typeface="Consolas"/>
              </a:rPr>
              <a:t>git commit --no-edit</a:t>
            </a:r>
          </a:p>
        </p:txBody>
      </p:sp>
      <p:sp>
        <p:nvSpPr>
          <p:cNvPr id="15" name="TextBox 14"/>
          <p:cNvSpPr txBox="1"/>
          <p:nvPr/>
        </p:nvSpPr>
        <p:spPr>
          <a:xfrm>
            <a:off x="7456017" y="1764792"/>
            <a:ext cx="4074566"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D2760D"/>
                </a:solidFill>
                <a:latin typeface="Aptos"/>
              </a:rPr>
              <a:t>WATCH FOR</a:t>
            </a:r>
          </a:p>
        </p:txBody>
      </p:sp>
      <p:sp>
        <p:nvSpPr>
          <p:cNvPr id="16" name="Oval 15"/>
          <p:cNvSpPr/>
          <p:nvPr/>
        </p:nvSpPr>
        <p:spPr>
          <a:xfrm>
            <a:off x="7456017" y="2121408"/>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56017"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785201" y="2075688"/>
            <a:ext cx="372709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Two branches changed the same line</a:t>
            </a:r>
          </a:p>
          <a:p>
            <a:pPr>
              <a:lnSpc>
                <a:spcPct val="95000"/>
              </a:lnSpc>
              <a:spcBef>
                <a:spcPts val="200"/>
              </a:spcBef>
              <a:spcAft>
                <a:spcPts val="100"/>
              </a:spcAft>
            </a:pPr>
            <a:r>
              <a:rPr sz="1090" b="0">
                <a:solidFill>
                  <a:srgbClr val="5A6570"/>
                </a:solidFill>
                <a:latin typeface="Aptos"/>
              </a:rPr>
              <a:t>Git cannot guess which value is right, so it stops and asks</a:t>
            </a:r>
          </a:p>
        </p:txBody>
      </p:sp>
      <p:sp>
        <p:nvSpPr>
          <p:cNvPr id="19" name="Oval 18"/>
          <p:cNvSpPr/>
          <p:nvPr/>
        </p:nvSpPr>
        <p:spPr>
          <a:xfrm>
            <a:off x="7456017" y="3127247"/>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456017" y="3145535"/>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785201" y="3081527"/>
            <a:ext cx="3727094" cy="86868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git status shows UU — both sides changed it</a:t>
            </a:r>
          </a:p>
          <a:p>
            <a:pPr>
              <a:lnSpc>
                <a:spcPct val="95000"/>
              </a:lnSpc>
              <a:spcBef>
                <a:spcPts val="200"/>
              </a:spcBef>
              <a:spcAft>
                <a:spcPts val="100"/>
              </a:spcAft>
            </a:pPr>
            <a:r>
              <a:rPr sz="1090" b="0">
                <a:solidFill>
                  <a:srgbClr val="5A6570"/>
                </a:solidFill>
                <a:latin typeface="Aptos"/>
              </a:rPr>
              <a:t>git status always tells you where you are and what to do next</a:t>
            </a:r>
          </a:p>
        </p:txBody>
      </p:sp>
      <p:sp>
        <p:nvSpPr>
          <p:cNvPr id="22" name="Oval 21"/>
          <p:cNvSpPr/>
          <p:nvPr/>
        </p:nvSpPr>
        <p:spPr>
          <a:xfrm>
            <a:off x="7456017" y="4315967"/>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456017" y="4334255"/>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785201" y="4270247"/>
            <a:ext cx="372709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Decide, edit, and delete the markers</a:t>
            </a:r>
          </a:p>
          <a:p>
            <a:pPr>
              <a:lnSpc>
                <a:spcPct val="95000"/>
              </a:lnSpc>
              <a:spcBef>
                <a:spcPts val="200"/>
              </a:spcBef>
              <a:spcAft>
                <a:spcPts val="100"/>
              </a:spcAft>
            </a:pPr>
            <a:r>
              <a:rPr sz="1090" b="0">
                <a:solidFill>
                  <a:srgbClr val="5A6570"/>
                </a:solidFill>
                <a:latin typeface="Aptos"/>
              </a:rPr>
              <a:t>Then run the tests before you save</a:t>
            </a:r>
          </a:p>
        </p:txBody>
      </p:sp>
      <p:sp>
        <p:nvSpPr>
          <p:cNvPr id="25" name="Oval 24"/>
          <p:cNvSpPr/>
          <p:nvPr/>
        </p:nvSpPr>
        <p:spPr>
          <a:xfrm>
            <a:off x="7456017" y="5157215"/>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456017" y="5175503"/>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785201" y="5111495"/>
            <a:ext cx="372709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git commit --no-edit finishes the merge</a:t>
            </a:r>
          </a:p>
          <a:p>
            <a:pPr>
              <a:lnSpc>
                <a:spcPct val="95000"/>
              </a:lnSpc>
              <a:spcBef>
                <a:spcPts val="200"/>
              </a:spcBef>
              <a:spcAft>
                <a:spcPts val="100"/>
              </a:spcAft>
            </a:pPr>
            <a:r>
              <a:rPr sz="1090" b="0">
                <a:solidFill>
                  <a:srgbClr val="5A6570"/>
                </a:solidFill>
                <a:latin typeface="Aptos"/>
              </a:rPr>
              <a:t>It keeps the message Git has already prepared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4</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Pull Requests</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A second pair of eyes on every change</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What a pull request is</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life of a pull request</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old way and the automatic way</a:t>
            </a:r>
          </a:p>
        </p:txBody>
      </p:sp>
      <p:sp>
        <p:nvSpPr>
          <p:cNvPr id="15" name="Rectangle 14"/>
          <p:cNvSpPr/>
          <p:nvPr/>
        </p:nvSpPr>
        <p:spPr>
          <a:xfrm>
            <a:off x="2267712" y="4914900"/>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2523744" y="4805172"/>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Protecting main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28</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§2.6</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Pull request (PR)</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786384"/>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7863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640080"/>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A request to merge your branch into main. It shows your changes, lets colleagues comment and approve, runs the automatic tests — and keeps a permanent record of all of it.</a:t>
            </a:r>
          </a:p>
        </p:txBody>
      </p:sp>
      <p:sp>
        <p:nvSpPr>
          <p:cNvPr id="11" name="Rectangle 10"/>
          <p:cNvSpPr/>
          <p:nvPr/>
        </p:nvSpPr>
        <p:spPr>
          <a:xfrm>
            <a:off x="676656" y="2880360"/>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770632"/>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It catches mistakes</a:t>
            </a:r>
          </a:p>
        </p:txBody>
      </p:sp>
      <p:sp>
        <p:nvSpPr>
          <p:cNvPr id="13" name="TextBox 12"/>
          <p:cNvSpPr txBox="1"/>
          <p:nvPr/>
        </p:nvSpPr>
        <p:spPr>
          <a:xfrm>
            <a:off x="950976" y="3090672"/>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A colleague reads the change; a computer runs the tests</a:t>
            </a:r>
          </a:p>
        </p:txBody>
      </p:sp>
      <p:sp>
        <p:nvSpPr>
          <p:cNvPr id="14" name="Rectangle 13"/>
          <p:cNvSpPr/>
          <p:nvPr/>
        </p:nvSpPr>
        <p:spPr>
          <a:xfrm>
            <a:off x="676656" y="3678936"/>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569208"/>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It shares knowledge</a:t>
            </a:r>
          </a:p>
        </p:txBody>
      </p:sp>
      <p:sp>
        <p:nvSpPr>
          <p:cNvPr id="16" name="TextBox 15"/>
          <p:cNvSpPr txBox="1"/>
          <p:nvPr/>
        </p:nvSpPr>
        <p:spPr>
          <a:xfrm>
            <a:off x="950976" y="3889248"/>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The reviewer learns what changed and why</a:t>
            </a:r>
          </a:p>
        </p:txBody>
      </p:sp>
      <p:sp>
        <p:nvSpPr>
          <p:cNvPr id="17" name="Rectangle 16"/>
          <p:cNvSpPr/>
          <p:nvPr/>
        </p:nvSpPr>
        <p:spPr>
          <a:xfrm>
            <a:off x="676656" y="4477512"/>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4367784"/>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It is a rule, not a favour</a:t>
            </a:r>
          </a:p>
        </p:txBody>
      </p:sp>
      <p:sp>
        <p:nvSpPr>
          <p:cNvPr id="19" name="TextBox 18"/>
          <p:cNvSpPr txBox="1"/>
          <p:nvPr/>
        </p:nvSpPr>
        <p:spPr>
          <a:xfrm>
            <a:off x="950976" y="4687824"/>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GitHub can refuse to merge anything that is not approved</a:t>
            </a:r>
          </a:p>
        </p:txBody>
      </p:sp>
      <p:sp>
        <p:nvSpPr>
          <p:cNvPr id="20" name="Rectangle 19"/>
          <p:cNvSpPr/>
          <p:nvPr/>
        </p:nvSpPr>
        <p:spPr>
          <a:xfrm>
            <a:off x="676656" y="5276088"/>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50976" y="5166359"/>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It is evidence</a:t>
            </a:r>
          </a:p>
        </p:txBody>
      </p:sp>
      <p:sp>
        <p:nvSpPr>
          <p:cNvPr id="22" name="TextBox 21"/>
          <p:cNvSpPr txBox="1"/>
          <p:nvPr/>
        </p:nvSpPr>
        <p:spPr>
          <a:xfrm>
            <a:off x="950976" y="5486400"/>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Who wrote it, who approved it and which tests passed — recorded automatically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29</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§2.6</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The life of a pull request</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41247" y="1965960"/>
            <a:ext cx="0" cy="3328416"/>
          </a:xfrm>
          <a:prstGeom prst="line">
            <a:avLst/>
          </a:prstGeom>
          <a:ln w="25400">
            <a:solidFill>
              <a:srgbClr val="B9CBDA"/>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58368" y="1773936"/>
            <a:ext cx="365760" cy="365760"/>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658368" y="1819656"/>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1</a:t>
            </a:r>
          </a:p>
        </p:txBody>
      </p:sp>
      <p:sp>
        <p:nvSpPr>
          <p:cNvPr id="11" name="TextBox 10"/>
          <p:cNvSpPr txBox="1"/>
          <p:nvPr/>
        </p:nvSpPr>
        <p:spPr>
          <a:xfrm>
            <a:off x="1188719" y="1755648"/>
            <a:ext cx="4686300"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You push your branch and open a pull request</a:t>
            </a:r>
          </a:p>
          <a:p>
            <a:pPr>
              <a:lnSpc>
                <a:spcPct val="95000"/>
              </a:lnSpc>
              <a:spcBef>
                <a:spcPts val="200"/>
              </a:spcBef>
              <a:spcAft>
                <a:spcPts val="100"/>
              </a:spcAft>
            </a:pPr>
            <a:r>
              <a:rPr sz="1180" b="0">
                <a:solidFill>
                  <a:srgbClr val="5A6570"/>
                </a:solidFill>
                <a:latin typeface="Aptos"/>
              </a:rPr>
              <a:t>Describe what you changed and why</a:t>
            </a:r>
          </a:p>
        </p:txBody>
      </p:sp>
      <p:sp>
        <p:nvSpPr>
          <p:cNvPr id="12" name="Oval 11"/>
          <p:cNvSpPr/>
          <p:nvPr/>
        </p:nvSpPr>
        <p:spPr>
          <a:xfrm>
            <a:off x="658368" y="2825496"/>
            <a:ext cx="365760" cy="365760"/>
          </a:xfrm>
          <a:prstGeom prst="ellipse">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58368" y="2871215"/>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2</a:t>
            </a:r>
          </a:p>
        </p:txBody>
      </p:sp>
      <p:sp>
        <p:nvSpPr>
          <p:cNvPr id="14" name="TextBox 13"/>
          <p:cNvSpPr txBox="1"/>
          <p:nvPr/>
        </p:nvSpPr>
        <p:spPr>
          <a:xfrm>
            <a:off x="1188719" y="2807208"/>
            <a:ext cx="4686300"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The automatic checks start</a:t>
            </a:r>
          </a:p>
          <a:p>
            <a:pPr>
              <a:lnSpc>
                <a:spcPct val="95000"/>
              </a:lnSpc>
              <a:spcBef>
                <a:spcPts val="200"/>
              </a:spcBef>
              <a:spcAft>
                <a:spcPts val="100"/>
              </a:spcAft>
            </a:pPr>
            <a:r>
              <a:rPr sz="1180" b="0">
                <a:solidFill>
                  <a:srgbClr val="5A6570"/>
                </a:solidFill>
                <a:latin typeface="Aptos"/>
              </a:rPr>
              <a:t>GitHub runs the tests on your change</a:t>
            </a:r>
          </a:p>
        </p:txBody>
      </p:sp>
      <p:sp>
        <p:nvSpPr>
          <p:cNvPr id="15" name="Oval 14"/>
          <p:cNvSpPr/>
          <p:nvPr/>
        </p:nvSpPr>
        <p:spPr>
          <a:xfrm>
            <a:off x="658368" y="3877056"/>
            <a:ext cx="365760" cy="365760"/>
          </a:xfrm>
          <a:prstGeom prst="ellipse">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658368" y="3922776"/>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3</a:t>
            </a:r>
          </a:p>
        </p:txBody>
      </p:sp>
      <p:sp>
        <p:nvSpPr>
          <p:cNvPr id="17" name="TextBox 16"/>
          <p:cNvSpPr txBox="1"/>
          <p:nvPr/>
        </p:nvSpPr>
        <p:spPr>
          <a:xfrm>
            <a:off x="1188719" y="3858768"/>
            <a:ext cx="4686300" cy="731520"/>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The results appear on the pull request</a:t>
            </a:r>
          </a:p>
          <a:p>
            <a:pPr>
              <a:lnSpc>
                <a:spcPct val="95000"/>
              </a:lnSpc>
              <a:spcBef>
                <a:spcPts val="200"/>
              </a:spcBef>
              <a:spcAft>
                <a:spcPts val="100"/>
              </a:spcAft>
            </a:pPr>
            <a:r>
              <a:rPr sz="1180" b="0">
                <a:solidFill>
                  <a:srgbClr val="5A6570"/>
                </a:solidFill>
                <a:latin typeface="Aptos"/>
              </a:rPr>
              <a:t>Green tick = passed · red cross = something is broken</a:t>
            </a:r>
          </a:p>
        </p:txBody>
      </p:sp>
      <p:sp>
        <p:nvSpPr>
          <p:cNvPr id="18" name="Oval 17"/>
          <p:cNvSpPr/>
          <p:nvPr/>
        </p:nvSpPr>
        <p:spPr>
          <a:xfrm>
            <a:off x="658368" y="5102352"/>
            <a:ext cx="365760" cy="365760"/>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658368" y="5148072"/>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4</a:t>
            </a:r>
          </a:p>
        </p:txBody>
      </p:sp>
      <p:sp>
        <p:nvSpPr>
          <p:cNvPr id="20" name="TextBox 19"/>
          <p:cNvSpPr txBox="1"/>
          <p:nvPr/>
        </p:nvSpPr>
        <p:spPr>
          <a:xfrm>
            <a:off x="1188719" y="5084064"/>
            <a:ext cx="4686300"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The right reviewers are asked automatically</a:t>
            </a:r>
          </a:p>
          <a:p>
            <a:pPr>
              <a:lnSpc>
                <a:spcPct val="95000"/>
              </a:lnSpc>
              <a:spcBef>
                <a:spcPts val="200"/>
              </a:spcBef>
              <a:spcAft>
                <a:spcPts val="100"/>
              </a:spcAft>
            </a:pPr>
            <a:r>
              <a:rPr sz="1180" b="0">
                <a:solidFill>
                  <a:srgbClr val="5A6570"/>
                </a:solidFill>
                <a:latin typeface="Aptos"/>
              </a:rPr>
              <a:t>A file called CODEOWNERS decides who</a:t>
            </a:r>
          </a:p>
        </p:txBody>
      </p:sp>
      <p:cxnSp>
        <p:nvCxnSpPr>
          <p:cNvPr id="21" name="Connector 20"/>
          <p:cNvCxnSpPr/>
          <p:nvPr/>
        </p:nvCxnSpPr>
        <p:spPr>
          <a:xfrm>
            <a:off x="6460236" y="1965960"/>
            <a:ext cx="0" cy="3154680"/>
          </a:xfrm>
          <a:prstGeom prst="line">
            <a:avLst/>
          </a:prstGeom>
          <a:ln w="25400">
            <a:solidFill>
              <a:srgbClr val="B9CBDA"/>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277356" y="1773936"/>
            <a:ext cx="365760" cy="365760"/>
          </a:xfrm>
          <a:prstGeom prst="ellipse">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6277356" y="1819656"/>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5</a:t>
            </a:r>
          </a:p>
        </p:txBody>
      </p:sp>
      <p:sp>
        <p:nvSpPr>
          <p:cNvPr id="24" name="TextBox 23"/>
          <p:cNvSpPr txBox="1"/>
          <p:nvPr/>
        </p:nvSpPr>
        <p:spPr>
          <a:xfrm>
            <a:off x="6807708" y="1755648"/>
            <a:ext cx="4686300"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Reviewers comment; you fix and push again</a:t>
            </a:r>
          </a:p>
          <a:p>
            <a:pPr>
              <a:lnSpc>
                <a:spcPct val="95000"/>
              </a:lnSpc>
              <a:spcBef>
                <a:spcPts val="200"/>
              </a:spcBef>
              <a:spcAft>
                <a:spcPts val="100"/>
              </a:spcAft>
            </a:pPr>
            <a:r>
              <a:rPr sz="1180" b="0">
                <a:solidFill>
                  <a:srgbClr val="5A6570"/>
                </a:solidFill>
                <a:latin typeface="Aptos"/>
              </a:rPr>
              <a:t>The tests run again on every push</a:t>
            </a:r>
          </a:p>
        </p:txBody>
      </p:sp>
      <p:sp>
        <p:nvSpPr>
          <p:cNvPr id="25" name="Oval 24"/>
          <p:cNvSpPr/>
          <p:nvPr/>
        </p:nvSpPr>
        <p:spPr>
          <a:xfrm>
            <a:off x="6277356" y="2825496"/>
            <a:ext cx="365760" cy="365760"/>
          </a:xfrm>
          <a:prstGeom prst="ellipse">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6277356" y="2871215"/>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6</a:t>
            </a:r>
          </a:p>
        </p:txBody>
      </p:sp>
      <p:sp>
        <p:nvSpPr>
          <p:cNvPr id="27" name="TextBox 26"/>
          <p:cNvSpPr txBox="1"/>
          <p:nvPr/>
        </p:nvSpPr>
        <p:spPr>
          <a:xfrm>
            <a:off x="6807708" y="2807208"/>
            <a:ext cx="4686300"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A DIFFERENT person approves</a:t>
            </a:r>
          </a:p>
          <a:p>
            <a:pPr>
              <a:lnSpc>
                <a:spcPct val="95000"/>
              </a:lnSpc>
              <a:spcBef>
                <a:spcPts val="200"/>
              </a:spcBef>
              <a:spcAft>
                <a:spcPts val="100"/>
              </a:spcAft>
            </a:pPr>
            <a:r>
              <a:rPr sz="1180" b="0">
                <a:solidFill>
                  <a:srgbClr val="5A6570"/>
                </a:solidFill>
                <a:latin typeface="Aptos"/>
              </a:rPr>
              <a:t>GitHub won't let you approve your own change</a:t>
            </a:r>
          </a:p>
        </p:txBody>
      </p:sp>
      <p:sp>
        <p:nvSpPr>
          <p:cNvPr id="28" name="Oval 27"/>
          <p:cNvSpPr/>
          <p:nvPr/>
        </p:nvSpPr>
        <p:spPr>
          <a:xfrm>
            <a:off x="6277356" y="3877056"/>
            <a:ext cx="365760" cy="365760"/>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6277356" y="3922776"/>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7</a:t>
            </a:r>
          </a:p>
        </p:txBody>
      </p:sp>
      <p:sp>
        <p:nvSpPr>
          <p:cNvPr id="30" name="TextBox 29"/>
          <p:cNvSpPr txBox="1"/>
          <p:nvPr/>
        </p:nvSpPr>
        <p:spPr>
          <a:xfrm>
            <a:off x="6807708" y="3858768"/>
            <a:ext cx="4686300"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Squash and merge</a:t>
            </a:r>
          </a:p>
          <a:p>
            <a:pPr>
              <a:lnSpc>
                <a:spcPct val="95000"/>
              </a:lnSpc>
              <a:spcBef>
                <a:spcPts val="200"/>
              </a:spcBef>
              <a:spcAft>
                <a:spcPts val="100"/>
              </a:spcAft>
            </a:pPr>
            <a:r>
              <a:rPr sz="1180" b="0">
                <a:solidFill>
                  <a:srgbClr val="5A6570"/>
                </a:solidFill>
                <a:latin typeface="Aptos"/>
              </a:rPr>
              <a:t>Your change joins main as one commit</a:t>
            </a:r>
          </a:p>
        </p:txBody>
      </p:sp>
      <p:sp>
        <p:nvSpPr>
          <p:cNvPr id="31" name="Oval 30"/>
          <p:cNvSpPr/>
          <p:nvPr/>
        </p:nvSpPr>
        <p:spPr>
          <a:xfrm>
            <a:off x="6277356" y="4928616"/>
            <a:ext cx="365760" cy="365760"/>
          </a:xfrm>
          <a:prstGeom prst="ellipse">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2" name="TextBox 31"/>
          <p:cNvSpPr txBox="1"/>
          <p:nvPr/>
        </p:nvSpPr>
        <p:spPr>
          <a:xfrm>
            <a:off x="6277356" y="4974336"/>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8</a:t>
            </a:r>
          </a:p>
        </p:txBody>
      </p:sp>
      <p:sp>
        <p:nvSpPr>
          <p:cNvPr id="33" name="TextBox 32"/>
          <p:cNvSpPr txBox="1"/>
          <p:nvPr/>
        </p:nvSpPr>
        <p:spPr>
          <a:xfrm>
            <a:off x="6807708" y="4910328"/>
            <a:ext cx="4686300"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The branch is deleted</a:t>
            </a:r>
          </a:p>
          <a:p>
            <a:pPr>
              <a:lnSpc>
                <a:spcPct val="95000"/>
              </a:lnSpc>
              <a:spcBef>
                <a:spcPts val="200"/>
              </a:spcBef>
              <a:spcAft>
                <a:spcPts val="100"/>
              </a:spcAft>
            </a:pPr>
            <a:r>
              <a:rPr sz="1180" b="0">
                <a:solidFill>
                  <a:srgbClr val="5A6570"/>
                </a:solidFill>
                <a:latin typeface="Aptos"/>
              </a:rPr>
              <a:t>And the change can move on towards release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30</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APPENDIX A §A.3</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1900" b="1" i="0">
                <a:solidFill>
                  <a:srgbClr val="123A5F"/>
                </a:solidFill>
                <a:latin typeface="Aptos Display"/>
              </a:rPr>
              <a:t>Checking changes: the old way and the automatic way</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5280660" cy="3630168"/>
          </a:xfrm>
          <a:prstGeom prst="rect">
            <a:avLst/>
          </a:prstGeom>
          <a:solidFill>
            <a:srgbClr val="F3F6F8"/>
          </a:solidFill>
          <a:ln w="9525">
            <a:solidFill>
              <a:srgbClr val="5A657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280660" cy="402336"/>
          </a:xfrm>
          <a:prstGeom prst="rect">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804672" y="1837943"/>
            <a:ext cx="5006340" cy="292608"/>
          </a:xfrm>
          <a:prstGeom prst="rect">
            <a:avLst/>
          </a:prstGeom>
          <a:noFill/>
        </p:spPr>
        <p:txBody>
          <a:bodyPr wrap="square" lIns="73152" rIns="73152" tIns="36576" bIns="36576" anchor="t">
            <a:spAutoFit/>
          </a:bodyPr>
          <a:lstStyle/>
          <a:p>
            <a:pPr algn="l">
              <a:lnSpc>
                <a:spcPct val="92000"/>
              </a:lnSpc>
              <a:spcAft>
                <a:spcPts val="200"/>
              </a:spcAft>
            </a:pPr>
            <a:r>
              <a:rPr sz="1250" b="1" i="0">
                <a:solidFill>
                  <a:srgbClr val="FFFFFF"/>
                </a:solidFill>
                <a:latin typeface="Aptos"/>
              </a:rPr>
              <a:t>THE OLD WAY — A MEETING</a:t>
            </a:r>
          </a:p>
        </p:txBody>
      </p:sp>
      <p:sp>
        <p:nvSpPr>
          <p:cNvPr id="11" name="TextBox 10"/>
          <p:cNvSpPr txBox="1"/>
          <p:nvPr/>
        </p:nvSpPr>
        <p:spPr>
          <a:xfrm>
            <a:off x="804672" y="2318003"/>
            <a:ext cx="237744" cy="274320"/>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5A6570"/>
                </a:solidFill>
                <a:latin typeface="Aptos"/>
              </a:rPr>
              <a:t>•</a:t>
            </a:r>
          </a:p>
        </p:txBody>
      </p:sp>
      <p:sp>
        <p:nvSpPr>
          <p:cNvPr id="12" name="TextBox 11"/>
          <p:cNvSpPr txBox="1"/>
          <p:nvPr/>
        </p:nvSpPr>
        <p:spPr>
          <a:xfrm>
            <a:off x="1069848" y="2318003"/>
            <a:ext cx="4713732" cy="291084"/>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A developer finishes a change</a:t>
            </a:r>
          </a:p>
        </p:txBody>
      </p:sp>
      <p:sp>
        <p:nvSpPr>
          <p:cNvPr id="13" name="TextBox 12"/>
          <p:cNvSpPr txBox="1"/>
          <p:nvPr/>
        </p:nvSpPr>
        <p:spPr>
          <a:xfrm>
            <a:off x="804672" y="2924984"/>
            <a:ext cx="237744" cy="274320"/>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5A6570"/>
                </a:solidFill>
                <a:latin typeface="Aptos"/>
              </a:rPr>
              <a:t>•</a:t>
            </a:r>
          </a:p>
        </p:txBody>
      </p:sp>
      <p:sp>
        <p:nvSpPr>
          <p:cNvPr id="14" name="TextBox 13"/>
          <p:cNvSpPr txBox="1"/>
          <p:nvPr/>
        </p:nvSpPr>
        <p:spPr>
          <a:xfrm>
            <a:off x="1069848" y="2924984"/>
            <a:ext cx="4713732" cy="291084"/>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A form is filled in; a meeting approves it</a:t>
            </a:r>
          </a:p>
        </p:txBody>
      </p:sp>
      <p:sp>
        <p:nvSpPr>
          <p:cNvPr id="15" name="TextBox 14"/>
          <p:cNvSpPr txBox="1"/>
          <p:nvPr/>
        </p:nvSpPr>
        <p:spPr>
          <a:xfrm>
            <a:off x="804672" y="3531965"/>
            <a:ext cx="237744" cy="274320"/>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5A6570"/>
                </a:solidFill>
                <a:latin typeface="Aptos"/>
              </a:rPr>
              <a:t>•</a:t>
            </a:r>
          </a:p>
        </p:txBody>
      </p:sp>
      <p:sp>
        <p:nvSpPr>
          <p:cNvPr id="16" name="TextBox 15"/>
          <p:cNvSpPr txBox="1"/>
          <p:nvPr/>
        </p:nvSpPr>
        <p:spPr>
          <a:xfrm>
            <a:off x="1069848" y="3531965"/>
            <a:ext cx="4713732" cy="470725"/>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Someone copies the change to the live system by hand</a:t>
            </a:r>
          </a:p>
        </p:txBody>
      </p:sp>
      <p:sp>
        <p:nvSpPr>
          <p:cNvPr id="17" name="TextBox 16"/>
          <p:cNvSpPr txBox="1"/>
          <p:nvPr/>
        </p:nvSpPr>
        <p:spPr>
          <a:xfrm>
            <a:off x="804672" y="4318587"/>
            <a:ext cx="237744" cy="274320"/>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5A6570"/>
                </a:solidFill>
                <a:latin typeface="Aptos"/>
              </a:rPr>
              <a:t>•</a:t>
            </a:r>
          </a:p>
        </p:txBody>
      </p:sp>
      <p:sp>
        <p:nvSpPr>
          <p:cNvPr id="18" name="TextBox 17"/>
          <p:cNvSpPr txBox="1"/>
          <p:nvPr/>
        </p:nvSpPr>
        <p:spPr>
          <a:xfrm>
            <a:off x="1069848" y="4318587"/>
            <a:ext cx="4713732" cy="291084"/>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Evidence: a signed form in a folder</a:t>
            </a:r>
          </a:p>
        </p:txBody>
      </p:sp>
      <p:sp>
        <p:nvSpPr>
          <p:cNvPr id="19" name="TextBox 18"/>
          <p:cNvSpPr txBox="1"/>
          <p:nvPr/>
        </p:nvSpPr>
        <p:spPr>
          <a:xfrm>
            <a:off x="804672" y="4925568"/>
            <a:ext cx="237744" cy="274320"/>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B3261E"/>
                </a:solidFill>
                <a:latin typeface="Aptos"/>
              </a:rPr>
              <a:t>✗</a:t>
            </a:r>
          </a:p>
        </p:txBody>
      </p:sp>
      <p:sp>
        <p:nvSpPr>
          <p:cNvPr id="20" name="TextBox 19"/>
          <p:cNvSpPr txBox="1"/>
          <p:nvPr/>
        </p:nvSpPr>
        <p:spPr>
          <a:xfrm>
            <a:off x="1069848" y="4925568"/>
            <a:ext cx="4713732" cy="291084"/>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Covers only the changes that reached the meeting</a:t>
            </a:r>
          </a:p>
        </p:txBody>
      </p:sp>
      <p:sp>
        <p:nvSpPr>
          <p:cNvPr id="21" name="Rectangle 20"/>
          <p:cNvSpPr/>
          <p:nvPr/>
        </p:nvSpPr>
        <p:spPr>
          <a:xfrm>
            <a:off x="6249924" y="1783080"/>
            <a:ext cx="5280660" cy="3630168"/>
          </a:xfrm>
          <a:prstGeom prst="rect">
            <a:avLst/>
          </a:prstGeom>
          <a:solidFill>
            <a:srgbClr val="EDF4EA"/>
          </a:solidFill>
          <a:ln w="9525">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Rectangle 21"/>
          <p:cNvSpPr/>
          <p:nvPr/>
        </p:nvSpPr>
        <p:spPr>
          <a:xfrm>
            <a:off x="6249924" y="1783080"/>
            <a:ext cx="5280660" cy="402336"/>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6396228" y="1837943"/>
            <a:ext cx="5006340" cy="292608"/>
          </a:xfrm>
          <a:prstGeom prst="rect">
            <a:avLst/>
          </a:prstGeom>
          <a:noFill/>
        </p:spPr>
        <p:txBody>
          <a:bodyPr wrap="square" lIns="73152" rIns="73152" tIns="36576" bIns="36576" anchor="t">
            <a:spAutoFit/>
          </a:bodyPr>
          <a:lstStyle/>
          <a:p>
            <a:pPr algn="l">
              <a:lnSpc>
                <a:spcPct val="92000"/>
              </a:lnSpc>
              <a:spcAft>
                <a:spcPts val="200"/>
              </a:spcAft>
            </a:pPr>
            <a:r>
              <a:rPr sz="1250" b="1" i="0">
                <a:solidFill>
                  <a:srgbClr val="FFFFFF"/>
                </a:solidFill>
                <a:latin typeface="Aptos"/>
              </a:rPr>
              <a:t>THE AUTOMATIC WAY — A PULL REQUEST</a:t>
            </a:r>
          </a:p>
        </p:txBody>
      </p:sp>
      <p:sp>
        <p:nvSpPr>
          <p:cNvPr id="24" name="TextBox 23"/>
          <p:cNvSpPr txBox="1"/>
          <p:nvPr/>
        </p:nvSpPr>
        <p:spPr>
          <a:xfrm>
            <a:off x="6396228" y="2318003"/>
            <a:ext cx="237744" cy="274320"/>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3E7D32"/>
                </a:solidFill>
                <a:latin typeface="Aptos"/>
              </a:rPr>
              <a:t>•</a:t>
            </a:r>
          </a:p>
        </p:txBody>
      </p:sp>
      <p:sp>
        <p:nvSpPr>
          <p:cNvPr id="25" name="TextBox 24"/>
          <p:cNvSpPr txBox="1"/>
          <p:nvPr/>
        </p:nvSpPr>
        <p:spPr>
          <a:xfrm>
            <a:off x="6661404" y="2318003"/>
            <a:ext cx="4713732" cy="470725"/>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GitHub refuses to merge until a DIFFERENT person approves</a:t>
            </a:r>
          </a:p>
        </p:txBody>
      </p:sp>
      <p:sp>
        <p:nvSpPr>
          <p:cNvPr id="26" name="TextBox 25"/>
          <p:cNvSpPr txBox="1"/>
          <p:nvPr/>
        </p:nvSpPr>
        <p:spPr>
          <a:xfrm>
            <a:off x="6396228" y="2969894"/>
            <a:ext cx="237744" cy="274320"/>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3E7D32"/>
                </a:solidFill>
                <a:latin typeface="Aptos"/>
              </a:rPr>
              <a:t>•</a:t>
            </a:r>
          </a:p>
        </p:txBody>
      </p:sp>
      <p:sp>
        <p:nvSpPr>
          <p:cNvPr id="27" name="TextBox 26"/>
          <p:cNvSpPr txBox="1"/>
          <p:nvPr/>
        </p:nvSpPr>
        <p:spPr>
          <a:xfrm>
            <a:off x="6661404" y="2969894"/>
            <a:ext cx="4713732" cy="291084"/>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The tests must pass before the merge button works</a:t>
            </a:r>
          </a:p>
        </p:txBody>
      </p:sp>
      <p:sp>
        <p:nvSpPr>
          <p:cNvPr id="28" name="TextBox 27"/>
          <p:cNvSpPr txBox="1"/>
          <p:nvPr/>
        </p:nvSpPr>
        <p:spPr>
          <a:xfrm>
            <a:off x="6396228" y="3442144"/>
            <a:ext cx="237744" cy="274320"/>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3E7D32"/>
                </a:solidFill>
                <a:latin typeface="Aptos"/>
              </a:rPr>
              <a:t>•</a:t>
            </a:r>
          </a:p>
        </p:txBody>
      </p:sp>
      <p:sp>
        <p:nvSpPr>
          <p:cNvPr id="29" name="TextBox 28"/>
          <p:cNvSpPr txBox="1"/>
          <p:nvPr/>
        </p:nvSpPr>
        <p:spPr>
          <a:xfrm>
            <a:off x="6661404" y="3442144"/>
            <a:ext cx="4713732" cy="470725"/>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The pipeline releases it — nobody copies files by hand</a:t>
            </a:r>
          </a:p>
        </p:txBody>
      </p:sp>
      <p:sp>
        <p:nvSpPr>
          <p:cNvPr id="30" name="TextBox 29"/>
          <p:cNvSpPr txBox="1"/>
          <p:nvPr/>
        </p:nvSpPr>
        <p:spPr>
          <a:xfrm>
            <a:off x="6396228" y="4094035"/>
            <a:ext cx="237744" cy="274320"/>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3E7D32"/>
                </a:solidFill>
                <a:latin typeface="Aptos"/>
              </a:rPr>
              <a:t>•</a:t>
            </a:r>
          </a:p>
        </p:txBody>
      </p:sp>
      <p:sp>
        <p:nvSpPr>
          <p:cNvPr id="31" name="TextBox 30"/>
          <p:cNvSpPr txBox="1"/>
          <p:nvPr/>
        </p:nvSpPr>
        <p:spPr>
          <a:xfrm>
            <a:off x="6661404" y="4094035"/>
            <a:ext cx="4713732" cy="470725"/>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Who wrote it, who approved it, which tests passed: all recorded</a:t>
            </a:r>
          </a:p>
        </p:txBody>
      </p:sp>
      <p:sp>
        <p:nvSpPr>
          <p:cNvPr id="32" name="TextBox 31"/>
          <p:cNvSpPr txBox="1"/>
          <p:nvPr/>
        </p:nvSpPr>
        <p:spPr>
          <a:xfrm>
            <a:off x="6396228" y="4745926"/>
            <a:ext cx="237744" cy="274320"/>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3E7D32"/>
                </a:solidFill>
                <a:latin typeface="Aptos"/>
              </a:rPr>
              <a:t>✔</a:t>
            </a:r>
          </a:p>
        </p:txBody>
      </p:sp>
      <p:sp>
        <p:nvSpPr>
          <p:cNvPr id="33" name="TextBox 32"/>
          <p:cNvSpPr txBox="1"/>
          <p:nvPr/>
        </p:nvSpPr>
        <p:spPr>
          <a:xfrm>
            <a:off x="6661404" y="4745926"/>
            <a:ext cx="4713732" cy="470725"/>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Covers every change, and produces the evidence an auditor asks for</a:t>
            </a:r>
          </a:p>
        </p:txBody>
      </p:sp>
      <p:sp>
        <p:nvSpPr>
          <p:cNvPr id="34" name="Rectangle 33"/>
          <p:cNvSpPr/>
          <p:nvPr/>
        </p:nvSpPr>
        <p:spPr>
          <a:xfrm>
            <a:off x="658368" y="5522975"/>
            <a:ext cx="10872216" cy="40233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5" name="TextBox 34"/>
          <p:cNvSpPr txBox="1"/>
          <p:nvPr/>
        </p:nvSpPr>
        <p:spPr>
          <a:xfrm>
            <a:off x="804672" y="5586983"/>
            <a:ext cx="1673352"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SAY IT THIS WAY</a:t>
            </a:r>
          </a:p>
        </p:txBody>
      </p:sp>
      <p:sp>
        <p:nvSpPr>
          <p:cNvPr id="36" name="TextBox 35"/>
          <p:cNvSpPr txBox="1"/>
          <p:nvPr/>
        </p:nvSpPr>
        <p:spPr>
          <a:xfrm>
            <a:off x="2468879" y="5577839"/>
            <a:ext cx="8897112" cy="29260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Two people check every change — and the system, not a meeting, makes sure of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31</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§2.6</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030" b="1" i="0">
                <a:solidFill>
                  <a:srgbClr val="123A5F"/>
                </a:solidFill>
                <a:latin typeface="Aptos Display"/>
              </a:rPr>
              <a:t>Protecting main — rules GitHub enforces for you</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4401738"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Setting on main</a:t>
            </a:r>
          </a:p>
        </p:txBody>
      </p:sp>
      <p:sp>
        <p:nvSpPr>
          <p:cNvPr id="10" name="TextBox 9"/>
          <p:cNvSpPr txBox="1"/>
          <p:nvPr/>
        </p:nvSpPr>
        <p:spPr>
          <a:xfrm>
            <a:off x="5316138" y="1828800"/>
            <a:ext cx="6141293"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What it means in practice</a:t>
            </a:r>
          </a:p>
        </p:txBody>
      </p:sp>
      <p:sp>
        <p:nvSpPr>
          <p:cNvPr id="11" name="Rectangle 10"/>
          <p:cNvSpPr/>
          <p:nvPr/>
        </p:nvSpPr>
        <p:spPr>
          <a:xfrm>
            <a:off x="658368" y="2167128"/>
            <a:ext cx="10872216" cy="528066"/>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749808" y="2185416"/>
            <a:ext cx="4401738" cy="49149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Require a pull request before merging</a:t>
            </a:r>
          </a:p>
        </p:txBody>
      </p:sp>
      <p:sp>
        <p:nvSpPr>
          <p:cNvPr id="13" name="TextBox 12"/>
          <p:cNvSpPr txBox="1"/>
          <p:nvPr/>
        </p:nvSpPr>
        <p:spPr>
          <a:xfrm>
            <a:off x="5316138" y="2185416"/>
            <a:ext cx="6141293"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Nobody — not even an admin — can change main directly</a:t>
            </a:r>
          </a:p>
        </p:txBody>
      </p:sp>
      <p:sp>
        <p:nvSpPr>
          <p:cNvPr id="14" name="Rectangle 13"/>
          <p:cNvSpPr/>
          <p:nvPr/>
        </p:nvSpPr>
        <p:spPr>
          <a:xfrm>
            <a:off x="658368" y="2695194"/>
            <a:ext cx="10872216" cy="736092"/>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749808" y="2713482"/>
            <a:ext cx="4401738"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Require an approval</a:t>
            </a:r>
          </a:p>
        </p:txBody>
      </p:sp>
      <p:sp>
        <p:nvSpPr>
          <p:cNvPr id="16" name="TextBox 15"/>
          <p:cNvSpPr txBox="1"/>
          <p:nvPr/>
        </p:nvSpPr>
        <p:spPr>
          <a:xfrm>
            <a:off x="5316138" y="2713482"/>
            <a:ext cx="6141293"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second person must say yes; you cannot approve your own work</a:t>
            </a:r>
          </a:p>
        </p:txBody>
      </p:sp>
      <p:sp>
        <p:nvSpPr>
          <p:cNvPr id="17" name="Rectangle 16"/>
          <p:cNvSpPr/>
          <p:nvPr/>
        </p:nvSpPr>
        <p:spPr>
          <a:xfrm>
            <a:off x="658368" y="3431286"/>
            <a:ext cx="10872216" cy="736092"/>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749808" y="3449574"/>
            <a:ext cx="4401738"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Dismiss old approvals when new changes arrive</a:t>
            </a:r>
          </a:p>
        </p:txBody>
      </p:sp>
      <p:sp>
        <p:nvSpPr>
          <p:cNvPr id="19" name="TextBox 18"/>
          <p:cNvSpPr txBox="1"/>
          <p:nvPr/>
        </p:nvSpPr>
        <p:spPr>
          <a:xfrm>
            <a:off x="5316138" y="3449574"/>
            <a:ext cx="6141293"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An approval covers the final version, not an early draft</a:t>
            </a:r>
          </a:p>
        </p:txBody>
      </p:sp>
      <p:sp>
        <p:nvSpPr>
          <p:cNvPr id="20" name="Rectangle 19"/>
          <p:cNvSpPr/>
          <p:nvPr/>
        </p:nvSpPr>
        <p:spPr>
          <a:xfrm>
            <a:off x="658368" y="4167378"/>
            <a:ext cx="10872216" cy="52806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4185665"/>
            <a:ext cx="4401738" cy="49149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Require the checks to pass</a:t>
            </a:r>
          </a:p>
        </p:txBody>
      </p:sp>
      <p:sp>
        <p:nvSpPr>
          <p:cNvPr id="22" name="TextBox 21"/>
          <p:cNvSpPr txBox="1"/>
          <p:nvPr/>
        </p:nvSpPr>
        <p:spPr>
          <a:xfrm>
            <a:off x="5316138" y="4185665"/>
            <a:ext cx="6141293"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If the tests are red, the merge button stays grey</a:t>
            </a:r>
          </a:p>
        </p:txBody>
      </p:sp>
      <p:sp>
        <p:nvSpPr>
          <p:cNvPr id="23" name="Rectangle 22"/>
          <p:cNvSpPr/>
          <p:nvPr/>
        </p:nvSpPr>
        <p:spPr>
          <a:xfrm>
            <a:off x="658368" y="4695444"/>
            <a:ext cx="10872216" cy="528066"/>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749808" y="4713731"/>
            <a:ext cx="4401738" cy="49149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Block force-pushes and deletion</a:t>
            </a:r>
          </a:p>
        </p:txBody>
      </p:sp>
      <p:sp>
        <p:nvSpPr>
          <p:cNvPr id="25" name="TextBox 24"/>
          <p:cNvSpPr txBox="1"/>
          <p:nvPr/>
        </p:nvSpPr>
        <p:spPr>
          <a:xfrm>
            <a:off x="5316138" y="4713731"/>
            <a:ext cx="6141293"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Nobody can rewrite or delete main's history</a:t>
            </a:r>
          </a:p>
        </p:txBody>
      </p:sp>
      <p:sp>
        <p:nvSpPr>
          <p:cNvPr id="26" name="Rectangle 25"/>
          <p:cNvSpPr/>
          <p:nvPr/>
        </p:nvSpPr>
        <p:spPr>
          <a:xfrm>
            <a:off x="658368" y="5522975"/>
            <a:ext cx="10872216" cy="40233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7" name="TextBox 26"/>
          <p:cNvSpPr txBox="1"/>
          <p:nvPr/>
        </p:nvSpPr>
        <p:spPr>
          <a:xfrm>
            <a:off x="804672" y="5586983"/>
            <a:ext cx="2211019"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YOU DO THIS IN LAB 03</a:t>
            </a:r>
          </a:p>
        </p:txBody>
      </p:sp>
      <p:sp>
        <p:nvSpPr>
          <p:cNvPr id="28" name="TextBox 27"/>
          <p:cNvSpPr txBox="1"/>
          <p:nvPr/>
        </p:nvSpPr>
        <p:spPr>
          <a:xfrm>
            <a:off x="3006547" y="5577839"/>
            <a:ext cx="8359444" cy="29260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Then you try to push straight to main — and watch GitHub refuse.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32</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LAB 03  ·  STARTED TOGETHER IN CLASS  ·  FINISH AFTER</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030" b="1" i="0">
                <a:solidFill>
                  <a:srgbClr val="123A5F"/>
                </a:solidFill>
                <a:latin typeface="Aptos Display"/>
              </a:rPr>
              <a:t>Branching, Pull Requests and Team Collaboration</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658368"/>
          </a:xfrm>
          <a:prstGeom prst="rect">
            <a:avLst/>
          </a:prstGeom>
          <a:solidFill>
            <a:srgbClr val="EDF4EA"/>
          </a:solidFill>
          <a:ln w="12700">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841247" y="1837943"/>
            <a:ext cx="1143000" cy="256032"/>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3E7D32"/>
                </a:solidFill>
                <a:latin typeface="Aptos"/>
              </a:rPr>
              <a:t>OBJECTIVE</a:t>
            </a:r>
          </a:p>
        </p:txBody>
      </p:sp>
      <p:sp>
        <p:nvSpPr>
          <p:cNvPr id="10" name="TextBox 9"/>
          <p:cNvSpPr txBox="1"/>
          <p:nvPr/>
        </p:nvSpPr>
        <p:spPr>
          <a:xfrm>
            <a:off x="841247" y="2057400"/>
            <a:ext cx="10506456" cy="347472"/>
          </a:xfrm>
          <a:prstGeom prst="rect">
            <a:avLst/>
          </a:prstGeom>
          <a:noFill/>
        </p:spPr>
        <p:txBody>
          <a:bodyPr wrap="square" lIns="73152" rIns="73152" tIns="36576" bIns="36576" anchor="t">
            <a:spAutoFit/>
          </a:bodyPr>
          <a:lstStyle/>
          <a:p>
            <a:pPr algn="l">
              <a:lnSpc>
                <a:spcPct val="92000"/>
              </a:lnSpc>
              <a:spcAft>
                <a:spcPts val="200"/>
              </a:spcAft>
            </a:pPr>
            <a:r>
              <a:rPr sz="1280" b="0" i="0">
                <a:solidFill>
                  <a:srgbClr val="123A5F"/>
                </a:solidFill>
                <a:latin typeface="Aptos"/>
              </a:rPr>
              <a:t>Put your project on GitHub, protect main, and deliberately change the same line as a colleague — then sort it out.</a:t>
            </a:r>
          </a:p>
        </p:txBody>
      </p:sp>
      <p:sp>
        <p:nvSpPr>
          <p:cNvPr id="11" name="TextBox 10"/>
          <p:cNvSpPr txBox="1"/>
          <p:nvPr/>
        </p:nvSpPr>
        <p:spPr>
          <a:xfrm>
            <a:off x="658368" y="2660904"/>
            <a:ext cx="10872216" cy="274320"/>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117A69"/>
                </a:solidFill>
                <a:latin typeface="Aptos"/>
              </a:rPr>
              <a:t>YOU WILL</a:t>
            </a:r>
          </a:p>
        </p:txBody>
      </p:sp>
      <p:sp>
        <p:nvSpPr>
          <p:cNvPr id="12" name="Oval 11"/>
          <p:cNvSpPr/>
          <p:nvPr/>
        </p:nvSpPr>
        <p:spPr>
          <a:xfrm>
            <a:off x="676656" y="298551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76656" y="300380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4" name="TextBox 13"/>
          <p:cNvSpPr txBox="1"/>
          <p:nvPr/>
        </p:nvSpPr>
        <p:spPr>
          <a:xfrm>
            <a:off x="1042415" y="295808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Create the shared project on GitHub and add your teammates</a:t>
            </a:r>
          </a:p>
        </p:txBody>
      </p:sp>
      <p:sp>
        <p:nvSpPr>
          <p:cNvPr id="15" name="Oval 14"/>
          <p:cNvSpPr/>
          <p:nvPr/>
        </p:nvSpPr>
        <p:spPr>
          <a:xfrm>
            <a:off x="676656" y="335127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676656" y="336956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17" name="TextBox 16"/>
          <p:cNvSpPr txBox="1"/>
          <p:nvPr/>
        </p:nvSpPr>
        <p:spPr>
          <a:xfrm>
            <a:off x="1042415" y="332384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Protect main: an approval is required, and nobody can push straight in</a:t>
            </a:r>
          </a:p>
        </p:txBody>
      </p:sp>
      <p:sp>
        <p:nvSpPr>
          <p:cNvPr id="18" name="Oval 17"/>
          <p:cNvSpPr/>
          <p:nvPr/>
        </p:nvSpPr>
        <p:spPr>
          <a:xfrm>
            <a:off x="676656" y="3717035"/>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676656" y="373532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0" name="TextBox 19"/>
          <p:cNvSpPr txBox="1"/>
          <p:nvPr/>
        </p:nvSpPr>
        <p:spPr>
          <a:xfrm>
            <a:off x="1042415" y="368960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Try to push straight to main — and watch GitHub refuse</a:t>
            </a:r>
          </a:p>
        </p:txBody>
      </p:sp>
      <p:sp>
        <p:nvSpPr>
          <p:cNvPr id="21" name="Oval 20"/>
          <p:cNvSpPr/>
          <p:nvPr/>
        </p:nvSpPr>
        <p:spPr>
          <a:xfrm>
            <a:off x="676656" y="408279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676656" y="410108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3" name="TextBox 22"/>
          <p:cNvSpPr txBox="1"/>
          <p:nvPr/>
        </p:nvSpPr>
        <p:spPr>
          <a:xfrm>
            <a:off x="1042415" y="405536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Two people change the same line, on different branches</a:t>
            </a:r>
          </a:p>
        </p:txBody>
      </p:sp>
      <p:sp>
        <p:nvSpPr>
          <p:cNvPr id="24" name="Oval 23"/>
          <p:cNvSpPr/>
          <p:nvPr/>
        </p:nvSpPr>
        <p:spPr>
          <a:xfrm>
            <a:off x="676656" y="444855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76656" y="446684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26" name="TextBox 25"/>
          <p:cNvSpPr txBox="1"/>
          <p:nvPr/>
        </p:nvSpPr>
        <p:spPr>
          <a:xfrm>
            <a:off x="1042415" y="442112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Resolve the conflict, run the tests, and merge</a:t>
            </a:r>
          </a:p>
        </p:txBody>
      </p:sp>
      <p:sp>
        <p:nvSpPr>
          <p:cNvPr id="27" name="Oval 26"/>
          <p:cNvSpPr/>
          <p:nvPr/>
        </p:nvSpPr>
        <p:spPr>
          <a:xfrm>
            <a:off x="676656" y="481431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8" name="TextBox 27"/>
          <p:cNvSpPr txBox="1"/>
          <p:nvPr/>
        </p:nvSpPr>
        <p:spPr>
          <a:xfrm>
            <a:off x="676656" y="483260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6</a:t>
            </a:r>
          </a:p>
        </p:txBody>
      </p:sp>
      <p:sp>
        <p:nvSpPr>
          <p:cNvPr id="29" name="TextBox 28"/>
          <p:cNvSpPr txBox="1"/>
          <p:nvPr/>
        </p:nvSpPr>
        <p:spPr>
          <a:xfrm>
            <a:off x="1042415" y="478688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Add a pull request template and CODEOWNERS; see everyone's branches as a picture</a:t>
            </a:r>
          </a:p>
        </p:txBody>
      </p:sp>
      <p:sp>
        <p:nvSpPr>
          <p:cNvPr id="30" name="Rectangle 29"/>
          <p:cNvSpPr/>
          <p:nvPr/>
        </p:nvSpPr>
        <p:spPr>
          <a:xfrm>
            <a:off x="658368" y="5394960"/>
            <a:ext cx="10872216" cy="475488"/>
          </a:xfrm>
          <a:prstGeom prst="rect">
            <a:avLst/>
          </a:prstGeom>
          <a:solidFill>
            <a:srgbClr val="ECF1F6"/>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841247" y="5440680"/>
            <a:ext cx="105156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117A69"/>
                </a:solidFill>
                <a:latin typeface="Aptos"/>
              </a:rPr>
              <a:t>OUTCOME</a:t>
            </a:r>
          </a:p>
        </p:txBody>
      </p:sp>
      <p:sp>
        <p:nvSpPr>
          <p:cNvPr id="32" name="TextBox 31"/>
          <p:cNvSpPr txBox="1"/>
          <p:nvPr/>
        </p:nvSpPr>
        <p:spPr>
          <a:xfrm>
            <a:off x="1892808" y="5431536"/>
            <a:ext cx="9454896" cy="384048"/>
          </a:xfrm>
          <a:prstGeom prst="rect">
            <a:avLst/>
          </a:prstGeom>
          <a:noFill/>
        </p:spPr>
        <p:txBody>
          <a:bodyPr wrap="square" lIns="73152" rIns="73152" tIns="36576" bIns="36576" anchor="ctr">
            <a:spAutoFit/>
          </a:bodyPr>
          <a:lstStyle/>
          <a:p>
            <a:pPr algn="l">
              <a:lnSpc>
                <a:spcPct val="92000"/>
              </a:lnSpc>
              <a:spcAft>
                <a:spcPts val="200"/>
              </a:spcAft>
            </a:pPr>
            <a:r>
              <a:rPr sz="1200" b="0" i="0">
                <a:solidFill>
                  <a:srgbClr val="123A5F"/>
                </a:solidFill>
                <a:latin typeface="Aptos"/>
              </a:rPr>
              <a:t>A shared, protected GitHub project with two merged pull requests and one resolved conflict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5</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Continuous Integration</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Letting a computer check every change</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What CI means</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simple rules</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From your change to the live system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34</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§2.7</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Continuous Integration (CI)</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786384"/>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7863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640080"/>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Everyone adds their work to main often — at least once a day — and every time they do, a computer automatically builds the project and runs the tests, where the whole team can see the result.</a:t>
            </a:r>
          </a:p>
        </p:txBody>
      </p:sp>
      <p:sp>
        <p:nvSpPr>
          <p:cNvPr id="11" name="Rectangle 10"/>
          <p:cNvSpPr/>
          <p:nvPr/>
        </p:nvSpPr>
        <p:spPr>
          <a:xfrm>
            <a:off x="676656" y="2880360"/>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770632"/>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"Often" is the key word</a:t>
            </a:r>
          </a:p>
        </p:txBody>
      </p:sp>
      <p:sp>
        <p:nvSpPr>
          <p:cNvPr id="13" name="TextBox 12"/>
          <p:cNvSpPr txBox="1"/>
          <p:nvPr/>
        </p:nvSpPr>
        <p:spPr>
          <a:xfrm>
            <a:off x="950976" y="3090672"/>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Small changes combined every day rarely clash</a:t>
            </a:r>
          </a:p>
        </p:txBody>
      </p:sp>
      <p:sp>
        <p:nvSpPr>
          <p:cNvPr id="14" name="Rectangle 13"/>
          <p:cNvSpPr/>
          <p:nvPr/>
        </p:nvSpPr>
        <p:spPr>
          <a:xfrm>
            <a:off x="676656" y="3678936"/>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569208"/>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"Automatically" means nobody has to remember</a:t>
            </a:r>
          </a:p>
        </p:txBody>
      </p:sp>
      <p:sp>
        <p:nvSpPr>
          <p:cNvPr id="16" name="TextBox 15"/>
          <p:cNvSpPr txBox="1"/>
          <p:nvPr/>
        </p:nvSpPr>
        <p:spPr>
          <a:xfrm>
            <a:off x="950976" y="3889248"/>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Every push starts the tests</a:t>
            </a:r>
          </a:p>
        </p:txBody>
      </p:sp>
      <p:sp>
        <p:nvSpPr>
          <p:cNvPr id="17" name="Rectangle 16"/>
          <p:cNvSpPr/>
          <p:nvPr/>
        </p:nvSpPr>
        <p:spPr>
          <a:xfrm>
            <a:off x="676656" y="4477512"/>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4367784"/>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"The whole team can see" makes it matter</a:t>
            </a:r>
          </a:p>
        </p:txBody>
      </p:sp>
      <p:sp>
        <p:nvSpPr>
          <p:cNvPr id="19" name="TextBox 18"/>
          <p:cNvSpPr txBox="1"/>
          <p:nvPr/>
        </p:nvSpPr>
        <p:spPr>
          <a:xfrm>
            <a:off x="950976" y="4687824"/>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A red result gets noticed and fixed straight away</a:t>
            </a:r>
          </a:p>
        </p:txBody>
      </p:sp>
      <p:sp>
        <p:nvSpPr>
          <p:cNvPr id="20" name="Rectangle 19"/>
          <p:cNvSpPr/>
          <p:nvPr/>
        </p:nvSpPr>
        <p:spPr>
          <a:xfrm>
            <a:off x="676656" y="5276088"/>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50976" y="5166359"/>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A build server alone is not CI</a:t>
            </a:r>
          </a:p>
        </p:txBody>
      </p:sp>
      <p:sp>
        <p:nvSpPr>
          <p:cNvPr id="22" name="TextBox 21"/>
          <p:cNvSpPr txBox="1"/>
          <p:nvPr/>
        </p:nvSpPr>
        <p:spPr>
          <a:xfrm>
            <a:off x="950976" y="5486400"/>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CI is the habit of small, frequent, tested changes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35</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§2.7</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The simple rules that make CI work</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4510460"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Rule</a:t>
            </a:r>
          </a:p>
        </p:txBody>
      </p:sp>
      <p:sp>
        <p:nvSpPr>
          <p:cNvPr id="10" name="TextBox 9"/>
          <p:cNvSpPr txBox="1"/>
          <p:nvPr/>
        </p:nvSpPr>
        <p:spPr>
          <a:xfrm>
            <a:off x="5424860" y="1828800"/>
            <a:ext cx="6032571"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Why</a:t>
            </a:r>
          </a:p>
        </p:txBody>
      </p:sp>
      <p:sp>
        <p:nvSpPr>
          <p:cNvPr id="11" name="Rectangle 10"/>
          <p:cNvSpPr/>
          <p:nvPr/>
        </p:nvSpPr>
        <p:spPr>
          <a:xfrm>
            <a:off x="658368" y="2167128"/>
            <a:ext cx="10872216" cy="528066"/>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749808" y="2185416"/>
            <a:ext cx="4510460" cy="49149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Add your work to main every day</a:t>
            </a:r>
          </a:p>
        </p:txBody>
      </p:sp>
      <p:sp>
        <p:nvSpPr>
          <p:cNvPr id="13" name="TextBox 12"/>
          <p:cNvSpPr txBox="1"/>
          <p:nvPr/>
        </p:nvSpPr>
        <p:spPr>
          <a:xfrm>
            <a:off x="5424860" y="2185416"/>
            <a:ext cx="6032571"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Small changes are easy to combine</a:t>
            </a:r>
          </a:p>
        </p:txBody>
      </p:sp>
      <p:sp>
        <p:nvSpPr>
          <p:cNvPr id="14" name="Rectangle 13"/>
          <p:cNvSpPr/>
          <p:nvPr/>
        </p:nvSpPr>
        <p:spPr>
          <a:xfrm>
            <a:off x="658368" y="2695194"/>
            <a:ext cx="10872216" cy="52806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749808" y="2713482"/>
            <a:ext cx="4510460" cy="49149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One command builds and tests everything</a:t>
            </a:r>
          </a:p>
        </p:txBody>
      </p:sp>
      <p:sp>
        <p:nvSpPr>
          <p:cNvPr id="16" name="TextBox 15"/>
          <p:cNvSpPr txBox="1"/>
          <p:nvPr/>
        </p:nvSpPr>
        <p:spPr>
          <a:xfrm>
            <a:off x="5424860" y="2713482"/>
            <a:ext cx="6032571"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Anyone — or any computer — gets the same result</a:t>
            </a:r>
          </a:p>
        </p:txBody>
      </p:sp>
      <p:sp>
        <p:nvSpPr>
          <p:cNvPr id="17" name="Rectangle 16"/>
          <p:cNvSpPr/>
          <p:nvPr/>
        </p:nvSpPr>
        <p:spPr>
          <a:xfrm>
            <a:off x="658368" y="3223260"/>
            <a:ext cx="10872216" cy="528066"/>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749808" y="3241548"/>
            <a:ext cx="4510460" cy="49149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Fix a failing build immediately</a:t>
            </a:r>
          </a:p>
        </p:txBody>
      </p:sp>
      <p:sp>
        <p:nvSpPr>
          <p:cNvPr id="19" name="TextBox 18"/>
          <p:cNvSpPr txBox="1"/>
          <p:nvPr/>
        </p:nvSpPr>
        <p:spPr>
          <a:xfrm>
            <a:off x="5424860" y="3241548"/>
            <a:ext cx="6032571"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broken main blocks the whole team</a:t>
            </a:r>
          </a:p>
        </p:txBody>
      </p:sp>
      <p:sp>
        <p:nvSpPr>
          <p:cNvPr id="20" name="Rectangle 19"/>
          <p:cNvSpPr/>
          <p:nvPr/>
        </p:nvSpPr>
        <p:spPr>
          <a:xfrm>
            <a:off x="658368" y="3751326"/>
            <a:ext cx="10872216" cy="52806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769613"/>
            <a:ext cx="4510460" cy="49149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Keep the checks under 10 minutes</a:t>
            </a:r>
          </a:p>
        </p:txBody>
      </p:sp>
      <p:sp>
        <p:nvSpPr>
          <p:cNvPr id="22" name="TextBox 21"/>
          <p:cNvSpPr txBox="1"/>
          <p:nvPr/>
        </p:nvSpPr>
        <p:spPr>
          <a:xfrm>
            <a:off x="5424860" y="3769613"/>
            <a:ext cx="6032571"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If people have to wait longer, they stop waiting</a:t>
            </a:r>
          </a:p>
        </p:txBody>
      </p:sp>
      <p:sp>
        <p:nvSpPr>
          <p:cNvPr id="23" name="Rectangle 22"/>
          <p:cNvSpPr/>
          <p:nvPr/>
        </p:nvSpPr>
        <p:spPr>
          <a:xfrm>
            <a:off x="658368" y="4279392"/>
            <a:ext cx="10872216" cy="736092"/>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749808" y="4297679"/>
            <a:ext cx="4510460"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Build once, and use that same build everywhere</a:t>
            </a:r>
          </a:p>
        </p:txBody>
      </p:sp>
      <p:sp>
        <p:nvSpPr>
          <p:cNvPr id="25" name="TextBox 24"/>
          <p:cNvSpPr txBox="1"/>
          <p:nvPr/>
        </p:nvSpPr>
        <p:spPr>
          <a:xfrm>
            <a:off x="5424860" y="4297679"/>
            <a:ext cx="6032571"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Otherwise what you tested is not what you release</a:t>
            </a:r>
          </a:p>
        </p:txBody>
      </p:sp>
      <p:sp>
        <p:nvSpPr>
          <p:cNvPr id="26" name="Rectangle 25"/>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7" name="TextBox 26"/>
          <p:cNvSpPr txBox="1"/>
          <p:nvPr/>
        </p:nvSpPr>
        <p:spPr>
          <a:xfrm>
            <a:off x="804672" y="5404104"/>
            <a:ext cx="1404518"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A QUICK TEST</a:t>
            </a:r>
          </a:p>
        </p:txBody>
      </p:sp>
      <p:sp>
        <p:nvSpPr>
          <p:cNvPr id="28" name="TextBox 27"/>
          <p:cNvSpPr txBox="1"/>
          <p:nvPr/>
        </p:nvSpPr>
        <p:spPr>
          <a:xfrm>
            <a:off x="2200046" y="5394959"/>
            <a:ext cx="9165945"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Does everyone add work to main daily? Does every change run the tests? Is a red build fixed first? Three yeses = Continuous Integration.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36</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INTRODUCED TODAY · MORE ON DAY 5</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720" b="1" i="0">
                <a:solidFill>
                  <a:srgbClr val="123A5F"/>
                </a:solidFill>
                <a:latin typeface="Aptos Display"/>
              </a:rPr>
              <a:t>From your change to the live system</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946574"/>
            <a:ext cx="2430018" cy="2166305"/>
          </a:xfrm>
          <a:prstGeom prst="rect">
            <a:avLst/>
          </a:prstGeom>
          <a:solidFill>
            <a:srgbClr val="F3F6F8"/>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946574"/>
            <a:ext cx="2430018" cy="35968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731519" y="1995623"/>
            <a:ext cx="2283714" cy="26159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FFFFFF"/>
                </a:solidFill>
                <a:latin typeface="Aptos"/>
              </a:rPr>
              <a:t>1 · QUICK CHECKS</a:t>
            </a:r>
          </a:p>
        </p:txBody>
      </p:sp>
      <p:sp>
        <p:nvSpPr>
          <p:cNvPr id="11" name="TextBox 10"/>
          <p:cNvSpPr txBox="1"/>
          <p:nvPr/>
        </p:nvSpPr>
        <p:spPr>
          <a:xfrm>
            <a:off x="731519" y="2371660"/>
            <a:ext cx="2283714" cy="228892"/>
          </a:xfrm>
          <a:prstGeom prst="rect">
            <a:avLst/>
          </a:prstGeom>
          <a:noFill/>
        </p:spPr>
        <p:txBody>
          <a:bodyPr wrap="square" lIns="73152" rIns="73152" tIns="36576" bIns="36576" anchor="t">
            <a:spAutoFit/>
          </a:bodyPr>
          <a:lstStyle/>
          <a:p>
            <a:pPr algn="ctr">
              <a:lnSpc>
                <a:spcPct val="92000"/>
              </a:lnSpc>
              <a:spcAft>
                <a:spcPts val="200"/>
              </a:spcAft>
            </a:pPr>
            <a:r>
              <a:rPr sz="1000" b="1" i="0">
                <a:solidFill>
                  <a:srgbClr val="117A69"/>
                </a:solidFill>
                <a:latin typeface="Aptos"/>
              </a:rPr>
              <a:t>under 5 minutes</a:t>
            </a:r>
          </a:p>
        </p:txBody>
      </p:sp>
      <p:sp>
        <p:nvSpPr>
          <p:cNvPr id="12" name="TextBox 11"/>
          <p:cNvSpPr txBox="1"/>
          <p:nvPr/>
        </p:nvSpPr>
        <p:spPr>
          <a:xfrm>
            <a:off x="822959" y="266595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check the style</a:t>
            </a:r>
          </a:p>
        </p:txBody>
      </p:sp>
      <p:sp>
        <p:nvSpPr>
          <p:cNvPr id="13" name="TextBox 12"/>
          <p:cNvSpPr txBox="1"/>
          <p:nvPr/>
        </p:nvSpPr>
        <p:spPr>
          <a:xfrm>
            <a:off x="822959" y="296024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fast tests</a:t>
            </a:r>
          </a:p>
        </p:txBody>
      </p:sp>
      <p:sp>
        <p:nvSpPr>
          <p:cNvPr id="14" name="TextBox 13"/>
          <p:cNvSpPr txBox="1"/>
          <p:nvPr/>
        </p:nvSpPr>
        <p:spPr>
          <a:xfrm>
            <a:off x="822959" y="325453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look for secrets</a:t>
            </a:r>
          </a:p>
        </p:txBody>
      </p:sp>
      <p:sp>
        <p:nvSpPr>
          <p:cNvPr id="15" name="TextBox 14"/>
          <p:cNvSpPr txBox="1"/>
          <p:nvPr/>
        </p:nvSpPr>
        <p:spPr>
          <a:xfrm>
            <a:off x="822959" y="3548822"/>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BUILD IT ONCE</a:t>
            </a:r>
          </a:p>
        </p:txBody>
      </p:sp>
      <p:sp>
        <p:nvSpPr>
          <p:cNvPr id="16" name="Right Arrow 15"/>
          <p:cNvSpPr/>
          <p:nvPr/>
        </p:nvSpPr>
        <p:spPr>
          <a:xfrm>
            <a:off x="3143250" y="2804922"/>
            <a:ext cx="274320" cy="277941"/>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2434" y="1946574"/>
            <a:ext cx="2430018" cy="2166305"/>
          </a:xfrm>
          <a:prstGeom prst="rect">
            <a:avLst/>
          </a:prstGeom>
          <a:solidFill>
            <a:srgbClr val="F3F6F8"/>
          </a:solidFill>
          <a:ln w="12700">
            <a:solidFill>
              <a:srgbClr val="29ABE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Rectangle 17"/>
          <p:cNvSpPr/>
          <p:nvPr/>
        </p:nvSpPr>
        <p:spPr>
          <a:xfrm>
            <a:off x="3472434" y="1946574"/>
            <a:ext cx="2430018" cy="359688"/>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3545586" y="1995623"/>
            <a:ext cx="2283714" cy="26159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FFFFFF"/>
                </a:solidFill>
                <a:latin typeface="Aptos"/>
              </a:rPr>
              <a:t>2 · MORE TESTS</a:t>
            </a:r>
          </a:p>
        </p:txBody>
      </p:sp>
      <p:sp>
        <p:nvSpPr>
          <p:cNvPr id="20" name="TextBox 19"/>
          <p:cNvSpPr txBox="1"/>
          <p:nvPr/>
        </p:nvSpPr>
        <p:spPr>
          <a:xfrm>
            <a:off x="3545586" y="2371660"/>
            <a:ext cx="2283714" cy="228892"/>
          </a:xfrm>
          <a:prstGeom prst="rect">
            <a:avLst/>
          </a:prstGeom>
          <a:noFill/>
        </p:spPr>
        <p:txBody>
          <a:bodyPr wrap="square" lIns="73152" rIns="73152" tIns="36576" bIns="36576" anchor="t">
            <a:spAutoFit/>
          </a:bodyPr>
          <a:lstStyle/>
          <a:p>
            <a:pPr algn="ctr">
              <a:lnSpc>
                <a:spcPct val="92000"/>
              </a:lnSpc>
              <a:spcAft>
                <a:spcPts val="200"/>
              </a:spcAft>
            </a:pPr>
            <a:r>
              <a:rPr sz="1000" b="1" i="0">
                <a:solidFill>
                  <a:srgbClr val="29ABE2"/>
                </a:solidFill>
                <a:latin typeface="Aptos"/>
              </a:rPr>
              <a:t>under 20 minutes</a:t>
            </a:r>
          </a:p>
        </p:txBody>
      </p:sp>
      <p:sp>
        <p:nvSpPr>
          <p:cNvPr id="21" name="TextBox 20"/>
          <p:cNvSpPr txBox="1"/>
          <p:nvPr/>
        </p:nvSpPr>
        <p:spPr>
          <a:xfrm>
            <a:off x="3637026" y="266595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tests with a database</a:t>
            </a:r>
          </a:p>
        </p:txBody>
      </p:sp>
      <p:sp>
        <p:nvSpPr>
          <p:cNvPr id="22" name="TextBox 21"/>
          <p:cNvSpPr txBox="1"/>
          <p:nvPr/>
        </p:nvSpPr>
        <p:spPr>
          <a:xfrm>
            <a:off x="3637026" y="296024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scan for known flaws</a:t>
            </a:r>
          </a:p>
        </p:txBody>
      </p:sp>
      <p:sp>
        <p:nvSpPr>
          <p:cNvPr id="23" name="TextBox 22"/>
          <p:cNvSpPr txBox="1"/>
          <p:nvPr/>
        </p:nvSpPr>
        <p:spPr>
          <a:xfrm>
            <a:off x="3637026" y="325453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list what is inside</a:t>
            </a:r>
          </a:p>
        </p:txBody>
      </p:sp>
      <p:sp>
        <p:nvSpPr>
          <p:cNvPr id="24" name="Right Arrow 23"/>
          <p:cNvSpPr/>
          <p:nvPr/>
        </p:nvSpPr>
        <p:spPr>
          <a:xfrm>
            <a:off x="5957316" y="2804922"/>
            <a:ext cx="274320" cy="277941"/>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86500" y="1946574"/>
            <a:ext cx="2430018" cy="2166305"/>
          </a:xfrm>
          <a:prstGeom prst="rect">
            <a:avLst/>
          </a:prstGeom>
          <a:solidFill>
            <a:srgbClr val="F3F6F8"/>
          </a:solidFill>
          <a:ln w="12700">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Rectangle 25"/>
          <p:cNvSpPr/>
          <p:nvPr/>
        </p:nvSpPr>
        <p:spPr>
          <a:xfrm>
            <a:off x="6286500" y="1946574"/>
            <a:ext cx="2430018" cy="35968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7" name="TextBox 26"/>
          <p:cNvSpPr txBox="1"/>
          <p:nvPr/>
        </p:nvSpPr>
        <p:spPr>
          <a:xfrm>
            <a:off x="6359652" y="1995623"/>
            <a:ext cx="2283714" cy="26159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FFFFFF"/>
                </a:solidFill>
                <a:latin typeface="Aptos"/>
              </a:rPr>
              <a:t>3 · REHEARSAL</a:t>
            </a:r>
          </a:p>
        </p:txBody>
      </p:sp>
      <p:sp>
        <p:nvSpPr>
          <p:cNvPr id="28" name="TextBox 27"/>
          <p:cNvSpPr txBox="1"/>
          <p:nvPr/>
        </p:nvSpPr>
        <p:spPr>
          <a:xfrm>
            <a:off x="6359652" y="2371660"/>
            <a:ext cx="2283714" cy="228892"/>
          </a:xfrm>
          <a:prstGeom prst="rect">
            <a:avLst/>
          </a:prstGeom>
          <a:noFill/>
        </p:spPr>
        <p:txBody>
          <a:bodyPr wrap="square" lIns="73152" rIns="73152" tIns="36576" bIns="36576" anchor="t">
            <a:spAutoFit/>
          </a:bodyPr>
          <a:lstStyle/>
          <a:p>
            <a:pPr algn="ctr">
              <a:lnSpc>
                <a:spcPct val="92000"/>
              </a:lnSpc>
              <a:spcAft>
                <a:spcPts val="200"/>
              </a:spcAft>
            </a:pPr>
            <a:r>
              <a:rPr sz="1000" b="1" i="0">
                <a:solidFill>
                  <a:srgbClr val="D2760D"/>
                </a:solidFill>
                <a:latin typeface="Aptos"/>
              </a:rPr>
              <a:t>a copy of live</a:t>
            </a:r>
          </a:p>
        </p:txBody>
      </p:sp>
      <p:sp>
        <p:nvSpPr>
          <p:cNvPr id="29" name="TextBox 28"/>
          <p:cNvSpPr txBox="1"/>
          <p:nvPr/>
        </p:nvSpPr>
        <p:spPr>
          <a:xfrm>
            <a:off x="6451092" y="266595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"does it start?" test</a:t>
            </a:r>
          </a:p>
        </p:txBody>
      </p:sp>
      <p:sp>
        <p:nvSpPr>
          <p:cNvPr id="30" name="TextBox 29"/>
          <p:cNvSpPr txBox="1"/>
          <p:nvPr/>
        </p:nvSpPr>
        <p:spPr>
          <a:xfrm>
            <a:off x="6451092" y="296024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speed test</a:t>
            </a:r>
          </a:p>
        </p:txBody>
      </p:sp>
      <p:sp>
        <p:nvSpPr>
          <p:cNvPr id="31" name="TextBox 30"/>
          <p:cNvSpPr txBox="1"/>
          <p:nvPr/>
        </p:nvSpPr>
        <p:spPr>
          <a:xfrm>
            <a:off x="6451092" y="325453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try to break in</a:t>
            </a:r>
          </a:p>
        </p:txBody>
      </p:sp>
      <p:sp>
        <p:nvSpPr>
          <p:cNvPr id="32" name="Right Arrow 31"/>
          <p:cNvSpPr/>
          <p:nvPr/>
        </p:nvSpPr>
        <p:spPr>
          <a:xfrm>
            <a:off x="8771382" y="2804922"/>
            <a:ext cx="274320" cy="277941"/>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00566" y="1946574"/>
            <a:ext cx="2430018" cy="2166305"/>
          </a:xfrm>
          <a:prstGeom prst="rect">
            <a:avLst/>
          </a:prstGeom>
          <a:solidFill>
            <a:srgbClr val="F3F6F8"/>
          </a:solidFill>
          <a:ln w="12700">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4" name="Rectangle 33"/>
          <p:cNvSpPr/>
          <p:nvPr/>
        </p:nvSpPr>
        <p:spPr>
          <a:xfrm>
            <a:off x="9100566" y="1946574"/>
            <a:ext cx="2430018" cy="359688"/>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5" name="TextBox 34"/>
          <p:cNvSpPr txBox="1"/>
          <p:nvPr/>
        </p:nvSpPr>
        <p:spPr>
          <a:xfrm>
            <a:off x="9173718" y="1995623"/>
            <a:ext cx="2283714" cy="26159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FFFFFF"/>
                </a:solidFill>
                <a:latin typeface="Aptos"/>
              </a:rPr>
              <a:t>4 · GO LIVE</a:t>
            </a:r>
          </a:p>
        </p:txBody>
      </p:sp>
      <p:sp>
        <p:nvSpPr>
          <p:cNvPr id="36" name="TextBox 35"/>
          <p:cNvSpPr txBox="1"/>
          <p:nvPr/>
        </p:nvSpPr>
        <p:spPr>
          <a:xfrm>
            <a:off x="9173718" y="2371660"/>
            <a:ext cx="2283714" cy="228892"/>
          </a:xfrm>
          <a:prstGeom prst="rect">
            <a:avLst/>
          </a:prstGeom>
          <a:noFill/>
        </p:spPr>
        <p:txBody>
          <a:bodyPr wrap="square" lIns="73152" rIns="73152" tIns="36576" bIns="36576" anchor="t">
            <a:spAutoFit/>
          </a:bodyPr>
          <a:lstStyle/>
          <a:p>
            <a:pPr algn="ctr">
              <a:lnSpc>
                <a:spcPct val="92000"/>
              </a:lnSpc>
              <a:spcAft>
                <a:spcPts val="200"/>
              </a:spcAft>
            </a:pPr>
            <a:r>
              <a:rPr sz="1000" b="1" i="0">
                <a:solidFill>
                  <a:srgbClr val="3E7D32"/>
                </a:solidFill>
                <a:latin typeface="Aptos"/>
              </a:rPr>
              <a:t>after approval</a:t>
            </a:r>
          </a:p>
        </p:txBody>
      </p:sp>
      <p:sp>
        <p:nvSpPr>
          <p:cNvPr id="37" name="TextBox 36"/>
          <p:cNvSpPr txBox="1"/>
          <p:nvPr/>
        </p:nvSpPr>
        <p:spPr>
          <a:xfrm>
            <a:off x="9265158" y="266595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release gradually</a:t>
            </a:r>
          </a:p>
        </p:txBody>
      </p:sp>
      <p:sp>
        <p:nvSpPr>
          <p:cNvPr id="38" name="TextBox 37"/>
          <p:cNvSpPr txBox="1"/>
          <p:nvPr/>
        </p:nvSpPr>
        <p:spPr>
          <a:xfrm>
            <a:off x="9265158" y="296024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check it started</a:t>
            </a:r>
          </a:p>
        </p:txBody>
      </p:sp>
      <p:sp>
        <p:nvSpPr>
          <p:cNvPr id="39" name="TextBox 38"/>
          <p:cNvSpPr txBox="1"/>
          <p:nvPr/>
        </p:nvSpPr>
        <p:spPr>
          <a:xfrm>
            <a:off x="9265158" y="3254531"/>
            <a:ext cx="2155698"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 watch for problems</a:t>
            </a:r>
          </a:p>
        </p:txBody>
      </p:sp>
      <p:sp>
        <p:nvSpPr>
          <p:cNvPr id="40" name="Rectangle 39"/>
          <p:cNvSpPr/>
          <p:nvPr/>
        </p:nvSpPr>
        <p:spPr>
          <a:xfrm>
            <a:off x="658368" y="4358121"/>
            <a:ext cx="10872216" cy="506833"/>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1" name="TextBox 40"/>
          <p:cNvSpPr txBox="1"/>
          <p:nvPr/>
        </p:nvSpPr>
        <p:spPr>
          <a:xfrm>
            <a:off x="841247" y="4431694"/>
            <a:ext cx="10506456" cy="359688"/>
          </a:xfrm>
          <a:prstGeom prst="rect">
            <a:avLst/>
          </a:prstGeom>
          <a:noFill/>
        </p:spPr>
        <p:txBody>
          <a:bodyPr wrap="square" lIns="73152" rIns="73152" tIns="36576" bIns="36576" anchor="t">
            <a:spAutoFit/>
          </a:bodyPr>
          <a:lstStyle/>
          <a:p>
            <a:pPr algn="ctr">
              <a:lnSpc>
                <a:spcPct val="92000"/>
              </a:lnSpc>
              <a:spcAft>
                <a:spcPts val="200"/>
              </a:spcAft>
            </a:pPr>
            <a:r>
              <a:rPr sz="1200" b="1" i="0">
                <a:solidFill>
                  <a:srgbClr val="FFFFFF"/>
                </a:solidFill>
                <a:latin typeface="Aptos"/>
              </a:rPr>
              <a:t>THE SAME BUILD GOES ALL THE WAY THROUGH   ·   built once   ·   never rebuilt along the way</a:t>
            </a:r>
          </a:p>
        </p:txBody>
      </p:sp>
      <p:sp>
        <p:nvSpPr>
          <p:cNvPr id="42" name="Rectangle 41"/>
          <p:cNvSpPr/>
          <p:nvPr/>
        </p:nvSpPr>
        <p:spPr>
          <a:xfrm>
            <a:off x="658368" y="5036624"/>
            <a:ext cx="10872216" cy="71937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3" name="TextBox 42"/>
          <p:cNvSpPr txBox="1"/>
          <p:nvPr/>
        </p:nvSpPr>
        <p:spPr>
          <a:xfrm>
            <a:off x="859536" y="5110197"/>
            <a:ext cx="10469880" cy="572231"/>
          </a:xfrm>
          <a:prstGeom prst="rect">
            <a:avLst/>
          </a:prstGeom>
          <a:noFill/>
        </p:spPr>
        <p:txBody>
          <a:bodyPr wrap="square" lIns="73152" rIns="73152" tIns="36576" bIns="36576" anchor="t">
            <a:spAutoFit/>
          </a:bodyPr>
          <a:lstStyle/>
          <a:p>
            <a:pPr algn="l">
              <a:lnSpc>
                <a:spcPct val="110000"/>
              </a:lnSpc>
              <a:spcAft>
                <a:spcPts val="200"/>
              </a:spcAft>
            </a:pPr>
            <a:r>
              <a:rPr sz="1200" b="0" i="0">
                <a:solidFill>
                  <a:srgbClr val="123A5F"/>
                </a:solidFill>
                <a:latin typeface="Aptos"/>
              </a:rPr>
              <a:t>If you rebuild for each step, you tested one thing and released another. In a bank, "what exactly was tested?" must have one clear answer: this build, identified by its unique ID.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37</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PREDICT  ·  3 MIN</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1939" b="1" i="0">
                <a:solidFill>
                  <a:srgbClr val="123A5F"/>
                </a:solidFill>
                <a:latin typeface="Aptos Display"/>
              </a:rPr>
              <a:t>What happens when someone pushes a broken change?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960120" cy="31089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658368" y="1824228"/>
            <a:ext cx="960120" cy="237744"/>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PREDICT</a:t>
            </a:r>
          </a:p>
        </p:txBody>
      </p:sp>
      <p:sp>
        <p:nvSpPr>
          <p:cNvPr id="10" name="TextBox 9"/>
          <p:cNvSpPr txBox="1"/>
          <p:nvPr/>
        </p:nvSpPr>
        <p:spPr>
          <a:xfrm>
            <a:off x="1773936" y="1815084"/>
            <a:ext cx="9683496" cy="256032"/>
          </a:xfrm>
          <a:prstGeom prst="rect">
            <a:avLst/>
          </a:prstGeom>
          <a:noFill/>
        </p:spPr>
        <p:txBody>
          <a:bodyPr wrap="square" lIns="73152" rIns="73152" tIns="36576" bIns="36576" anchor="t">
            <a:spAutoFit/>
          </a:bodyPr>
          <a:lstStyle/>
          <a:p>
            <a:pPr algn="l">
              <a:lnSpc>
                <a:spcPct val="92000"/>
              </a:lnSpc>
              <a:spcAft>
                <a:spcPts val="200"/>
              </a:spcAft>
            </a:pPr>
            <a:r>
              <a:rPr sz="1050" b="1" i="0">
                <a:solidFill>
                  <a:srgbClr val="123A5F"/>
                </a:solidFill>
                <a:latin typeface="Aptos"/>
              </a:rPr>
              <a:t>Write your answer down BEFORE the reveal.</a:t>
            </a:r>
          </a:p>
        </p:txBody>
      </p:sp>
      <p:sp>
        <p:nvSpPr>
          <p:cNvPr id="11" name="Rectangle 10"/>
          <p:cNvSpPr/>
          <p:nvPr/>
        </p:nvSpPr>
        <p:spPr>
          <a:xfrm>
            <a:off x="658368" y="2258568"/>
            <a:ext cx="10872216" cy="768096"/>
          </a:xfrm>
          <a:prstGeom prst="rect">
            <a:avLst/>
          </a:prstGeom>
          <a:solidFill>
            <a:srgbClr val="ECF1F6"/>
          </a:solidFill>
          <a:ln w="12700">
            <a:solidFill>
              <a:srgbClr val="123A5F"/>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258568"/>
            <a:ext cx="68580" cy="76809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50976" y="2313432"/>
            <a:ext cx="10396728" cy="658368"/>
          </a:xfrm>
          <a:prstGeom prst="rect">
            <a:avLst/>
          </a:prstGeom>
          <a:noFill/>
        </p:spPr>
        <p:txBody>
          <a:bodyPr wrap="square" lIns="73152" rIns="73152" tIns="36576" bIns="36576" anchor="ctr">
            <a:spAutoFit/>
          </a:bodyPr>
          <a:lstStyle/>
          <a:p>
            <a:pPr algn="l">
              <a:lnSpc>
                <a:spcPct val="105000"/>
              </a:lnSpc>
              <a:spcAft>
                <a:spcPts val="200"/>
              </a:spcAft>
            </a:pPr>
            <a:r>
              <a:rPr sz="1500" b="1" i="0">
                <a:solidFill>
                  <a:srgbClr val="123A5F"/>
                </a:solidFill>
                <a:latin typeface="Aptos"/>
              </a:rPr>
              <a:t>In YOUR organisation today, what actually stops a change that breaks the tests from reaching the live system?</a:t>
            </a:r>
          </a:p>
        </p:txBody>
      </p:sp>
      <p:sp>
        <p:nvSpPr>
          <p:cNvPr id="14" name="Oval 13"/>
          <p:cNvSpPr/>
          <p:nvPr/>
        </p:nvSpPr>
        <p:spPr>
          <a:xfrm>
            <a:off x="676656" y="3282696"/>
            <a:ext cx="256032" cy="256032"/>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676656" y="3300984"/>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1</a:t>
            </a:r>
          </a:p>
        </p:txBody>
      </p:sp>
      <p:sp>
        <p:nvSpPr>
          <p:cNvPr id="16" name="TextBox 15"/>
          <p:cNvSpPr txBox="1"/>
          <p:nvPr/>
        </p:nvSpPr>
        <p:spPr>
          <a:xfrm>
            <a:off x="1078992" y="3255264"/>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Write down what really happens — not what the policy says.</a:t>
            </a:r>
          </a:p>
        </p:txBody>
      </p:sp>
      <p:sp>
        <p:nvSpPr>
          <p:cNvPr id="17" name="Oval 16"/>
          <p:cNvSpPr/>
          <p:nvPr/>
        </p:nvSpPr>
        <p:spPr>
          <a:xfrm>
            <a:off x="676656" y="3922775"/>
            <a:ext cx="256032" cy="256032"/>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676656" y="3941063"/>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2</a:t>
            </a:r>
          </a:p>
        </p:txBody>
      </p:sp>
      <p:sp>
        <p:nvSpPr>
          <p:cNvPr id="19" name="TextBox 18"/>
          <p:cNvSpPr txBox="1"/>
          <p:nvPr/>
        </p:nvSpPr>
        <p:spPr>
          <a:xfrm>
            <a:off x="1078992" y="3895344"/>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Is it a person, a habit, or something the system enforces?</a:t>
            </a:r>
          </a:p>
        </p:txBody>
      </p:sp>
      <p:sp>
        <p:nvSpPr>
          <p:cNvPr id="20" name="Oval 19"/>
          <p:cNvSpPr/>
          <p:nvPr/>
        </p:nvSpPr>
        <p:spPr>
          <a:xfrm>
            <a:off x="676656" y="4562855"/>
            <a:ext cx="256032" cy="256032"/>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76656" y="4581144"/>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3</a:t>
            </a:r>
          </a:p>
        </p:txBody>
      </p:sp>
      <p:sp>
        <p:nvSpPr>
          <p:cNvPr id="22" name="TextBox 21"/>
          <p:cNvSpPr txBox="1"/>
          <p:nvPr/>
        </p:nvSpPr>
        <p:spPr>
          <a:xfrm>
            <a:off x="1078992" y="4535424"/>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Does it apply to every change, or only the ones someone happens to look at?</a:t>
            </a:r>
          </a:p>
        </p:txBody>
      </p:sp>
      <p:sp>
        <p:nvSpPr>
          <p:cNvPr id="23" name="TextBox 22"/>
          <p:cNvSpPr txBox="1"/>
          <p:nvPr/>
        </p:nvSpPr>
        <p:spPr>
          <a:xfrm>
            <a:off x="658368" y="5559552"/>
            <a:ext cx="10872216" cy="274320"/>
          </a:xfrm>
          <a:prstGeom prst="rect">
            <a:avLst/>
          </a:prstGeom>
          <a:noFill/>
        </p:spPr>
        <p:txBody>
          <a:bodyPr wrap="square" lIns="73152" rIns="73152" tIns="36576" bIns="36576" anchor="t">
            <a:spAutoFit/>
          </a:bodyPr>
          <a:lstStyle/>
          <a:p>
            <a:pPr algn="l">
              <a:lnSpc>
                <a:spcPct val="92000"/>
              </a:lnSpc>
              <a:spcAft>
                <a:spcPts val="200"/>
              </a:spcAft>
            </a:pPr>
            <a:r>
              <a:rPr sz="1100" b="1" i="1">
                <a:solidFill>
                  <a:srgbClr val="123A5F"/>
                </a:solidFill>
                <a:latin typeface="Aptos"/>
              </a:rPr>
              <a:t>Answers on the next slide — commit to yours first.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38</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PREDICT  ·  THE ANSWER</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1939" b="1" i="0">
                <a:solidFill>
                  <a:srgbClr val="123A5F"/>
                </a:solidFill>
                <a:latin typeface="Aptos Display"/>
              </a:rPr>
              <a:t>What happens when someone pushes a broken change?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493776"/>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4864" cy="493776"/>
          </a:xfrm>
          <a:prstGeom prst="rect">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14400" y="1828800"/>
            <a:ext cx="10415016" cy="402336"/>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5A6570"/>
                </a:solidFill>
                <a:latin typeface="Aptos"/>
              </a:rPr>
              <a:t>In YOUR organisation today, what actually stops a change that breaks the tests from reaching the live system?</a:t>
            </a:r>
          </a:p>
        </p:txBody>
      </p:sp>
      <p:sp>
        <p:nvSpPr>
          <p:cNvPr id="11" name="Rectangle 10"/>
          <p:cNvSpPr/>
          <p:nvPr/>
        </p:nvSpPr>
        <p:spPr>
          <a:xfrm>
            <a:off x="658368" y="2551176"/>
            <a:ext cx="10872216" cy="3319272"/>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551176"/>
            <a:ext cx="73152" cy="3319272"/>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69264" y="2715768"/>
            <a:ext cx="10323576" cy="274320"/>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29ABE2"/>
                </a:solidFill>
                <a:latin typeface="Aptos"/>
              </a:rPr>
              <a:t>THE ANSWER</a:t>
            </a:r>
          </a:p>
        </p:txBody>
      </p:sp>
      <p:sp>
        <p:nvSpPr>
          <p:cNvPr id="14" name="TextBox 13"/>
          <p:cNvSpPr txBox="1"/>
          <p:nvPr/>
        </p:nvSpPr>
        <p:spPr>
          <a:xfrm>
            <a:off x="1207007" y="3081528"/>
            <a:ext cx="9774936" cy="2606039"/>
          </a:xfrm>
          <a:prstGeom prst="rect">
            <a:avLst/>
          </a:prstGeom>
          <a:noFill/>
        </p:spPr>
        <p:txBody>
          <a:bodyPr wrap="square" lIns="73152" rIns="73152" tIns="36576" bIns="36576" anchor="ctr">
            <a:spAutoFit/>
          </a:bodyPr>
          <a:lstStyle/>
          <a:p>
            <a:pPr algn="l">
              <a:lnSpc>
                <a:spcPct val="126000"/>
              </a:lnSpc>
              <a:spcAft>
                <a:spcPts val="200"/>
              </a:spcAft>
            </a:pPr>
            <a:r>
              <a:rPr sz="2100" b="0" i="0">
                <a:solidFill>
                  <a:srgbClr val="FFFFFF"/>
                </a:solidFill>
                <a:latin typeface="Aptos"/>
              </a:rPr>
              <a:t>In Lab 04 you break the app on purpose, open a pull request, and watch the merge button go grey. The system stops it — for every change, with no meeting.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6</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The Tools That Run the Checks</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GitHub Actions and Jenkins</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Four words: event · workflow · job · step</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A workflow file, line by line</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GitHub Actions or Jenkins?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40</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§2.10</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GitHub Actions in four words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1967215"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Word</a:t>
            </a:r>
          </a:p>
        </p:txBody>
      </p:sp>
      <p:sp>
        <p:nvSpPr>
          <p:cNvPr id="10" name="TextBox 9"/>
          <p:cNvSpPr txBox="1"/>
          <p:nvPr/>
        </p:nvSpPr>
        <p:spPr>
          <a:xfrm>
            <a:off x="2881615" y="1828800"/>
            <a:ext cx="4312202"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What it means</a:t>
            </a:r>
          </a:p>
        </p:txBody>
      </p:sp>
      <p:sp>
        <p:nvSpPr>
          <p:cNvPr id="11" name="TextBox 10"/>
          <p:cNvSpPr txBox="1"/>
          <p:nvPr/>
        </p:nvSpPr>
        <p:spPr>
          <a:xfrm>
            <a:off x="7358409" y="1828800"/>
            <a:ext cx="4099022"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Example</a:t>
            </a:r>
          </a:p>
        </p:txBody>
      </p:sp>
      <p:sp>
        <p:nvSpPr>
          <p:cNvPr id="12" name="Rectangle 11"/>
          <p:cNvSpPr/>
          <p:nvPr/>
        </p:nvSpPr>
        <p:spPr>
          <a:xfrm>
            <a:off x="658368" y="2167128"/>
            <a:ext cx="10872216" cy="528066"/>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1967215" cy="49149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Event</a:t>
            </a:r>
          </a:p>
        </p:txBody>
      </p:sp>
      <p:sp>
        <p:nvSpPr>
          <p:cNvPr id="14" name="TextBox 13"/>
          <p:cNvSpPr txBox="1"/>
          <p:nvPr/>
        </p:nvSpPr>
        <p:spPr>
          <a:xfrm>
            <a:off x="2881615" y="2185416"/>
            <a:ext cx="4312202"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What starts it</a:t>
            </a:r>
          </a:p>
        </p:txBody>
      </p:sp>
      <p:sp>
        <p:nvSpPr>
          <p:cNvPr id="15" name="TextBox 14"/>
          <p:cNvSpPr txBox="1"/>
          <p:nvPr/>
        </p:nvSpPr>
        <p:spPr>
          <a:xfrm>
            <a:off x="7358409" y="2185416"/>
            <a:ext cx="4099022"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Someone pushes, or opens a pull request</a:t>
            </a:r>
          </a:p>
        </p:txBody>
      </p:sp>
      <p:sp>
        <p:nvSpPr>
          <p:cNvPr id="16" name="Rectangle 15"/>
          <p:cNvSpPr/>
          <p:nvPr/>
        </p:nvSpPr>
        <p:spPr>
          <a:xfrm>
            <a:off x="658368" y="2695194"/>
            <a:ext cx="10872216" cy="52806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713482"/>
            <a:ext cx="1967215" cy="49149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Workflow</a:t>
            </a:r>
          </a:p>
        </p:txBody>
      </p:sp>
      <p:sp>
        <p:nvSpPr>
          <p:cNvPr id="18" name="TextBox 17"/>
          <p:cNvSpPr txBox="1"/>
          <p:nvPr/>
        </p:nvSpPr>
        <p:spPr>
          <a:xfrm>
            <a:off x="2881615" y="2713482"/>
            <a:ext cx="4312202"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whole set of checks, in one file</a:t>
            </a:r>
          </a:p>
        </p:txBody>
      </p:sp>
      <p:sp>
        <p:nvSpPr>
          <p:cNvPr id="19" name="TextBox 18"/>
          <p:cNvSpPr txBox="1"/>
          <p:nvPr/>
        </p:nvSpPr>
        <p:spPr>
          <a:xfrm>
            <a:off x="7358409" y="2713482"/>
            <a:ext cx="4099022"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.github/workflows/ci.yml</a:t>
            </a:r>
          </a:p>
        </p:txBody>
      </p:sp>
      <p:sp>
        <p:nvSpPr>
          <p:cNvPr id="20" name="Rectangle 19"/>
          <p:cNvSpPr/>
          <p:nvPr/>
        </p:nvSpPr>
        <p:spPr>
          <a:xfrm>
            <a:off x="658368" y="3223260"/>
            <a:ext cx="10872216" cy="736092"/>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241548"/>
            <a:ext cx="1967215"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Job</a:t>
            </a:r>
          </a:p>
        </p:txBody>
      </p:sp>
      <p:sp>
        <p:nvSpPr>
          <p:cNvPr id="22" name="TextBox 21"/>
          <p:cNvSpPr txBox="1"/>
          <p:nvPr/>
        </p:nvSpPr>
        <p:spPr>
          <a:xfrm>
            <a:off x="2881615" y="3241548"/>
            <a:ext cx="4312202"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group of steps that run on one computer</a:t>
            </a:r>
          </a:p>
        </p:txBody>
      </p:sp>
      <p:sp>
        <p:nvSpPr>
          <p:cNvPr id="23" name="TextBox 22"/>
          <p:cNvSpPr txBox="1"/>
          <p:nvPr/>
        </p:nvSpPr>
        <p:spPr>
          <a:xfrm>
            <a:off x="7358409" y="3241548"/>
            <a:ext cx="4099022"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"test": install, check style, run the tests</a:t>
            </a:r>
          </a:p>
        </p:txBody>
      </p:sp>
      <p:sp>
        <p:nvSpPr>
          <p:cNvPr id="24" name="Rectangle 23"/>
          <p:cNvSpPr/>
          <p:nvPr/>
        </p:nvSpPr>
        <p:spPr>
          <a:xfrm>
            <a:off x="658368" y="3959352"/>
            <a:ext cx="10872216" cy="52806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3977639"/>
            <a:ext cx="1967215" cy="49149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Step</a:t>
            </a:r>
          </a:p>
        </p:txBody>
      </p:sp>
      <p:sp>
        <p:nvSpPr>
          <p:cNvPr id="26" name="TextBox 25"/>
          <p:cNvSpPr txBox="1"/>
          <p:nvPr/>
        </p:nvSpPr>
        <p:spPr>
          <a:xfrm>
            <a:off x="2881615" y="3977639"/>
            <a:ext cx="4312202"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One single command</a:t>
            </a:r>
          </a:p>
        </p:txBody>
      </p:sp>
      <p:sp>
        <p:nvSpPr>
          <p:cNvPr id="27" name="TextBox 26"/>
          <p:cNvSpPr txBox="1"/>
          <p:nvPr/>
        </p:nvSpPr>
        <p:spPr>
          <a:xfrm>
            <a:off x="7358409" y="3977639"/>
            <a:ext cx="4099022" cy="49149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pytest</a:t>
            </a:r>
          </a:p>
        </p:txBody>
      </p:sp>
      <p:sp>
        <p:nvSpPr>
          <p:cNvPr id="28" name="Rectangle 27"/>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804672" y="5404104"/>
            <a:ext cx="230063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WHAT GITHUB ACTIONS IS</a:t>
            </a:r>
          </a:p>
        </p:txBody>
      </p:sp>
      <p:sp>
        <p:nvSpPr>
          <p:cNvPr id="30" name="TextBox 29"/>
          <p:cNvSpPr txBox="1"/>
          <p:nvPr/>
        </p:nvSpPr>
        <p:spPr>
          <a:xfrm>
            <a:off x="3096158" y="5394959"/>
            <a:ext cx="8269833"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The automation built into GitHub. You describe the checks in a file; GitHub runs them on its own computers at every event — event → workflow → jobs → steps.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41</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LAB 04</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A CI workflow, line by line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305885" cy="395020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305885"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391485"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.GITHUB/WORKFLOWS/CI.YML</a:t>
            </a:r>
          </a:p>
        </p:txBody>
      </p:sp>
      <p:sp>
        <p:nvSpPr>
          <p:cNvPr id="14" name="TextBox 13"/>
          <p:cNvSpPr txBox="1"/>
          <p:nvPr/>
        </p:nvSpPr>
        <p:spPr>
          <a:xfrm>
            <a:off x="768096" y="2185416"/>
            <a:ext cx="6104717" cy="3310128"/>
          </a:xfrm>
          <a:prstGeom prst="rect">
            <a:avLst/>
          </a:prstGeom>
          <a:noFill/>
        </p:spPr>
        <p:txBody>
          <a:bodyPr wrap="square" lIns="73152" rIns="73152" tIns="18288" bIns="18288">
            <a:spAutoFit/>
          </a:bodyPr>
          <a:lstStyle/>
          <a:p>
            <a:pPr>
              <a:lnSpc>
                <a:spcPct val="100000"/>
              </a:lnSpc>
              <a:spcAft>
                <a:spcPts val="0"/>
              </a:spcAft>
            </a:pPr>
            <a:r>
              <a:rPr sz="1000" b="0">
                <a:solidFill>
                  <a:srgbClr val="E8EEF4"/>
                </a:solidFill>
                <a:latin typeface="Consolas"/>
              </a:rPr>
              <a:t>name: CI</a:t>
            </a:r>
          </a:p>
          <a:p>
            <a:pPr>
              <a:lnSpc>
                <a:spcPct val="100000"/>
              </a:lnSpc>
              <a:spcAft>
                <a:spcPts val="0"/>
              </a:spcAft>
            </a:pPr>
            <a:r>
              <a:rPr sz="1000" b="0">
                <a:solidFill>
                  <a:srgbClr val="E8EEF4"/>
                </a:solidFill>
                <a:latin typeface="Consolas"/>
              </a:rPr>
              <a:t>on:</a:t>
            </a:r>
          </a:p>
          <a:p>
            <a:pPr>
              <a:lnSpc>
                <a:spcPct val="100000"/>
              </a:lnSpc>
              <a:spcAft>
                <a:spcPts val="0"/>
              </a:spcAft>
            </a:pPr>
            <a:r>
              <a:rPr sz="1000" b="0">
                <a:solidFill>
                  <a:srgbClr val="E8EEF4"/>
                </a:solidFill>
                <a:latin typeface="Consolas"/>
              </a:rPr>
              <a:t>  push:         { branches: [main] }</a:t>
            </a:r>
          </a:p>
          <a:p>
            <a:pPr>
              <a:lnSpc>
                <a:spcPct val="100000"/>
              </a:lnSpc>
              <a:spcAft>
                <a:spcPts val="0"/>
              </a:spcAft>
            </a:pPr>
            <a:r>
              <a:rPr sz="1000" b="0">
                <a:solidFill>
                  <a:srgbClr val="E8EEF4"/>
                </a:solidFill>
                <a:latin typeface="Consolas"/>
              </a:rPr>
              <a:t>  pull_request: { branches: [main] }</a:t>
            </a:r>
          </a:p>
          <a:p>
            <a:pPr>
              <a:lnSpc>
                <a:spcPct val="100000"/>
              </a:lnSpc>
              <a:spcAft>
                <a:spcPts val="0"/>
              </a:spcAft>
            </a:pPr>
            <a:r>
              <a:rPr sz="1000" b="0">
                <a:solidFill>
                  <a:srgbClr val="E8EEF4"/>
                </a:solidFill>
                <a:latin typeface="Consolas"/>
              </a:rPr>
              <a:t>permissions:</a:t>
            </a:r>
          </a:p>
          <a:p>
            <a:pPr>
              <a:lnSpc>
                <a:spcPct val="100000"/>
              </a:lnSpc>
              <a:spcAft>
                <a:spcPts val="0"/>
              </a:spcAft>
            </a:pPr>
            <a:r>
              <a:rPr sz="1000" b="0">
                <a:solidFill>
                  <a:srgbClr val="E8EEF4"/>
                </a:solidFill>
                <a:latin typeface="Consolas"/>
              </a:rPr>
              <a:t>  contents: read                     </a:t>
            </a:r>
            <a:r>
              <a:rPr sz="1000" b="0">
                <a:solidFill>
                  <a:srgbClr val="8FBFA8"/>
                </a:solidFill>
                <a:latin typeface="Consolas"/>
              </a:rPr>
              <a:t>  # may only read the code</a:t>
            </a:r>
          </a:p>
          <a:p>
            <a:pPr>
              <a:lnSpc>
                <a:spcPct val="100000"/>
              </a:lnSpc>
              <a:spcAft>
                <a:spcPts val="0"/>
              </a:spcAft>
            </a:pPr>
            <a:r>
              <a:rPr sz="1000" b="0">
                <a:solidFill>
                  <a:srgbClr val="E8EEF4"/>
                </a:solidFill>
                <a:latin typeface="Consolas"/>
              </a:rPr>
              <a:t>concurrency:</a:t>
            </a:r>
          </a:p>
          <a:p>
            <a:pPr>
              <a:lnSpc>
                <a:spcPct val="100000"/>
              </a:lnSpc>
              <a:spcAft>
                <a:spcPts val="0"/>
              </a:spcAft>
            </a:pPr>
            <a:r>
              <a:rPr sz="1000" b="0">
                <a:solidFill>
                  <a:srgbClr val="E8EEF4"/>
                </a:solidFill>
                <a:latin typeface="Consolas"/>
              </a:rPr>
              <a:t>  group: ci-${{ github.ref }}</a:t>
            </a:r>
          </a:p>
          <a:p>
            <a:pPr>
              <a:lnSpc>
                <a:spcPct val="100000"/>
              </a:lnSpc>
              <a:spcAft>
                <a:spcPts val="0"/>
              </a:spcAft>
            </a:pPr>
            <a:r>
              <a:rPr sz="1000" b="0">
                <a:solidFill>
                  <a:srgbClr val="E8EEF4"/>
                </a:solidFill>
                <a:latin typeface="Consolas"/>
              </a:rPr>
              <a:t>  cancel-in-progress: true</a:t>
            </a:r>
          </a:p>
          <a:p>
            <a:pPr>
              <a:lnSpc>
                <a:spcPct val="100000"/>
              </a:lnSpc>
              <a:spcAft>
                <a:spcPts val="0"/>
              </a:spcAft>
            </a:pPr>
            <a:r>
              <a:rPr sz="1000" b="0">
                <a:solidFill>
                  <a:srgbClr val="E8EEF4"/>
                </a:solidFill>
                <a:latin typeface="Consolas"/>
              </a:rPr>
              <a:t>jobs:</a:t>
            </a:r>
          </a:p>
          <a:p>
            <a:pPr>
              <a:lnSpc>
                <a:spcPct val="100000"/>
              </a:lnSpc>
              <a:spcAft>
                <a:spcPts val="0"/>
              </a:spcAft>
            </a:pPr>
            <a:r>
              <a:rPr sz="1000" b="0">
                <a:solidFill>
                  <a:srgbClr val="E8EEF4"/>
                </a:solidFill>
                <a:latin typeface="Consolas"/>
              </a:rPr>
              <a:t>  test:</a:t>
            </a:r>
          </a:p>
          <a:p>
            <a:pPr>
              <a:lnSpc>
                <a:spcPct val="100000"/>
              </a:lnSpc>
              <a:spcAft>
                <a:spcPts val="0"/>
              </a:spcAft>
            </a:pPr>
            <a:r>
              <a:rPr sz="1000" b="0">
                <a:solidFill>
                  <a:srgbClr val="E8EEF4"/>
                </a:solidFill>
                <a:latin typeface="Consolas"/>
              </a:rPr>
              <a:t>    runs-on: ubuntu-24.04</a:t>
            </a:r>
          </a:p>
          <a:p>
            <a:pPr>
              <a:lnSpc>
                <a:spcPct val="100000"/>
              </a:lnSpc>
              <a:spcAft>
                <a:spcPts val="0"/>
              </a:spcAft>
            </a:pPr>
            <a:r>
              <a:rPr sz="1000" b="0">
                <a:solidFill>
                  <a:srgbClr val="E8EEF4"/>
                </a:solidFill>
                <a:latin typeface="Consolas"/>
              </a:rPr>
              <a:t>    strategy:</a:t>
            </a:r>
          </a:p>
          <a:p>
            <a:pPr>
              <a:lnSpc>
                <a:spcPct val="100000"/>
              </a:lnSpc>
              <a:spcAft>
                <a:spcPts val="0"/>
              </a:spcAft>
            </a:pPr>
            <a:r>
              <a:rPr sz="1000" b="0">
                <a:solidFill>
                  <a:srgbClr val="E8EEF4"/>
                </a:solidFill>
                <a:latin typeface="Consolas"/>
              </a:rPr>
              <a:t>      matrix: { python-version: ["3.11", "3.12"] }</a:t>
            </a:r>
          </a:p>
          <a:p>
            <a:pPr>
              <a:lnSpc>
                <a:spcPct val="100000"/>
              </a:lnSpc>
              <a:spcAft>
                <a:spcPts val="0"/>
              </a:spcAft>
            </a:pPr>
            <a:r>
              <a:rPr sz="1000" b="0">
                <a:solidFill>
                  <a:srgbClr val="E8EEF4"/>
                </a:solidFill>
                <a:latin typeface="Consolas"/>
              </a:rPr>
              <a:t>    steps:</a:t>
            </a:r>
          </a:p>
          <a:p>
            <a:pPr>
              <a:lnSpc>
                <a:spcPct val="100000"/>
              </a:lnSpc>
              <a:spcAft>
                <a:spcPts val="0"/>
              </a:spcAft>
            </a:pPr>
            <a:r>
              <a:rPr sz="1000" b="0">
                <a:solidFill>
                  <a:srgbClr val="E8EEF4"/>
                </a:solidFill>
                <a:latin typeface="Consolas"/>
              </a:rPr>
              <a:t>      - uses: actions/checkout@v4</a:t>
            </a:r>
          </a:p>
          <a:p>
            <a:pPr>
              <a:lnSpc>
                <a:spcPct val="100000"/>
              </a:lnSpc>
              <a:spcAft>
                <a:spcPts val="0"/>
              </a:spcAft>
            </a:pPr>
            <a:r>
              <a:rPr sz="1000" b="0">
                <a:solidFill>
                  <a:srgbClr val="E8EEF4"/>
                </a:solidFill>
                <a:latin typeface="Consolas"/>
              </a:rPr>
              <a:t>      - uses: actions/setup-python@v5</a:t>
            </a:r>
          </a:p>
          <a:p>
            <a:pPr>
              <a:lnSpc>
                <a:spcPct val="100000"/>
              </a:lnSpc>
              <a:spcAft>
                <a:spcPts val="0"/>
              </a:spcAft>
            </a:pPr>
            <a:r>
              <a:rPr sz="1000" b="0">
                <a:solidFill>
                  <a:srgbClr val="E8EEF4"/>
                </a:solidFill>
                <a:latin typeface="Consolas"/>
              </a:rPr>
              <a:t>        with: { python-version: "${{ matrix.python-version }}", cache: pip }</a:t>
            </a:r>
          </a:p>
          <a:p>
            <a:pPr>
              <a:lnSpc>
                <a:spcPct val="100000"/>
              </a:lnSpc>
              <a:spcAft>
                <a:spcPts val="0"/>
              </a:spcAft>
            </a:pPr>
            <a:r>
              <a:rPr sz="1000" b="0">
                <a:solidFill>
                  <a:srgbClr val="E8EEF4"/>
                </a:solidFill>
                <a:latin typeface="Consolas"/>
              </a:rPr>
              <a:t>      - run: pip install -r app/requirements-dev.txt</a:t>
            </a:r>
          </a:p>
          <a:p>
            <a:pPr>
              <a:lnSpc>
                <a:spcPct val="100000"/>
              </a:lnSpc>
              <a:spcAft>
                <a:spcPts val="0"/>
              </a:spcAft>
            </a:pPr>
            <a:r>
              <a:rPr sz="1000" b="0">
                <a:solidFill>
                  <a:srgbClr val="E8EEF4"/>
                </a:solidFill>
                <a:latin typeface="Consolas"/>
              </a:rPr>
              <a:t>      - run: flake8 app/src app/tests    </a:t>
            </a:r>
            <a:r>
              <a:rPr sz="1000" b="0">
                <a:solidFill>
                  <a:srgbClr val="8FBFA8"/>
                </a:solidFill>
                <a:latin typeface="Consolas"/>
              </a:rPr>
              <a:t>  # any error stops the job</a:t>
            </a:r>
          </a:p>
          <a:p>
            <a:pPr>
              <a:lnSpc>
                <a:spcPct val="100000"/>
              </a:lnSpc>
              <a:spcAft>
                <a:spcPts val="0"/>
              </a:spcAft>
            </a:pPr>
            <a:r>
              <a:rPr sz="1000" b="0">
                <a:solidFill>
                  <a:srgbClr val="E8EEF4"/>
                </a:solidFill>
                <a:latin typeface="Consolas"/>
              </a:rPr>
              <a:t>      - run: pytest --cov=src</a:t>
            </a:r>
          </a:p>
        </p:txBody>
      </p:sp>
      <p:sp>
        <p:nvSpPr>
          <p:cNvPr id="15" name="TextBox 14"/>
          <p:cNvSpPr txBox="1"/>
          <p:nvPr/>
        </p:nvSpPr>
        <p:spPr>
          <a:xfrm>
            <a:off x="7238573" y="1764792"/>
            <a:ext cx="4292010"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7238573"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238573"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567757" y="2075688"/>
            <a:ext cx="3944538"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on: — when it runs</a:t>
            </a:r>
          </a:p>
          <a:p>
            <a:pPr>
              <a:lnSpc>
                <a:spcPct val="95000"/>
              </a:lnSpc>
              <a:spcBef>
                <a:spcPts val="200"/>
              </a:spcBef>
              <a:spcAft>
                <a:spcPts val="100"/>
              </a:spcAft>
            </a:pPr>
            <a:r>
              <a:rPr sz="1090" b="0">
                <a:solidFill>
                  <a:srgbClr val="5A6570"/>
                </a:solidFill>
                <a:latin typeface="Aptos"/>
              </a:rPr>
              <a:t>Every push to main, and every pull request to main</a:t>
            </a:r>
          </a:p>
        </p:txBody>
      </p:sp>
      <p:sp>
        <p:nvSpPr>
          <p:cNvPr id="19" name="Oval 18"/>
          <p:cNvSpPr/>
          <p:nvPr/>
        </p:nvSpPr>
        <p:spPr>
          <a:xfrm>
            <a:off x="7238573" y="2967227"/>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238573" y="2985515"/>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567757" y="2921508"/>
            <a:ext cx="3944538"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jobs: → test: — one job, called "test"</a:t>
            </a:r>
          </a:p>
          <a:p>
            <a:pPr>
              <a:lnSpc>
                <a:spcPct val="95000"/>
              </a:lnSpc>
              <a:spcBef>
                <a:spcPts val="200"/>
              </a:spcBef>
              <a:spcAft>
                <a:spcPts val="100"/>
              </a:spcAft>
            </a:pPr>
            <a:r>
              <a:rPr sz="1090" b="0">
                <a:solidFill>
                  <a:srgbClr val="5A6570"/>
                </a:solidFill>
                <a:latin typeface="Aptos"/>
              </a:rPr>
              <a:t>runs-on picks the computer: a fresh Ubuntu machine</a:t>
            </a:r>
          </a:p>
        </p:txBody>
      </p:sp>
      <p:sp>
        <p:nvSpPr>
          <p:cNvPr id="22" name="Oval 21"/>
          <p:cNvSpPr/>
          <p:nvPr/>
        </p:nvSpPr>
        <p:spPr>
          <a:xfrm>
            <a:off x="7238573" y="381304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238573" y="383133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567757" y="3767328"/>
            <a:ext cx="3944538"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matrix — run the same job twice</a:t>
            </a:r>
          </a:p>
          <a:p>
            <a:pPr>
              <a:lnSpc>
                <a:spcPct val="95000"/>
              </a:lnSpc>
              <a:spcBef>
                <a:spcPts val="200"/>
              </a:spcBef>
              <a:spcAft>
                <a:spcPts val="100"/>
              </a:spcAft>
            </a:pPr>
            <a:r>
              <a:rPr sz="1090" b="0">
                <a:solidFill>
                  <a:srgbClr val="5A6570"/>
                </a:solidFill>
                <a:latin typeface="Aptos"/>
              </a:rPr>
              <a:t>Once with Python 3.11 and once with 3.12</a:t>
            </a:r>
          </a:p>
        </p:txBody>
      </p:sp>
      <p:sp>
        <p:nvSpPr>
          <p:cNvPr id="25" name="Oval 24"/>
          <p:cNvSpPr/>
          <p:nvPr/>
        </p:nvSpPr>
        <p:spPr>
          <a:xfrm>
            <a:off x="7238573" y="449427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238573" y="451256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567757" y="4448556"/>
            <a:ext cx="3944538"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steps: — the commands, in order</a:t>
            </a:r>
          </a:p>
          <a:p>
            <a:pPr>
              <a:lnSpc>
                <a:spcPct val="95000"/>
              </a:lnSpc>
              <a:spcBef>
                <a:spcPts val="200"/>
              </a:spcBef>
              <a:spcAft>
                <a:spcPts val="100"/>
              </a:spcAft>
            </a:pPr>
            <a:r>
              <a:rPr sz="1090" b="0">
                <a:solidFill>
                  <a:srgbClr val="5A6570"/>
                </a:solidFill>
                <a:latin typeface="Aptos"/>
              </a:rPr>
              <a:t>Get the code · set up Python · install · check the style · run the tests</a:t>
            </a:r>
          </a:p>
        </p:txBody>
      </p:sp>
      <p:sp>
        <p:nvSpPr>
          <p:cNvPr id="28" name="Oval 27"/>
          <p:cNvSpPr/>
          <p:nvPr/>
        </p:nvSpPr>
        <p:spPr>
          <a:xfrm>
            <a:off x="7238573" y="534009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238573" y="535838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30" name="TextBox 29"/>
          <p:cNvSpPr txBox="1"/>
          <p:nvPr/>
        </p:nvSpPr>
        <p:spPr>
          <a:xfrm>
            <a:off x="7567757" y="5294376"/>
            <a:ext cx="3944538"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If any step fails, the job fails</a:t>
            </a:r>
          </a:p>
          <a:p>
            <a:pPr>
              <a:lnSpc>
                <a:spcPct val="95000"/>
              </a:lnSpc>
              <a:spcBef>
                <a:spcPts val="200"/>
              </a:spcBef>
              <a:spcAft>
                <a:spcPts val="100"/>
              </a:spcAft>
            </a:pPr>
            <a:r>
              <a:rPr sz="1090" b="0">
                <a:solidFill>
                  <a:srgbClr val="5A6570"/>
                </a:solidFill>
                <a:latin typeface="Aptos"/>
              </a:rPr>
              <a:t>And the pull request shows a red cross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42</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§2.9–2.10</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GitHub Actions or Jenkins?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5280660" cy="3447288"/>
          </a:xfrm>
          <a:prstGeom prst="rect">
            <a:avLst/>
          </a:prstGeom>
          <a:solidFill>
            <a:srgbClr val="E6F4F1"/>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280660" cy="402336"/>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804672" y="1837943"/>
            <a:ext cx="5006340" cy="292608"/>
          </a:xfrm>
          <a:prstGeom prst="rect">
            <a:avLst/>
          </a:prstGeom>
          <a:noFill/>
        </p:spPr>
        <p:txBody>
          <a:bodyPr wrap="square" lIns="73152" rIns="73152" tIns="36576" bIns="36576" anchor="t">
            <a:spAutoFit/>
          </a:bodyPr>
          <a:lstStyle/>
          <a:p>
            <a:pPr algn="l">
              <a:lnSpc>
                <a:spcPct val="92000"/>
              </a:lnSpc>
              <a:spcAft>
                <a:spcPts val="200"/>
              </a:spcAft>
            </a:pPr>
            <a:r>
              <a:rPr sz="1250" b="1" i="0">
                <a:solidFill>
                  <a:srgbClr val="FFFFFF"/>
                </a:solidFill>
                <a:latin typeface="Aptos"/>
              </a:rPr>
              <a:t>GITHUB ACTIONS</a:t>
            </a:r>
          </a:p>
        </p:txBody>
      </p:sp>
      <p:sp>
        <p:nvSpPr>
          <p:cNvPr id="11" name="TextBox 10"/>
          <p:cNvSpPr txBox="1"/>
          <p:nvPr/>
        </p:nvSpPr>
        <p:spPr>
          <a:xfrm>
            <a:off x="804672" y="2318003"/>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117A69"/>
                </a:solidFill>
                <a:latin typeface="Aptos"/>
              </a:rPr>
              <a:t>•</a:t>
            </a:r>
          </a:p>
        </p:txBody>
      </p:sp>
      <p:sp>
        <p:nvSpPr>
          <p:cNvPr id="12" name="TextBox 11"/>
          <p:cNvSpPr txBox="1"/>
          <p:nvPr/>
        </p:nvSpPr>
        <p:spPr>
          <a:xfrm>
            <a:off x="1069848" y="2318003"/>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Built into GitHub</a:t>
            </a:r>
          </a:p>
        </p:txBody>
      </p:sp>
      <p:sp>
        <p:nvSpPr>
          <p:cNvPr id="13" name="TextBox 12"/>
          <p:cNvSpPr txBox="1"/>
          <p:nvPr/>
        </p:nvSpPr>
        <p:spPr>
          <a:xfrm>
            <a:off x="804672" y="2980944"/>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3E7D32"/>
                </a:solidFill>
                <a:latin typeface="Aptos"/>
              </a:rPr>
              <a:t>✔</a:t>
            </a:r>
          </a:p>
        </p:txBody>
      </p:sp>
      <p:sp>
        <p:nvSpPr>
          <p:cNvPr id="14" name="TextBox 13"/>
          <p:cNvSpPr txBox="1"/>
          <p:nvPr/>
        </p:nvSpPr>
        <p:spPr>
          <a:xfrm>
            <a:off x="1069848" y="2980944"/>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Working in minutes — nothing to install</a:t>
            </a:r>
          </a:p>
        </p:txBody>
      </p:sp>
      <p:sp>
        <p:nvSpPr>
          <p:cNvPr id="15" name="TextBox 14"/>
          <p:cNvSpPr txBox="1"/>
          <p:nvPr/>
        </p:nvSpPr>
        <p:spPr>
          <a:xfrm>
            <a:off x="804672" y="3643883"/>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3E7D32"/>
                </a:solidFill>
                <a:latin typeface="Aptos"/>
              </a:rPr>
              <a:t>✔</a:t>
            </a:r>
          </a:p>
        </p:txBody>
      </p:sp>
      <p:sp>
        <p:nvSpPr>
          <p:cNvPr id="16" name="TextBox 15"/>
          <p:cNvSpPr txBox="1"/>
          <p:nvPr/>
        </p:nvSpPr>
        <p:spPr>
          <a:xfrm>
            <a:off x="1069848" y="3643883"/>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Free on public projects</a:t>
            </a:r>
          </a:p>
        </p:txBody>
      </p:sp>
      <p:sp>
        <p:nvSpPr>
          <p:cNvPr id="17" name="TextBox 16"/>
          <p:cNvSpPr txBox="1"/>
          <p:nvPr/>
        </p:nvSpPr>
        <p:spPr>
          <a:xfrm>
            <a:off x="804672" y="4306823"/>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B3261E"/>
                </a:solidFill>
                <a:latin typeface="Aptos"/>
              </a:rPr>
              <a:t>✗</a:t>
            </a:r>
          </a:p>
        </p:txBody>
      </p:sp>
      <p:sp>
        <p:nvSpPr>
          <p:cNvPr id="18" name="TextBox 17"/>
          <p:cNvSpPr txBox="1"/>
          <p:nvPr/>
        </p:nvSpPr>
        <p:spPr>
          <a:xfrm>
            <a:off x="1069848" y="4306823"/>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Tied to GitHub, runs outside your network</a:t>
            </a:r>
          </a:p>
        </p:txBody>
      </p:sp>
      <p:sp>
        <p:nvSpPr>
          <p:cNvPr id="19" name="Rectangle 18"/>
          <p:cNvSpPr/>
          <p:nvPr/>
        </p:nvSpPr>
        <p:spPr>
          <a:xfrm>
            <a:off x="6249924" y="1783080"/>
            <a:ext cx="5280660" cy="3447288"/>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Rectangle 19"/>
          <p:cNvSpPr/>
          <p:nvPr/>
        </p:nvSpPr>
        <p:spPr>
          <a:xfrm>
            <a:off x="6249924" y="1783080"/>
            <a:ext cx="5280660" cy="402336"/>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396228" y="1837943"/>
            <a:ext cx="5006340" cy="292608"/>
          </a:xfrm>
          <a:prstGeom prst="rect">
            <a:avLst/>
          </a:prstGeom>
          <a:noFill/>
        </p:spPr>
        <p:txBody>
          <a:bodyPr wrap="square" lIns="73152" rIns="73152" tIns="36576" bIns="36576" anchor="t">
            <a:spAutoFit/>
          </a:bodyPr>
          <a:lstStyle/>
          <a:p>
            <a:pPr algn="l">
              <a:lnSpc>
                <a:spcPct val="92000"/>
              </a:lnSpc>
              <a:spcAft>
                <a:spcPts val="200"/>
              </a:spcAft>
            </a:pPr>
            <a:r>
              <a:rPr sz="1250" b="1" i="0">
                <a:solidFill>
                  <a:srgbClr val="FFFFFF"/>
                </a:solidFill>
                <a:latin typeface="Aptos"/>
              </a:rPr>
              <a:t>JENKINS</a:t>
            </a:r>
          </a:p>
        </p:txBody>
      </p:sp>
      <p:sp>
        <p:nvSpPr>
          <p:cNvPr id="22" name="TextBox 21"/>
          <p:cNvSpPr txBox="1"/>
          <p:nvPr/>
        </p:nvSpPr>
        <p:spPr>
          <a:xfrm>
            <a:off x="6396228" y="2318003"/>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D2760D"/>
                </a:solidFill>
                <a:latin typeface="Aptos"/>
              </a:rPr>
              <a:t>•</a:t>
            </a:r>
          </a:p>
        </p:txBody>
      </p:sp>
      <p:sp>
        <p:nvSpPr>
          <p:cNvPr id="23" name="TextBox 22"/>
          <p:cNvSpPr txBox="1"/>
          <p:nvPr/>
        </p:nvSpPr>
        <p:spPr>
          <a:xfrm>
            <a:off x="6661404" y="2318003"/>
            <a:ext cx="4713732" cy="544639"/>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A free automation server your company runs itself</a:t>
            </a:r>
          </a:p>
        </p:txBody>
      </p:sp>
      <p:sp>
        <p:nvSpPr>
          <p:cNvPr id="24" name="TextBox 23"/>
          <p:cNvSpPr txBox="1"/>
          <p:nvPr/>
        </p:nvSpPr>
        <p:spPr>
          <a:xfrm>
            <a:off x="6396228" y="3191827"/>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3E7D32"/>
                </a:solidFill>
                <a:latin typeface="Aptos"/>
              </a:rPr>
              <a:t>✔</a:t>
            </a:r>
          </a:p>
        </p:txBody>
      </p:sp>
      <p:sp>
        <p:nvSpPr>
          <p:cNvPr id="25" name="TextBox 24"/>
          <p:cNvSpPr txBox="1"/>
          <p:nvPr/>
        </p:nvSpPr>
        <p:spPr>
          <a:xfrm>
            <a:off x="6661404" y="3191827"/>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Runs inside your own network</a:t>
            </a:r>
          </a:p>
        </p:txBody>
      </p:sp>
      <p:sp>
        <p:nvSpPr>
          <p:cNvPr id="26" name="TextBox 25"/>
          <p:cNvSpPr txBox="1"/>
          <p:nvPr/>
        </p:nvSpPr>
        <p:spPr>
          <a:xfrm>
            <a:off x="6396228" y="3854767"/>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3E7D32"/>
                </a:solidFill>
                <a:latin typeface="Aptos"/>
              </a:rPr>
              <a:t>✔</a:t>
            </a:r>
          </a:p>
        </p:txBody>
      </p:sp>
      <p:sp>
        <p:nvSpPr>
          <p:cNvPr id="27" name="TextBox 26"/>
          <p:cNvSpPr txBox="1"/>
          <p:nvPr/>
        </p:nvSpPr>
        <p:spPr>
          <a:xfrm>
            <a:off x="6661404" y="3854767"/>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Very flexible — thousands of plugins</a:t>
            </a:r>
          </a:p>
        </p:txBody>
      </p:sp>
      <p:sp>
        <p:nvSpPr>
          <p:cNvPr id="28" name="TextBox 27"/>
          <p:cNvSpPr txBox="1"/>
          <p:nvPr/>
        </p:nvSpPr>
        <p:spPr>
          <a:xfrm>
            <a:off x="6396228" y="4517707"/>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B3261E"/>
                </a:solidFill>
                <a:latin typeface="Aptos"/>
              </a:rPr>
              <a:t>✗</a:t>
            </a:r>
          </a:p>
        </p:txBody>
      </p:sp>
      <p:sp>
        <p:nvSpPr>
          <p:cNvPr id="29" name="TextBox 28"/>
          <p:cNvSpPr txBox="1"/>
          <p:nvPr/>
        </p:nvSpPr>
        <p:spPr>
          <a:xfrm>
            <a:off x="6661404" y="4517707"/>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Your team must run, update and secure it</a:t>
            </a:r>
          </a:p>
        </p:txBody>
      </p:sp>
      <p:sp>
        <p:nvSpPr>
          <p:cNvPr id="30" name="Rectangle 29"/>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804672" y="5404104"/>
            <a:ext cx="1852574"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THE REAL QUESTION</a:t>
            </a:r>
          </a:p>
        </p:txBody>
      </p:sp>
      <p:sp>
        <p:nvSpPr>
          <p:cNvPr id="32" name="TextBox 31"/>
          <p:cNvSpPr txBox="1"/>
          <p:nvPr/>
        </p:nvSpPr>
        <p:spPr>
          <a:xfrm>
            <a:off x="2648102" y="5394959"/>
            <a:ext cx="8717889"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"Must this run inside our own network?" If not, the tool you don't have to look after is usually the cheaper one. Lab 05 builds the same checks in Jenkins, as a Jenkinsfile.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43</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LIVE DEMO  ·  5 MIN</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Watch the merge button go grey</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523329" cy="246430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523329"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608929"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TERMINAL</a:t>
            </a:r>
          </a:p>
        </p:txBody>
      </p:sp>
      <p:sp>
        <p:nvSpPr>
          <p:cNvPr id="14" name="TextBox 13"/>
          <p:cNvSpPr txBox="1"/>
          <p:nvPr/>
        </p:nvSpPr>
        <p:spPr>
          <a:xfrm>
            <a:off x="768096" y="2185416"/>
            <a:ext cx="6322161" cy="1824228"/>
          </a:xfrm>
          <a:prstGeom prst="rect">
            <a:avLst/>
          </a:prstGeom>
          <a:noFill/>
        </p:spPr>
        <p:txBody>
          <a:bodyPr wrap="square" lIns="73152" rIns="73152" tIns="18288" bIns="18288">
            <a:spAutoFit/>
          </a:bodyPr>
          <a:lstStyle/>
          <a:p>
            <a:pPr>
              <a:lnSpc>
                <a:spcPct val="100000"/>
              </a:lnSpc>
              <a:spcAft>
                <a:spcPts val="0"/>
              </a:spcAft>
            </a:pPr>
            <a:r>
              <a:rPr sz="1250" b="1">
                <a:solidFill>
                  <a:srgbClr val="7CC8EE"/>
                </a:solidFill>
                <a:latin typeface="Consolas"/>
              </a:rPr>
              <a:t>$ </a:t>
            </a:r>
            <a:r>
              <a:rPr sz="1250" b="0">
                <a:solidFill>
                  <a:srgbClr val="E8EEF4"/>
                </a:solidFill>
                <a:latin typeface="Consolas"/>
              </a:rPr>
              <a:t>git switch -c test/deliberately-break-ci</a:t>
            </a:r>
          </a:p>
          <a:p>
            <a:pPr>
              <a:lnSpc>
                <a:spcPct val="100000"/>
              </a:lnSpc>
              <a:spcAft>
                <a:spcPts val="0"/>
              </a:spcAft>
            </a:pPr>
            <a:r>
              <a:rPr sz="1250" b="1">
                <a:solidFill>
                  <a:srgbClr val="7CC8EE"/>
                </a:solidFill>
                <a:latin typeface="Consolas"/>
              </a:rPr>
              <a:t>$ </a:t>
            </a:r>
            <a:r>
              <a:rPr sz="1250" b="0">
                <a:solidFill>
                  <a:srgbClr val="E8EEF4"/>
                </a:solidFill>
                <a:latin typeface="Consolas"/>
              </a:rPr>
              <a:t>python3 break_health.py       </a:t>
            </a:r>
            <a:r>
              <a:rPr sz="1250" b="0">
                <a:solidFill>
                  <a:srgbClr val="8FBFA8"/>
                </a:solidFill>
                <a:latin typeface="Consolas"/>
              </a:rPr>
              <a:t>  # /health now returns "BROKEN"</a:t>
            </a:r>
          </a:p>
          <a:p>
            <a:pPr>
              <a:lnSpc>
                <a:spcPct val="100000"/>
              </a:lnSpc>
              <a:spcAft>
                <a:spcPts val="0"/>
              </a:spcAft>
            </a:pPr>
            <a:r>
              <a:rPr sz="1250" b="0">
                <a:solidFill>
                  <a:srgbClr val="E8EEF4"/>
                </a:solidFill>
                <a:latin typeface="Consolas"/>
              </a:rPr>
              <a:t>broke the /health contract</a:t>
            </a:r>
          </a:p>
          <a:p>
            <a:pPr>
              <a:lnSpc>
                <a:spcPct val="100000"/>
              </a:lnSpc>
              <a:spcAft>
                <a:spcPts val="0"/>
              </a:spcAft>
            </a:pPr>
            <a:r>
              <a:rPr sz="1250" b="1">
                <a:solidFill>
                  <a:srgbClr val="7CC8EE"/>
                </a:solidFill>
                <a:latin typeface="Consolas"/>
              </a:rPr>
              <a:t>$ </a:t>
            </a:r>
            <a:r>
              <a:rPr sz="1250" b="0">
                <a:solidFill>
                  <a:srgbClr val="E8EEF4"/>
                </a:solidFill>
                <a:latin typeface="Consolas"/>
              </a:rPr>
              <a:t>git commit -qam "test: deliberately break the health contract"</a:t>
            </a:r>
          </a:p>
          <a:p>
            <a:pPr>
              <a:lnSpc>
                <a:spcPct val="100000"/>
              </a:lnSpc>
              <a:spcAft>
                <a:spcPts val="0"/>
              </a:spcAft>
            </a:pPr>
            <a:r>
              <a:rPr sz="1250" b="1">
                <a:solidFill>
                  <a:srgbClr val="7CC8EE"/>
                </a:solidFill>
                <a:latin typeface="Consolas"/>
              </a:rPr>
              <a:t>$ </a:t>
            </a:r>
            <a:r>
              <a:rPr sz="1250" b="0">
                <a:solidFill>
                  <a:srgbClr val="E8EEF4"/>
                </a:solidFill>
                <a:latin typeface="Consolas"/>
              </a:rPr>
              <a:t>git push -u origin HEAD</a:t>
            </a:r>
          </a:p>
          <a:p>
            <a:pPr>
              <a:lnSpc>
                <a:spcPct val="100000"/>
              </a:lnSpc>
              <a:spcAft>
                <a:spcPts val="0"/>
              </a:spcAft>
            </a:pPr>
            <a:r>
              <a:rPr sz="1250" b="1">
                <a:solidFill>
                  <a:srgbClr val="7CC8EE"/>
                </a:solidFill>
                <a:latin typeface="Consolas"/>
              </a:rPr>
              <a:t>$ </a:t>
            </a:r>
            <a:r>
              <a:rPr sz="1250" b="0">
                <a:solidFill>
                  <a:srgbClr val="E8EEF4"/>
                </a:solidFill>
                <a:latin typeface="Consolas"/>
              </a:rPr>
              <a:t>gh pr create --fill</a:t>
            </a:r>
          </a:p>
          <a:p>
            <a:pPr>
              <a:lnSpc>
                <a:spcPct val="100000"/>
              </a:lnSpc>
              <a:spcAft>
                <a:spcPts val="0"/>
              </a:spcAft>
            </a:pPr>
            <a:r>
              <a:rPr sz="1250" b="1">
                <a:solidFill>
                  <a:srgbClr val="7CC8EE"/>
                </a:solidFill>
                <a:latin typeface="Consolas"/>
              </a:rPr>
              <a:t>$ </a:t>
            </a:r>
            <a:r>
              <a:rPr sz="1250" b="0">
                <a:solidFill>
                  <a:srgbClr val="E8EEF4"/>
                </a:solidFill>
                <a:latin typeface="Consolas"/>
              </a:rPr>
              <a:t>gh pr checks                   </a:t>
            </a:r>
            <a:r>
              <a:rPr sz="1250" b="0">
                <a:solidFill>
                  <a:srgbClr val="8FBFA8"/>
                </a:solidFill>
                <a:latin typeface="Consolas"/>
              </a:rPr>
              <a:t>  # wait for the run to finish</a:t>
            </a:r>
          </a:p>
          <a:p>
            <a:pPr>
              <a:lnSpc>
                <a:spcPct val="100000"/>
              </a:lnSpc>
              <a:spcAft>
                <a:spcPts val="0"/>
              </a:spcAft>
            </a:pPr>
            <a:r>
              <a:rPr sz="1250" b="0">
                <a:solidFill>
                  <a:srgbClr val="8FBFA8"/>
                </a:solidFill>
                <a:latin typeface="Consolas"/>
              </a:rPr>
              <a:t># test (3.11) and test (3.12) fail, so "CI passed" fails</a:t>
            </a:r>
          </a:p>
          <a:p>
            <a:pPr>
              <a:lnSpc>
                <a:spcPct val="100000"/>
              </a:lnSpc>
              <a:spcAft>
                <a:spcPts val="0"/>
              </a:spcAft>
            </a:pPr>
            <a:r>
              <a:rPr sz="1250" b="0">
                <a:solidFill>
                  <a:srgbClr val="8FBFA8"/>
                </a:solidFill>
                <a:latin typeface="Consolas"/>
              </a:rPr>
              <a:t># the PR page now says merging is blocked</a:t>
            </a:r>
          </a:p>
        </p:txBody>
      </p:sp>
      <p:sp>
        <p:nvSpPr>
          <p:cNvPr id="15" name="TextBox 14"/>
          <p:cNvSpPr txBox="1"/>
          <p:nvPr/>
        </p:nvSpPr>
        <p:spPr>
          <a:xfrm>
            <a:off x="7456017" y="1764792"/>
            <a:ext cx="4074566"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D2760D"/>
                </a:solidFill>
                <a:latin typeface="Aptos"/>
              </a:rPr>
              <a:t>WATCH FOR</a:t>
            </a:r>
          </a:p>
        </p:txBody>
      </p:sp>
      <p:sp>
        <p:nvSpPr>
          <p:cNvPr id="16" name="Oval 15"/>
          <p:cNvSpPr/>
          <p:nvPr/>
        </p:nvSpPr>
        <p:spPr>
          <a:xfrm>
            <a:off x="7456017" y="2121408"/>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56017"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785201" y="2075688"/>
            <a:ext cx="372709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A small change that looks harmless</a:t>
            </a:r>
          </a:p>
          <a:p>
            <a:pPr>
              <a:lnSpc>
                <a:spcPct val="95000"/>
              </a:lnSpc>
              <a:spcBef>
                <a:spcPts val="200"/>
              </a:spcBef>
              <a:spcAft>
                <a:spcPts val="100"/>
              </a:spcAft>
            </a:pPr>
            <a:r>
              <a:rPr sz="1090" b="0">
                <a:solidFill>
                  <a:srgbClr val="5A6570"/>
                </a:solidFill>
                <a:latin typeface="Aptos"/>
              </a:rPr>
              <a:t>/health now answers "BROKEN" instead of "ok"</a:t>
            </a:r>
          </a:p>
        </p:txBody>
      </p:sp>
      <p:sp>
        <p:nvSpPr>
          <p:cNvPr id="19" name="Oval 18"/>
          <p:cNvSpPr/>
          <p:nvPr/>
        </p:nvSpPr>
        <p:spPr>
          <a:xfrm>
            <a:off x="7456017" y="2971800"/>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456017" y="2990088"/>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785201" y="2926080"/>
            <a:ext cx="372709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The tests know what /health must answer</a:t>
            </a:r>
          </a:p>
          <a:p>
            <a:pPr>
              <a:lnSpc>
                <a:spcPct val="95000"/>
              </a:lnSpc>
              <a:spcBef>
                <a:spcPts val="200"/>
              </a:spcBef>
              <a:spcAft>
                <a:spcPts val="100"/>
              </a:spcAft>
            </a:pPr>
            <a:r>
              <a:rPr sz="1090" b="0">
                <a:solidFill>
                  <a:srgbClr val="5A6570"/>
                </a:solidFill>
                <a:latin typeface="Aptos"/>
              </a:rPr>
              <a:t>So they fail — on both Python versions</a:t>
            </a:r>
          </a:p>
        </p:txBody>
      </p:sp>
      <p:sp>
        <p:nvSpPr>
          <p:cNvPr id="22" name="Oval 21"/>
          <p:cNvSpPr/>
          <p:nvPr/>
        </p:nvSpPr>
        <p:spPr>
          <a:xfrm>
            <a:off x="7456017" y="3822191"/>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456017" y="3840480"/>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785201" y="3776472"/>
            <a:ext cx="372709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The merge button goes grey</a:t>
            </a:r>
          </a:p>
          <a:p>
            <a:pPr>
              <a:lnSpc>
                <a:spcPct val="95000"/>
              </a:lnSpc>
              <a:spcBef>
                <a:spcPts val="200"/>
              </a:spcBef>
              <a:spcAft>
                <a:spcPts val="100"/>
              </a:spcAft>
            </a:pPr>
            <a:r>
              <a:rPr sz="1090" b="0">
                <a:solidFill>
                  <a:srgbClr val="5A6570"/>
                </a:solidFill>
                <a:latin typeface="Aptos"/>
              </a:rPr>
              <a:t>GitHub will not let anyone merge it</a:t>
            </a:r>
          </a:p>
        </p:txBody>
      </p:sp>
      <p:sp>
        <p:nvSpPr>
          <p:cNvPr id="25" name="Oval 24"/>
          <p:cNvSpPr/>
          <p:nvPr/>
        </p:nvSpPr>
        <p:spPr>
          <a:xfrm>
            <a:off x="7456017" y="4672583"/>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456017" y="469087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785201" y="4626864"/>
            <a:ext cx="372709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Ask the room</a:t>
            </a:r>
          </a:p>
          <a:p>
            <a:pPr>
              <a:lnSpc>
                <a:spcPct val="95000"/>
              </a:lnSpc>
              <a:spcBef>
                <a:spcPts val="200"/>
              </a:spcBef>
              <a:spcAft>
                <a:spcPts val="100"/>
              </a:spcAft>
            </a:pPr>
            <a:r>
              <a:rPr sz="1090" b="0">
                <a:solidFill>
                  <a:srgbClr val="5A6570"/>
                </a:solidFill>
                <a:latin typeface="Aptos"/>
              </a:rPr>
              <a:t>"In your organisation, what would have stopped this change?"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44</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LAB 04 + 05  ·  YOUR LAB  ·  AFTER CLASS</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380" b="1" i="0">
                <a:solidFill>
                  <a:srgbClr val="123A5F"/>
                </a:solidFill>
                <a:latin typeface="Aptos Display"/>
              </a:rPr>
              <a:t>GitHub Actions CI · Jenkins on localhost</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658368"/>
          </a:xfrm>
          <a:prstGeom prst="rect">
            <a:avLst/>
          </a:prstGeom>
          <a:solidFill>
            <a:srgbClr val="EDF4EA"/>
          </a:solidFill>
          <a:ln w="12700">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841247" y="1837943"/>
            <a:ext cx="1143000" cy="256032"/>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3E7D32"/>
                </a:solidFill>
                <a:latin typeface="Aptos"/>
              </a:rPr>
              <a:t>OBJECTIVE</a:t>
            </a:r>
          </a:p>
        </p:txBody>
      </p:sp>
      <p:sp>
        <p:nvSpPr>
          <p:cNvPr id="10" name="TextBox 9"/>
          <p:cNvSpPr txBox="1"/>
          <p:nvPr/>
        </p:nvSpPr>
        <p:spPr>
          <a:xfrm>
            <a:off x="841247" y="2057400"/>
            <a:ext cx="10506456" cy="347472"/>
          </a:xfrm>
          <a:prstGeom prst="rect">
            <a:avLst/>
          </a:prstGeom>
          <a:noFill/>
        </p:spPr>
        <p:txBody>
          <a:bodyPr wrap="square" lIns="73152" rIns="73152" tIns="36576" bIns="36576" anchor="t">
            <a:spAutoFit/>
          </a:bodyPr>
          <a:lstStyle/>
          <a:p>
            <a:pPr algn="l">
              <a:lnSpc>
                <a:spcPct val="92000"/>
              </a:lnSpc>
              <a:spcAft>
                <a:spcPts val="200"/>
              </a:spcAft>
            </a:pPr>
            <a:r>
              <a:rPr sz="1160" b="0" i="0">
                <a:solidFill>
                  <a:srgbClr val="123A5F"/>
                </a:solidFill>
                <a:latin typeface="Aptos"/>
              </a:rPr>
              <a:t>Build an automatic check that makes it impossible to merge a broken change — then build the same check in Jenkins and compare.</a:t>
            </a:r>
          </a:p>
        </p:txBody>
      </p:sp>
      <p:sp>
        <p:nvSpPr>
          <p:cNvPr id="11" name="TextBox 10"/>
          <p:cNvSpPr txBox="1"/>
          <p:nvPr/>
        </p:nvSpPr>
        <p:spPr>
          <a:xfrm>
            <a:off x="658368" y="2660904"/>
            <a:ext cx="10872216" cy="274320"/>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117A69"/>
                </a:solidFill>
                <a:latin typeface="Aptos"/>
              </a:rPr>
              <a:t>YOU WILL</a:t>
            </a:r>
          </a:p>
        </p:txBody>
      </p:sp>
      <p:sp>
        <p:nvSpPr>
          <p:cNvPr id="12" name="Oval 11"/>
          <p:cNvSpPr/>
          <p:nvPr/>
        </p:nvSpPr>
        <p:spPr>
          <a:xfrm>
            <a:off x="676656" y="298551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76656" y="300380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4" name="TextBox 13"/>
          <p:cNvSpPr txBox="1"/>
          <p:nvPr/>
        </p:nvSpPr>
        <p:spPr>
          <a:xfrm>
            <a:off x="1042415" y="295808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Write a workflow file that checks the style and runs the tests</a:t>
            </a:r>
          </a:p>
        </p:txBody>
      </p:sp>
      <p:sp>
        <p:nvSpPr>
          <p:cNvPr id="15" name="Oval 14"/>
          <p:cNvSpPr/>
          <p:nvPr/>
        </p:nvSpPr>
        <p:spPr>
          <a:xfrm>
            <a:off x="676656" y="335127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676656" y="336956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17" name="TextBox 16"/>
          <p:cNvSpPr txBox="1"/>
          <p:nvPr/>
        </p:nvSpPr>
        <p:spPr>
          <a:xfrm>
            <a:off x="1042415" y="332384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Push it, watch it run, and merge it</a:t>
            </a:r>
          </a:p>
        </p:txBody>
      </p:sp>
      <p:sp>
        <p:nvSpPr>
          <p:cNvPr id="18" name="Oval 17"/>
          <p:cNvSpPr/>
          <p:nvPr/>
        </p:nvSpPr>
        <p:spPr>
          <a:xfrm>
            <a:off x="676656" y="3717035"/>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676656" y="373532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0" name="TextBox 19"/>
          <p:cNvSpPr txBox="1"/>
          <p:nvPr/>
        </p:nvSpPr>
        <p:spPr>
          <a:xfrm>
            <a:off x="1042415" y="368960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Make "CI passed" required before anything can be merged</a:t>
            </a:r>
          </a:p>
        </p:txBody>
      </p:sp>
      <p:sp>
        <p:nvSpPr>
          <p:cNvPr id="21" name="Oval 20"/>
          <p:cNvSpPr/>
          <p:nvPr/>
        </p:nvSpPr>
        <p:spPr>
          <a:xfrm>
            <a:off x="676656" y="408279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676656" y="410108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3" name="TextBox 22"/>
          <p:cNvSpPr txBox="1"/>
          <p:nvPr/>
        </p:nvSpPr>
        <p:spPr>
          <a:xfrm>
            <a:off x="1042415" y="405536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Break the app on purpose and open a pull request</a:t>
            </a:r>
          </a:p>
        </p:txBody>
      </p:sp>
      <p:sp>
        <p:nvSpPr>
          <p:cNvPr id="24" name="Oval 23"/>
          <p:cNvSpPr/>
          <p:nvPr/>
        </p:nvSpPr>
        <p:spPr>
          <a:xfrm>
            <a:off x="676656" y="444855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76656" y="446684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26" name="TextBox 25"/>
          <p:cNvSpPr txBox="1"/>
          <p:nvPr/>
        </p:nvSpPr>
        <p:spPr>
          <a:xfrm>
            <a:off x="1042415" y="442112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Watch the checks go red and the merge button go grey</a:t>
            </a:r>
          </a:p>
        </p:txBody>
      </p:sp>
      <p:sp>
        <p:nvSpPr>
          <p:cNvPr id="27" name="Oval 26"/>
          <p:cNvSpPr/>
          <p:nvPr/>
        </p:nvSpPr>
        <p:spPr>
          <a:xfrm>
            <a:off x="676656" y="481431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8" name="TextBox 27"/>
          <p:cNvSpPr txBox="1"/>
          <p:nvPr/>
        </p:nvSpPr>
        <p:spPr>
          <a:xfrm>
            <a:off x="676656" y="483260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6</a:t>
            </a:r>
          </a:p>
        </p:txBody>
      </p:sp>
      <p:sp>
        <p:nvSpPr>
          <p:cNvPr id="29" name="TextBox 28"/>
          <p:cNvSpPr txBox="1"/>
          <p:nvPr/>
        </p:nvSpPr>
        <p:spPr>
          <a:xfrm>
            <a:off x="1042415" y="478688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Run Jenkins on your laptop, write a Jenkinsfile, and compare the two</a:t>
            </a:r>
          </a:p>
        </p:txBody>
      </p:sp>
      <p:sp>
        <p:nvSpPr>
          <p:cNvPr id="30" name="Rectangle 29"/>
          <p:cNvSpPr/>
          <p:nvPr/>
        </p:nvSpPr>
        <p:spPr>
          <a:xfrm>
            <a:off x="658368" y="5394960"/>
            <a:ext cx="10872216" cy="475488"/>
          </a:xfrm>
          <a:prstGeom prst="rect">
            <a:avLst/>
          </a:prstGeom>
          <a:solidFill>
            <a:srgbClr val="ECF1F6"/>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841247" y="5440680"/>
            <a:ext cx="105156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117A69"/>
                </a:solidFill>
                <a:latin typeface="Aptos"/>
              </a:rPr>
              <a:t>OUTCOME</a:t>
            </a:r>
          </a:p>
        </p:txBody>
      </p:sp>
      <p:sp>
        <p:nvSpPr>
          <p:cNvPr id="32" name="TextBox 31"/>
          <p:cNvSpPr txBox="1"/>
          <p:nvPr/>
        </p:nvSpPr>
        <p:spPr>
          <a:xfrm>
            <a:off x="1892808" y="5431536"/>
            <a:ext cx="9454896" cy="384048"/>
          </a:xfrm>
          <a:prstGeom prst="rect">
            <a:avLst/>
          </a:prstGeom>
          <a:noFill/>
        </p:spPr>
        <p:txBody>
          <a:bodyPr wrap="square" lIns="73152" rIns="73152" tIns="36576" bIns="36576" anchor="ctr">
            <a:spAutoFit/>
          </a:bodyPr>
          <a:lstStyle/>
          <a:p>
            <a:pPr algn="l">
              <a:lnSpc>
                <a:spcPct val="92000"/>
              </a:lnSpc>
              <a:spcAft>
                <a:spcPts val="200"/>
              </a:spcAft>
            </a:pPr>
            <a:r>
              <a:rPr sz="1200" b="0" i="0">
                <a:solidFill>
                  <a:srgbClr val="123A5F"/>
                </a:solidFill>
                <a:latin typeface="Aptos"/>
              </a:rPr>
              <a:t>A project where every change is tested automatically before it can be merged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45</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CHECK YOUR UNDERSTANDING</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Day 2 — check your understanding</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310896" cy="31089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658368" y="1801368"/>
            <a:ext cx="310896"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117A69"/>
                </a:solidFill>
                <a:latin typeface="Aptos"/>
              </a:rPr>
              <a:t>1</a:t>
            </a:r>
          </a:p>
        </p:txBody>
      </p:sp>
      <p:sp>
        <p:nvSpPr>
          <p:cNvPr id="10" name="TextBox 9"/>
          <p:cNvSpPr txBox="1"/>
          <p:nvPr/>
        </p:nvSpPr>
        <p:spPr>
          <a:xfrm>
            <a:off x="1115568" y="1787651"/>
            <a:ext cx="10369296" cy="310896"/>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23A5F"/>
                </a:solidFill>
                <a:latin typeface="Aptos"/>
              </a:rPr>
              <a:t>In your own words: what is a branch, and why would you use one?</a:t>
            </a:r>
          </a:p>
        </p:txBody>
      </p:sp>
      <p:sp>
        <p:nvSpPr>
          <p:cNvPr id="11" name="Rectangle 10"/>
          <p:cNvSpPr/>
          <p:nvPr/>
        </p:nvSpPr>
        <p:spPr>
          <a:xfrm>
            <a:off x="658368" y="2509113"/>
            <a:ext cx="310896" cy="31089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658368" y="2527401"/>
            <a:ext cx="310896"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117A69"/>
                </a:solidFill>
                <a:latin typeface="Aptos"/>
              </a:rPr>
              <a:t>2</a:t>
            </a:r>
          </a:p>
        </p:txBody>
      </p:sp>
      <p:sp>
        <p:nvSpPr>
          <p:cNvPr id="13" name="TextBox 12"/>
          <p:cNvSpPr txBox="1"/>
          <p:nvPr/>
        </p:nvSpPr>
        <p:spPr>
          <a:xfrm>
            <a:off x="1115568" y="2513685"/>
            <a:ext cx="10369296" cy="310896"/>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23A5F"/>
                </a:solidFill>
                <a:latin typeface="Aptos"/>
              </a:rPr>
              <a:t>You changed two files but only want to save one of them. Which commands do you use?</a:t>
            </a:r>
          </a:p>
        </p:txBody>
      </p:sp>
      <p:sp>
        <p:nvSpPr>
          <p:cNvPr id="14" name="Rectangle 13"/>
          <p:cNvSpPr/>
          <p:nvPr/>
        </p:nvSpPr>
        <p:spPr>
          <a:xfrm>
            <a:off x="658368" y="3235147"/>
            <a:ext cx="310896" cy="31089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658368" y="3253435"/>
            <a:ext cx="310896"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117A69"/>
                </a:solidFill>
                <a:latin typeface="Aptos"/>
              </a:rPr>
              <a:t>3</a:t>
            </a:r>
          </a:p>
        </p:txBody>
      </p:sp>
      <p:sp>
        <p:nvSpPr>
          <p:cNvPr id="16" name="TextBox 15"/>
          <p:cNvSpPr txBox="1"/>
          <p:nvPr/>
        </p:nvSpPr>
        <p:spPr>
          <a:xfrm>
            <a:off x="1115568" y="3239719"/>
            <a:ext cx="10369296" cy="310896"/>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23A5F"/>
                </a:solidFill>
                <a:latin typeface="Aptos"/>
              </a:rPr>
              <a:t>Your change is already in main and it is wrong. Which command undoes it safely — and why?</a:t>
            </a:r>
          </a:p>
        </p:txBody>
      </p:sp>
      <p:sp>
        <p:nvSpPr>
          <p:cNvPr id="17" name="Rectangle 16"/>
          <p:cNvSpPr/>
          <p:nvPr/>
        </p:nvSpPr>
        <p:spPr>
          <a:xfrm>
            <a:off x="658368" y="3961180"/>
            <a:ext cx="310896" cy="31089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658368" y="3979468"/>
            <a:ext cx="310896"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117A69"/>
                </a:solidFill>
                <a:latin typeface="Aptos"/>
              </a:rPr>
              <a:t>4</a:t>
            </a:r>
          </a:p>
        </p:txBody>
      </p:sp>
      <p:sp>
        <p:nvSpPr>
          <p:cNvPr id="19" name="TextBox 18"/>
          <p:cNvSpPr txBox="1"/>
          <p:nvPr/>
        </p:nvSpPr>
        <p:spPr>
          <a:xfrm>
            <a:off x="1115568" y="3965752"/>
            <a:ext cx="10369296" cy="310896"/>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23A5F"/>
                </a:solidFill>
                <a:latin typeface="Aptos"/>
              </a:rPr>
              <a:t>What is a merge conflict, and what are the steps to resolve one?</a:t>
            </a:r>
          </a:p>
        </p:txBody>
      </p:sp>
      <p:sp>
        <p:nvSpPr>
          <p:cNvPr id="20" name="Rectangle 19"/>
          <p:cNvSpPr/>
          <p:nvPr/>
        </p:nvSpPr>
        <p:spPr>
          <a:xfrm>
            <a:off x="658368" y="4687214"/>
            <a:ext cx="310896" cy="31089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58368" y="4705502"/>
            <a:ext cx="310896"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117A69"/>
                </a:solidFill>
                <a:latin typeface="Aptos"/>
              </a:rPr>
              <a:t>5</a:t>
            </a:r>
          </a:p>
        </p:txBody>
      </p:sp>
      <p:sp>
        <p:nvSpPr>
          <p:cNvPr id="22" name="TextBox 21"/>
          <p:cNvSpPr txBox="1"/>
          <p:nvPr/>
        </p:nvSpPr>
        <p:spPr>
          <a:xfrm>
            <a:off x="1115568" y="4691786"/>
            <a:ext cx="10369296" cy="310896"/>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23A5F"/>
                </a:solidFill>
                <a:latin typeface="Aptos"/>
              </a:rPr>
              <a:t>When is it safe to rebase, and when should you merge instead?</a:t>
            </a:r>
          </a:p>
        </p:txBody>
      </p:sp>
      <p:sp>
        <p:nvSpPr>
          <p:cNvPr id="23" name="Rectangle 22"/>
          <p:cNvSpPr/>
          <p:nvPr/>
        </p:nvSpPr>
        <p:spPr>
          <a:xfrm>
            <a:off x="658368" y="5413247"/>
            <a:ext cx="310896" cy="31089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658368" y="5431535"/>
            <a:ext cx="310896"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117A69"/>
                </a:solidFill>
                <a:latin typeface="Aptos"/>
              </a:rPr>
              <a:t>6</a:t>
            </a:r>
          </a:p>
        </p:txBody>
      </p:sp>
      <p:sp>
        <p:nvSpPr>
          <p:cNvPr id="25" name="TextBox 24"/>
          <p:cNvSpPr txBox="1"/>
          <p:nvPr/>
        </p:nvSpPr>
        <p:spPr>
          <a:xfrm>
            <a:off x="1115568" y="5417819"/>
            <a:ext cx="10369296" cy="310896"/>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23A5F"/>
                </a:solidFill>
                <a:latin typeface="Aptos"/>
              </a:rPr>
              <a:t>Why must a DIFFERENT person approve a pull request — and what makes the merge button go grey?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475488"/>
            <a:ext cx="2843784" cy="896112"/>
          </a:xfrm>
          <a:prstGeom prst="rect">
            <a:avLst/>
          </a:prstGeom>
        </p:spPr>
      </p:pic>
      <p:sp>
        <p:nvSpPr>
          <p:cNvPr id="6" name="TextBox 5"/>
          <p:cNvSpPr txBox="1"/>
          <p:nvPr/>
        </p:nvSpPr>
        <p:spPr>
          <a:xfrm>
            <a:off x="658368" y="640080"/>
            <a:ext cx="8046720"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DAY 2 · WRAP-UP</a:t>
            </a:r>
          </a:p>
        </p:txBody>
      </p:sp>
      <p:sp>
        <p:nvSpPr>
          <p:cNvPr id="7" name="TextBox 6"/>
          <p:cNvSpPr txBox="1"/>
          <p:nvPr/>
        </p:nvSpPr>
        <p:spPr>
          <a:xfrm>
            <a:off x="658368" y="914400"/>
            <a:ext cx="8046720" cy="566928"/>
          </a:xfrm>
          <a:prstGeom prst="rect">
            <a:avLst/>
          </a:prstGeom>
          <a:noFill/>
        </p:spPr>
        <p:txBody>
          <a:bodyPr wrap="square" lIns="73152" rIns="73152" tIns="36576" bIns="36576" anchor="t">
            <a:spAutoFit/>
          </a:bodyPr>
          <a:lstStyle/>
          <a:p>
            <a:pPr algn="l">
              <a:lnSpc>
                <a:spcPct val="92000"/>
              </a:lnSpc>
              <a:spcAft>
                <a:spcPts val="200"/>
              </a:spcAft>
            </a:pPr>
            <a:r>
              <a:rPr sz="2800" b="1" i="0">
                <a:solidFill>
                  <a:srgbClr val="123A5F"/>
                </a:solidFill>
                <a:latin typeface="Aptos Display"/>
              </a:rPr>
              <a:t>Day 2 complete</a:t>
            </a:r>
          </a:p>
        </p:txBody>
      </p:sp>
      <p:cxnSp>
        <p:nvCxnSpPr>
          <p:cNvPr id="8" name="Connector 7"/>
          <p:cNvCxnSpPr/>
          <p:nvPr/>
        </p:nvCxnSpPr>
        <p:spPr>
          <a:xfrm>
            <a:off x="658368" y="162763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1920240"/>
            <a:ext cx="10872216"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YOU BUILT TODAY</a:t>
            </a:r>
          </a:p>
        </p:txBody>
      </p:sp>
      <p:sp>
        <p:nvSpPr>
          <p:cNvPr id="10" name="Rectangle 9"/>
          <p:cNvSpPr/>
          <p:nvPr/>
        </p:nvSpPr>
        <p:spPr>
          <a:xfrm>
            <a:off x="676656" y="2313432"/>
            <a:ext cx="109728" cy="10972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TextBox 10"/>
          <p:cNvSpPr txBox="1"/>
          <p:nvPr/>
        </p:nvSpPr>
        <p:spPr>
          <a:xfrm>
            <a:off x="932688" y="2203704"/>
            <a:ext cx="10561320" cy="310896"/>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What Git is, and the everyday commands: status, add, commit, switch, pull, push, restore, revert</a:t>
            </a:r>
          </a:p>
        </p:txBody>
      </p:sp>
      <p:sp>
        <p:nvSpPr>
          <p:cNvPr id="12" name="Rectangle 11"/>
          <p:cNvSpPr/>
          <p:nvPr/>
        </p:nvSpPr>
        <p:spPr>
          <a:xfrm>
            <a:off x="676656" y="2660903"/>
            <a:ext cx="109728" cy="10972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32688" y="2551176"/>
            <a:ext cx="10561320" cy="310896"/>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Branches, merge and rebase — and the golden rule</a:t>
            </a:r>
          </a:p>
        </p:txBody>
      </p:sp>
      <p:sp>
        <p:nvSpPr>
          <p:cNvPr id="14" name="Rectangle 13"/>
          <p:cNvSpPr/>
          <p:nvPr/>
        </p:nvSpPr>
        <p:spPr>
          <a:xfrm>
            <a:off x="676656" y="3008375"/>
            <a:ext cx="109728" cy="10972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32688" y="2898648"/>
            <a:ext cx="10561320" cy="310896"/>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Pull requests: a second person checks every change, and GitHub enforces it</a:t>
            </a:r>
          </a:p>
        </p:txBody>
      </p:sp>
      <p:sp>
        <p:nvSpPr>
          <p:cNvPr id="16" name="Rectangle 15"/>
          <p:cNvSpPr/>
          <p:nvPr/>
        </p:nvSpPr>
        <p:spPr>
          <a:xfrm>
            <a:off x="676656" y="3355847"/>
            <a:ext cx="109728" cy="10972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932688" y="3246120"/>
            <a:ext cx="10561320" cy="310896"/>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Continuous Integration: every change is tested automatically</a:t>
            </a:r>
          </a:p>
        </p:txBody>
      </p:sp>
      <p:sp>
        <p:nvSpPr>
          <p:cNvPr id="18" name="Rectangle 17"/>
          <p:cNvSpPr/>
          <p:nvPr/>
        </p:nvSpPr>
        <p:spPr>
          <a:xfrm>
            <a:off x="676656" y="3703320"/>
            <a:ext cx="109728" cy="10972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932688" y="3593591"/>
            <a:ext cx="10561320" cy="310896"/>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AFTER CLASS: finish Labs 03–05 · optional: the Going Further deck, and Labs 03A, 04A and 04B</a:t>
            </a:r>
          </a:p>
        </p:txBody>
      </p:sp>
      <p:sp>
        <p:nvSpPr>
          <p:cNvPr id="20" name="Rectangle 19"/>
          <p:cNvSpPr/>
          <p:nvPr/>
        </p:nvSpPr>
        <p:spPr>
          <a:xfrm>
            <a:off x="658368" y="4133087"/>
            <a:ext cx="10872216" cy="162763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Rectangle 20"/>
          <p:cNvSpPr/>
          <p:nvPr/>
        </p:nvSpPr>
        <p:spPr>
          <a:xfrm>
            <a:off x="658368" y="4133087"/>
            <a:ext cx="64008" cy="1627632"/>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932688" y="4224527"/>
            <a:ext cx="10415016"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23A5F"/>
                </a:solidFill>
                <a:latin typeface="Aptos"/>
              </a:rPr>
              <a:t>TOMORROW</a:t>
            </a:r>
          </a:p>
        </p:txBody>
      </p:sp>
      <p:sp>
        <p:nvSpPr>
          <p:cNvPr id="23" name="TextBox 22"/>
          <p:cNvSpPr txBox="1"/>
          <p:nvPr/>
        </p:nvSpPr>
        <p:spPr>
          <a:xfrm>
            <a:off x="932688" y="4517136"/>
            <a:ext cx="10323576" cy="1152144"/>
          </a:xfrm>
          <a:prstGeom prst="rect">
            <a:avLst/>
          </a:prstGeom>
          <a:noFill/>
        </p:spPr>
        <p:txBody>
          <a:bodyPr wrap="square" lIns="73152" rIns="73152" tIns="36576" bIns="36576" anchor="t">
            <a:spAutoFit/>
          </a:bodyPr>
          <a:lstStyle/>
          <a:p>
            <a:pPr algn="l">
              <a:lnSpc>
                <a:spcPct val="112000"/>
              </a:lnSpc>
              <a:spcAft>
                <a:spcPts val="200"/>
              </a:spcAft>
            </a:pPr>
            <a:r>
              <a:rPr sz="1300" b="0" i="0">
                <a:solidFill>
                  <a:srgbClr val="1F2933"/>
                </a:solidFill>
                <a:latin typeface="Aptos"/>
              </a:rPr>
              <a:t>Day 3 packages PayTrack API into a container — a box that runs the same way on every computer. You will see why that matters, how to build a small and safe one, and how to run the whole application with a single command.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0</Words>
  <Application>Microsoft Office PowerPoint</Application>
  <PresentationFormat>Widescreen</PresentationFormat>
  <Paragraphs>0</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Domenico Tarsitani</dc:creator>
  <cp:lastModifiedBy>Domenico Tarsitani</cp:lastModifiedBy>
  <cp:revision>1</cp:revision>
  <dcterms:created xsi:type="dcterms:W3CDTF">2025-02-28T08:21:36Z</dcterms:created>
  <dcterms:modified xsi:type="dcterms:W3CDTF">2025-02-28T08:27:52Z</dcterms:modified>
</cp:coreProperties>
</file>