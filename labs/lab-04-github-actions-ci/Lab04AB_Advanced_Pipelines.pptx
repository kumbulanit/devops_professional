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5"/>
    <p:sldId id="271" r:id="rId4"/>
    <p:sldId id="272" r:id="rId3"/>
    <p:sldId id="273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8.xml"/><Relationship Id="rId3" Type="http://schemas.openxmlformats.org/officeDocument/2006/relationships/slide" Target="slides/slide17.xml"/><Relationship Id="rId4" Type="http://schemas.openxmlformats.org/officeDocument/2006/relationships/slide" Target="slides/slide16.xml"/><Relationship Id="rId5" Type="http://schemas.openxmlformats.org/officeDocument/2006/relationships/slide" Target="slides/slide15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Unit test: checks one small piece, like the fee calculation. Integration test: checks pieces working together, like the app and its database. End-to-end: clicks through the whole system like a user.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Lab 05 the pipeline runs on the controller, because a laptop has only one node. Say so explicitly: that shortcut is for the classroom only — never in a real installation.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 guide: labs/lab-04-github-actions-ci/README-04A-act-and-pipeline-security.md. Optional; about 90 minutes; needs Lab 04, Docker and about 6 GB of disk. Ask delegates to pre-pull catthehacker/ubuntu:act-24.04. Part 5 (script injection) is the one to demo from the front.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 guide: labs/lab-04-github-actions-ci/README-04B-gitlab-ci.md. Optional; about 60 minutes plus account set-up. GitLab.com may ask new accounts for phone or card verification before pipelines run, so point delegates at Lab 00 Step 8.3 before the course. Debrief on the side-by-side table, especially required review on Free.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divider. Use it to re-set attention and to say explicitly which lab this block leads into.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code top to bottom. The numbered points on the right are the talk track; the full, runnable version is in the matching lab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Banking slide. Source: docs/theory/appendix-a-devops-in-a-regulated-bank.md. Expect push-back here - that is the point. The three arguments this cohort will raise are segregation of duties (A.3), the CAB (A.4) and change freezes (A.7).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code top to bottom. The numbered points on the right are the talk track; the full, runnable version is in the matching lab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5F7E0-7ABE-D3C0-63A5-FAA693B61D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14142F-0237-05B2-12F3-217F91D031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18A94-B989-CE86-B473-001B31E23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9B2774-C8F6-CF95-9EEC-50ABE8A35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AA3A74-908A-732B-B876-4A95EB693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114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A9EEE-04B9-E120-0146-94957BE6C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82CE4-A695-0D69-31DF-5D96CE24A8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8F0B88-1188-3BE8-45E5-6424E0D63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BDF9EE-6D0A-5161-4106-EF2D5ADDB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E32E08-9004-DAD6-5C7B-6D677285C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5550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B8CB9-93FE-3C78-C2CD-1EAF2C671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4F54DC-F855-6F7E-3197-E1D0866BD6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FA7E3C-9379-5904-C0DD-DF4340576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AB7A92-7A9B-0521-8C38-040F3347A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6CE150-1846-E660-2129-F1A4DEFC7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056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0278-2BD0-EE70-D44C-6C4661905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A3346-3192-E072-CC3E-594CEE99BE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887559-F73A-9048-366D-0C385522D5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06ABC6-8E5B-8A84-4C69-32CE6CD87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7050D9-E01B-49C8-9460-6F5A8638E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786C11-4C6B-15AA-2285-B7A416C46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0244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9EE91-BF0E-5883-9C29-741B4A27F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854D85-7DCC-A7CD-D472-98D2C5588A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3AC918-4E7F-A372-4BAA-391F29E379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DAB873-2718-31C9-3728-8C87F4F315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8531A2-BAA5-F9A5-BE21-3C7B39D883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3DEFDB-230D-CE83-B402-D2E11A1F5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D2F011-F841-554C-13E9-CD1FCA6C7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0BB38A-8241-5AF1-E1D8-D19FD9877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7266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E7733-ACD7-FD4A-6592-369DAA248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A21B1D-288F-C977-8ACF-C5536E294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6C56CD-B343-2A8C-0C73-50F9ADEDE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7336C9-F557-5456-3AA5-964F4B9E8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1316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7399D9-FB45-3C28-D9F9-9C2725691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AC3ECF-8999-FA85-C90B-2EE07154D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4A8C02-1511-50FF-115C-345812D04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5144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F0612-ADB5-2D26-0CFA-9616872E0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00C5A-4FD8-1C37-6CF8-01CFBFF56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8EB4FA-791A-85B3-AEE0-260478B8B3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02BD70-87E6-A3B1-3F07-88B099649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25A4BD-D824-8817-C6B5-9A3AE2F18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D40EBA-26F7-09FF-10D2-A5DBCB5D8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6016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1C236-44C3-E4F7-5253-3F4FE2B49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B885B9-5B38-77E5-3171-5B21176932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82C77A-7C07-D6B2-361D-E984CF278E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B7184F-61F1-B3AD-5D10-037759E0B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CE672-B4D7-103D-F0A3-2F98747AA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0EF296-811A-3D4E-CE6F-294B4D34D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1582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77C23-E6A1-546F-D81C-5B81F4AF3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7B1F0D-033A-B11C-34AC-3C12064422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106513-31F3-E91A-B68C-E18421CF5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4D0E42-B8F4-72F7-D446-03A8BBD63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0B6E9D-B2F3-54B8-EA91-BA14A3FAC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6881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9DD19F-0754-F30B-2555-3250849E5F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E993B2-FFC8-443E-A6C0-EB1FE69F8B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3358A-B713-776E-F05D-A7D18C5F5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1EF52E-2DC3-DFFE-7F6E-86F48AD35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E148C-58C3-9F59-3903-AE7BB21D0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282730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8F3D80-4FC1-2E34-4473-3B6DE3F73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0B5773-305D-BCAD-DEE5-7EEB3AF51C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4406ED-6FC1-5B03-CC19-B56196C8B0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558EFC-0030-A53F-DA9B-FB6DB3493B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56021-E9A4-7227-FB69-1C6041DEC0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0681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pic>
        <p:nvPicPr>
          <p:cNvPr id="5" name="Picture 4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841248"/>
            <a:ext cx="2798064" cy="9326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212848"/>
            <a:ext cx="1060704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1" i="0">
                <a:solidFill>
                  <a:srgbClr val="29ABE2"/>
                </a:solidFill>
                <a:latin typeface="Aptos"/>
              </a:rPr>
              <a:t>NOBLEPROG · DEVOPS PROFESSIONAL · UNICREDIT · DAY 2 OF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15184"/>
            <a:ext cx="10424160" cy="10972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400" b="1" i="0">
                <a:solidFill>
                  <a:srgbClr val="123A5F"/>
                </a:solidFill>
                <a:latin typeface="Aptos Display"/>
              </a:rPr>
              <a:t>Labs 04A and 04B — Pipelines, Going Further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31520" y="3959352"/>
            <a:ext cx="2926080" cy="0"/>
          </a:xfrm>
          <a:prstGeom prst="line">
            <a:avLst/>
          </a:prstGeom>
          <a:ln w="3175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520" y="4114800"/>
            <a:ext cx="10424160" cy="40233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500" b="0" i="0">
                <a:solidFill>
                  <a:srgbClr val="5A6570"/>
                </a:solidFill>
                <a:latin typeface="Aptos"/>
              </a:rPr>
              <a:t>The advanced pipeline slides, for after class — reviews, CI in depth, Jenkins and security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713732"/>
            <a:ext cx="109728" cy="109728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4604004"/>
            <a:ext cx="996696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0" i="0">
                <a:solidFill>
                  <a:srgbClr val="1F2933"/>
                </a:solidFill>
                <a:latin typeface="Aptos"/>
              </a:rPr>
              <a:t>Good reviews · CODEOWNERS · the change-control argument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042916"/>
            <a:ext cx="109728" cy="109728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4933188"/>
            <a:ext cx="996696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0" i="0">
                <a:solidFill>
                  <a:srgbClr val="1F2933"/>
                </a:solidFill>
                <a:latin typeface="Aptos"/>
              </a:rPr>
              <a:t>Kinds of tests · build automation · version numbers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372100"/>
            <a:ext cx="109728" cy="109728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5262372"/>
            <a:ext cx="996696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0" i="0">
                <a:solidFill>
                  <a:srgbClr val="1F2933"/>
                </a:solidFill>
                <a:latin typeface="Aptos"/>
              </a:rPr>
              <a:t>GitHub Actions in depth · Jenkins · securing the pipeline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701284"/>
            <a:ext cx="109728" cy="109728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5591556"/>
            <a:ext cx="996696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0" i="0">
                <a:solidFill>
                  <a:srgbClr val="1F2933"/>
                </a:solidFill>
                <a:latin typeface="Aptos"/>
              </a:rPr>
              <a:t>Optional. Nothing on Day 3 onwards depends on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053328"/>
            <a:ext cx="1042416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50" b="0" i="1">
                <a:solidFill>
                  <a:srgbClr val="5A6570"/>
                </a:solidFill>
                <a:latin typeface="Aptos"/>
              </a:rPr>
              <a:t>Practise it: README-04A-act-and-pipeline-security.md and README-04B-gitlab-ci.md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pic>
        <p:nvPicPr>
          <p:cNvPr id="5" name="Picture 4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566928"/>
            <a:ext cx="2843784" cy="8961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331720"/>
            <a:ext cx="1645920" cy="1371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6800" b="1" i="0">
                <a:solidFill>
                  <a:srgbClr val="B9CBDA"/>
                </a:solidFill>
                <a:latin typeface="Aptos Display"/>
              </a:rPr>
              <a:t>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2395728"/>
            <a:ext cx="822960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3200" b="1" i="0">
                <a:solidFill>
                  <a:srgbClr val="123A5F"/>
                </a:solidFill>
                <a:latin typeface="Aptos Display"/>
              </a:rPr>
              <a:t>More on Pull Requests, CI and the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67712" y="3273552"/>
            <a:ext cx="8229600" cy="38404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5A6570"/>
                </a:solidFill>
                <a:latin typeface="Aptos"/>
              </a:rPr>
              <a:t>Reviews, CODEOWNERS, testing, Jenkins and security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2267712" y="3927348"/>
            <a:ext cx="109728" cy="109728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23744" y="3817620"/>
            <a:ext cx="804672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F2933"/>
                </a:solidFill>
                <a:latin typeface="Aptos"/>
              </a:rPr>
              <a:t>Good reviews · CODEOWNERS · the bank angle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67712" y="4256532"/>
            <a:ext cx="109728" cy="109728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23744" y="4146804"/>
            <a:ext cx="804672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F2933"/>
                </a:solidFill>
                <a:latin typeface="Aptos"/>
              </a:rPr>
              <a:t>Kinds of tests · build automation · version numbers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67712" y="4585716"/>
            <a:ext cx="109728" cy="109728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23744" y="4475988"/>
            <a:ext cx="804672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F2933"/>
                </a:solidFill>
                <a:latin typeface="Aptos"/>
              </a:rPr>
              <a:t>GitHub Actions in depth · Jenkins · securing the pipeline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070" b="1" i="0">
                <a:solidFill>
                  <a:srgbClr val="123A5F"/>
                </a:solidFill>
                <a:latin typeface="Aptos Display"/>
              </a:rPr>
              <a:t>Good reviews — and reviews that only look good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10872216" cy="384048"/>
          </a:xfrm>
          <a:prstGeom prst="rect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828800"/>
            <a:ext cx="5706404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ptos"/>
              </a:rPr>
              <a:t>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0804" y="1828800"/>
            <a:ext cx="4836627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ptos"/>
              </a:rPr>
              <a:t>Don't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167128"/>
            <a:ext cx="10872216" cy="528066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185416"/>
            <a:ext cx="5706404" cy="49149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Keep pull requests small — under about 400 changed lines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0804" y="2185416"/>
            <a:ext cx="4836627" cy="49149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Send a huge change nobody can really read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695194"/>
            <a:ext cx="10872216" cy="528066"/>
          </a:xfrm>
          <a:prstGeom prst="rect">
            <a:avLst/>
          </a:prstGeom>
          <a:solidFill>
            <a:srgbClr val="F3F6F8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2713482"/>
            <a:ext cx="5706404" cy="49149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Review within a day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0804" y="2713482"/>
            <a:ext cx="4836627" cy="49149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Leave a colleague waiting for a week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223260"/>
            <a:ext cx="10872216" cy="73609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3241548"/>
            <a:ext cx="5706404" cy="699515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Let tools check the formatting, so people check the logic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0804" y="3241548"/>
            <a:ext cx="4836627" cy="699515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Argue about spaces and brackets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3959352"/>
            <a:ext cx="10872216" cy="528066"/>
          </a:xfrm>
          <a:prstGeom prst="rect">
            <a:avLst/>
          </a:prstGeom>
          <a:solidFill>
            <a:srgbClr val="F3F6F8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3977639"/>
            <a:ext cx="5706404" cy="49149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Ask questions: "What happens if the amount is zero?"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0804" y="3977639"/>
            <a:ext cx="4836627" cy="49149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Write "this is wrong."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4487418"/>
            <a:ext cx="10872216" cy="528066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505705"/>
            <a:ext cx="5706404" cy="49149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Actually read the change before approving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0804" y="4505705"/>
            <a:ext cx="4836627" cy="49149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Click Approve thirty seconds after it opens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070" b="1" i="0">
                <a:solidFill>
                  <a:srgbClr val="123A5F"/>
                </a:solidFill>
                <a:latin typeface="Aptos Display"/>
              </a:rPr>
              <a:t>CODEOWNERS — the right reviewer, automatically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6088440" cy="3607308"/>
          </a:xfrm>
          <a:prstGeom prst="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6088440" cy="310896"/>
          </a:xfrm>
          <a:prstGeom prst="rect">
            <a:avLst/>
          </a:prstGeom>
          <a:solidFill>
            <a:srgbClr val="1C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Oval 9"/>
          <p:cNvSpPr/>
          <p:nvPr/>
        </p:nvSpPr>
        <p:spPr>
          <a:xfrm>
            <a:off x="804672" y="1888236"/>
            <a:ext cx="100584" cy="100584"/>
          </a:xfrm>
          <a:prstGeom prst="ellipse">
            <a:avLst/>
          </a:prstGeom>
          <a:solidFill>
            <a:srgbClr val="E5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987552" y="1888236"/>
            <a:ext cx="100584" cy="100584"/>
          </a:xfrm>
          <a:prstGeom prst="ellipse">
            <a:avLst/>
          </a:prstGeom>
          <a:solidFill>
            <a:srgbClr val="E3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1170432" y="1888236"/>
            <a:ext cx="100584" cy="100584"/>
          </a:xfrm>
          <a:prstGeom prst="ellipse">
            <a:avLst/>
          </a:prstGeom>
          <a:solidFill>
            <a:srgbClr val="4FB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7" y="1819656"/>
            <a:ext cx="517404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9FC0D8"/>
                </a:solidFill>
                <a:latin typeface="Aptos"/>
              </a:rPr>
              <a:t>.GITHUB/CODEOWNERS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185416"/>
            <a:ext cx="5887272" cy="2967228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8FBFA8"/>
                </a:solidFill>
                <a:latin typeface="Consolas"/>
              </a:rPr>
              <a:t># The LAST matching rule wins, so order matters.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EF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8FBFA8"/>
                </a:solidFill>
                <a:latin typeface="Consolas"/>
              </a:rPr>
              <a:t># Default owners for everything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EF4"/>
                </a:solidFill>
                <a:latin typeface="Consolas"/>
              </a:rPr>
              <a:t>*                     @paytrack/developers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EF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8FBFA8"/>
                </a:solidFill>
                <a:latin typeface="Consolas"/>
              </a:rPr>
              <a:t># The application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EF4"/>
                </a:solidFill>
                <a:latin typeface="Consolas"/>
              </a:rPr>
              <a:t>/app/                 @paytrack/developers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EF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8FBFA8"/>
                </a:solidFill>
                <a:latin typeface="Consolas"/>
              </a:rPr>
              <a:t># Anything that changes how code reaches production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EF4"/>
                </a:solidFill>
                <a:latin typeface="Consolas"/>
              </a:rPr>
              <a:t>/.github/workflows/   @paytrack/platform @paytrack/security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EF4"/>
                </a:solidFill>
                <a:latin typeface="Consolas"/>
              </a:rPr>
              <a:t>/k8s/                 @paytrack/platform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EF4"/>
                </a:solidFill>
                <a:latin typeface="Consolas"/>
              </a:rPr>
              <a:t>/terraform/           @paytrack/platform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EF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8FBFA8"/>
                </a:solidFill>
                <a:latin typeface="Consolas"/>
              </a:rPr>
              <a:t># Protect the protection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EF4"/>
                </a:solidFill>
                <a:latin typeface="Consolas"/>
              </a:rPr>
              <a:t>/.github/CODEOWNERS   @paytrack/platform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21128" y="1764792"/>
            <a:ext cx="4509455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117A69"/>
                </a:solidFill>
                <a:latin typeface="Aptos"/>
              </a:rPr>
              <a:t>WHAT TO NOTICE</a:t>
            </a:r>
          </a:p>
        </p:txBody>
      </p:sp>
      <p:sp>
        <p:nvSpPr>
          <p:cNvPr id="16" name="Oval 15"/>
          <p:cNvSpPr/>
          <p:nvPr/>
        </p:nvSpPr>
        <p:spPr>
          <a:xfrm>
            <a:off x="7021128" y="2121408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21128" y="2139696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50312" y="2075688"/>
            <a:ext cx="4161983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A simple list: which files → which people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GitHub asks those people to review any change to those files</a:t>
            </a:r>
          </a:p>
        </p:txBody>
      </p:sp>
      <p:sp>
        <p:nvSpPr>
          <p:cNvPr id="19" name="Oval 18"/>
          <p:cNvSpPr/>
          <p:nvPr/>
        </p:nvSpPr>
        <p:spPr>
          <a:xfrm>
            <a:off x="7021128" y="3127247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21128" y="3145535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50312" y="3081527"/>
            <a:ext cx="4161983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The last matching line wins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Put the general rule first and the specific ones after it</a:t>
            </a:r>
          </a:p>
        </p:txBody>
      </p:sp>
      <p:sp>
        <p:nvSpPr>
          <p:cNvPr id="22" name="Oval 21"/>
          <p:cNvSpPr/>
          <p:nvPr/>
        </p:nvSpPr>
        <p:spPr>
          <a:xfrm>
            <a:off x="7021128" y="4133087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21128" y="4151376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50312" y="4087368"/>
            <a:ext cx="4161983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Protect the pipeline files most carefully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They control how every change is tested and released</a:t>
            </a:r>
          </a:p>
        </p:txBody>
      </p:sp>
      <p:sp>
        <p:nvSpPr>
          <p:cNvPr id="25" name="Oval 24"/>
          <p:cNvSpPr/>
          <p:nvPr/>
        </p:nvSpPr>
        <p:spPr>
          <a:xfrm>
            <a:off x="7021128" y="5138927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21128" y="5157216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0312" y="5093207"/>
            <a:ext cx="4161983" cy="7040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Switch it on in the branch protection settings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Tick "Require review from Code Owners"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IN A REGULATED BANK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440" b="1" i="0">
                <a:solidFill>
                  <a:srgbClr val="123A5F"/>
                </a:solidFill>
                <a:latin typeface="Aptos Display"/>
              </a:rPr>
              <a:t>The pull request IS your change control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10872216" cy="676656"/>
          </a:xfrm>
          <a:prstGeom prst="rect">
            <a:avLst/>
          </a:prstGeom>
          <a:solidFill>
            <a:srgbClr val="FDF1E2"/>
          </a:solidFill>
          <a:ln w="12700">
            <a:solidFill>
              <a:srgbClr val="D276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68580" cy="676656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837943"/>
            <a:ext cx="10415016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A regulator does not require a meeting. It requires a check that works, happens every time and leaves evidence. A protected pull request does all three.</a:t>
            </a:r>
          </a:p>
        </p:txBody>
      </p:sp>
      <p:sp>
        <p:nvSpPr>
          <p:cNvPr id="11" name="Diamond 10"/>
          <p:cNvSpPr/>
          <p:nvPr/>
        </p:nvSpPr>
        <p:spPr>
          <a:xfrm>
            <a:off x="676656" y="2756915"/>
            <a:ext cx="128016" cy="128016"/>
          </a:xfrm>
          <a:prstGeom prst="diamond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2642615"/>
            <a:ext cx="10543032" cy="215235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19" b="1" i="0">
                <a:solidFill>
                  <a:srgbClr val="123A5F"/>
                </a:solidFill>
                <a:latin typeface="Aptos"/>
              </a:rPr>
              <a:t>"Prove the author did not approve their own change"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2903571"/>
            <a:ext cx="10543032" cy="186537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850" b="0" i="0">
                <a:solidFill>
                  <a:srgbClr val="5A6570"/>
                </a:solidFill>
                <a:latin typeface="Aptos"/>
              </a:rPr>
              <a:t>The protection settings plus the pull request record — for every change, in seconds</a:t>
            </a:r>
          </a:p>
        </p:txBody>
      </p:sp>
      <p:sp>
        <p:nvSpPr>
          <p:cNvPr id="14" name="Diamond 13"/>
          <p:cNvSpPr/>
          <p:nvPr/>
        </p:nvSpPr>
        <p:spPr>
          <a:xfrm>
            <a:off x="676656" y="3328556"/>
            <a:ext cx="128016" cy="128016"/>
          </a:xfrm>
          <a:prstGeom prst="diamond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" y="3214256"/>
            <a:ext cx="10543032" cy="215235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19" b="1" i="0">
                <a:solidFill>
                  <a:srgbClr val="123A5F"/>
                </a:solidFill>
                <a:latin typeface="Aptos"/>
              </a:rPr>
              <a:t>"Prove it was tested"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3475212"/>
            <a:ext cx="10543032" cy="186537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850" b="0" i="0">
                <a:solidFill>
                  <a:srgbClr val="5A6570"/>
                </a:solidFill>
                <a:latin typeface="Aptos"/>
              </a:rPr>
              <a:t>The test results are attached to the pull request</a:t>
            </a:r>
          </a:p>
        </p:txBody>
      </p:sp>
      <p:sp>
        <p:nvSpPr>
          <p:cNvPr id="17" name="Diamond 16"/>
          <p:cNvSpPr/>
          <p:nvPr/>
        </p:nvSpPr>
        <p:spPr>
          <a:xfrm>
            <a:off x="676656" y="3900197"/>
            <a:ext cx="128016" cy="128016"/>
          </a:xfrm>
          <a:prstGeom prst="diamond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" y="3785897"/>
            <a:ext cx="10543032" cy="215235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19" b="1" i="0">
                <a:solidFill>
                  <a:srgbClr val="123A5F"/>
                </a:solidFill>
                <a:latin typeface="Aptos"/>
              </a:rPr>
              <a:t>"Prove what went live"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" y="4046853"/>
            <a:ext cx="10543032" cy="186537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850" b="0" i="0">
                <a:solidFill>
                  <a:srgbClr val="5A6570"/>
                </a:solidFill>
                <a:latin typeface="Aptos"/>
              </a:rPr>
              <a:t>Each release links back to the exact change that was approved</a:t>
            </a:r>
          </a:p>
        </p:txBody>
      </p:sp>
      <p:sp>
        <p:nvSpPr>
          <p:cNvPr id="20" name="Diamond 19"/>
          <p:cNvSpPr/>
          <p:nvPr/>
        </p:nvSpPr>
        <p:spPr>
          <a:xfrm>
            <a:off x="676656" y="4471838"/>
            <a:ext cx="128016" cy="128016"/>
          </a:xfrm>
          <a:prstGeom prst="diamond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" y="4357538"/>
            <a:ext cx="10543032" cy="215235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19" b="1" i="0">
                <a:solidFill>
                  <a:srgbClr val="123A5F"/>
                </a:solidFill>
                <a:latin typeface="Aptos"/>
              </a:rPr>
              <a:t>Ask for "standard change" status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" y="4618493"/>
            <a:ext cx="10543032" cy="186537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850" b="0" i="0">
                <a:solidFill>
                  <a:srgbClr val="5A6570"/>
                </a:solidFill>
                <a:latin typeface="Aptos"/>
              </a:rPr>
              <a:t>Change-management rules already allow automated, repeatable changes without a meeting</a:t>
            </a:r>
          </a:p>
        </p:txBody>
      </p:sp>
      <p:sp>
        <p:nvSpPr>
          <p:cNvPr id="23" name="Diamond 22"/>
          <p:cNvSpPr/>
          <p:nvPr/>
        </p:nvSpPr>
        <p:spPr>
          <a:xfrm>
            <a:off x="676656" y="5043478"/>
            <a:ext cx="128016" cy="128016"/>
          </a:xfrm>
          <a:prstGeom prst="diamond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" y="4929178"/>
            <a:ext cx="10543032" cy="215235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19" b="1" i="0">
                <a:solidFill>
                  <a:srgbClr val="123A5F"/>
                </a:solidFill>
                <a:latin typeface="Aptos"/>
              </a:rPr>
              <a:t>Keep the records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" y="5190134"/>
            <a:ext cx="10543032" cy="186537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850" b="0" i="0">
                <a:solidFill>
                  <a:srgbClr val="5A6570"/>
                </a:solidFill>
                <a:latin typeface="Aptos"/>
              </a:rPr>
              <a:t>The pipeline's logs are audit evidence — keep them as long as your rules require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596128"/>
            <a:ext cx="10872216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50" b="1" i="1">
                <a:solidFill>
                  <a:srgbClr val="D2760D"/>
                </a:solidFill>
                <a:latin typeface="Aptos"/>
              </a:rPr>
              <a:t>Appendix A §A.3–A.5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440" b="1" i="0">
                <a:solidFill>
                  <a:srgbClr val="123A5F"/>
                </a:solidFill>
                <a:latin typeface="Aptos Display"/>
              </a:rPr>
              <a:t>Are we really doing CI? Three questions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76656" y="1860804"/>
            <a:ext cx="118872" cy="118872"/>
          </a:xfrm>
          <a:prstGeom prst="rect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741932"/>
            <a:ext cx="10579608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1 · Does everyone add their work to main at least once a day?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656" y="2500884"/>
            <a:ext cx="118872" cy="118872"/>
          </a:xfrm>
          <a:prstGeom prst="rect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82012"/>
            <a:ext cx="10579608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2 · Does every change run the tests automatically?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656" y="3140963"/>
            <a:ext cx="118872" cy="118872"/>
          </a:xfrm>
          <a:prstGeom prst="rect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022091"/>
            <a:ext cx="10579608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3 · When the tests fail, is fixing them the team's first job?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" y="3781044"/>
            <a:ext cx="118872" cy="118872"/>
          </a:xfrm>
          <a:prstGeom prst="rect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3662172"/>
            <a:ext cx="10579608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1" i="0">
                <a:solidFill>
                  <a:srgbClr val="123A5F"/>
                </a:solidFill>
                <a:latin typeface="Aptos"/>
              </a:rPr>
              <a:t>Three yeses = Continuous Integration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995928"/>
            <a:ext cx="10579608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20" b="0" i="0">
                <a:solidFill>
                  <a:srgbClr val="5A6570"/>
                </a:solidFill>
                <a:latin typeface="Aptos"/>
              </a:rPr>
              <a:t>Anything less is "we have a build server"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" y="4713732"/>
            <a:ext cx="118872" cy="118872"/>
          </a:xfrm>
          <a:prstGeom prst="rect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4594860"/>
            <a:ext cx="10579608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1" i="0">
                <a:solidFill>
                  <a:srgbClr val="123A5F"/>
                </a:solidFill>
                <a:latin typeface="Aptos"/>
              </a:rPr>
              <a:t>Example: a build server, three-week branches, tests once a night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4928616"/>
            <a:ext cx="10579608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20" b="0" i="0">
                <a:solidFill>
                  <a:srgbClr val="5A6570"/>
                </a:solidFill>
                <a:latin typeface="Aptos"/>
              </a:rPr>
              <a:t>That fails questions 1 and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800" b="1" i="0">
                <a:solidFill>
                  <a:srgbClr val="123A5F"/>
                </a:solidFill>
                <a:latin typeface="Aptos Display"/>
              </a:rPr>
              <a:t>Different kinds of tests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212847" y="1946574"/>
            <a:ext cx="1554480" cy="703027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12847" y="2028322"/>
            <a:ext cx="1554480" cy="277941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END-TO-END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12847" y="2306263"/>
            <a:ext cx="1554480" cy="261591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FFFFFF"/>
                </a:solidFill>
                <a:latin typeface="Aptos"/>
              </a:rPr>
              <a:t>~5 %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50407" y="2126418"/>
            <a:ext cx="5934456" cy="4087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0" i="0">
                <a:solidFill>
                  <a:srgbClr val="123A5F"/>
                </a:solidFill>
                <a:latin typeface="Aptos"/>
              </a:rPr>
              <a:t>Few · slow (minutes) · break easily · use the whole system the way a user would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40479" y="2298088"/>
            <a:ext cx="1618489" cy="54864"/>
          </a:xfrm>
          <a:prstGeom prst="line">
            <a:avLst/>
          </a:prstGeom>
          <a:ln w="12700">
            <a:solidFill>
              <a:srgbClr val="C9D2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1527047" y="2731349"/>
            <a:ext cx="2926080" cy="703027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7" y="2813096"/>
            <a:ext cx="2926080" cy="277941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INTEGRATION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7" y="3091037"/>
            <a:ext cx="2926080" cy="261591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FFFFFF"/>
                </a:solidFill>
                <a:latin typeface="Aptos"/>
              </a:rPr>
              <a:t>~15 %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50407" y="2911193"/>
            <a:ext cx="5934456" cy="4087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0" i="0">
                <a:solidFill>
                  <a:srgbClr val="123A5F"/>
                </a:solidFill>
                <a:latin typeface="Aptos"/>
              </a:rPr>
              <a:t>Some · seconds · check parts working together, such as the app and its database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26279" y="3082863"/>
            <a:ext cx="932689" cy="54864"/>
          </a:xfrm>
          <a:prstGeom prst="line">
            <a:avLst/>
          </a:prstGeom>
          <a:ln w="12700">
            <a:solidFill>
              <a:srgbClr val="C9D2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41247" y="3516124"/>
            <a:ext cx="4297680" cy="703027"/>
          </a:xfrm>
          <a:prstGeom prst="rect">
            <a:avLst/>
          </a:prstGeom>
          <a:solidFill>
            <a:srgbClr val="3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3597870"/>
            <a:ext cx="4297680" cy="277941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UNIT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3875812"/>
            <a:ext cx="4297680" cy="261591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FFFFFF"/>
                </a:solidFill>
                <a:latin typeface="Aptos"/>
              </a:rPr>
              <a:t>~80 %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50407" y="3695967"/>
            <a:ext cx="5934456" cy="4087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0" i="0">
                <a:solidFill>
                  <a:srgbClr val="123A5F"/>
                </a:solidFill>
                <a:latin typeface="Aptos"/>
              </a:rPr>
              <a:t>Many · milliseconds · check one small piece on its own · cheap — the base of it all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212079" y="3867636"/>
            <a:ext cx="246889" cy="54864"/>
          </a:xfrm>
          <a:prstGeom prst="line">
            <a:avLst/>
          </a:prstGeom>
          <a:ln w="12700">
            <a:solidFill>
              <a:srgbClr val="C9D2D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658368" y="4415344"/>
            <a:ext cx="10872216" cy="637629"/>
          </a:xfrm>
          <a:prstGeom prst="rect">
            <a:avLst/>
          </a:prstGeom>
          <a:solidFill>
            <a:srgbClr val="FBEBEA"/>
          </a:solidFill>
          <a:ln w="9525">
            <a:solidFill>
              <a:srgbClr val="B32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" y="4464393"/>
            <a:ext cx="10469880" cy="53953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50" b="0" i="0">
                <a:solidFill>
                  <a:srgbClr val="123A5F"/>
                </a:solidFill>
                <a:latin typeface="Aptos"/>
              </a:rPr>
              <a:t>THE UPSIDE-DOWN PYRAMID: mostly slow tests that click through the screens, a 30-minute wait nobody trusts, and "just run it again" whenever something fails.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5151071"/>
            <a:ext cx="10872216" cy="604930"/>
          </a:xfrm>
          <a:prstGeom prst="rect">
            <a:avLst/>
          </a:prstGeom>
          <a:solidFill>
            <a:srgbClr val="EDF4EA"/>
          </a:solidFill>
          <a:ln w="9525">
            <a:solidFill>
              <a:srgbClr val="3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" y="5200119"/>
            <a:ext cx="10469880" cy="506833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50" b="0" i="0">
                <a:solidFill>
                  <a:srgbClr val="123A5F"/>
                </a:solidFill>
                <a:latin typeface="Aptos"/>
              </a:rPr>
              <a:t>PayTrack API's tests sit at the base: no database needed, under a second. That is what keeps the whole set of checks under 10 minutes.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800" b="1" i="0">
                <a:solidFill>
                  <a:srgbClr val="123A5F"/>
                </a:solidFill>
                <a:latin typeface="Aptos Display"/>
              </a:rPr>
              <a:t>Build automation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10872216" cy="786384"/>
          </a:xfrm>
          <a:prstGeom prst="rect">
            <a:avLst/>
          </a:prstGeom>
          <a:solidFill>
            <a:srgbClr val="E6F4F1"/>
          </a:solidFill>
          <a:ln w="12700">
            <a:solidFill>
              <a:srgbClr val="117A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68580" cy="786384"/>
          </a:xfrm>
          <a:prstGeom prst="rect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1856231"/>
            <a:ext cx="10369296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0" i="0">
                <a:solidFill>
                  <a:srgbClr val="123A5F"/>
                </a:solidFill>
                <a:latin typeface="Aptos"/>
              </a:rPr>
              <a:t>Scripting the transformation of source code into a deployable artefact, so that any person or machine can run it identically, from a clean checkout, with a single command.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" y="2880360"/>
            <a:ext cx="118872" cy="118872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70632"/>
            <a:ext cx="10561320" cy="240557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40" b="1" i="0">
                <a:solidFill>
                  <a:srgbClr val="123A5F"/>
                </a:solidFill>
                <a:latin typeface="Aptos"/>
              </a:rPr>
              <a:t>REPRODUCIBLE — same source, same artefact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3056909"/>
            <a:ext cx="10561320" cy="208483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70" b="0" i="0">
                <a:solidFill>
                  <a:srgbClr val="5A6570"/>
                </a:solidFill>
                <a:latin typeface="Aptos"/>
              </a:rPr>
              <a:t>Pinned dependency versions; pinned base-image digests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" y="3495047"/>
            <a:ext cx="118872" cy="118872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3385319"/>
            <a:ext cx="10561320" cy="240557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40" b="1" i="0">
                <a:solidFill>
                  <a:srgbClr val="123A5F"/>
                </a:solidFill>
                <a:latin typeface="Aptos"/>
              </a:rPr>
              <a:t>HERMETIC — depends only on declared inputs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671597"/>
            <a:ext cx="10561320" cy="208483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70" b="0" i="0">
                <a:solidFill>
                  <a:srgbClr val="5A6570"/>
                </a:solidFill>
                <a:latin typeface="Aptos"/>
              </a:rPr>
              <a:t>Build inside a container, not on whatever is installed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" y="4109735"/>
            <a:ext cx="118872" cy="118872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000007"/>
            <a:ext cx="10561320" cy="240557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40" b="1" i="0">
                <a:solidFill>
                  <a:srgbClr val="123A5F"/>
                </a:solidFill>
                <a:latin typeface="Aptos"/>
              </a:rPr>
              <a:t>FAST — under 10 minutes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" y="4286285"/>
            <a:ext cx="10561320" cy="208483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70" b="0" i="0">
                <a:solidFill>
                  <a:srgbClr val="5A6570"/>
                </a:solidFill>
                <a:latin typeface="Aptos"/>
              </a:rPr>
              <a:t>Layer caching, dependency caching, parallel jobs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6" y="4724423"/>
            <a:ext cx="118872" cy="118872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" y="4614695"/>
            <a:ext cx="10561320" cy="240557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40" b="1" i="0">
                <a:solidFill>
                  <a:srgbClr val="123A5F"/>
                </a:solidFill>
                <a:latin typeface="Aptos"/>
              </a:rPr>
              <a:t>SELF-TESTING — fails on a defect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" y="4900972"/>
            <a:ext cx="10561320" cy="208483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70" b="0" i="0">
                <a:solidFill>
                  <a:srgbClr val="5A6570"/>
                </a:solidFill>
                <a:latin typeface="Aptos"/>
              </a:rPr>
              <a:t>pytest runs in the same command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6656" y="5339111"/>
            <a:ext cx="118872" cy="118872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" y="5229383"/>
            <a:ext cx="10561320" cy="240557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40" b="1" i="0">
                <a:solidFill>
                  <a:srgbClr val="123A5F"/>
                </a:solidFill>
                <a:latin typeface="Aptos"/>
              </a:rPr>
              <a:t>VERSIONED — every artefact uniquely identified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" y="5515660"/>
            <a:ext cx="10561320" cy="208483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70" b="0" i="0">
                <a:solidFill>
                  <a:srgbClr val="5A6570"/>
                </a:solidFill>
                <a:latin typeface="Aptos"/>
              </a:rPr>
              <a:t>Tag images with the git SHA, never only latest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1900" b="1" i="0">
                <a:solidFill>
                  <a:srgbClr val="123A5F"/>
                </a:solidFill>
                <a:latin typeface="Aptos Display"/>
              </a:rPr>
              <a:t>Versioning: SemVer for humans, the SHA for deployments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10872216" cy="384048"/>
          </a:xfrm>
          <a:prstGeom prst="rect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828800"/>
            <a:ext cx="3097072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ptos"/>
              </a:rPr>
              <a:t>Tag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11472" y="1828800"/>
            <a:ext cx="3423239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ptos"/>
              </a:rPr>
              <a:t>Meaning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99304" y="1828800"/>
            <a:ext cx="3858127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ptos"/>
              </a:rPr>
              <a:t>Use it for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167128"/>
            <a:ext cx="10872216" cy="43205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185416"/>
            <a:ext cx="3097072" cy="39547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1" i="0">
                <a:solidFill>
                  <a:srgbClr val="123A5F"/>
                </a:solidFill>
                <a:latin typeface="Aptos"/>
              </a:rPr>
              <a:t>MAJOR (2.0.0)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11472" y="2185416"/>
            <a:ext cx="3423239" cy="39547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A breaking change for consumers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99304" y="2185416"/>
            <a:ext cx="3858127" cy="39547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Libraries and APIs others depend 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599182"/>
            <a:ext cx="10872216" cy="432054"/>
          </a:xfrm>
          <a:prstGeom prst="rect">
            <a:avLst/>
          </a:prstGeom>
          <a:solidFill>
            <a:srgbClr val="F3F6F8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617470"/>
            <a:ext cx="3097072" cy="39547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1" i="0">
                <a:solidFill>
                  <a:srgbClr val="123A5F"/>
                </a:solidFill>
                <a:latin typeface="Aptos"/>
              </a:rPr>
              <a:t>MINOR (1.5.0)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11472" y="2617470"/>
            <a:ext cx="3423239" cy="39547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A backwards-compatible feature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99304" y="2617470"/>
            <a:ext cx="3858127" cy="39547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Libraries and APIs others depend 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3031236"/>
            <a:ext cx="10872216" cy="43205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3049524"/>
            <a:ext cx="3097072" cy="39547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1" i="0">
                <a:solidFill>
                  <a:srgbClr val="123A5F"/>
                </a:solidFill>
                <a:latin typeface="Aptos"/>
              </a:rPr>
              <a:t>PATCH (1.4.3)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11472" y="3049524"/>
            <a:ext cx="3423239" cy="39547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A backwards-compatible fix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99304" y="3049524"/>
            <a:ext cx="3858127" cy="39547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Libraries and APIs others depend 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3463290"/>
            <a:ext cx="10872216" cy="640080"/>
          </a:xfrm>
          <a:prstGeom prst="rect">
            <a:avLst/>
          </a:prstGeom>
          <a:solidFill>
            <a:srgbClr val="F3F6F8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3481578"/>
            <a:ext cx="3097072" cy="60350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1" i="0">
                <a:solidFill>
                  <a:srgbClr val="123A5F"/>
                </a:solidFill>
                <a:latin typeface="Aptos"/>
              </a:rPr>
              <a:t>paytrack-api:9f3e2a1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11472" y="3481578"/>
            <a:ext cx="3423239" cy="60350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The immutable commit SHA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99304" y="3481578"/>
            <a:ext cx="3858127" cy="60350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3E7D32"/>
                </a:solidFill>
                <a:latin typeface="Aptos"/>
              </a:rPr>
              <a:t>✔ What a deployment manifest references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103370"/>
            <a:ext cx="10872216" cy="43205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4121658"/>
            <a:ext cx="3097072" cy="39547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1" i="0">
                <a:solidFill>
                  <a:srgbClr val="123A5F"/>
                </a:solidFill>
                <a:latin typeface="Aptos"/>
              </a:rPr>
              <a:t>paytrack-api:1.4.2 · :main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11472" y="4121658"/>
            <a:ext cx="3423239" cy="39547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Moving aliases for humans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99304" y="4121658"/>
            <a:ext cx="3858127" cy="39547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Finding a build; never for deploying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4535424"/>
            <a:ext cx="10872216" cy="640080"/>
          </a:xfrm>
          <a:prstGeom prst="rect">
            <a:avLst/>
          </a:prstGeom>
          <a:solidFill>
            <a:srgbClr val="F3F6F8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4553712"/>
            <a:ext cx="3097072" cy="60350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1" i="0">
                <a:solidFill>
                  <a:srgbClr val="123A5F"/>
                </a:solidFill>
                <a:latin typeface="Aptos"/>
              </a:rPr>
              <a:t>paytrack-api:latest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11472" y="4553712"/>
            <a:ext cx="3423239" cy="60350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Whatever was pushed last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99304" y="4553712"/>
            <a:ext cx="3858127" cy="60350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B3261E"/>
                </a:solidFill>
                <a:latin typeface="Aptos"/>
              </a:rPr>
              <a:t>✗ Never in a manifest: unpinned, unreproducible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5340096"/>
            <a:ext cx="10872216" cy="585216"/>
          </a:xfrm>
          <a:prstGeom prst="rect">
            <a:avLst/>
          </a:prstGeom>
          <a:solidFill>
            <a:srgbClr val="FDF1E2"/>
          </a:solidFill>
          <a:ln w="9525">
            <a:solidFill>
              <a:srgbClr val="D276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" y="5404104"/>
            <a:ext cx="1762963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D2760D"/>
                </a:solidFill>
                <a:latin typeface="Aptos"/>
              </a:rPr>
              <a:t>WHY LATEST HURTS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58491" y="5394959"/>
            <a:ext cx="8807500" cy="47548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50" b="0" i="0">
                <a:solidFill>
                  <a:srgbClr val="123A5F"/>
                </a:solidFill>
                <a:latin typeface="Aptos"/>
              </a:rPr>
              <a:t>It makes rollback ambiguous — "go back to the previous latest" has no answer. It is an outage waiting for a quiet week.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800" b="1" i="0">
                <a:solidFill>
                  <a:srgbClr val="123A5F"/>
                </a:solidFill>
                <a:latin typeface="Aptos Display"/>
              </a:rPr>
              <a:t>GitHub Actions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10872216" cy="1005840"/>
          </a:xfrm>
          <a:prstGeom prst="rect">
            <a:avLst/>
          </a:prstGeom>
          <a:solidFill>
            <a:srgbClr val="E6F4F1"/>
          </a:solidFill>
          <a:ln w="12700">
            <a:solidFill>
              <a:srgbClr val="117A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68580" cy="1005840"/>
          </a:xfrm>
          <a:prstGeom prst="rect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1856231"/>
            <a:ext cx="10369296" cy="85953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0" i="0">
                <a:solidFill>
                  <a:srgbClr val="123A5F"/>
                </a:solidFill>
                <a:latin typeface="Aptos"/>
              </a:rPr>
              <a:t>The automation built into GitHub. You describe the checks in a small text file inside your project, and GitHub runs them on its own computers every time something happens — for example, when you push.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" y="3099815"/>
            <a:ext cx="118872" cy="118872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990087"/>
            <a:ext cx="1056132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300" b="1" i="0">
                <a:solidFill>
                  <a:srgbClr val="123A5F"/>
                </a:solidFill>
                <a:latin typeface="Aptos"/>
              </a:rPr>
              <a:t>Nothing to install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3310127"/>
            <a:ext cx="10561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30" b="0" i="0">
                <a:solidFill>
                  <a:srgbClr val="5A6570"/>
                </a:solidFill>
                <a:latin typeface="Aptos"/>
              </a:rPr>
              <a:t>It is part of GitHub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" y="3825240"/>
            <a:ext cx="118872" cy="118872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3715512"/>
            <a:ext cx="1056132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300" b="1" i="0">
                <a:solidFill>
                  <a:srgbClr val="123A5F"/>
                </a:solidFill>
                <a:latin typeface="Aptos"/>
              </a:rPr>
              <a:t>It runs on events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4035552"/>
            <a:ext cx="10561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30" b="0" i="0">
                <a:solidFill>
                  <a:srgbClr val="5A6570"/>
                </a:solidFill>
                <a:latin typeface="Aptos"/>
              </a:rPr>
              <a:t>A push, a pull request, a schedule, or a button you press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" y="4550664"/>
            <a:ext cx="118872" cy="118872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440936"/>
            <a:ext cx="1056132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300" b="1" i="0">
                <a:solidFill>
                  <a:srgbClr val="123A5F"/>
                </a:solidFill>
                <a:latin typeface="Aptos"/>
              </a:rPr>
              <a:t>Free on public projects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" y="4760976"/>
            <a:ext cx="10561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30" b="0" i="0">
                <a:solidFill>
                  <a:srgbClr val="5A6570"/>
                </a:solidFill>
                <a:latin typeface="Aptos"/>
              </a:rPr>
              <a:t>Private projects on the free plan get 2 000 minutes a month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6" y="5276088"/>
            <a:ext cx="118872" cy="118872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" y="5166359"/>
            <a:ext cx="1056132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300" b="1" i="0">
                <a:solidFill>
                  <a:srgbClr val="123A5F"/>
                </a:solidFill>
                <a:latin typeface="Aptos"/>
              </a:rPr>
              <a:t>The file lives in .github/workflows/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" y="5486400"/>
            <a:ext cx="10561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30" b="0" i="0">
                <a:solidFill>
                  <a:srgbClr val="5A6570"/>
                </a:solidFill>
                <a:latin typeface="Aptos"/>
              </a:rPr>
              <a:t>It is code, so it is reviewed like any other change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320" b="1" i="0">
                <a:solidFill>
                  <a:srgbClr val="123A5F"/>
                </a:solidFill>
                <a:latin typeface="Aptos Display"/>
              </a:rPr>
              <a:t>GitHub Actions — the concepts that matter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10872216" cy="384048"/>
          </a:xfrm>
          <a:prstGeom prst="rect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828800"/>
            <a:ext cx="2662184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ptos"/>
              </a:rPr>
              <a:t>Concept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76584" y="1828800"/>
            <a:ext cx="7880847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ptos"/>
              </a:rPr>
              <a:t>Meaning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167128"/>
            <a:ext cx="10872216" cy="40862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185416"/>
            <a:ext cx="2662184" cy="37204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1" i="0">
                <a:solidFill>
                  <a:srgbClr val="123A5F"/>
                </a:solidFill>
                <a:latin typeface="Aptos"/>
              </a:rPr>
              <a:t>Runner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6584" y="2185416"/>
            <a:ext cx="7880847" cy="37204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The machine running a job: GitHub-hosted (ubuntu-24.04) or self-hosted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575750"/>
            <a:ext cx="10872216" cy="616648"/>
          </a:xfrm>
          <a:prstGeom prst="rect">
            <a:avLst/>
          </a:prstGeom>
          <a:solidFill>
            <a:srgbClr val="F3F6F8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2594038"/>
            <a:ext cx="2662184" cy="5800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1" i="0">
                <a:solidFill>
                  <a:srgbClr val="123A5F"/>
                </a:solidFill>
                <a:latin typeface="Aptos"/>
              </a:rPr>
              <a:t>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76584" y="2594038"/>
            <a:ext cx="7880847" cy="5800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A reusable unit: uses: owner/repo@ref. Pin it — @main lets an outsider change your pipeline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192399"/>
            <a:ext cx="10872216" cy="40862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3210687"/>
            <a:ext cx="2662184" cy="37204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1" i="0">
                <a:solidFill>
                  <a:srgbClr val="123A5F"/>
                </a:solidFill>
                <a:latin typeface="Aptos"/>
              </a:rPr>
              <a:t>needs: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76584" y="3210687"/>
            <a:ext cx="7880847" cy="37204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Declares job dependencies, turning parallel jobs into a graph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3601021"/>
            <a:ext cx="10872216" cy="408622"/>
          </a:xfrm>
          <a:prstGeom prst="rect">
            <a:avLst/>
          </a:prstGeom>
          <a:solidFill>
            <a:srgbClr val="F3F6F8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3619309"/>
            <a:ext cx="2662184" cy="37204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1" i="0">
                <a:solidFill>
                  <a:srgbClr val="123A5F"/>
                </a:solidFill>
                <a:latin typeface="Aptos"/>
              </a:rPr>
              <a:t>strategy.matrix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76584" y="3619309"/>
            <a:ext cx="7880847" cy="37204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Runs one job across combinations, such as two Python versions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4009644"/>
            <a:ext cx="10872216" cy="40862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027931"/>
            <a:ext cx="2662184" cy="37204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1" i="0">
                <a:solidFill>
                  <a:srgbClr val="123A5F"/>
                </a:solidFill>
                <a:latin typeface="Aptos"/>
              </a:rPr>
              <a:t>Secrets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76584" y="4027931"/>
            <a:ext cx="7880847" cy="37204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${{ secrets.NAME }} — encrypted, masked in logs, never given to PRs from forks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418266"/>
            <a:ext cx="10872216" cy="408622"/>
          </a:xfrm>
          <a:prstGeom prst="rect">
            <a:avLst/>
          </a:prstGeom>
          <a:solidFill>
            <a:srgbClr val="F3F6F8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4436554"/>
            <a:ext cx="2662184" cy="37204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1" i="0">
                <a:solidFill>
                  <a:srgbClr val="123A5F"/>
                </a:solidFill>
                <a:latin typeface="Aptos"/>
              </a:rPr>
              <a:t>GITHUB_TOKEN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76584" y="4436554"/>
            <a:ext cx="7880847" cy="37204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An automatic, short-lived token, scoped by the permissions: block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826889"/>
            <a:ext cx="10872216" cy="6166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4845177"/>
            <a:ext cx="2662184" cy="5800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1" i="0">
                <a:solidFill>
                  <a:srgbClr val="123A5F"/>
                </a:solidFill>
                <a:latin typeface="Aptos"/>
              </a:rPr>
              <a:t>OIDC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76584" y="4845177"/>
            <a:ext cx="7880847" cy="5800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Swap a short-lived GitHub identity token for cloud credentials — no stored secret at all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5443537"/>
            <a:ext cx="10872216" cy="408622"/>
          </a:xfrm>
          <a:prstGeom prst="rect">
            <a:avLst/>
          </a:prstGeom>
          <a:solidFill>
            <a:srgbClr val="F3F6F8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5461825"/>
            <a:ext cx="2662184" cy="37204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1" i="0">
                <a:solidFill>
                  <a:srgbClr val="123A5F"/>
                </a:solidFill>
                <a:latin typeface="Aptos"/>
              </a:rPr>
              <a:t>Required status check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76584" y="5461825"/>
            <a:ext cx="7880847" cy="37204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Branch protection refuses the merge until this check is green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800" b="1" i="0">
                <a:solidFill>
                  <a:srgbClr val="123A5F"/>
                </a:solidFill>
                <a:latin typeface="Aptos Display"/>
              </a:rPr>
              <a:t>Jenkins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10872216" cy="786384"/>
          </a:xfrm>
          <a:prstGeom prst="rect">
            <a:avLst/>
          </a:prstGeom>
          <a:solidFill>
            <a:srgbClr val="E6F4F1"/>
          </a:solidFill>
          <a:ln w="12700">
            <a:solidFill>
              <a:srgbClr val="117A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68580" cy="786384"/>
          </a:xfrm>
          <a:prstGeom prst="rect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1856231"/>
            <a:ext cx="10369296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0" i="0">
                <a:solidFill>
                  <a:srgbClr val="123A5F"/>
                </a:solidFill>
                <a:latin typeface="Aptos"/>
              </a:rPr>
              <a:t>A free automation server that your company installs and runs itself. It does the same job as GitHub Actions — build and test every change — using a file called a Jenkinsfile.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" y="2880360"/>
            <a:ext cx="118872" cy="118872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70632"/>
            <a:ext cx="1056132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300" b="1" i="0">
                <a:solidFill>
                  <a:srgbClr val="123A5F"/>
                </a:solidFill>
                <a:latin typeface="Aptos"/>
              </a:rPr>
              <a:t>It runs inside your own network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3090672"/>
            <a:ext cx="10561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30" b="0" i="0">
                <a:solidFill>
                  <a:srgbClr val="5A6570"/>
                </a:solidFill>
                <a:latin typeface="Aptos"/>
              </a:rPr>
              <a:t>Sometimes a requirement in a bank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" y="3678936"/>
            <a:ext cx="118872" cy="118872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3569208"/>
            <a:ext cx="1056132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300" b="1" i="0">
                <a:solidFill>
                  <a:srgbClr val="123A5F"/>
                </a:solidFill>
                <a:latin typeface="Aptos"/>
              </a:rPr>
              <a:t>Very flexible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889248"/>
            <a:ext cx="10561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30" b="0" i="0">
                <a:solidFill>
                  <a:srgbClr val="5A6570"/>
                </a:solidFill>
                <a:latin typeface="Aptos"/>
              </a:rPr>
              <a:t>Thousands of add-ons, called plugins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" y="4477512"/>
            <a:ext cx="118872" cy="118872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367784"/>
            <a:ext cx="1056132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300" b="1" i="0">
                <a:solidFill>
                  <a:srgbClr val="123A5F"/>
                </a:solidFill>
                <a:latin typeface="Aptos"/>
              </a:rPr>
              <a:t>Someone has to look after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" y="4687824"/>
            <a:ext cx="10561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30" b="0" i="0">
                <a:solidFill>
                  <a:srgbClr val="5A6570"/>
                </a:solidFill>
                <a:latin typeface="Aptos"/>
              </a:rPr>
              <a:t>Updates, backups, security and plugins are your team's job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6" y="5276088"/>
            <a:ext cx="118872" cy="118872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" y="5166359"/>
            <a:ext cx="1056132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300" b="1" i="0">
                <a:solidFill>
                  <a:srgbClr val="123A5F"/>
                </a:solidFill>
                <a:latin typeface="Aptos"/>
              </a:rPr>
              <a:t>Pipelines are written as code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" y="5486400"/>
            <a:ext cx="10561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30" b="0" i="0">
                <a:solidFill>
                  <a:srgbClr val="5A6570"/>
                </a:solidFill>
                <a:latin typeface="Aptos"/>
              </a:rPr>
              <a:t>A Jenkinsfile in the project, reviewed like any other change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800" b="1" i="0">
                <a:solidFill>
                  <a:srgbClr val="123A5F"/>
                </a:solidFill>
                <a:latin typeface="Aptos Display"/>
              </a:rPr>
              <a:t>Jenkins architecture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2518806"/>
            <a:ext cx="1691640" cy="653978"/>
          </a:xfrm>
          <a:prstGeom prst="rect">
            <a:avLst/>
          </a:prstGeom>
          <a:solidFill>
            <a:srgbClr val="F3F6F8"/>
          </a:solidFill>
          <a:ln w="9525">
            <a:solidFill>
              <a:srgbClr val="5A65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1100" b="1" i="0">
                <a:solidFill>
                  <a:srgbClr val="123A5F"/>
                </a:solidFill>
                <a:latin typeface="Aptos"/>
              </a:rPr>
              <a:t>Git webhook</a:t>
            </a:r>
          </a:p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1100" b="1" i="0">
                <a:solidFill>
                  <a:srgbClr val="123A5F"/>
                </a:solidFill>
                <a:latin typeface="Aptos"/>
              </a:rPr>
              <a:t>or poll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414015" y="2714999"/>
            <a:ext cx="566928" cy="261591"/>
          </a:xfrm>
          <a:prstGeom prst="rightArrow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54096" y="1905701"/>
            <a:ext cx="4663440" cy="1839315"/>
          </a:xfrm>
          <a:prstGeom prst="rect">
            <a:avLst/>
          </a:prstGeom>
          <a:solidFill>
            <a:srgbClr val="ECF1F6"/>
          </a:solidFill>
          <a:ln w="12700">
            <a:solidFill>
              <a:srgbClr val="12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3054096" y="1905701"/>
            <a:ext cx="4663440" cy="376037"/>
          </a:xfrm>
          <a:prstGeom prst="rect">
            <a:avLst/>
          </a:prstGeom>
          <a:solidFill>
            <a:srgbClr val="12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JENKINS CONTROLLER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28415" y="2396185"/>
            <a:ext cx="4206240" cy="277941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50" b="0" i="0">
                <a:solidFill>
                  <a:srgbClr val="123A5F"/>
                </a:solidFill>
                <a:latin typeface="Aptos"/>
              </a:rPr>
              <a:t>·  schedules builds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28415" y="2706824"/>
            <a:ext cx="4206240" cy="277941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50" b="0" i="0">
                <a:solidFill>
                  <a:srgbClr val="123A5F"/>
                </a:solidFill>
                <a:latin typeface="Aptos"/>
              </a:rPr>
              <a:t>·  stores job config and build 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28415" y="3017464"/>
            <a:ext cx="4206240" cy="277941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50" b="1" i="0">
                <a:solidFill>
                  <a:srgbClr val="B3261E"/>
                </a:solidFill>
                <a:latin typeface="Aptos"/>
              </a:rPr>
              <a:t>·  holds EVERY credential Jenkins uses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28415" y="3328105"/>
            <a:ext cx="4206240" cy="277941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50" b="0" i="0">
                <a:solidFill>
                  <a:srgbClr val="123A5F"/>
                </a:solidFill>
                <a:latin typeface="Aptos"/>
              </a:rPr>
              <a:t>·  serves the UI and API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4073652" y="3794065"/>
            <a:ext cx="292608" cy="326989"/>
          </a:xfrm>
          <a:prstGeom prst="downArrow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145536" y="4170102"/>
            <a:ext cx="2148840" cy="858347"/>
          </a:xfrm>
          <a:prstGeom prst="rect">
            <a:avLst/>
          </a:prstGeom>
          <a:solidFill>
            <a:srgbClr val="EDF4EA"/>
          </a:solidFill>
          <a:ln w="9525">
            <a:solidFill>
              <a:srgbClr val="3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45536" y="4219151"/>
            <a:ext cx="2148840" cy="24524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1150" b="1" i="0">
                <a:solidFill>
                  <a:srgbClr val="3E7D32"/>
                </a:solidFill>
                <a:latin typeface="Aptos"/>
              </a:rPr>
              <a:t>AGENT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45536" y="4480742"/>
            <a:ext cx="2148840" cy="22889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1050" b="0" i="0">
                <a:solidFill>
                  <a:srgbClr val="123A5F"/>
                </a:solidFill>
                <a:latin typeface="Aptos"/>
              </a:rPr>
              <a:t>label: linux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45536" y="4709635"/>
            <a:ext cx="2148840" cy="22889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1050" b="0" i="0">
                <a:solidFill>
                  <a:srgbClr val="123A5F"/>
                </a:solidFill>
                <a:latin typeface="Aptos"/>
              </a:rPr>
              <a:t>executors: 2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6405372" y="3794065"/>
            <a:ext cx="292608" cy="326989"/>
          </a:xfrm>
          <a:prstGeom prst="downArrow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77256" y="4170102"/>
            <a:ext cx="2148840" cy="858347"/>
          </a:xfrm>
          <a:prstGeom prst="rect">
            <a:avLst/>
          </a:prstGeom>
          <a:solidFill>
            <a:srgbClr val="EDF4EA"/>
          </a:solidFill>
          <a:ln w="9525">
            <a:solidFill>
              <a:srgbClr val="3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77256" y="4219151"/>
            <a:ext cx="2148840" cy="24524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1150" b="1" i="0">
                <a:solidFill>
                  <a:srgbClr val="3E7D32"/>
                </a:solidFill>
                <a:latin typeface="Aptos"/>
              </a:rPr>
              <a:t>AGENT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77256" y="4480742"/>
            <a:ext cx="2148840" cy="22889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1050" b="0" i="0">
                <a:solidFill>
                  <a:srgbClr val="123A5F"/>
                </a:solidFill>
                <a:latin typeface="Aptos"/>
              </a:rPr>
              <a:t>label: docker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77256" y="4709635"/>
            <a:ext cx="2148840" cy="22889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1050" b="0" i="0">
                <a:solidFill>
                  <a:srgbClr val="123A5F"/>
                </a:solidFill>
                <a:latin typeface="Aptos"/>
              </a:rPr>
              <a:t>executors: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54096" y="5085673"/>
            <a:ext cx="4663440" cy="22889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1050" b="1" i="1">
                <a:solidFill>
                  <a:srgbClr val="3E7D32"/>
                </a:solidFill>
                <a:latin typeface="Aptos"/>
              </a:rPr>
              <a:t>builds actually run here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91856" y="1905701"/>
            <a:ext cx="3538728" cy="1839315"/>
          </a:xfrm>
          <a:prstGeom prst="rect">
            <a:avLst/>
          </a:prstGeom>
          <a:solidFill>
            <a:srgbClr val="FBEBEA"/>
          </a:solidFill>
          <a:ln w="9525">
            <a:solidFill>
              <a:srgbClr val="B32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56448" y="1987447"/>
            <a:ext cx="3264408" cy="24524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50" b="1" i="0">
                <a:solidFill>
                  <a:srgbClr val="B3261E"/>
                </a:solidFill>
                <a:latin typeface="Aptos"/>
              </a:rPr>
              <a:t>SET CONTROLLER EXECUTORS TO 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56448" y="2273564"/>
            <a:ext cx="3264408" cy="1389705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50" b="0" i="0">
                <a:solidFill>
                  <a:srgbClr val="123A5F"/>
                </a:solidFill>
                <a:latin typeface="Aptos"/>
              </a:rPr>
              <a:t>A build running on the controller can read every credential Jenkins holds. A malicious or buggy build there is a breach of all of them at once.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91856" y="3908511"/>
            <a:ext cx="3538728" cy="1406054"/>
          </a:xfrm>
          <a:prstGeom prst="rect">
            <a:avLst/>
          </a:prstGeom>
          <a:solidFill>
            <a:srgbClr val="FDF1E2"/>
          </a:solidFill>
          <a:ln w="9525">
            <a:solidFill>
              <a:srgbClr val="D276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56448" y="3990258"/>
            <a:ext cx="3264408" cy="24524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50" b="1" i="0">
                <a:solidFill>
                  <a:srgbClr val="D2760D"/>
                </a:solidFill>
                <a:latin typeface="Aptos"/>
              </a:rPr>
              <a:t>THE REAL COST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56448" y="4268199"/>
            <a:ext cx="3264408" cy="9809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50" b="0" i="0">
                <a:solidFill>
                  <a:srgbClr val="123A5F"/>
                </a:solidFill>
                <a:latin typeface="Aptos"/>
              </a:rPr>
              <a:t>A stateful, security-sensitive server: patching, backups, plugin upgrades. "Free" is a licence statement, not a cost statement.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800" b="1" i="0">
                <a:solidFill>
                  <a:srgbClr val="123A5F"/>
                </a:solidFill>
                <a:latin typeface="Aptos Display"/>
              </a:rPr>
              <a:t>A Jenkinsfile, line by line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6523329" cy="2921508"/>
          </a:xfrm>
          <a:prstGeom prst="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6523329" cy="310896"/>
          </a:xfrm>
          <a:prstGeom prst="rect">
            <a:avLst/>
          </a:prstGeom>
          <a:solidFill>
            <a:srgbClr val="1C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Oval 9"/>
          <p:cNvSpPr/>
          <p:nvPr/>
        </p:nvSpPr>
        <p:spPr>
          <a:xfrm>
            <a:off x="804672" y="1888236"/>
            <a:ext cx="100584" cy="100584"/>
          </a:xfrm>
          <a:prstGeom prst="ellipse">
            <a:avLst/>
          </a:prstGeom>
          <a:solidFill>
            <a:srgbClr val="E5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987552" y="1888236"/>
            <a:ext cx="100584" cy="100584"/>
          </a:xfrm>
          <a:prstGeom prst="ellipse">
            <a:avLst/>
          </a:prstGeom>
          <a:solidFill>
            <a:srgbClr val="E3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1170432" y="1888236"/>
            <a:ext cx="100584" cy="100584"/>
          </a:xfrm>
          <a:prstGeom prst="ellipse">
            <a:avLst/>
          </a:prstGeom>
          <a:solidFill>
            <a:srgbClr val="4FB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7" y="1819656"/>
            <a:ext cx="5608929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9FC0D8"/>
                </a:solidFill>
                <a:latin typeface="Aptos"/>
              </a:rPr>
              <a:t>JENKINSFILE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185416"/>
            <a:ext cx="6322161" cy="2281428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E8EEF4"/>
                </a:solidFill>
                <a:latin typeface="Consolas"/>
              </a:rPr>
              <a:t>pipeline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E8EEF4"/>
                </a:solidFill>
                <a:latin typeface="Consolas"/>
              </a:rPr>
              <a:t>    agent any                            </a:t>
            </a:r>
            <a:r>
              <a:rPr sz="950" b="0">
                <a:solidFill>
                  <a:srgbClr val="8FBFA8"/>
                </a:solidFill>
                <a:latin typeface="Consolas"/>
              </a:rPr>
              <a:t>  // where to run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E8EEF4"/>
                </a:solidFill>
                <a:latin typeface="Consolas"/>
              </a:rPr>
              <a:t>    options { timeout(time: 20, unit: 'MINUTES')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E8EEF4"/>
                </a:solidFill>
                <a:latin typeface="Consolas"/>
              </a:rPr>
              <a:t>    environment { IMAGE = "paytrack-api"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E8EEF4"/>
                </a:solidFill>
                <a:latin typeface="Consolas"/>
              </a:rPr>
              <a:t>    stages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E8EEF4"/>
                </a:solidFill>
                <a:latin typeface="Consolas"/>
              </a:rPr>
              <a:t>        stage('Checkout') { steps { checkout scm }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E8EEF4"/>
                </a:solidFill>
                <a:latin typeface="Consolas"/>
              </a:rPr>
              <a:t>        stage('Lint')     { steps { sh 'flake8 src tests' }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E8EEF4"/>
                </a:solidFill>
                <a:latin typeface="Consolas"/>
              </a:rPr>
              <a:t>        stage('Test')     { steps { sh 'pytest --junitxml=report.xml' }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E8EEF4"/>
                </a:solidFill>
                <a:latin typeface="Consolas"/>
              </a:rPr>
              <a:t>        stage('Build')    { steps { sh 'docker build -t $IMAGE:$GIT_COMMIT .' }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E8EEF4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E8EEF4"/>
                </a:solidFill>
                <a:latin typeface="Consolas"/>
              </a:rPr>
              <a:t>    post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E8EEF4"/>
                </a:solidFill>
                <a:latin typeface="Consolas"/>
              </a:rPr>
              <a:t>        always  { junit 'report.xml' }   </a:t>
            </a:r>
            <a:r>
              <a:rPr sz="950" b="0">
                <a:solidFill>
                  <a:srgbClr val="8FBFA8"/>
                </a:solidFill>
                <a:latin typeface="Consolas"/>
              </a:rPr>
              <a:t>  // publish results either way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E8EEF4"/>
                </a:solidFill>
                <a:latin typeface="Consolas"/>
              </a:rPr>
              <a:t>        failure { echo 'Stop the line: fix the build first'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E8EEF4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E8EEF4"/>
                </a:solidFill>
                <a:latin typeface="Consolas"/>
              </a:rPr>
              <a:t>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6017" y="1764792"/>
            <a:ext cx="4074566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117A69"/>
                </a:solidFill>
                <a:latin typeface="Aptos"/>
              </a:rPr>
              <a:t>WHAT TO NOTICE</a:t>
            </a:r>
          </a:p>
        </p:txBody>
      </p:sp>
      <p:sp>
        <p:nvSpPr>
          <p:cNvPr id="16" name="Oval 15"/>
          <p:cNvSpPr/>
          <p:nvPr/>
        </p:nvSpPr>
        <p:spPr>
          <a:xfrm>
            <a:off x="7456017" y="2121408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6017" y="2139696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85201" y="2075688"/>
            <a:ext cx="3727094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pipeline { } wraps everything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Jenkins checks the file is valid before it starts</a:t>
            </a:r>
          </a:p>
        </p:txBody>
      </p:sp>
      <p:sp>
        <p:nvSpPr>
          <p:cNvPr id="19" name="Oval 18"/>
          <p:cNvSpPr/>
          <p:nvPr/>
        </p:nvSpPr>
        <p:spPr>
          <a:xfrm>
            <a:off x="7456017" y="3008375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6017" y="3026663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85201" y="2962656"/>
            <a:ext cx="3727094" cy="5212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agent any — which computer runs it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"any" means any computer that is free</a:t>
            </a:r>
          </a:p>
        </p:txBody>
      </p:sp>
      <p:sp>
        <p:nvSpPr>
          <p:cNvPr id="22" name="Oval 21"/>
          <p:cNvSpPr/>
          <p:nvPr/>
        </p:nvSpPr>
        <p:spPr>
          <a:xfrm>
            <a:off x="7456017" y="3730751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6017" y="3749039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85201" y="3685031"/>
            <a:ext cx="3727094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stages — the steps you see on the screen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Checkout · Lint (check the style) · Test · Build</a:t>
            </a:r>
          </a:p>
        </p:txBody>
      </p:sp>
      <p:sp>
        <p:nvSpPr>
          <p:cNvPr id="25" name="Oval 24"/>
          <p:cNvSpPr/>
          <p:nvPr/>
        </p:nvSpPr>
        <p:spPr>
          <a:xfrm>
            <a:off x="7456017" y="4617719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6017" y="4636007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85201" y="4571999"/>
            <a:ext cx="3727094" cy="5212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post — what to do at the end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always, or only after success or failure</a:t>
            </a:r>
          </a:p>
        </p:txBody>
      </p:sp>
      <p:sp>
        <p:nvSpPr>
          <p:cNvPr id="28" name="Oval 27"/>
          <p:cNvSpPr/>
          <p:nvPr/>
        </p:nvSpPr>
        <p:spPr>
          <a:xfrm>
            <a:off x="7456017" y="5340095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6017" y="5358383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85201" y="5294375"/>
            <a:ext cx="3727094" cy="5212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The same idea as GitHub Actions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A different file, the same checks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800" b="1" i="0">
                <a:solidFill>
                  <a:srgbClr val="123A5F"/>
                </a:solidFill>
                <a:latin typeface="Aptos Display"/>
              </a:rPr>
              <a:t>Four things teams say about CI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49808" y="1783080"/>
            <a:ext cx="5298948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A0275C"/>
                </a:solidFill>
                <a:latin typeface="Aptos"/>
              </a:rPr>
              <a:t>WHAT PEOPLE SAY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3076" y="1783080"/>
            <a:ext cx="5298948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117A69"/>
                </a:solidFill>
                <a:latin typeface="Aptos"/>
              </a:rPr>
              <a:t>WHAT IS ACTUALLY TRUE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093976"/>
            <a:ext cx="5298948" cy="617220"/>
          </a:xfrm>
          <a:prstGeom prst="rect">
            <a:avLst/>
          </a:prstGeom>
          <a:solidFill>
            <a:srgbClr val="FAECF2"/>
          </a:solidFill>
          <a:ln w="7620">
            <a:solidFill>
              <a:srgbClr val="A027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130552"/>
            <a:ext cx="5024628" cy="5440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1">
                <a:solidFill>
                  <a:srgbClr val="1F2933"/>
                </a:solidFill>
                <a:latin typeface="Aptos"/>
              </a:rPr>
              <a:t>“We have Jenkins, so we do CI.”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2093976"/>
            <a:ext cx="5298948" cy="617220"/>
          </a:xfrm>
          <a:prstGeom prst="rect">
            <a:avLst/>
          </a:prstGeom>
          <a:solidFill>
            <a:srgbClr val="E6F4F1"/>
          </a:solidFill>
          <a:ln w="7620">
            <a:solidFill>
              <a:srgbClr val="117A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7940" y="2130552"/>
            <a:ext cx="5024628" cy="5440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F2933"/>
                </a:solidFill>
                <a:latin typeface="Aptos"/>
              </a:rPr>
              <a:t>CI is a habit: small changes added daily and tested automatically. A tool on its own is not CI.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839212"/>
            <a:ext cx="5298948" cy="617220"/>
          </a:xfrm>
          <a:prstGeom prst="rect">
            <a:avLst/>
          </a:prstGeom>
          <a:solidFill>
            <a:srgbClr val="FAECF2"/>
          </a:solidFill>
          <a:ln w="7620">
            <a:solidFill>
              <a:srgbClr val="A027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2875788"/>
            <a:ext cx="5024628" cy="5440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1">
                <a:solidFill>
                  <a:srgbClr val="1F2933"/>
                </a:solidFill>
                <a:latin typeface="Aptos"/>
              </a:rPr>
              <a:t>“A 45-minute build is fine.”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1636" y="2839212"/>
            <a:ext cx="5298948" cy="617220"/>
          </a:xfrm>
          <a:prstGeom prst="rect">
            <a:avLst/>
          </a:prstGeom>
          <a:solidFill>
            <a:srgbClr val="E6F4F1"/>
          </a:solidFill>
          <a:ln w="7620">
            <a:solidFill>
              <a:srgbClr val="117A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7940" y="2875788"/>
            <a:ext cx="5024628" cy="5440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F2933"/>
                </a:solidFill>
                <a:latin typeface="Aptos"/>
              </a:rPr>
              <a:t>People stop waiting, pile up changes, and push while it is red. Slow checks get ignored.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584448"/>
            <a:ext cx="5298948" cy="617220"/>
          </a:xfrm>
          <a:prstGeom prst="rect">
            <a:avLst/>
          </a:prstGeom>
          <a:solidFill>
            <a:srgbClr val="FAECF2"/>
          </a:solidFill>
          <a:ln w="7620">
            <a:solidFill>
              <a:srgbClr val="A027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3621024"/>
            <a:ext cx="5024628" cy="5440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1">
                <a:solidFill>
                  <a:srgbClr val="1F2933"/>
                </a:solidFill>
                <a:latin typeface="Aptos"/>
              </a:rPr>
              <a:t>“That test is just flaky — run it again.”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3584448"/>
            <a:ext cx="5298948" cy="617220"/>
          </a:xfrm>
          <a:prstGeom prst="rect">
            <a:avLst/>
          </a:prstGeom>
          <a:solidFill>
            <a:srgbClr val="E6F4F1"/>
          </a:solidFill>
          <a:ln w="7620">
            <a:solidFill>
              <a:srgbClr val="117A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7940" y="3621024"/>
            <a:ext cx="5024628" cy="5440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F2933"/>
                </a:solidFill>
                <a:latin typeface="Aptos"/>
              </a:rPr>
              <a:t>A test that fails at random teaches everyone to ignore red. Fix it or remove it.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329684"/>
            <a:ext cx="5298948" cy="617220"/>
          </a:xfrm>
          <a:prstGeom prst="rect">
            <a:avLst/>
          </a:prstGeom>
          <a:solidFill>
            <a:srgbClr val="FAECF2"/>
          </a:solidFill>
          <a:ln w="7620">
            <a:solidFill>
              <a:srgbClr val="A027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4366260"/>
            <a:ext cx="5024628" cy="5440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1">
                <a:solidFill>
                  <a:srgbClr val="1F2933"/>
                </a:solidFill>
                <a:latin typeface="Aptos"/>
              </a:rPr>
              <a:t>“We rebuild it specially for the live system.”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1636" y="4329684"/>
            <a:ext cx="5298948" cy="617220"/>
          </a:xfrm>
          <a:prstGeom prst="rect">
            <a:avLst/>
          </a:prstGeom>
          <a:solidFill>
            <a:srgbClr val="E6F4F1"/>
          </a:solidFill>
          <a:ln w="7620">
            <a:solidFill>
              <a:srgbClr val="117A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7940" y="4366260"/>
            <a:ext cx="5024628" cy="5440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F2933"/>
                </a:solidFill>
                <a:latin typeface="Aptos"/>
              </a:rPr>
              <a:t>Then the live system runs something nobody tested. Build once and use it everywhere.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800" b="1" i="0">
                <a:solidFill>
                  <a:srgbClr val="123A5F"/>
                </a:solidFill>
                <a:latin typeface="Aptos Display"/>
              </a:rPr>
              <a:t>Securing the pipeline itself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76656" y="1860804"/>
            <a:ext cx="118872" cy="118872"/>
          </a:xfrm>
          <a:prstGeom prst="rect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741932"/>
            <a:ext cx="10579608" cy="219455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20" b="1" i="0">
                <a:solidFill>
                  <a:srgbClr val="123A5F"/>
                </a:solidFill>
                <a:latin typeface="Aptos"/>
              </a:rPr>
              <a:t>Pin third-party Actions to a full commit SHA, not a tag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20824"/>
            <a:ext cx="10579608" cy="190195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39" b="0" i="0">
                <a:solidFill>
                  <a:srgbClr val="5A6570"/>
                </a:solidFill>
                <a:latin typeface="Aptos"/>
              </a:rPr>
              <a:t>A tag is mutable: whoever controls it can change what runs with YOUR token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" y="2464673"/>
            <a:ext cx="118872" cy="118872"/>
          </a:xfrm>
          <a:prstGeom prst="rect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345801"/>
            <a:ext cx="10579608" cy="219455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20" b="1" i="0">
                <a:solidFill>
                  <a:srgbClr val="123A5F"/>
                </a:solidFill>
                <a:latin typeface="Aptos"/>
              </a:rPr>
              <a:t>Least-privilege permissions: block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624693"/>
            <a:ext cx="10579608" cy="190195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39" b="0" i="0">
                <a:solidFill>
                  <a:srgbClr val="5A6570"/>
                </a:solidFill>
                <a:latin typeface="Aptos"/>
              </a:rPr>
              <a:t>The default GITHUB_TOKEN scope is broader than you need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" y="3068543"/>
            <a:ext cx="118872" cy="118872"/>
          </a:xfrm>
          <a:prstGeom prst="rect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2949671"/>
            <a:ext cx="10579608" cy="219455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20" b="1" i="0">
                <a:solidFill>
                  <a:srgbClr val="123A5F"/>
                </a:solidFill>
                <a:latin typeface="Aptos"/>
              </a:rPr>
              <a:t>Short-lived OIDC tokens instead of long-lived secrets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228563"/>
            <a:ext cx="10579608" cy="190195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39" b="0" i="0">
                <a:solidFill>
                  <a:srgbClr val="5A6570"/>
                </a:solidFill>
                <a:latin typeface="Aptos"/>
              </a:rPr>
              <a:t>The ideal is a credential that does not exist long enough to be stolen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" y="3672413"/>
            <a:ext cx="118872" cy="118872"/>
          </a:xfrm>
          <a:prstGeom prst="rect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3553541"/>
            <a:ext cx="10579608" cy="219455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20" b="1" i="0">
                <a:solidFill>
                  <a:srgbClr val="123A5F"/>
                </a:solidFill>
                <a:latin typeface="Aptos"/>
              </a:rPr>
              <a:t>Never expose secrets to pull requests from forks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3832433"/>
            <a:ext cx="10579608" cy="190195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39" b="0" i="0">
                <a:solidFill>
                  <a:srgbClr val="5A6570"/>
                </a:solidFill>
                <a:latin typeface="Aptos"/>
              </a:rPr>
              <a:t>Use pull_request, not pull_request_target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6" y="4276283"/>
            <a:ext cx="118872" cy="118872"/>
          </a:xfrm>
          <a:prstGeom prst="rect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157411"/>
            <a:ext cx="10579608" cy="219455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20" b="1" i="0">
                <a:solidFill>
                  <a:srgbClr val="123A5F"/>
                </a:solidFill>
                <a:latin typeface="Aptos"/>
              </a:rPr>
              <a:t>CODEOWNERS on .github/workflows/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4436303"/>
            <a:ext cx="10579608" cy="190195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39" b="0" i="0">
                <a:solidFill>
                  <a:srgbClr val="5A6570"/>
                </a:solidFill>
                <a:latin typeface="Aptos"/>
              </a:rPr>
              <a:t>Pipeline changes need the strictest review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6656" y="4880152"/>
            <a:ext cx="118872" cy="118872"/>
          </a:xfrm>
          <a:prstGeom prst="rect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4761280"/>
            <a:ext cx="10579608" cy="219455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20" b="1" i="0">
                <a:solidFill>
                  <a:srgbClr val="123A5F"/>
                </a:solidFill>
                <a:latin typeface="Aptos"/>
              </a:rPr>
              <a:t>Ephemeral runners — one job per runner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5040172"/>
            <a:ext cx="10579608" cy="190195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39" b="0" i="0">
                <a:solidFill>
                  <a:srgbClr val="5A6570"/>
                </a:solidFill>
                <a:latin typeface="Aptos"/>
              </a:rPr>
              <a:t>A reused runner leaks state between jobs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5340096"/>
            <a:ext cx="10872216" cy="585216"/>
          </a:xfrm>
          <a:prstGeom prst="rect">
            <a:avLst/>
          </a:prstGeom>
          <a:solidFill>
            <a:srgbClr val="FDF1E2"/>
          </a:solidFill>
          <a:ln w="9525">
            <a:solidFill>
              <a:srgbClr val="D276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5404104"/>
            <a:ext cx="2121408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D2760D"/>
                </a:solidFill>
                <a:latin typeface="Aptos"/>
              </a:rPr>
              <a:t>WHY THIS MATTERS NOW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16936" y="5394959"/>
            <a:ext cx="8449056" cy="47548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50" b="0" i="0">
                <a:solidFill>
                  <a:srgbClr val="123A5F"/>
                </a:solidFill>
                <a:latin typeface="Aptos"/>
              </a:rPr>
              <a:t>Your CI system holds credentials to everything and executes code by design. SolarWinds, Codecov and the xz-utils backdoor were all supply-chain compromises.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LAB 04A  ·  GOING FURTHER  ·  HANDS-ON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210" b="1" i="0">
                <a:solidFill>
                  <a:srgbClr val="123A5F"/>
                </a:solidFill>
                <a:latin typeface="Aptos Display"/>
              </a:rPr>
              <a:t>act — Run CI on Your Laptop, Then Harden It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10872216" cy="658368"/>
          </a:xfrm>
          <a:prstGeom prst="rect">
            <a:avLst/>
          </a:prstGeom>
          <a:solidFill>
            <a:srgbClr val="EDF4EA"/>
          </a:solidFill>
          <a:ln w="12700">
            <a:solidFill>
              <a:srgbClr val="3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837943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3E7D32"/>
                </a:solidFill>
                <a:latin typeface="Aptos"/>
              </a:rPr>
              <a:t>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057400"/>
            <a:ext cx="10506456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350" b="0" i="0">
                <a:solidFill>
                  <a:srgbClr val="123A5F"/>
                </a:solidFill>
                <a:latin typeface="Aptos"/>
              </a:rPr>
              <a:t>Run the Lab 04 pipeline locally in seconds, then watch the pipeline-security slides happen for real.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660904"/>
            <a:ext cx="10872216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50" b="1" i="0">
                <a:solidFill>
                  <a:srgbClr val="117A69"/>
                </a:solidFill>
                <a:latin typeface="Aptos"/>
              </a:rPr>
              <a:t>YOU WILL</a:t>
            </a:r>
          </a:p>
        </p:txBody>
      </p:sp>
      <p:sp>
        <p:nvSpPr>
          <p:cNvPr id="12" name="Oval 11"/>
          <p:cNvSpPr/>
          <p:nvPr/>
        </p:nvSpPr>
        <p:spPr>
          <a:xfrm>
            <a:off x="676656" y="298551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300380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5" y="2958084"/>
            <a:ext cx="104698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Install act, verified by checksum, and run lint and tests on your machine</a:t>
            </a:r>
          </a:p>
        </p:txBody>
      </p:sp>
      <p:sp>
        <p:nvSpPr>
          <p:cNvPr id="15" name="Oval 14"/>
          <p:cNvSpPr/>
          <p:nvPr/>
        </p:nvSpPr>
        <p:spPr>
          <a:xfrm>
            <a:off x="676656" y="335127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336956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5" y="3323844"/>
            <a:ext cx="104698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Break the code and see CI fail before you push anything</a:t>
            </a:r>
          </a:p>
        </p:txBody>
      </p:sp>
      <p:sp>
        <p:nvSpPr>
          <p:cNvPr id="18" name="Oval 17"/>
          <p:cNvSpPr/>
          <p:nvPr/>
        </p:nvSpPr>
        <p:spPr>
          <a:xfrm>
            <a:off x="676656" y="3717035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" y="373532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5" y="3689604"/>
            <a:ext cx="104698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See a secret masked as *** — then leak in plain sight once it is base64-encoded</a:t>
            </a:r>
          </a:p>
        </p:txBody>
      </p:sp>
      <p:sp>
        <p:nvSpPr>
          <p:cNvPr id="21" name="Oval 20"/>
          <p:cNvSpPr/>
          <p:nvPr/>
        </p:nvSpPr>
        <p:spPr>
          <a:xfrm>
            <a:off x="676656" y="408279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" y="410108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5" y="4055364"/>
            <a:ext cx="104698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Open a "pull request" whose title runs a command, then close the hole</a:t>
            </a:r>
          </a:p>
        </p:txBody>
      </p:sp>
      <p:sp>
        <p:nvSpPr>
          <p:cNvPr id="24" name="Oval 23"/>
          <p:cNvSpPr/>
          <p:nvPr/>
        </p:nvSpPr>
        <p:spPr>
          <a:xfrm>
            <a:off x="676656" y="444855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" y="446684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5" y="4421124"/>
            <a:ext cx="104698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Audit with actionlint and zizmor, and pin every action to a commit SHA</a:t>
            </a:r>
          </a:p>
        </p:txBody>
      </p:sp>
      <p:sp>
        <p:nvSpPr>
          <p:cNvPr id="27" name="Oval 26"/>
          <p:cNvSpPr/>
          <p:nvPr/>
        </p:nvSpPr>
        <p:spPr>
          <a:xfrm>
            <a:off x="676656" y="481431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483260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5" y="4786884"/>
            <a:ext cx="104698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Build one versioned, checksummed artefact and release it from a tag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5394960"/>
            <a:ext cx="10872216" cy="475488"/>
          </a:xfrm>
          <a:prstGeom prst="rect">
            <a:avLst/>
          </a:prstGeom>
          <a:solidFill>
            <a:srgbClr val="ECF1F6"/>
          </a:solidFill>
          <a:ln w="9525">
            <a:solidFill>
              <a:srgbClr val="117A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7" y="5440680"/>
            <a:ext cx="105156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117A69"/>
                </a:solidFill>
                <a:latin typeface="Aptos"/>
              </a:rPr>
              <a:t>OUTCOME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92808" y="5431536"/>
            <a:ext cx="9454896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0" i="0">
                <a:solidFill>
                  <a:srgbClr val="123A5F"/>
                </a:solidFill>
                <a:latin typeface="Aptos"/>
              </a:rPr>
              <a:t>A pinned, time-boxed, least-privilege pipeline that the audit tools pass with no findings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LAB 04B  ·  GOING FURTHER  ·  HANDS-ON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800" b="1" i="0">
                <a:solidFill>
                  <a:srgbClr val="123A5F"/>
                </a:solidFill>
                <a:latin typeface="Aptos Display"/>
              </a:rPr>
              <a:t>The Same Pipeline on GitLab CI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10872216" cy="658368"/>
          </a:xfrm>
          <a:prstGeom prst="rect">
            <a:avLst/>
          </a:prstGeom>
          <a:solidFill>
            <a:srgbClr val="EDF4EA"/>
          </a:solidFill>
          <a:ln w="12700">
            <a:solidFill>
              <a:srgbClr val="3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837943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3E7D32"/>
                </a:solidFill>
                <a:latin typeface="Aptos"/>
              </a:rPr>
              <a:t>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057400"/>
            <a:ext cx="10506456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340" b="0" i="0">
                <a:solidFill>
                  <a:srgbClr val="123A5F"/>
                </a:solidFill>
                <a:latin typeface="Aptos"/>
              </a:rPr>
              <a:t>Open a GitLab account and rebuild Lab 04 in GitLab's language — the controls are the same, the names are not.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660904"/>
            <a:ext cx="10872216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50" b="1" i="0">
                <a:solidFill>
                  <a:srgbClr val="117A69"/>
                </a:solidFill>
                <a:latin typeface="Aptos"/>
              </a:rPr>
              <a:t>YOU WILL</a:t>
            </a:r>
          </a:p>
        </p:txBody>
      </p:sp>
      <p:sp>
        <p:nvSpPr>
          <p:cNvPr id="12" name="Oval 11"/>
          <p:cNvSpPr/>
          <p:nvPr/>
        </p:nvSpPr>
        <p:spPr>
          <a:xfrm>
            <a:off x="676656" y="298551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300380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5" y="2958084"/>
            <a:ext cx="104698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Sign up, verify your identity, turn on 2FA and add your SSH key</a:t>
            </a:r>
          </a:p>
        </p:txBody>
      </p:sp>
      <p:sp>
        <p:nvSpPr>
          <p:cNvPr id="15" name="Oval 14"/>
          <p:cNvSpPr/>
          <p:nvPr/>
        </p:nvSpPr>
        <p:spPr>
          <a:xfrm>
            <a:off x="676656" y="335127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336956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5" y="3323844"/>
            <a:ext cx="104698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Push PayTrack API to a new GitLab project as a second remote</a:t>
            </a:r>
          </a:p>
        </p:txBody>
      </p:sp>
      <p:sp>
        <p:nvSpPr>
          <p:cNvPr id="18" name="Oval 17"/>
          <p:cNvSpPr/>
          <p:nvPr/>
        </p:nvSpPr>
        <p:spPr>
          <a:xfrm>
            <a:off x="676656" y="3717035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" y="373532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5" y="3689604"/>
            <a:ext cx="104698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Translate ci.yml into .gitlab-ci.yml: stages, templates, a matrix, test reports</a:t>
            </a:r>
          </a:p>
        </p:txBody>
      </p:sp>
      <p:sp>
        <p:nvSpPr>
          <p:cNvPr id="21" name="Oval 20"/>
          <p:cNvSpPr/>
          <p:nvPr/>
        </p:nvSpPr>
        <p:spPr>
          <a:xfrm>
            <a:off x="676656" y="408279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" y="410108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5" y="4055364"/>
            <a:ext cx="104698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Open a merge request straight from git push</a:t>
            </a:r>
          </a:p>
        </p:txBody>
      </p:sp>
      <p:sp>
        <p:nvSpPr>
          <p:cNvPr id="24" name="Oval 23"/>
          <p:cNvSpPr/>
          <p:nvPr/>
        </p:nvSpPr>
        <p:spPr>
          <a:xfrm>
            <a:off x="676656" y="444855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" y="446684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5" y="4421124"/>
            <a:ext cx="104698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Protect main and switch on "Pipelines must succeed"</a:t>
            </a:r>
          </a:p>
        </p:txBody>
      </p:sp>
      <p:sp>
        <p:nvSpPr>
          <p:cNvPr id="27" name="Oval 26"/>
          <p:cNvSpPr/>
          <p:nvPr/>
        </p:nvSpPr>
        <p:spPr>
          <a:xfrm>
            <a:off x="676656" y="481431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483260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5" y="4786884"/>
            <a:ext cx="104698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Push a broken change and watch the merge get blocked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5394960"/>
            <a:ext cx="10872216" cy="475488"/>
          </a:xfrm>
          <a:prstGeom prst="rect">
            <a:avLst/>
          </a:prstGeom>
          <a:solidFill>
            <a:srgbClr val="ECF1F6"/>
          </a:solidFill>
          <a:ln w="9525">
            <a:solidFill>
              <a:srgbClr val="117A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7" y="5440680"/>
            <a:ext cx="105156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117A69"/>
                </a:solidFill>
                <a:latin typeface="Aptos"/>
              </a:rPr>
              <a:t>OUTCOME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92808" y="5431536"/>
            <a:ext cx="9454896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0" i="0">
                <a:solidFill>
                  <a:srgbClr val="123A5F"/>
                </a:solidFill>
                <a:latin typeface="Aptos"/>
              </a:rPr>
              <a:t>A GitLab project where a red pipeline cannot be merged, and a GitHub-to-GitLab translation table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Widescreen</PresentationFormat>
  <Paragraphs>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Domenico Tarsitani</dc:creator>
  <cp:lastModifiedBy>Domenico Tarsitani</cp:lastModifiedBy>
  <cp:revision>1</cp:revision>
  <dcterms:created xsi:type="dcterms:W3CDTF">2025-02-28T08:21:36Z</dcterms:created>
  <dcterms:modified xsi:type="dcterms:W3CDTF">2025-02-28T08:27:52Z</dcterms:modified>
</cp:coreProperties>
</file>