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5"/>
    <p:sldId id="271" r:id="rId4"/>
    <p:sldId id="272" r:id="rId3"/>
    <p:sldId id="273" r:id="rId2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6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8.xml"/><Relationship Id="rId3" Type="http://schemas.openxmlformats.org/officeDocument/2006/relationships/slide" Target="slides/slide17.xml"/><Relationship Id="rId4" Type="http://schemas.openxmlformats.org/officeDocument/2006/relationships/slide" Target="slides/slide16.xml"/><Relationship Id="rId5" Type="http://schemas.openxmlformats.org/officeDocument/2006/relationships/slide" Target="slides/slide1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first, then the five points in the same order every time: what it does, how, when, what to be careful of, and one thing good to know. Say the plain-English word before the Git word. The full example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output, captured from a scripted PayTrack repository. Read the terminal top to bottom first, then the five points in order: what it means, how, when to use it, when not to, what to watch for. The same example, with more options, is in docs/theory/git-command-guide.md.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HEAD inversion catches almost everyone: in a merge HEAD is your branch, in a rebase HEAD is the branch you are rebasing ONTO. Read the label after &gt;&gt;&gt;&gt;&gt;&gt;&gt; — it names your own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Point out that the editor list runs oldest-first, the opposite of git log — the most common source of "I squashed the wrong commit". If that happens, the next-but-one slide undoes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confidence slide: nothing a local rebase does is permanent. Ask the room to read the reflog bottom-up — the line below "rebase (start)" is the branch as it was.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 guide: labs/lab-03-branching-and-collaboration/README-03A-git-going-further.md. Optional and self-paced; about 80 minutes in eight parts. setup-gym.sh builds the practice repository and rebuilds it in two seconds, so delegates can break it freely. Demo Part 5 (bisect) or Part 8 (the stale-info rejection) if you have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divider. Use it to re-set attention and to say explicitly which lab this block leads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code top to bottom. The numbered points on the right are the talk track; the full, runnable version is in the matching lab README.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5F7E0-7ABE-D3C0-63A5-FAA693B61D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14142F-0237-05B2-12F3-217F91D03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18A94-B989-CE86-B473-001B31E23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B2774-C8F6-CF95-9EEC-50ABE8A35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AA3A74-908A-732B-B876-4A95EB693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8114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A9EEE-04B9-E120-0146-94957BE6C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682CE4-A695-0D69-31DF-5D96CE24A8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8F0B88-1188-3BE8-45E5-6424E0D63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BDF9EE-6D0A-5161-4106-EF2D5ADDB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E32E08-9004-DAD6-5C7B-6D677285C1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5550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B8CB9-93FE-3C78-C2CD-1EAF2C671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4F54DC-F855-6F7E-3197-E1D0866BD6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FA7E3C-9379-5904-C0DD-DF4340576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B7A92-7A9B-0521-8C38-040F3347A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CE150-1846-E660-2129-F1A4DEFC7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056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DE0278-2BD0-EE70-D44C-6C4661905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A3346-3192-E072-CC3E-594CEE99BE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887559-F73A-9048-366D-0C385522D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06ABC6-8E5B-8A84-4C69-32CE6CD87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7050D9-E01B-49C8-9460-6F5A8638E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786C11-4C6B-15AA-2285-B7A416C46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0244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9EE91-BF0E-5883-9C29-741B4A27F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854D85-7DCC-A7CD-D472-98D2C5588A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3AC918-4E7F-A372-4BAA-391F29E37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AB873-2718-31C9-3728-8C87F4F315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8531A2-BAA5-F9A5-BE21-3C7B39D8839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3DEFDB-230D-CE83-B402-D2E11A1F5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D2F011-F841-554C-13E9-CD1FCA6C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0BB38A-8241-5AF1-E1D8-D19FD9877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266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7733-ACD7-FD4A-6592-369DAA248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21B1D-288F-C977-8ACF-C5536E294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6C56CD-B343-2A8C-0C73-50F9ADEDE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7336C9-F557-5456-3AA5-964F4B9E8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3161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7399D9-FB45-3C28-D9F9-9C2725691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9AC3ECF-8999-FA85-C90B-2EE07154D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A8C02-1511-50FF-115C-345812D0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514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F0612-ADB5-2D26-0CFA-9616872E0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A00C5A-4FD8-1C37-6CF8-01CFBFF566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8EB4FA-791A-85B3-AEE0-260478B8B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2BD70-87E6-A3B1-3F07-88B099649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25A4BD-D824-8817-C6B5-9A3AE2F18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D40EBA-26F7-09FF-10D2-A5DBCB5D8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56016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1C236-44C3-E4F7-5253-3F4FE2B49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885B9-5B38-77E5-3171-5B21176932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82C77A-7C07-D6B2-361D-E984CF278E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B7184F-61F1-B3AD-5D10-037759E0B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4CE672-B4D7-103D-F0A3-2F98747AA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0EF296-811A-3D4E-CE6F-294B4D34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158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77C23-E6A1-546F-D81C-5B81F4AF3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7B1F0D-033A-B11C-34AC-3C12064422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106513-31F3-E91A-B68C-E18421CF5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4D0E42-B8F4-72F7-D446-03A8BBD63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0B6E9D-B2F3-54B8-EA91-BA14A3FAC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68816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9DD19F-0754-F30B-2555-3250849E5F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993B2-FFC8-443E-A6C0-EB1FE69F8B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93358A-B713-776E-F05D-A7D18C5F5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1EF52E-2DC3-DFFE-7F6E-86F48AD35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9E148C-58C3-9F59-3903-AE7BB21D0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8273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8F3D80-4FC1-2E34-4473-3B6DE3F73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0B5773-305D-BCAD-DEE5-7EEB3AF51C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406ED-6FC1-5B03-CC19-B56196C8B0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FD9C38-4F67-4302-B36F-804A48A2F5E9}" type="datetimeFigureOut">
              <a:rPr lang="en-GB" smtClean="0"/>
              <a:t>28/02/2025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58EFC-0030-A53F-DA9B-FB6DB3493B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56021-E9A4-7227-FB69-1C6041DEC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B1F475-EBA2-46F5-80FD-483EF9506CC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0681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29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841248"/>
            <a:ext cx="2798064" cy="9326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12848"/>
            <a:ext cx="1060704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0">
                <a:solidFill>
                  <a:srgbClr val="29ABE2"/>
                </a:solidFill>
                <a:latin typeface="Aptos"/>
              </a:rPr>
              <a:t>NOBLEPROG · DEVOPS PROFESSIONAL · UNICREDIT · DAY 2 OF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15184"/>
            <a:ext cx="10424160" cy="109728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400" b="1" i="0">
                <a:solidFill>
                  <a:srgbClr val="123A5F"/>
                </a:solidFill>
                <a:latin typeface="Aptos Display"/>
              </a:rPr>
              <a:t>Lab 03A — Git, Going Further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1520" y="3959352"/>
            <a:ext cx="2926080" cy="0"/>
          </a:xfrm>
          <a:prstGeom prst="line">
            <a:avLst/>
          </a:prstGeom>
          <a:ln w="3175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1520" y="4114800"/>
            <a:ext cx="10424160" cy="40233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500" b="0" i="0">
                <a:solidFill>
                  <a:srgbClr val="5A6570"/>
                </a:solidFill>
                <a:latin typeface="Aptos"/>
              </a:rPr>
              <a:t>The advanced Git slides, for after class — everything Lab 03A puts your hands 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7137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4604004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A: more everyday Git — history in depth, stash, restore, revert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50429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7552" y="4933188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B: reset, reflog, cherry-pick, tag, bisect, clean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721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" y="5262372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C: merging, rebasing, conflicts and the golden rule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701284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7552" y="5591556"/>
            <a:ext cx="99669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F2933"/>
                </a:solidFill>
                <a:latin typeface="Aptos"/>
              </a:rPr>
              <a:t>Optional. Nothing on Day 3 onwards depends on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053328"/>
            <a:ext cx="10424160" cy="31089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0" i="1">
                <a:solidFill>
                  <a:srgbClr val="5A6570"/>
                </a:solidFill>
                <a:latin typeface="Aptos"/>
              </a:rPr>
              <a:t>Practise it: labs/lab-03-branching-and-collaboration/README-03A-git-going-further.md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More Everyday Git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The single-command versions of today's slides, and two more commands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log · git show · git blame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add and git commit in detail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fetch · git pull · git push in detail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67712" y="4914900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23744" y="4805172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stash · git restore · git revert in detail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67712" y="5244084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23744" y="5134356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Words recap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git log · git show · git blame — look at the history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37292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308914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7CC8EE"/>
                </a:solidFill>
                <a:latin typeface="Consolas"/>
              </a:rPr>
              <a:t>$ </a:t>
            </a:r>
            <a:r>
              <a:rPr sz="850" b="0">
                <a:solidFill>
                  <a:srgbClr val="E8EEF4"/>
                </a:solidFill>
                <a:latin typeface="Consolas"/>
              </a:rPr>
              <a:t>git log --oneline --graph --decorate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* 8159e94 (HEAD -&gt; main, origin/main) feat: default region eu-west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* cf09014 fix: raise settlement timeout to 45s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* e901672 feat: add PayTrack API service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7CC8EE"/>
                </a:solidFill>
                <a:latin typeface="Consolas"/>
              </a:rPr>
              <a:t>$ </a:t>
            </a:r>
            <a:r>
              <a:rPr sz="850" b="0">
                <a:solidFill>
                  <a:srgbClr val="E8EEF4"/>
                </a:solidFill>
                <a:latin typeface="Consolas"/>
              </a:rPr>
              <a:t>git log --oneline --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8159e94 feat: default region eu-west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cf09014 fix: raise settlement timeout to 45s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e901672 feat: add PayTrack API service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7CC8EE"/>
                </a:solidFill>
                <a:latin typeface="Consolas"/>
              </a:rPr>
              <a:t>$ </a:t>
            </a:r>
            <a:r>
              <a:rPr sz="850" b="0">
                <a:solidFill>
                  <a:srgbClr val="E8EEF4"/>
                </a:solidFill>
                <a:latin typeface="Consolas"/>
              </a:rPr>
              <a:t>git log --oneline --grep=timeout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cf09014 fix: raise settlement timeout to 45s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7CC8EE"/>
                </a:solidFill>
                <a:latin typeface="Consolas"/>
              </a:rPr>
              <a:t>$ </a:t>
            </a:r>
            <a:r>
              <a:rPr sz="850" b="0">
                <a:solidFill>
                  <a:srgbClr val="E8EEF4"/>
                </a:solidFill>
                <a:latin typeface="Consolas"/>
              </a:rPr>
              <a:t>git show --stat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commit cf09014a132e3fb76f3d590efa68c14b0f04556a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Author: Your Name &lt;you@example.com&gt;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Date:   Thu Sep 17 08:25:01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   fix: raise settlement timeout to 45s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app/src/config.py | 2 +-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 1 file changed, 1 insertion(+), 1 deletion(-)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1">
                <a:solidFill>
                  <a:srgbClr val="7CC8EE"/>
                </a:solidFill>
                <a:latin typeface="Consolas"/>
              </a:rPr>
              <a:t>$ </a:t>
            </a:r>
            <a:r>
              <a:rPr sz="850" b="0">
                <a:solidFill>
                  <a:srgbClr val="E8EEF4"/>
                </a:solidFill>
                <a:latin typeface="Consolas"/>
              </a:rPr>
              <a:t>git blame --date=short -L 5,7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^e901672 (Your Name 2026-09-17 5)     VERSION = os.getenv("APP_VERSION", "1.0.0")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cf09014a (Your Name 2026-09-17 6)     TIMEOUT = int(os.getenv("SETTLEMENT_TIMEOUT", "45"))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E8EEF4"/>
                </a:solidFill>
                <a:latin typeface="Consolas"/>
              </a:rPr>
              <a:t>8159e940 (Your Name 2026-09-17 7)     REGION = os.getenv("APP_REGION", "eu-west")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619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What — log lists past saves · show opens one of them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Newest first: the ID, and the note that was written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294926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296755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903549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git log --oneline · git show &lt;ID&gt;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git log -- &lt;file&gt; shows only the saves that touched that file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76118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77947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715463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git blame &lt;file&gt;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Shows, line by line, which save last changed each line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42957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44786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383853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When — you need to know what changed, when, and why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Tracking down a bug, reviewing a release, answering an auditor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40095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41924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355238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Good to know — good notes make the history useful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A log full of "fix" and "update" answers nothing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git add — choose what to save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28834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22433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M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?? app/src/probes.py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add app/src/config.py app/src/probes.py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M 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A  app/src/probes.py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commit -qm "feat: add readiness probe; raise settlement timeout to 45s"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add 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A  config/local.env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rm --cached config/local.env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rm 'config/local.env'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echo 'config/local.env' &gt;&gt; .gitignore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What — add picks changes to go into your next save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Think of a basket: add puts things in, commit pays for them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305292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307121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3007205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git add &lt;file&gt; · git add . picks everything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git add -p lets you pick part of a file, piece by piece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68144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69973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635727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When — a piece of work is ready to be saved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Pick only related changes, so each save does one job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30996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32825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264249"/>
            <a:ext cx="3944538" cy="619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Careful — git add . also picks files you didn't mean to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Here a file containing a password was picked by mistake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097962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116250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052242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Fix — git rm --cached &lt;file&gt;, then list it in .gitignore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Git un-picks it but leaves it on your disk; .gitignore stops it being picked again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git commit — save a snapshot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2377440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129844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switch -c feature/PAY-160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M app/src/probes.py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commit -am "feat: report the store in /ready"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[feature/PAY-160 b8c506c] feat: report the store in /ready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1 file changed, 1 insertion(+), 1 deletion(-)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What — commit saves the picked changes as a snapshot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Each snapshot gets a unique ID — here b8c506c — and your note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302103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303931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975311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git commit -m "type: what changed"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-a also picks every file Git already knows about (but not new files)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76118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77947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715463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When — a small piece of work is done and the tests pass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Many small saves are easier to review and to undo than one big one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66080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67909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615086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Write a note someone else will understand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"fix: raise settlement timeout to 45s" — not "changes" or "stuff"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40095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41924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355238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Good to know — a commit is only on YOUR computer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Nobody else has it until you git push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210" b="1" i="0">
                <a:solidFill>
                  <a:srgbClr val="123A5F"/>
                </a:solidFill>
                <a:latin typeface="Aptos Display"/>
              </a:rPr>
              <a:t>git fetch · git pull — get your team's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343204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27919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remote -v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origin    https://github.com/&lt;your-username&gt;/paytrack-api.git (fetch)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origin    https://github.com/&lt;your-username&gt;/paytrack-api.git (push)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fetch origin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From https://github.com/&lt;your-username&gt;/paytrack-api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  1ecd14b..4949c99  main       -&gt;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status -sb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FBFA8"/>
                </a:solidFill>
                <a:latin typeface="Consolas"/>
              </a:rPr>
              <a:t>## main...origin/main [behind 1]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log --oneline main..origin/main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4949c99 docs: add contributing guide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pull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Updating 1ecd14b..4949c99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Fast-forward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docs/CONTRIBUTING.md | 1 +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1 file changed, 1 insertion(+)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create mode 100644 docs/CONTRIBUTING.md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76334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What — pull downloads new work and adds it to your branch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fetch only downloads it, so you can look before you combine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301704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303533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971324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git pull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Or git fetch, then git log main..origin/main to see what is new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75320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77149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707489"/>
            <a:ext cx="3944538" cy="619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When — before you start work, and before you share yours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So you always build on the latest version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50532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52360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459601"/>
            <a:ext cx="3944538" cy="619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Good to know — "origin" is the name of the GitHub copy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git remote -v shows its address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25743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27572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211714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Careful — save or set aside your own edits first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Git won't pull over unsaved edits to the same files (see git stash)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git push — share your work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372922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308914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switch -c feature/PAY-170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commit -qm "feat: supported currency list"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push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fatal: The current branch feature/PAY-170 has no upstream branch.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To push the current branch and set the remote as upstream, use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   git push --set-upstream origin feature/PAY-170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push -u origin HEAD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To https://github.com/&lt;your-username&gt;/paytrack-api.git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* [new branch]      HEAD -&gt; feature/PAY-170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branch 'feature/PAY-170' set up to track 'origin/feature/PAY-170'.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status -sb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FBFA8"/>
                </a:solidFill>
                <a:latin typeface="Consolas"/>
              </a:rPr>
              <a:t>## feature/PAY-170...origin/feature/PAY-170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push origin --delete feature/PAY-170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To https://github.com/&lt;your-username&gt;/paytrack-api.git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- [deleted]         feature/PAY-170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460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What — push uploads your saved commits to GitHub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Only committed work goes — not edits you haven't saved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279378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281207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748064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How — the first time: git push -u origin HEAD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After that just git push. HEAD means "the branch I am on"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60968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62797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563965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When — as soon as you want a review, or a backup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Push early: work that only exists on a laptop is easy to lose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42558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44387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379866"/>
            <a:ext cx="3944538" cy="61981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If the push is rejected — someone pushed before you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Run git pull first, then push again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25743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27572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211714"/>
            <a:ext cx="3944538" cy="60386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90" b="1">
                <a:solidFill>
                  <a:srgbClr val="123A5F"/>
                </a:solidFill>
                <a:latin typeface="Aptos"/>
              </a:rPr>
              <a:t>Careful — never force-push to main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30" b="0">
                <a:solidFill>
                  <a:srgbClr val="5A6570"/>
                </a:solidFill>
                <a:latin typeface="Aptos"/>
              </a:rPr>
              <a:t>It overwrites other people's work. GitHub can block it (Lab 03)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git stash — put work aside for a moment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3904487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32644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M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stash push -m "wip: retry budget"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Saved working directory and index state On main: wip: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stash list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stash@{0}: On main: wip: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switch -c hotfix/PAY-160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Switched to a new branch 'hotfix/PAY-160'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8FBFA8"/>
                </a:solidFill>
                <a:latin typeface="Consolas"/>
              </a:rPr>
              <a:t># ...fix, commit and push the hotfix...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switch 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Switched to branch 'main'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Your branch is up to date with 'origin/main'.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stash pop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On branch 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Changes not staged for commit: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   modified:  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Dropped refs/stash@{0} (fe5910451df5361b311fb3370d6ef5808673fc5c)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6619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What — stash puts unsaved changes aside and clears your folder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Like sweeping your desk into a drawer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2899452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2917740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853732"/>
            <a:ext cx="3944538" cy="6619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How — git stash push -m "note" · git stash pop brings it back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git stash list shows what is in the drawer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67749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69578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631777"/>
            <a:ext cx="3944538" cy="64483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When — something urgent interrupts your work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For example: switch branch to fix a bug, then come back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43842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45671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392704"/>
            <a:ext cx="3944538" cy="6619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Careful — brand-new files stay behind unless you add -u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git stash push -u -m "note"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21646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23475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170749"/>
            <a:ext cx="3944538" cy="64483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Careful — don't leave things in the stash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It is easy to forget and never uploaded — commit to a branch instead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270" b="1" i="0">
                <a:solidFill>
                  <a:srgbClr val="123A5F"/>
                </a:solidFill>
                <a:latin typeface="Aptos Display"/>
              </a:rPr>
              <a:t>git restore — throw away changes to a file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27310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20909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M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M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restore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add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M 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restore --staged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 M app/src/app.py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70408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What — restore puts a file back as it was at the last save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Unsaved edits to that file are thrown away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2939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2958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894076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How — git restore &lt;file&gt;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git restore --staged &lt;file&gt; only un-picks it — your edits stay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7398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7581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694176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When — an experiment didn't work out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Or you picked (git add) the wrong file by mistake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5399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5582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494276"/>
            <a:ext cx="3944538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Careful — there is no undo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Edits that were never committed cannot be brought back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3400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3583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294376"/>
            <a:ext cx="3944538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Not sure? Use git stash instead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Then the changes are put aside, not lost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git revert — safely undo a change that is already shared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305885" cy="40873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305885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391485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104717" cy="36149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log --oneline -3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6862196 perf: cut settlement timeout to 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c479b91 feat: report the store in /ready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b3b21c8 docs: move README under docs/; ignore local env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8FBFA8"/>
                </a:solidFill>
                <a:latin typeface="Consolas"/>
              </a:rPr>
              <a:t># ...pushed an hour ago — and settlements start timing 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revert HEAD --no-edit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[main b4a1a93] Revert "perf: cut settlement timeout to 5s"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Date: Thu Sep 17 08:22:25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1 file changed, 1 insertion(+), 1 deletion(-)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log --oneline -3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b4a1a93 Revert "perf: cut settlement timeout to 5s"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6862196 perf: cut settlement timeout to 5s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c479b91 feat: report the store in /ready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1">
                <a:solidFill>
                  <a:srgbClr val="7CC8EE"/>
                </a:solidFill>
                <a:latin typeface="Consolas"/>
              </a:rPr>
              <a:t>$ </a:t>
            </a:r>
            <a:r>
              <a:rPr sz="1000" b="0">
                <a:solidFill>
                  <a:srgbClr val="E8EEF4"/>
                </a:solidFill>
                <a:latin typeface="Consolas"/>
              </a:rPr>
              <a:t>git show --stat HEAD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commit b4a1a930a94acfbe4b8aaa8f8ab61251c2e1f1b0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Author: Your Name &lt;you@example.com&gt;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Date:   Thu Sep 17 08:22:25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Revert "perf: cut settlement timeout to 5s"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   This reverts commit 68621963449596b4f6056a595649c7ca2a33690e.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E8EEF4"/>
                </a:solidFill>
                <a:latin typeface="Consolas"/>
              </a:rPr>
              <a:t> app/src/config.py | 2 +-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8573" y="1764792"/>
            <a:ext cx="429201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238573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8573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67757" y="2075688"/>
            <a:ext cx="3944538" cy="68302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What — revert makes a NEW commit that cancels an old one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The history keeps both: the mistake, and the fix</a:t>
            </a:r>
          </a:p>
        </p:txBody>
      </p:sp>
      <p:sp>
        <p:nvSpPr>
          <p:cNvPr id="19" name="Oval 18"/>
          <p:cNvSpPr/>
          <p:nvPr/>
        </p:nvSpPr>
        <p:spPr>
          <a:xfrm>
            <a:off x="7238573" y="29387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8573" y="295702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67757" y="2893015"/>
            <a:ext cx="3944538" cy="66531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How — git revert &lt;ID&gt;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git log --oneline shows the ID of the commit to cancel</a:t>
            </a:r>
          </a:p>
        </p:txBody>
      </p:sp>
      <p:sp>
        <p:nvSpPr>
          <p:cNvPr id="22" name="Oval 21"/>
          <p:cNvSpPr/>
          <p:nvPr/>
        </p:nvSpPr>
        <p:spPr>
          <a:xfrm>
            <a:off x="7238573" y="373835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8573" y="375664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7757" y="3692639"/>
            <a:ext cx="3944538" cy="842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When — the change is already pushed, or already in main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Everyone else simply pulls one more commit — nothing breaks for them</a:t>
            </a:r>
          </a:p>
        </p:txBody>
      </p:sp>
      <p:sp>
        <p:nvSpPr>
          <p:cNvPr id="25" name="Oval 24"/>
          <p:cNvSpPr/>
          <p:nvPr/>
        </p:nvSpPr>
        <p:spPr>
          <a:xfrm>
            <a:off x="7238573" y="4715012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38573" y="4733300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7757" y="4669292"/>
            <a:ext cx="3944538" cy="505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In a bank — the record stays complete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You can see what was undone, by whom, and why</a:t>
            </a:r>
          </a:p>
        </p:txBody>
      </p:sp>
      <p:sp>
        <p:nvSpPr>
          <p:cNvPr id="28" name="Oval 27"/>
          <p:cNvSpPr/>
          <p:nvPr/>
        </p:nvSpPr>
        <p:spPr>
          <a:xfrm>
            <a:off x="7238573" y="535531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8573" y="537359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7757" y="5309591"/>
            <a:ext cx="3944538" cy="505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Careful — later changes may depend on 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Run the tests after reverting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Day 2 words — a recap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3097072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Word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1472" y="1828800"/>
            <a:ext cx="744595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What it means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167128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185416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Repository · commit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11472" y="2185416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 project with its history · one saved snapshot, with a note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2474214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492502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Branch · 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11472" y="2492502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 separate line of work · the official version everyone builds 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2781300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" y="2799588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Stage (git add)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11472" y="2799588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Pick the changes that will go into your next commit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3088386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106674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Push · pull · fetch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11472" y="3106674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Upload your commits · download and combine · download only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395472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413760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Merge · merge conflict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11472" y="3413760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Combine two branches · the same line was changed on both — a person decides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8368" y="3702558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3720846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Rebase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11472" y="3720846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Move your own branch on top of the latest main (new commit IDs)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8368" y="4009644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4027932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Revert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011472" y="4027932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Undo a shared change with a new commit that cancels it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58368" y="4316730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9808" y="4335018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Pull request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011472" y="4335018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 request to merge, reviewed and tested before it is accepted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623816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4642104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Branch protection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011472" y="4642104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GitHub rules: no direct pushes, an approval required, tests must 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4930902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4949190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CODEOWNERS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011472" y="4949190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A file that decides who must review which files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5237988"/>
            <a:ext cx="10872216" cy="30708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256276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Continuous Integration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011472" y="5256276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Small changes added daily, each one tested automatically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5545074"/>
            <a:ext cx="10872216" cy="30708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49808" y="5563362"/>
            <a:ext cx="3097072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1" i="0">
                <a:solidFill>
                  <a:srgbClr val="123A5F"/>
                </a:solidFill>
                <a:latin typeface="Aptos"/>
              </a:rPr>
              <a:t>Workflow · job · step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011472" y="5563362"/>
            <a:ext cx="7445959" cy="27051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The checks file · a group of steps on one computer · one command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More Git Commands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Powerful — and some of them can lose work, so read the warnings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reset · git reflog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cherry-pick · git tag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git bisect · git clean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git reset — move the branch back (soft · mixed · hard)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40873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35387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log --oneline -2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c26a67d chore: note the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8159e94 feat: default region eu-west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reset --soft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M 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commit -qm "chore: note the retry budget"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reset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Unstaged changes after reset: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M   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 M app/src/app.py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commit -qam "chore: note the retry budget"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reset --hard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HEAD is now at 8159e94 feat: default region eu-west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1">
                <a:solidFill>
                  <a:srgbClr val="7CC8EE"/>
                </a:solidFill>
                <a:latin typeface="Consolas"/>
              </a:rPr>
              <a:t>$ </a:t>
            </a:r>
            <a:r>
              <a:rPr sz="1250" b="0">
                <a:solidFill>
                  <a:srgbClr val="E8EEF4"/>
                </a:solidFill>
                <a:latin typeface="Consolas"/>
              </a:rPr>
              <a:t>git log --oneline -1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50" b="0">
                <a:solidFill>
                  <a:srgbClr val="E8EEF4"/>
                </a:solidFill>
                <a:latin typeface="Consolas"/>
              </a:rPr>
              <a:t>8159e94 feat: default region eu-west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78967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Means: reset moves the branch pointer to another commit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Later commits fall off the branch; the mode decides what happens to their changes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02428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04257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78566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--soft keeps the changes STAGED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Redo the last commit: split it, or change what goes into it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76184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78012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716121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--mixed (the default) keeps them UNSTAGED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Start the staging again, for example with git add -p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4993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5176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453676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--hard DISCARDS the commit AND the edits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Committed work is recoverable through the reflog; uncommitted edits are not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3695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25523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191231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Avoid: reset on anything already pushed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It rewrites shared history — use git revert instead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git reflog — find a commit you thought you had lost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3253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268528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reset --hard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HEAD is now at 8159e94 feat: default region eu-west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8FBFA8"/>
                </a:solidFill>
                <a:latin typeface="Consolas"/>
              </a:rPr>
              <a:t># ..."wait — I needed that commit"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reflog -4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8159e94 HEAD@{0}: reset: moving to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c26a67d HEAD@{1}: commit: chore: note the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8159e94 HEAD@{2}: reset: moving to HEAD~1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c26a67d HEAD@{3}: commit: chore: note the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reset --hard HEAD@{1}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HEAD is now at c26a67d chore: note the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log --oneline -2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c26a67d chore: note the retry budget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8159e94 feat: default region eu-west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842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Means: the reflog is a diary of every place HEAD has been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Commits, resets, switches and rebases — including commits no branch points at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308706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10535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3041343"/>
            <a:ext cx="3727094" cy="842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How: git reflog, then reset or switch to HEAD@{n}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Or keep it on a new branch: git switch -c rescue HEAD@{1}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405271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407100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4006998"/>
            <a:ext cx="3727094" cy="842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Use when: a reset, amend, rebase or branch -D went wrong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Anything that was once COMMITTED can be found again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501837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503666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972653"/>
            <a:ext cx="3727094" cy="82464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Watch out: it is local, and it expires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Only your clone has it, entries age out after about 90 days, and uncommitted edits were never in 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git cherry-pick — copy one commit to another branch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5539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291388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log --oneline -1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1ecd14b fix: default currency to EUR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switch release/2026.10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Switched to branch 'release/2026.10'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Your branch is up to date with 'origin/release/2026.10'.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cherry-pick -x 1ecd14b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[release/2026.10 3d690ff] fix: default currency to EUR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Date: Thu Sep 17 08:22:26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1 file changed, 1 insertion(+)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log --oneline -2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3d690ff fix: default currency to EUR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c479b91 feat: report the store in /ready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1">
                <a:solidFill>
                  <a:srgbClr val="7CC8EE"/>
                </a:solidFill>
                <a:latin typeface="Consolas"/>
              </a:rPr>
              <a:t>$ </a:t>
            </a:r>
            <a:r>
              <a:rPr sz="1150" b="0">
                <a:solidFill>
                  <a:srgbClr val="E8EEF4"/>
                </a:solidFill>
                <a:latin typeface="Consolas"/>
              </a:rPr>
              <a:t>git log -1 --format=%B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fix: default currency to EUR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50" b="0">
                <a:solidFill>
                  <a:srgbClr val="E8EEF4"/>
                </a:solidFill>
                <a:latin typeface="Consolas"/>
              </a:rPr>
              <a:t>(cherry picked from commit 1ecd14bd10ed4f148fec87bd9e69e0a7fe973d8d)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7106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Means: cherry-pick copies ONE commit onto the current branch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Same change, new SHA: 1ecd14b on main becomes 3d690ff on the release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94890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296719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03183"/>
            <a:ext cx="3727094" cy="7106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How: switch to the target branch, then cherry-pick &lt;sha&gt;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-x records where it came from — the audit trail for a back-port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77639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79468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730678"/>
            <a:ext cx="3727094" cy="57768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Use when: a fix must reach a release branch without the rest of main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The classic hotfix back-port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47090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48919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425183"/>
            <a:ext cx="3727094" cy="7106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Avoid: moving whole features between branches this way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You get duplicate commits with different SHAs — merge instead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9839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31668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252679"/>
            <a:ext cx="3727094" cy="5629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Watch out: it can conflict like a merge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Fix the file, git add, git cherry-pick --continue — or --abort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440" b="1" i="0">
                <a:solidFill>
                  <a:srgbClr val="123A5F"/>
                </a:solidFill>
                <a:latin typeface="Aptos Display"/>
              </a:rPr>
              <a:t>git tag · git describe — name a release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40873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3630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tag -a v1.1.0 -m "PayTrack API 1.1.0"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tag -n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v1.1.0          PayTrack API 1.1.0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push origin v1.1.0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To https://github.com/&lt;your-username&gt;/paytrack-api.git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* [new tag]         v1.1.0 -&gt; v1.1.0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8FBFA8"/>
                </a:solidFill>
                <a:latin typeface="Consolas"/>
              </a:rPr>
              <a:t># ...one more commit lands on main...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describe --tags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v1.1.0-1-g32fc9b7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show v1.1.0 --no-patch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tag v1.1.0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Tagger: Your Name &lt;you@example.com&gt;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Date:   Thu Sep 17 08:22:26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PayTrack API 1.1.0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commit 4949c99cf69f1aa1c760ce18063c92880f2f1581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Author: Your Name &lt;you@example.com&gt;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Date:   Thu Sep 17 08:22:26 2026 +0200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    docs: add contributing guide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5833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Means: a tag is a permanent name for one commit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Unlike a branch it never moves — v1.1.0 always means exactly this code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86828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288657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822569"/>
            <a:ext cx="3727094" cy="73700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How: tag -a &lt;name&gt; -m "message" — annotated: tagger, date, message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A lightweight tag (no -a) is a bare pointer with no audit data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76879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78707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723071"/>
            <a:ext cx="3727094" cy="44512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Tags are NOT pushed with your commits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git push origin v1.1.0 — or git push origin --tags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37741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395703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331695"/>
            <a:ext cx="3727094" cy="73700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describe --tags names any commit from its nearest tag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v1.1.0-1-g32fc9b7 = one commit after v1.1.0, at commit 32fc9b7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779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2962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232196"/>
            <a:ext cx="3727094" cy="5833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Avoid: moving or re-using a published tag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Someone has already built and deployed from it — cut v1.1.1 instead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270" b="1" i="0">
                <a:solidFill>
                  <a:srgbClr val="123A5F"/>
                </a:solidFill>
                <a:latin typeface="Aptos Display"/>
              </a:rPr>
              <a:t>git bisect — find the commit that broke it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40873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3470147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bisect start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status: waiting for both good and bad commits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bisect bad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status: waiting for good commit(s), bad commit known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bisect good v1.0.0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Bisecting: 3 revisions left to test after this (roughly 2 steps)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[7bfd8d959e5f653ae56caa21fabb5f72a8b3af37] chore: bump flask to 3.0.3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bisect run python3 test_fee.py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running 'python3' 'test_fee.py'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ok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Bisecting: 1 revision left to test after this (roughly 1 step)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[ca37b9aca84d73133b3e4630d9f7c508762a2969] feat: fee for GBP cards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running 'python3' 'test_fee.py'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AssertionError: 46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Bisecting: 0 revisions left to test after this (roughly 0 steps)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[4f79a0c204e4d74a1ed2417bc369756c88713493] refactor: simplify fee rounding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running 'python3' 'test_fee.py'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AssertionError: 46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4f79a0c204e4d74a1ed2417bc369756c88713493 is the first bad commit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bisect found first bad commit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bisect reset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73700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Means: bisect binary-searches history for the breaking commit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Seven suspect commits took three tests; a thousand would take about ten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98350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00179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37784"/>
            <a:ext cx="3727094" cy="73700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How: start · bad (it is broken now) · good &lt;last good version&gt;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Git checks out a commit in the middle; you say good or bad; repeat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84560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86388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799880"/>
            <a:ext cx="3727094" cy="445129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bisect run &lt;test&gt; does the answering for you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Exit 0 = good · 1–127 = bad · 125 = skip this commit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41582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43410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370100"/>
            <a:ext cx="3727094" cy="73700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Use when: "it worked in 1.0.0" and nobody knows what changed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Here a harmless-looking refactor changed how the card fee is rounded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779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2962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232196"/>
            <a:ext cx="3727094" cy="58338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50" b="1">
                <a:solidFill>
                  <a:srgbClr val="123A5F"/>
                </a:solidFill>
                <a:latin typeface="Aptos"/>
              </a:rPr>
              <a:t>Always finish with git bisect reset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90" b="0">
                <a:solidFill>
                  <a:srgbClr val="5A6570"/>
                </a:solidFill>
                <a:latin typeface="Aptos"/>
              </a:rPr>
              <a:t>Otherwise you are left on a detached HEAD somewhere in the past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160" b="1" i="0">
                <a:solidFill>
                  <a:srgbClr val="123A5F"/>
                </a:solidFill>
                <a:latin typeface="Aptos Display"/>
              </a:rPr>
              <a:t>git clean — delete files Git is not tracking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12724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248716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?? build/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?? scratch.txt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clean -n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Would remove scratch.txt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clean -nd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Would remove build/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Would remove scratch.txt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clean -fd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Removing build/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0">
                <a:solidFill>
                  <a:srgbClr val="E8EEF4"/>
                </a:solidFill>
                <a:latin typeface="Consolas"/>
              </a:rPr>
              <a:t>Removing scratch.txt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300" b="1">
                <a:solidFill>
                  <a:srgbClr val="7CC8EE"/>
                </a:solidFill>
                <a:latin typeface="Consolas"/>
              </a:rPr>
              <a:t>$ </a:t>
            </a:r>
            <a:r>
              <a:rPr sz="1300" b="0">
                <a:solidFill>
                  <a:srgbClr val="E8EEF4"/>
                </a:solidFill>
                <a:latin typeface="Consolas"/>
              </a:rPr>
              <a:t>git status -s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7106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Means: clean deletes untracked files from the disk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The opposite of git add — they are removed, not merely ignored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98215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300043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36431"/>
            <a:ext cx="3727094" cy="57768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How: ALWAYS -n first (dry run), then -f to really delete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-d includes directories · -x also deletes ignored files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709903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728191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664183"/>
            <a:ext cx="3727094" cy="57768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Use when: build output or scratch files clutter the tree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Getting back to exactly what is in the repository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4376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4559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391936"/>
            <a:ext cx="3727094" cy="71067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Avoid: git clean -fdx in a project you are working in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-x also deletes .venv and .env — ignored does not mean unimportant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9839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31668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252679"/>
            <a:ext cx="3727094" cy="56290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010" b="1">
                <a:solidFill>
                  <a:srgbClr val="123A5F"/>
                </a:solidFill>
                <a:latin typeface="Aptos"/>
              </a:rPr>
              <a:t>Watch out: there is no undo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850" b="0">
                <a:solidFill>
                  <a:srgbClr val="5A6570"/>
                </a:solidFill>
                <a:latin typeface="Aptos"/>
              </a:rPr>
              <a:t>Untracked files were never in Git, so even the reflog cannot bring them back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F1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74320"/>
          </a:xfrm>
          <a:prstGeom prst="rect">
            <a:avLst/>
          </a:prstGeom>
          <a:solidFill>
            <a:srgbClr val="29AB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1B75B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pic>
        <p:nvPicPr>
          <p:cNvPr id="5" name="Picture 4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566928"/>
            <a:ext cx="2843784" cy="8961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331720"/>
            <a:ext cx="1645920" cy="137160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6800" b="1" i="0">
                <a:solidFill>
                  <a:srgbClr val="B9CBDA"/>
                </a:solidFill>
                <a:latin typeface="Aptos Display"/>
              </a:rPr>
              <a:t>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2395728"/>
            <a:ext cx="822960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3200" b="1" i="0">
                <a:solidFill>
                  <a:srgbClr val="123A5F"/>
                </a:solidFill>
                <a:latin typeface="Aptos Display"/>
              </a:rPr>
              <a:t>More on Branches and Rebasing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67712" y="3273552"/>
            <a:ext cx="8229600" cy="38404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5A6570"/>
                </a:solidFill>
                <a:latin typeface="Aptos"/>
              </a:rPr>
              <a:t>The detail behind today's simple rules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267712" y="3927348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23744" y="3817620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Choosing a branching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67712" y="4256532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23744" y="4146804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Merging in detail · the golden rule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67712" y="4585716"/>
            <a:ext cx="109728" cy="109728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4475988"/>
            <a:ext cx="804672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F2933"/>
                </a:solidFill>
                <a:latin typeface="Aptos"/>
              </a:rPr>
              <a:t>Rebase conflicts, tidying commits, undoing a rebase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Which approach fits which team?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451046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Question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4860" y="1828800"/>
            <a:ext cx="190112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GitFlow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0581" y="1828800"/>
            <a:ext cx="190112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GitHub 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56302" y="1828800"/>
            <a:ext cx="1901129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Trunk-based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167128"/>
            <a:ext cx="10872216" cy="736092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4510460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Do you look after several versions at once (say 2.0 and 3.0)?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24860" y="2185416"/>
            <a:ext cx="1901129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3E7D32"/>
                </a:solidFill>
                <a:latin typeface="Aptos"/>
              </a:rPr>
              <a:t>✔ Suits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0581" y="2185416"/>
            <a:ext cx="1901129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B3261E"/>
                </a:solidFill>
                <a:latin typeface="Aptos"/>
              </a:rPr>
              <a:t>✗ Not really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6302" y="2185416"/>
            <a:ext cx="1901129" cy="699515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B3261E"/>
                </a:solidFill>
                <a:latin typeface="Aptos"/>
              </a:rPr>
              <a:t>✗ Not really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903220"/>
            <a:ext cx="10872216" cy="52806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921508"/>
            <a:ext cx="4510460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Do you release small changes often?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4860" y="2921508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B3261E"/>
                </a:solidFill>
                <a:latin typeface="Aptos"/>
              </a:rPr>
              <a:t>✗ Slow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0581" y="2921508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3E7D32"/>
                </a:solidFill>
                <a:latin typeface="Aptos"/>
              </a:rPr>
              <a:t>✔ Yes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56302" y="2921508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3E7D32"/>
                </a:solidFill>
                <a:latin typeface="Aptos"/>
              </a:rPr>
              <a:t>✔ Yes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431286"/>
            <a:ext cx="10872216" cy="52806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449574"/>
            <a:ext cx="4510460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Do you have good automatic tests?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4860" y="3449574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Helpful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0581" y="3449574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Needed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6302" y="3449574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Essential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959352"/>
            <a:ext cx="10872216" cy="528066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977639"/>
            <a:ext cx="4510460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How long does a branch usually live?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4860" y="3977639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Weeks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0581" y="3977639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Hours to days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6302" y="3977639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Under a day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4487418"/>
            <a:ext cx="10872216" cy="528066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505705"/>
            <a:ext cx="4510460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How hard is combining everyone's work?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24860" y="4505705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Often painful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0581" y="4505705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Usually easy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56302" y="4505705"/>
            <a:ext cx="1901129" cy="49149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Very easy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58368" y="5522975"/>
            <a:ext cx="10872216" cy="40233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" y="5586983"/>
            <a:ext cx="176296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THIS COURSE USES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58491" y="5577839"/>
            <a:ext cx="8807500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GitHub Flow: one short-lived branch per change, reviewed in a pull request, then merged into main.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Four strategies in detail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38404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1892313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06713" y="1828800"/>
            <a:ext cx="3067688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Branches and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38994" y="1828800"/>
            <a:ext cx="2871792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Use when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75378" y="1828800"/>
            <a:ext cx="2382053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1" i="0">
                <a:solidFill>
                  <a:srgbClr val="FFFFFF"/>
                </a:solidFill>
                <a:latin typeface="Aptos"/>
              </a:rPr>
              <a:t>The 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167128"/>
            <a:ext cx="10872216" cy="75209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85416"/>
            <a:ext cx="189231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GitFlow (Driessen, 2010)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06713" y="2185416"/>
            <a:ext cx="3067688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main, develop, feature/*, release/*, hotfix/*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38994" y="2185416"/>
            <a:ext cx="2871792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Versioned releases; several versions supported at once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5378" y="2185416"/>
            <a:ext cx="238205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Long-lived branches, merge hell, slowest feedback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2919222"/>
            <a:ext cx="10872216" cy="752094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2937510"/>
            <a:ext cx="189231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GitHub 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06713" y="2937510"/>
            <a:ext cx="3067688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main + short-lived branches; PR, CI green, review, deploy on merge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8994" y="2937510"/>
            <a:ext cx="2871792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Web services, one production version, continuous delivery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5378" y="2937510"/>
            <a:ext cx="238205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Needs genuinely good automated tests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671316"/>
            <a:ext cx="10872216" cy="752094"/>
          </a:xfrm>
          <a:prstGeom prst="rect">
            <a:avLst/>
          </a:prstGeom>
          <a:solidFill>
            <a:srgbClr val="FFFFFF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3689604"/>
            <a:ext cx="189231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GitLab 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06713" y="3689604"/>
            <a:ext cx="3067688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GitHub Flow + environment branches: main → staging → production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38994" y="3689604"/>
            <a:ext cx="2871792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Regulated teams that want CD AND a promotion trail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75378" y="3689604"/>
            <a:ext cx="238205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Environment branches can drift if misused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4423410"/>
            <a:ext cx="10872216" cy="752094"/>
          </a:xfrm>
          <a:prstGeom prst="rect">
            <a:avLst/>
          </a:prstGeom>
          <a:solidFill>
            <a:srgbClr val="F3F6F8"/>
          </a:solidFill>
          <a:ln w="6350">
            <a:solidFill>
              <a:srgbClr val="D8DE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441698"/>
            <a:ext cx="189231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1" i="0">
                <a:solidFill>
                  <a:srgbClr val="123A5F"/>
                </a:solidFill>
                <a:latin typeface="Aptos"/>
              </a:rPr>
              <a:t>Trunk-based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06713" y="4441698"/>
            <a:ext cx="3067688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Commit to trunk daily; branches under 24 h; flags hide unfinished 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38994" y="4441698"/>
            <a:ext cx="2871792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The highest delivery performance, with the automation to match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75378" y="4441698"/>
            <a:ext cx="2382053" cy="71551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400" b="0" i="0">
                <a:solidFill>
                  <a:srgbClr val="123A5F"/>
                </a:solidFill>
                <a:latin typeface="Aptos"/>
              </a:rPr>
              <a:t>Demands strong CI, flags and discipline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5340096"/>
            <a:ext cx="10872216" cy="585216"/>
          </a:xfrm>
          <a:prstGeom prst="rect">
            <a:avLst/>
          </a:prstGeom>
          <a:solidFill>
            <a:srgbClr val="FDF1E2"/>
          </a:solidFill>
          <a:ln w="9525">
            <a:solidFill>
              <a:srgbClr val="D2760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" y="5404104"/>
            <a:ext cx="1673352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D2760D"/>
                </a:solidFill>
                <a:latin typeface="Aptos"/>
              </a:rPr>
              <a:t>THE COURSE USES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68879" y="5394959"/>
            <a:ext cx="8897112" cy="47548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50" b="0" i="0">
                <a:solidFill>
                  <a:srgbClr val="123A5F"/>
                </a:solidFill>
                <a:latin typeface="Aptos"/>
              </a:rPr>
              <a:t>GitHub Flow — because it is the one that fits CI/CD. Driessen himself later added a note: if you deliver continuously to a web app, use something simpler than GitFlow.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COMPARE  ·  3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Two teams, two habits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960120" cy="310896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4228"/>
            <a:ext cx="9601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COMPARE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1815084"/>
            <a:ext cx="96834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17A69"/>
                </a:solidFill>
                <a:latin typeface="Aptos"/>
              </a:rPr>
              <a:t>Two minutes in pairs. Be ready to defend your choice.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58568"/>
            <a:ext cx="10872216" cy="987552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58568"/>
            <a:ext cx="68580" cy="987552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313432"/>
            <a:ext cx="10396728" cy="8778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123A5F"/>
                </a:solidFill>
                <a:latin typeface="Aptos"/>
              </a:rPr>
              <a:t>Team A adds its work to main twice a day. Team B works separately for three weeks, then combines everything at once. Same people, same product. Which team has the harder time — and when does the trouble start?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" y="3502151"/>
            <a:ext cx="256032" cy="256032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520439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474720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Two minutes with your neighbour: when exactly does Team B feel the pain?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4142231"/>
            <a:ext cx="256032" cy="256032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160520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14800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What would Team B need before it could safely work like Team 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59552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1">
                <a:solidFill>
                  <a:srgbClr val="117A69"/>
                </a:solidFill>
                <a:latin typeface="Aptos"/>
              </a:rPr>
              <a:t>Answers on the next slide — commit to yours first.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COMPARE  · 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Two teams, two habits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9494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4864" cy="694944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415016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5A6570"/>
                </a:solidFill>
                <a:latin typeface="Aptos"/>
              </a:rPr>
              <a:t>Team A adds its work to main twice a day. Team B works separately for three weeks, then combines everything at once. Same people, same product. Which team has the harder time — and when does the trouble start?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52344"/>
            <a:ext cx="10872216" cy="3118104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52344"/>
            <a:ext cx="73152" cy="3118104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916936"/>
            <a:ext cx="1032357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29ABE2"/>
                </a:solidFill>
                <a:latin typeface="Aptos"/>
              </a:rPr>
              <a:t>THE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282696"/>
            <a:ext cx="9774936" cy="24048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2100" b="0" i="0">
                <a:solidFill>
                  <a:srgbClr val="FFFFFF"/>
                </a:solidFill>
                <a:latin typeface="Aptos"/>
              </a:rPr>
              <a:t>Team B feels it on the day it combines three weeks of work: lots of conflicts at once, usually just before a release. To work like Team A it needs good automatic tests and a way to hide unfinished features. Small, frequent changes are easier to combine than big, rare ones.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Merge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786384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786384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56231"/>
            <a:ext cx="10369296" cy="6400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123A5F"/>
                </a:solidFill>
                <a:latin typeface="Aptos"/>
              </a:rPr>
              <a:t>Bringing the changes from one branch into another — usually your finished branch into main — so both sets of work end up together.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880360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770632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Git does most merges on its own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3090672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If people changed different lines or files, there is nothing to decide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678936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569208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On GitHub you merge with a button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889248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At the end of a reviewed pull request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477512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367784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If two people changed the same line, Git stops and asks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687824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That is a merge conflict — you will resolve one today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276088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166359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This course uses "squash and merge"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486400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All your branch's saves go into main as ONE tidy commit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070" b="1" i="0">
                <a:solidFill>
                  <a:srgbClr val="123A5F"/>
                </a:solidFill>
                <a:latin typeface="Aptos Display"/>
              </a:rPr>
              <a:t>Merge or rebase — the same branch, two results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088440" cy="363016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088440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17404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GIT LOG --ONELINE --GRAPH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5887272" cy="299008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FBFA8"/>
                </a:solidFill>
                <a:latin typeface="Consolas"/>
              </a:rPr>
              <a:t># before: the branch and main have diverged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f1c7cab (HEAD -&gt; feature/PAY-142, origin/feature/PAY-142) docs: explain readiness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f7c4490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| * 6fcdcba (origin/main, origin/HEAD) fix: raise settlement timeout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|/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039ad72 (main) feat: add PayTrack API service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FBFA8"/>
                </a:solidFill>
                <a:latin typeface="Consolas"/>
              </a:rPr>
              <a:t># option 1:  git merge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  a15f32e Merge remote-tracking branch 'origin/main' into feature/PAY-142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|\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| * 6fcdcba fix: raise settlement timeout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| f1c7cab docs: explain readiness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| f7c4490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|/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039ad72 feat: add PayTrack API service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8FBFA8"/>
                </a:solidFill>
                <a:latin typeface="Consolas"/>
              </a:rPr>
              <a:t># option 2:  git rebase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a39d691 docs: explain readiness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0b25573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6fcdcba fix: raise settlement timeout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E8EEF4"/>
                </a:solidFill>
                <a:latin typeface="Consolas"/>
              </a:rPr>
              <a:t>* 039ad72 feat: add PayTrack API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21128" y="1764792"/>
            <a:ext cx="4509455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021128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21128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50312" y="2075688"/>
            <a:ext cx="4161983" cy="868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Before — main has a commit your branch doesn't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 colleague fixed the settlement timeout while you worked</a:t>
            </a:r>
          </a:p>
        </p:txBody>
      </p:sp>
      <p:sp>
        <p:nvSpPr>
          <p:cNvPr id="19" name="Oval 18"/>
          <p:cNvSpPr/>
          <p:nvPr/>
        </p:nvSpPr>
        <p:spPr>
          <a:xfrm>
            <a:off x="7021128" y="331012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21128" y="332841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50312" y="3264408"/>
            <a:ext cx="4161983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Option 1, merge — adds a joining commit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a15f32e ties the two lines together; your saves keep their IDs</a:t>
            </a:r>
          </a:p>
        </p:txBody>
      </p:sp>
      <p:sp>
        <p:nvSpPr>
          <p:cNvPr id="22" name="Oval 21"/>
          <p:cNvSpPr/>
          <p:nvPr/>
        </p:nvSpPr>
        <p:spPr>
          <a:xfrm>
            <a:off x="7021128" y="431596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21128" y="433425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50312" y="4270248"/>
            <a:ext cx="4161983" cy="6858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Option 2, rebase — moves your saves on top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Same changes, new IDs (0b25573, a39d691) — one straight line</a:t>
            </a:r>
          </a:p>
        </p:txBody>
      </p:sp>
      <p:sp>
        <p:nvSpPr>
          <p:cNvPr id="25" name="Oval 24"/>
          <p:cNvSpPr/>
          <p:nvPr/>
        </p:nvSpPr>
        <p:spPr>
          <a:xfrm>
            <a:off x="7021128" y="532180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1128" y="53400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50312" y="5276088"/>
            <a:ext cx="4161983" cy="521208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50" b="1">
                <a:solidFill>
                  <a:srgbClr val="123A5F"/>
                </a:solidFill>
                <a:latin typeface="Aptos"/>
              </a:rPr>
              <a:t>The files end up exactly the same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90" b="0">
                <a:solidFill>
                  <a:srgbClr val="5A6570"/>
                </a:solidFill>
                <a:latin typeface="Aptos"/>
              </a:rPr>
              <a:t>Only the shape of the history is different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The golden rule of rebasing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566928"/>
          </a:xfrm>
          <a:prstGeom prst="rect">
            <a:avLst/>
          </a:prstGeom>
          <a:solidFill>
            <a:srgbClr val="E6F4F1"/>
          </a:solidFill>
          <a:ln w="12700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8580" cy="566928"/>
          </a:xfrm>
          <a:prstGeom prst="rect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1856231"/>
            <a:ext cx="10369296" cy="420623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0" i="0">
                <a:solidFill>
                  <a:srgbClr val="123A5F"/>
                </a:solidFill>
                <a:latin typeface="Aptos"/>
              </a:rPr>
              <a:t>Never rebase commits that other people already have.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" y="2660904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551176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Why — rebase replaces commits with new copies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871216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Anyone who downloaded the old ones now has a different history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6" y="3532632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" y="3422904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What they see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0976" y="3742944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Duplicate commits and confusing conflicts the next time they pull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6656" y="4404360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4294632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Safe — your own branch that nobody else uses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614672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Even if you have already pushed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5276088"/>
            <a:ext cx="118872" cy="118872"/>
          </a:xfrm>
          <a:prstGeom prst="rect">
            <a:avLst/>
          </a:prstGeom>
          <a:solidFill>
            <a:srgbClr val="D27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" y="5166359"/>
            <a:ext cx="1056132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1" i="0">
                <a:solidFill>
                  <a:srgbClr val="123A5F"/>
                </a:solidFill>
                <a:latin typeface="Aptos"/>
              </a:rPr>
              <a:t>Protection — GitHub can block force-pushes to main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5486400"/>
            <a:ext cx="10561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30" b="0" i="0">
                <a:solidFill>
                  <a:srgbClr val="5A6570"/>
                </a:solidFill>
                <a:latin typeface="Aptos"/>
              </a:rPr>
              <a:t>You switch this on in Lab 03, so the mistake becomes impossible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800" b="1" i="0">
                <a:solidFill>
                  <a:srgbClr val="123A5F"/>
                </a:solidFill>
                <a:latin typeface="Aptos Display"/>
              </a:rPr>
              <a:t>When a rebase stops for a conflict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790187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315010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rebase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Rebasing (1/4)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CONFLICT (content): Merge conflict in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error: could not apply d92986f... feat: raise settlement timeout to 60s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status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interactive rebase in progress; onto 02cf66b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(fix conflicts and then run "git rebase --continue")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(use "git rebase --skip" to skip this patch)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  (use "git rebase --abort" to check out the original branch)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cat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&lt;&lt;&lt;&lt;&lt;&lt;&lt; HEAD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TIMEOUT = 45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=======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TIMEOUT = 60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&gt;&gt;&gt;&gt;&gt;&gt;&gt; d92986f (feat: raise settlement timeout to 60s)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nano app/src/config.py     </a:t>
            </a:r>
            <a:r>
              <a:rPr sz="1050" b="0">
                <a:solidFill>
                  <a:srgbClr val="8FBFA8"/>
                </a:solidFill>
                <a:latin typeface="Consolas"/>
              </a:rPr>
              <a:t>  # make it correct, delete the markers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add app/src/config.py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rebase --continue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Successfully rebased and updated refs/heads/feature/PAY-150-raise-timeout.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64483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Conflicts arrive one commit at a time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"Rebasing (1/4)": you may resolve the same area more than once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972202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2990490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926482"/>
            <a:ext cx="3727094" cy="64483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HEAD is the OTHER side during a rebase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HEAD = main plus what has been replayed so far; the lower half is YOUR commit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8229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8412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777276"/>
            <a:ext cx="3727094" cy="490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git add marks it resolved, then --continue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Do not run git commit in the middle of a rebase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519732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538020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474012"/>
            <a:ext cx="3727094" cy="490776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--skip drops this one commit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Only when main already contains the same change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16469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234757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170749"/>
            <a:ext cx="3727094" cy="644834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70" b="1">
                <a:solidFill>
                  <a:srgbClr val="123A5F"/>
                </a:solidFill>
                <a:latin typeface="Aptos"/>
              </a:rPr>
              <a:t>--abort puts everything back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10" b="0">
                <a:solidFill>
                  <a:srgbClr val="5A6570"/>
                </a:solidFill>
                <a:latin typeface="Aptos"/>
              </a:rPr>
              <a:t>The branch returns exactly to where it was before the rebase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1900" b="1" i="0">
                <a:solidFill>
                  <a:srgbClr val="123A5F"/>
                </a:solidFill>
                <a:latin typeface="Aptos Display"/>
              </a:rPr>
              <a:t>Interactive rebase — tidy the branch before review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523329" cy="39502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523329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608929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322161" cy="3310128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log --oneline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eb5906b fix typo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0f428b6 wip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15d34da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080168c feat: raise settlement timeout to 60s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rebase -i 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FBFA8"/>
                </a:solidFill>
                <a:latin typeface="Consolas"/>
              </a:rPr>
              <a:t># the editor opens with the plan, OLDEST first: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080168c feat: raise settlement timeout to 60s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15d34da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0f428b6 wip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eb5906b fix typo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8FBFA8"/>
                </a:solidFill>
                <a:latin typeface="Consolas"/>
              </a:rPr>
              <a:t># you edit it, save and close: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 080168c feat: raise settlement timeout to 60s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fixup 0f428b6 wip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fixup eb5906b fix typo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pick  15d34da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Successfully rebased and updated refs/heads/feature/PAY-150-raise-timeout.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1">
                <a:solidFill>
                  <a:srgbClr val="7CC8EE"/>
                </a:solidFill>
                <a:latin typeface="Consolas"/>
              </a:rPr>
              <a:t>$ </a:t>
            </a:r>
            <a:r>
              <a:rPr sz="1050" b="0">
                <a:solidFill>
                  <a:srgbClr val="E8EEF4"/>
                </a:solidFill>
                <a:latin typeface="Consolas"/>
              </a:rPr>
              <a:t>git log --oneline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3dafa34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50" b="0">
                <a:solidFill>
                  <a:srgbClr val="E8EEF4"/>
                </a:solidFill>
                <a:latin typeface="Consolas"/>
              </a:rPr>
              <a:t>51d5488 feat: raise settlement timeout to 60s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56017" y="1764792"/>
            <a:ext cx="407456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456017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6017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85201" y="2075688"/>
            <a:ext cx="3727094" cy="475561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-i turns the replay into a plan you can edit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The list is oldest-first — the reverse of git log</a:t>
            </a:r>
          </a:p>
        </p:txBody>
      </p:sp>
      <p:sp>
        <p:nvSpPr>
          <p:cNvPr id="19" name="Oval 18"/>
          <p:cNvSpPr/>
          <p:nvPr/>
        </p:nvSpPr>
        <p:spPr>
          <a:xfrm>
            <a:off x="7456017" y="2788700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6017" y="2806988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5201" y="2742980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pick keeps · reword renames · drop deletes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squash melds into the line above and combines the messages</a:t>
            </a:r>
          </a:p>
        </p:txBody>
      </p:sp>
      <p:sp>
        <p:nvSpPr>
          <p:cNvPr id="22" name="Oval 21"/>
          <p:cNvSpPr/>
          <p:nvPr/>
        </p:nvSpPr>
        <p:spPr>
          <a:xfrm>
            <a:off x="7456017" y="3604784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6017" y="3623072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85201" y="3559064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fixup melds in and discards the message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Here "wip" and "fix typo" join the commit they belong to</a:t>
            </a:r>
          </a:p>
        </p:txBody>
      </p:sp>
      <p:sp>
        <p:nvSpPr>
          <p:cNvPr id="25" name="Oval 24"/>
          <p:cNvSpPr/>
          <p:nvPr/>
        </p:nvSpPr>
        <p:spPr>
          <a:xfrm>
            <a:off x="7456017" y="4420867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6017" y="4439155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85201" y="4375147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Move a line to reorder commits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Four noisy commits become two that each tell one story</a:t>
            </a:r>
          </a:p>
        </p:txBody>
      </p:sp>
      <p:sp>
        <p:nvSpPr>
          <p:cNvPr id="28" name="Oval 27"/>
          <p:cNvSpPr/>
          <p:nvPr/>
        </p:nvSpPr>
        <p:spPr>
          <a:xfrm>
            <a:off x="7456017" y="523695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6017" y="525523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5201" y="5191231"/>
            <a:ext cx="3727094" cy="62435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130" b="1">
                <a:solidFill>
                  <a:srgbClr val="123A5F"/>
                </a:solidFill>
                <a:latin typeface="Aptos"/>
              </a:rPr>
              <a:t>Shortcut: git commit --fixup &lt;sha&gt;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970" b="0">
                <a:solidFill>
                  <a:srgbClr val="5A6570"/>
                </a:solidFill>
                <a:latin typeface="Aptos"/>
              </a:rPr>
              <a:t>Later, git rebase -i --autosquash main lines the fixups up for you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GOING FURTHER · OPTIONAL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380" b="1" i="0">
                <a:solidFill>
                  <a:srgbClr val="123A5F"/>
                </a:solidFill>
                <a:latin typeface="Aptos Display"/>
              </a:rPr>
              <a:t>Undo a rebase — ORIG_HEAD and the reflog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6740773" cy="2426208"/>
          </a:xfrm>
          <a:prstGeom prst="rect">
            <a:avLst/>
          </a:prstGeom>
          <a:solidFill>
            <a:srgbClr val="0F24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6740773" cy="310896"/>
          </a:xfrm>
          <a:prstGeom prst="rect">
            <a:avLst/>
          </a:prstGeom>
          <a:solidFill>
            <a:srgbClr val="1C3A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Oval 9"/>
          <p:cNvSpPr/>
          <p:nvPr/>
        </p:nvSpPr>
        <p:spPr>
          <a:xfrm>
            <a:off x="804672" y="1888236"/>
            <a:ext cx="100584" cy="100584"/>
          </a:xfrm>
          <a:prstGeom prst="ellipse">
            <a:avLst/>
          </a:prstGeom>
          <a:solidFill>
            <a:srgbClr val="E5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1888236"/>
            <a:ext cx="100584" cy="100584"/>
          </a:xfrm>
          <a:prstGeom prst="ellipse">
            <a:avLst/>
          </a:prstGeom>
          <a:solidFill>
            <a:srgbClr val="E3A2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Oval 11"/>
          <p:cNvSpPr/>
          <p:nvPr/>
        </p:nvSpPr>
        <p:spPr>
          <a:xfrm>
            <a:off x="1170432" y="1888236"/>
            <a:ext cx="100584" cy="100584"/>
          </a:xfrm>
          <a:prstGeom prst="ellipse">
            <a:avLst/>
          </a:prstGeom>
          <a:solidFill>
            <a:srgbClr val="4FB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35607" y="1819656"/>
            <a:ext cx="5826373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9FC0D8"/>
                </a:solidFill>
                <a:latin typeface="Aptos"/>
              </a:rPr>
              <a:t>BASH  ·  REAL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185416"/>
            <a:ext cx="6539605" cy="1786127"/>
          </a:xfrm>
          <a:prstGeom prst="rect">
            <a:avLst/>
          </a:prstGeom>
          <a:noFill/>
        </p:spPr>
        <p:txBody>
          <a:bodyPr wrap="square" lIns="73152" rIns="73152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rebase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Successfully rebased and updated refs/heads/feature/PAY-142.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reflog -5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a39d691 HEAD@{0}: rebase (finish): returning to refs/heads/feature/PAY-142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a39d691 HEAD@{1}: rebase (pick): docs: explain readiness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0b25573 HEAD@{2}: rebase (pick): feat: add readiness probe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6fcdcba HEAD@{3}: rebase (start): checkout origin/main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f1c7cab HEAD@{4}: commit: docs: explain readiness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7CC8EE"/>
                </a:solidFill>
                <a:latin typeface="Consolas"/>
              </a:rPr>
              <a:t>$ </a:t>
            </a:r>
            <a:r>
              <a:rPr sz="1100" b="0">
                <a:solidFill>
                  <a:srgbClr val="E8EEF4"/>
                </a:solidFill>
                <a:latin typeface="Consolas"/>
              </a:rPr>
              <a:t>git reset --hard ORIG_HEAD</a:t>
            </a:r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E8EEF4"/>
                </a:solidFill>
                <a:latin typeface="Consolas"/>
              </a:rPr>
              <a:t>HEAD is now at f1c7cab docs: explain readiness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3461" y="1764792"/>
            <a:ext cx="3857122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117A69"/>
                </a:solidFill>
                <a:latin typeface="Aptos"/>
              </a:rPr>
              <a:t>WHAT TO NOTICE</a:t>
            </a:r>
          </a:p>
        </p:txBody>
      </p:sp>
      <p:sp>
        <p:nvSpPr>
          <p:cNvPr id="16" name="Oval 15"/>
          <p:cNvSpPr/>
          <p:nvPr/>
        </p:nvSpPr>
        <p:spPr>
          <a:xfrm>
            <a:off x="7673461" y="2121408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73461" y="2139696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2645" y="2075688"/>
            <a:ext cx="3509650" cy="842345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ORIG_HEAD = where the branch was before the rebase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git reset --hard ORIG_HEAD undoes the whole rebase in one step</a:t>
            </a:r>
          </a:p>
        </p:txBody>
      </p:sp>
      <p:sp>
        <p:nvSpPr>
          <p:cNvPr id="19" name="Oval 18"/>
          <p:cNvSpPr/>
          <p:nvPr/>
        </p:nvSpPr>
        <p:spPr>
          <a:xfrm>
            <a:off x="7673461" y="310248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73461" y="312077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2645" y="3056766"/>
            <a:ext cx="3509650" cy="66531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The reflog records every move of HEAD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The line just below "rebase (start)" is your old branch tip</a:t>
            </a:r>
          </a:p>
        </p:txBody>
      </p:sp>
      <p:sp>
        <p:nvSpPr>
          <p:cNvPr id="22" name="Oval 21"/>
          <p:cNvSpPr/>
          <p:nvPr/>
        </p:nvSpPr>
        <p:spPr>
          <a:xfrm>
            <a:off x="7673461" y="390653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73461" y="39248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2645" y="3860816"/>
            <a:ext cx="3509650" cy="505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git reset --hard HEAD@{4} does the same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Use the reflog once ORIG_HEAD has moved on</a:t>
            </a:r>
          </a:p>
        </p:txBody>
      </p:sp>
      <p:sp>
        <p:nvSpPr>
          <p:cNvPr id="25" name="Oval 24"/>
          <p:cNvSpPr/>
          <p:nvPr/>
        </p:nvSpPr>
        <p:spPr>
          <a:xfrm>
            <a:off x="7673461" y="4551261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73461" y="4569549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2645" y="4505541"/>
            <a:ext cx="3509650" cy="505992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--hard discards uncommitted edits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Commit or stash first</a:t>
            </a:r>
          </a:p>
        </p:txBody>
      </p:sp>
      <p:sp>
        <p:nvSpPr>
          <p:cNvPr id="28" name="Oval 27"/>
          <p:cNvSpPr/>
          <p:nvPr/>
        </p:nvSpPr>
        <p:spPr>
          <a:xfrm>
            <a:off x="7673461" y="519598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73461" y="521427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2645" y="5150266"/>
            <a:ext cx="3509650" cy="665317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>
              <a:lnSpc>
                <a:spcPct val="95000"/>
              </a:lnSpc>
              <a:spcAft>
                <a:spcPts val="100"/>
              </a:spcAft>
            </a:pPr>
            <a:r>
              <a:rPr sz="1210" b="1">
                <a:solidFill>
                  <a:srgbClr val="123A5F"/>
                </a:solidFill>
                <a:latin typeface="Aptos"/>
              </a:rPr>
              <a:t>Local only, and not for ever</a:t>
            </a:r>
          </a:p>
          <a:p>
            <a:pPr>
              <a:lnSpc>
                <a:spcPct val="95000"/>
              </a:lnSpc>
              <a:spcBef>
                <a:spcPts val="200"/>
              </a:spcBef>
              <a:spcAft>
                <a:spcPts val="100"/>
              </a:spcAft>
            </a:pPr>
            <a:r>
              <a:rPr sz="1050" b="0">
                <a:solidFill>
                  <a:srgbClr val="5A6570"/>
                </a:solidFill>
                <a:latin typeface="Aptos"/>
              </a:rPr>
              <a:t>The reflog lives in your clone and expires after about 90 days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PREDICT  ·  3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320" b="1" i="0">
                <a:solidFill>
                  <a:srgbClr val="123A5F"/>
                </a:solidFill>
                <a:latin typeface="Aptos Display"/>
              </a:rPr>
              <a:t>A colleague rebased and force-pushed main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960120" cy="310896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24228"/>
            <a:ext cx="9601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PREDICT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73936" y="1815084"/>
            <a:ext cx="9683496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50" b="1" i="0">
                <a:solidFill>
                  <a:srgbClr val="123A5F"/>
                </a:solidFill>
                <a:latin typeface="Aptos"/>
              </a:rPr>
              <a:t>Write your answer down BEFORE the reveal.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258568"/>
            <a:ext cx="10872216" cy="987552"/>
          </a:xfrm>
          <a:prstGeom prst="rect">
            <a:avLst/>
          </a:prstGeom>
          <a:solidFill>
            <a:srgbClr val="ECF1F6"/>
          </a:solidFill>
          <a:ln w="12700">
            <a:solidFill>
              <a:srgbClr val="12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58568"/>
            <a:ext cx="68580" cy="987552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2313432"/>
            <a:ext cx="10396728" cy="87782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500" b="1" i="0">
                <a:solidFill>
                  <a:srgbClr val="123A5F"/>
                </a:solidFill>
                <a:latin typeface="Aptos"/>
              </a:rPr>
              <a:t>At 11:00 a colleague rebased main to "tidy the history" and force-pushed it. Six people had already pulled main that morning and have work in progress on top of it. What happens next for them — and what do you do?</a:t>
            </a:r>
          </a:p>
        </p:txBody>
      </p:sp>
      <p:sp>
        <p:nvSpPr>
          <p:cNvPr id="14" name="Oval 13"/>
          <p:cNvSpPr/>
          <p:nvPr/>
        </p:nvSpPr>
        <p:spPr>
          <a:xfrm>
            <a:off x="676656" y="3502151"/>
            <a:ext cx="256032" cy="256032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3520439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474720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Predict what each of the six sees on their next git pull.</a:t>
            </a:r>
          </a:p>
        </p:txBody>
      </p:sp>
      <p:sp>
        <p:nvSpPr>
          <p:cNvPr id="17" name="Oval 16"/>
          <p:cNvSpPr/>
          <p:nvPr/>
        </p:nvSpPr>
        <p:spPr>
          <a:xfrm>
            <a:off x="676656" y="4142231"/>
            <a:ext cx="256032" cy="256032"/>
          </a:xfrm>
          <a:prstGeom prst="ellipse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" y="4160520"/>
            <a:ext cx="256032" cy="219456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114800"/>
            <a:ext cx="10415016" cy="29260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300" b="0" i="0">
                <a:solidFill>
                  <a:srgbClr val="1F2933"/>
                </a:solidFill>
                <a:latin typeface="Aptos"/>
              </a:rPr>
              <a:t>Then: how do you get main back, and what stops it happening again?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559552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1" i="1">
                <a:solidFill>
                  <a:srgbClr val="123A5F"/>
                </a:solidFill>
                <a:latin typeface="Aptos"/>
              </a:rPr>
              <a:t>Answers on the next slide — commit to yours first.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PREDICT  ·  THE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320" b="1" i="0">
                <a:solidFill>
                  <a:srgbClr val="123A5F"/>
                </a:solidFill>
                <a:latin typeface="Aptos Display"/>
              </a:rPr>
              <a:t>A colleague rebased and force-pushed main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94944"/>
          </a:xfrm>
          <a:prstGeom prst="rect">
            <a:avLst/>
          </a:prstGeom>
          <a:solidFill>
            <a:srgbClr val="F3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1783080"/>
            <a:ext cx="54864" cy="694944"/>
          </a:xfrm>
          <a:prstGeom prst="rect">
            <a:avLst/>
          </a:prstGeom>
          <a:solidFill>
            <a:srgbClr val="5A65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10415016" cy="603504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1">
                <a:solidFill>
                  <a:srgbClr val="5A6570"/>
                </a:solidFill>
                <a:latin typeface="Aptos"/>
              </a:rPr>
              <a:t>At 11:00 a colleague rebased main to "tidy the history" and force-pushed it. Six people had already pulled main that morning and have work in progress on top of it. What happens next for them — and what do you do?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2752344"/>
            <a:ext cx="10872216" cy="3118104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752344"/>
            <a:ext cx="73152" cy="3118104"/>
          </a:xfrm>
          <a:prstGeom prst="rect">
            <a:avLst/>
          </a:prstGeom>
          <a:solidFill>
            <a:srgbClr val="12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" y="2916936"/>
            <a:ext cx="1032357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29ABE2"/>
                </a:solidFill>
                <a:latin typeface="Aptos"/>
              </a:rPr>
              <a:t>THE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7" y="3282696"/>
            <a:ext cx="9774936" cy="2404872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126000"/>
              </a:lnSpc>
              <a:spcAft>
                <a:spcPts val="200"/>
              </a:spcAft>
            </a:pPr>
            <a:r>
              <a:rPr sz="2100" b="0" i="0">
                <a:solidFill>
                  <a:srgbClr val="FFFFFF"/>
                </a:solidFill>
                <a:latin typeface="Aptos"/>
              </a:rPr>
              <a:t>Their next pull tries to combine the old commits with the rewritten ones: duplicated commits and conflicts on code nobody changed. Recover by finding the pre-rebase tip in any clone's reflog and restoring it with --force-with-lease. Prevent it with branch protection that blocks force-push — then it cannot recur.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obleprog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56" y="219456"/>
            <a:ext cx="2843784" cy="896112"/>
          </a:xfrm>
          <a:prstGeom prst="rect">
            <a:avLst/>
          </a:prstGeom>
        </p:spPr>
      </p:pic>
      <p:pic>
        <p:nvPicPr>
          <p:cNvPr id="3" name="Picture 2" descr="footer_swir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6025896"/>
            <a:ext cx="9747504" cy="74980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064240" y="6272784"/>
            <a:ext cx="82296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r">
              <a:lnSpc>
                <a:spcPct val="92000"/>
              </a:lnSpc>
              <a:spcAft>
                <a:spcPts val="200"/>
              </a:spcAft>
            </a:pPr>
            <a:r>
              <a:rPr sz="1000" b="0" i="0">
                <a:solidFill>
                  <a:srgbClr val="5A6570"/>
                </a:solidFill>
                <a:latin typeface="Aptos"/>
              </a:rP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29184"/>
            <a:ext cx="827532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000" b="1" i="0">
                <a:solidFill>
                  <a:srgbClr val="5A6570"/>
                </a:solidFill>
                <a:latin typeface="Aptos"/>
              </a:rPr>
              <a:t>LAB 03A  ·  GOING FURTHER  ·  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03504"/>
            <a:ext cx="8275320" cy="868680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8000"/>
              </a:lnSpc>
              <a:spcAft>
                <a:spcPts val="200"/>
              </a:spcAft>
            </a:pPr>
            <a:r>
              <a:rPr sz="2120" b="1" i="0">
                <a:solidFill>
                  <a:srgbClr val="123A5F"/>
                </a:solidFill>
                <a:latin typeface="Aptos Display"/>
              </a:rPr>
              <a:t>Git, Going Further — on a practice repository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58368" y="1444752"/>
            <a:ext cx="2377440" cy="0"/>
          </a:xfrm>
          <a:prstGeom prst="line">
            <a:avLst/>
          </a:prstGeom>
          <a:ln w="25400">
            <a:solidFill>
              <a:srgbClr val="29ABE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8368" y="1783080"/>
            <a:ext cx="10872216" cy="658368"/>
          </a:xfrm>
          <a:prstGeom prst="rect">
            <a:avLst/>
          </a:prstGeom>
          <a:solidFill>
            <a:srgbClr val="EDF4EA"/>
          </a:solidFill>
          <a:ln w="12700">
            <a:solidFill>
              <a:srgbClr val="3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1837943"/>
            <a:ext cx="1143000" cy="25603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3E7D32"/>
                </a:solidFill>
                <a:latin typeface="Aptos"/>
              </a:rPr>
              <a:t>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7" y="2057400"/>
            <a:ext cx="10506456" cy="347472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20" b="0" i="0">
                <a:solidFill>
                  <a:srgbClr val="123A5F"/>
                </a:solidFill>
                <a:latin typeface="Aptos"/>
              </a:rPr>
              <a:t>Run every command from sections B and C on a copy of PayTrack API built to be broken — no GitHub, no Docker, no network.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660904"/>
            <a:ext cx="10872216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50" b="1" i="0">
                <a:solidFill>
                  <a:srgbClr val="117A69"/>
                </a:solidFill>
                <a:latin typeface="Aptos"/>
              </a:rPr>
              <a:t>YOU WILL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" y="29855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" y="30038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2415" y="29580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Read the history: log, show, blame, and the pickaxe (log -S)</a:t>
            </a:r>
          </a:p>
        </p:txBody>
      </p:sp>
      <p:sp>
        <p:nvSpPr>
          <p:cNvPr id="15" name="Oval 14"/>
          <p:cNvSpPr/>
          <p:nvPr/>
        </p:nvSpPr>
        <p:spPr>
          <a:xfrm>
            <a:off x="676656" y="335127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336956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2415" y="332384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Stash an interruption, commit part of a file with add -p, then amend</a:t>
            </a:r>
          </a:p>
        </p:txBody>
      </p:sp>
      <p:sp>
        <p:nvSpPr>
          <p:cNvPr id="18" name="Oval 17"/>
          <p:cNvSpPr/>
          <p:nvPr/>
        </p:nvSpPr>
        <p:spPr>
          <a:xfrm>
            <a:off x="676656" y="3717035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" y="373532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5" y="368960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Reset three ways — then rescue the "deleted" commit from the reflog</a:t>
            </a:r>
          </a:p>
        </p:txBody>
      </p:sp>
      <p:sp>
        <p:nvSpPr>
          <p:cNvPr id="21" name="Oval 20"/>
          <p:cNvSpPr/>
          <p:nvPr/>
        </p:nvSpPr>
        <p:spPr>
          <a:xfrm>
            <a:off x="676656" y="408279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410108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5" y="405536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Let git bisect find a hidden bug in three steps, then revert it</a:t>
            </a:r>
          </a:p>
        </p:txBody>
      </p:sp>
      <p:sp>
        <p:nvSpPr>
          <p:cNvPr id="24" name="Oval 23"/>
          <p:cNvSpPr/>
          <p:nvPr/>
        </p:nvSpPr>
        <p:spPr>
          <a:xfrm>
            <a:off x="676656" y="444855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" y="446684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2415" y="442112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Tag a release and cherry-pick a hot-fix onto release/1.0</a:t>
            </a:r>
          </a:p>
        </p:txBody>
      </p:sp>
      <p:sp>
        <p:nvSpPr>
          <p:cNvPr id="27" name="Oval 26"/>
          <p:cNvSpPr/>
          <p:nvPr/>
        </p:nvSpPr>
        <p:spPr>
          <a:xfrm>
            <a:off x="676656" y="4814316"/>
            <a:ext cx="237744" cy="237744"/>
          </a:xfrm>
          <a:prstGeom prst="ellipse">
            <a:avLst/>
          </a:prstGeom>
          <a:solidFill>
            <a:srgbClr val="117A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832604"/>
            <a:ext cx="237744" cy="201168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ctr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2415" y="4786884"/>
            <a:ext cx="10469880" cy="274320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50" b="0" i="0">
                <a:solidFill>
                  <a:srgbClr val="123A5F"/>
                </a:solidFill>
                <a:latin typeface="Aptos"/>
              </a:rPr>
              <a:t>Merge vs rebase, a rebase conflict, autosquash, undo — and a lease that saves a colleague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5394960"/>
            <a:ext cx="10872216" cy="475488"/>
          </a:xfrm>
          <a:prstGeom prst="rect">
            <a:avLst/>
          </a:prstGeom>
          <a:solidFill>
            <a:srgbClr val="ECF1F6"/>
          </a:solidFill>
          <a:ln w="9525">
            <a:solidFill>
              <a:srgbClr val="117A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36576" bIns="36576"/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100" b="0" i="0">
                <a:solidFill>
                  <a:srgbClr val="123A5F"/>
                </a:solidFill>
                <a:latin typeface="Aptos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7" y="5440680"/>
            <a:ext cx="1051560" cy="237744"/>
          </a:xfrm>
          <a:prstGeom prst="rect">
            <a:avLst/>
          </a:prstGeom>
          <a:noFill/>
        </p:spPr>
        <p:txBody>
          <a:bodyPr wrap="square" lIns="73152" rIns="73152" tIns="36576" bIns="36576" anchor="t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900" b="1" i="0">
                <a:solidFill>
                  <a:srgbClr val="117A69"/>
                </a:solidFill>
                <a:latin typeface="Aptos"/>
              </a:rPr>
              <a:t>OUTCOME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92808" y="5431536"/>
            <a:ext cx="9454896" cy="384048"/>
          </a:xfrm>
          <a:prstGeom prst="rect">
            <a:avLst/>
          </a:prstGeom>
          <a:noFill/>
        </p:spPr>
        <p:txBody>
          <a:bodyPr wrap="square" lIns="73152" rIns="73152" tIns="36576" bIns="36576" anchor="ctr">
            <a:spAutoFit/>
          </a:bodyPr>
          <a:lstStyle/>
          <a:p>
            <a:pPr algn="l">
              <a:lnSpc>
                <a:spcPct val="92000"/>
              </a:lnSpc>
              <a:spcAft>
                <a:spcPts val="200"/>
              </a:spcAft>
            </a:pPr>
            <a:r>
              <a:rPr sz="1200" b="0" i="0">
                <a:solidFill>
                  <a:srgbClr val="123A5F"/>
                </a:solidFill>
                <a:latin typeface="Aptos"/>
              </a:rPr>
              <a:t>You have watched every advanced Git command work, and fail, where a mistake costs nothing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Domenico Tarsitani</dc:creator>
  <cp:lastModifiedBy>Domenico Tarsitani</cp:lastModifiedBy>
  <cp:revision>1</cp:revision>
  <dcterms:created xsi:type="dcterms:W3CDTF">2025-02-28T08:21:36Z</dcterms:created>
  <dcterms:modified xsi:type="dcterms:W3CDTF">2025-02-28T08:27:52Z</dcterms:modified>
</cp:coreProperties>
</file>